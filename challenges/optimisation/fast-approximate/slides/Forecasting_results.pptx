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theme/theme1.xml" ContentType="application/vnd.openxmlformats-officedocument.theme+xml"/>
  <Override PartName="/ppt/slides/slide3.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theme/theme2.xml" ContentType="application/vnd.openxmlformats-officedocument.theme+xml"/>
  <Override PartName="/ppt/slides/slide1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s/slide23.xml" ContentType="application/vnd.openxmlformats-officedocument.presentationml.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6" d="100"/>
          <a:sy n="126" d="100"/>
        </p:scale>
        <p:origin x="232" y="200"/>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notesMaster" Target="notesMasters/notesMaster1.xml"/><Relationship Id="rId28" Type="http://schemas.openxmlformats.org/officeDocument/2006/relationships/presProps" Target="presProps.xml" /><Relationship Id="rId29" Type="http://schemas.openxmlformats.org/officeDocument/2006/relationships/tableStyles" Target="tableStyles.xml" /><Relationship Id="rId3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7836846" name="Slide Image Placeholder 1"/>
          <p:cNvSpPr>
            <a:spLocks noChangeAspect="1" noGrp="1" noRot="1"/>
          </p:cNvSpPr>
          <p:nvPr>
            <p:ph type="sldImg"/>
          </p:nvPr>
        </p:nvSpPr>
        <p:spPr bwMode="auto"/>
      </p:sp>
      <p:sp>
        <p:nvSpPr>
          <p:cNvPr id="660603568" name="Notes Placeholder 2"/>
          <p:cNvSpPr>
            <a:spLocks noGrp="1"/>
          </p:cNvSpPr>
          <p:nvPr>
            <p:ph type="body" idx="1"/>
          </p:nvPr>
        </p:nvSpPr>
        <p:spPr bwMode="auto"/>
        <p:txBody>
          <a:bodyPr/>
          <a:lstStyle/>
          <a:p>
            <a:pPr>
              <a:defRPr/>
            </a:pPr>
            <a:r>
              <a:rPr lang="en-US"/>
              <a:t>Welcome. This is the forecasting part of the optimisation challenge, on real data from CLEAR at CERN. The picture is the whole story: the beam charge jitters and drifts shot by shot, sometimes drops out, and the question is whether we can see where it goes next.</a:t>
            </a:r>
            <a:endParaRPr/>
          </a:p>
        </p:txBody>
      </p:sp>
      <p:sp>
        <p:nvSpPr>
          <p:cNvPr id="225539642"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8304968" name="Slide Image Placeholder 1"/>
          <p:cNvSpPr>
            <a:spLocks noChangeAspect="1" noGrp="1" noRot="1"/>
          </p:cNvSpPr>
          <p:nvPr>
            <p:ph type="sldImg"/>
          </p:nvPr>
        </p:nvSpPr>
        <p:spPr bwMode="auto"/>
      </p:sp>
      <p:sp>
        <p:nvSpPr>
          <p:cNvPr id="161003285" name="Notes Placeholder 2"/>
          <p:cNvSpPr>
            <a:spLocks noGrp="1"/>
          </p:cNvSpPr>
          <p:nvPr>
            <p:ph type="body" idx="1"/>
          </p:nvPr>
        </p:nvSpPr>
        <p:spPr bwMode="auto"/>
        <p:txBody>
          <a:bodyPr/>
          <a:lstStyle/>
          <a:p>
            <a:pPr>
              <a:defRPr/>
            </a:pPr>
            <a:r>
              <a:rPr lang="en-US"/>
              <a:t>The parent challenge asks how to find the best settings. This one adds time: how will the beam behave next? Three steps, which are also the three tiers. First understand the data. Then a virtual diagnostic: the charge of a shot from the other signals of the same shot. Then forecasting: the charge of the next shot, or several shots ahead, from the past only. The long-term goal is to put the forecast inside a controller, which brings us back to optimisation. And if a team gets extremely promising results, we can ask for real beam time to test it on CLEAR.</a:t>
            </a:r>
            <a:endParaRPr/>
          </a:p>
        </p:txBody>
      </p:sp>
      <p:sp>
        <p:nvSpPr>
          <p:cNvPr id="802792892"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104B4C9-91E4-57DC-09E2-C854C1353E7D}"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7666215-57A7-897D-9C89-0EAE385A5B70}"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DF2760-C33A-3B0E-611B-4879CFBF3F12}"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F2ED3C4-5C9F-8BF4-4C02-E6EA59F4F99B}"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828802D-93C9-F591-820C-6E2C9DFF1087}"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5F612D-4918-8D34-E2E6-3FFA46D54894}"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0835391" name="Slide Image Placeholder 1"/>
          <p:cNvSpPr>
            <a:spLocks noChangeAspect="1" noGrp="1" noRot="1"/>
          </p:cNvSpPr>
          <p:nvPr>
            <p:ph type="sldImg"/>
          </p:nvPr>
        </p:nvSpPr>
        <p:spPr bwMode="auto"/>
      </p:sp>
      <p:sp>
        <p:nvSpPr>
          <p:cNvPr id="777295609" name="Notes Placeholder 2"/>
          <p:cNvSpPr>
            <a:spLocks noGrp="1"/>
          </p:cNvSpPr>
          <p:nvPr>
            <p:ph type="body" idx="1"/>
          </p:nvPr>
        </p:nvSpPr>
        <p:spPr bwMode="auto"/>
        <p:txBody>
          <a:bodyPr/>
          <a:lstStyle/>
          <a:p>
            <a:pPr>
              <a:defRPr/>
            </a:pPr>
            <a:r>
              <a:rPr lang="en-US"/>
              <a:t>Medium is the virtual diagnostic: infer the charge of a shot from the other signals of that same shot, without using any charge. Compare at least a linear model, a tree ensemble and a neural network, and show what drives each one: does it agree with your correlation study? Then the interesting part: train on one run and test on another, across days or across regimes. How much does it degrade, and which features stop transferring?</a:t>
            </a:r>
            <a:endParaRPr/>
          </a:p>
        </p:txBody>
      </p:sp>
      <p:sp>
        <p:nvSpPr>
          <p:cNvPr id="1351155980"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A3010C4-516C-79E9-04DA-34B02AC896A2}"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6ED7A2-EE48-F744-F550-0E7646F0F113}"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0447AAE-9E8A-B8AF-3F7C-6949EE23CA67}"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AD9AC4A-439A-3222-F2C1-93D868D6F618}"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C67FCE-30EC-0AA8-8C47-17F14FB464F5}"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556858" name="Slide Image Placeholder 1"/>
          <p:cNvSpPr>
            <a:spLocks noChangeAspect="1" noGrp="1" noRot="1"/>
          </p:cNvSpPr>
          <p:nvPr>
            <p:ph type="sldImg"/>
          </p:nvPr>
        </p:nvSpPr>
        <p:spPr bwMode="auto"/>
      </p:sp>
      <p:sp>
        <p:nvSpPr>
          <p:cNvPr id="1248289909" name="Notes Placeholder 2"/>
          <p:cNvSpPr>
            <a:spLocks noGrp="1"/>
          </p:cNvSpPr>
          <p:nvPr>
            <p:ph type="body" idx="1"/>
          </p:nvPr>
        </p:nvSpPr>
        <p:spPr bwMode="auto"/>
        <p:txBody>
          <a:bodyPr/>
          <a:lstStyle/>
          <a:p>
            <a:pPr>
              <a:defRPr/>
            </a:pPr>
            <a:r>
              <a:rPr lang="en-US"/>
              <a:t>Hard is forecasting: predict the charge of future shots from everything known up to now. First beat the rolling mean, which is not trivial. Then beat the notebook's XGBoost on lag features. Go multi-step and find the horizon where your model stops beating the rolling mean. Use at least one model built for sequences. And tell us where the forecast comes from: the charge's own history, or the machine.</a:t>
            </a:r>
            <a:endParaRPr/>
          </a:p>
        </p:txBody>
      </p:sp>
      <p:sp>
        <p:nvSpPr>
          <p:cNvPr id="237277379"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9CDCDB-53C8-AFC3-181C-BCA573C11B1B}"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DC361C5-95E6-4ACC-DF96-F086EDEB345A}"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E620C7C-C1AD-AB0F-C143-EF114FBCEAC7}"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79CFB8-7FE6-5470-7033-0BE30CD0F24E}"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16C5E1-6D2B-F4BF-4604-A0B769761EEC}"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615B3C-C873-E724-C80F-CE2A50B5158E}"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5753466" name="Slide Image Placeholder 1"/>
          <p:cNvSpPr>
            <a:spLocks noChangeAspect="1" noGrp="1" noRot="1"/>
          </p:cNvSpPr>
          <p:nvPr>
            <p:ph type="sldImg"/>
          </p:nvPr>
        </p:nvSpPr>
        <p:spPr bwMode="auto"/>
      </p:sp>
      <p:sp>
        <p:nvSpPr>
          <p:cNvPr id="1166675172" name="Notes Placeholder 2"/>
          <p:cNvSpPr>
            <a:spLocks noGrp="1"/>
          </p:cNvSpPr>
          <p:nvPr>
            <p:ph type="body" idx="1"/>
          </p:nvPr>
        </p:nvSpPr>
        <p:spPr bwMode="auto"/>
        <p:txBody>
          <a:bodyPr/>
          <a:lstStyle/>
          <a:p>
            <a:pPr>
              <a:defRPr/>
            </a:pPr>
            <a:r>
              <a:rPr lang="en-US"/>
              <a:t>The rules are fixed in score.py, so every team is scored the same way. The split is chronological: the last 10 % of each run is the test region, and nothing is shuffled. The score is MAE in nanocoulombs. Charge dropouts are not scored, but shots with a device flag are, because their charge is real. Report every scored run, not your best one. For forecasting, also report the gain over the rolling mean. Ranking is the highest tier with a bar beaten, ties broken by that tier's MAE.</a:t>
            </a:r>
            <a:endParaRPr/>
          </a:p>
        </p:txBody>
      </p:sp>
      <p:sp>
        <p:nvSpPr>
          <p:cNvPr id="821762066"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3549576" name="Slide Image Placeholder 1"/>
          <p:cNvSpPr>
            <a:spLocks noChangeAspect="1" noGrp="1" noRot="1"/>
          </p:cNvSpPr>
          <p:nvPr>
            <p:ph type="sldImg"/>
          </p:nvPr>
        </p:nvSpPr>
        <p:spPr bwMode="auto"/>
      </p:sp>
      <p:sp>
        <p:nvSpPr>
          <p:cNvPr id="873682962" name="Notes Placeholder 2"/>
          <p:cNvSpPr>
            <a:spLocks noGrp="1"/>
          </p:cNvSpPr>
          <p:nvPr>
            <p:ph type="body" idx="1"/>
          </p:nvPr>
        </p:nvSpPr>
        <p:spPr bwMode="auto"/>
        <p:txBody>
          <a:bodyPr/>
          <a:lstStyle/>
          <a:p>
            <a:pPr>
              <a:defRPr/>
            </a:pPr>
            <a:r>
              <a:rPr lang="en-US"/>
              <a:t>That is the challenge: understand the data, infer the charge, then try to predict the next shot. Questions now, or any time during the week: find me at the Tuesday hands-on session or the Wednesday check-in.</a:t>
            </a:r>
            <a:endParaRPr/>
          </a:p>
        </p:txBody>
      </p:sp>
      <p:sp>
        <p:nvSpPr>
          <p:cNvPr id="1848569622" name="Slide Number Placeholder 3"/>
          <p:cNvSpPr>
            <a:spLocks noGrp="1"/>
          </p:cNvSpPr>
          <p:nvPr>
            <p:ph type="sldNum" sz="quarter" idx="10"/>
          </p:nvPr>
        </p:nvSpPr>
        <p:spPr bwMode="auto"/>
        <p:txBody>
          <a:bodyPr/>
          <a:lstStyle/>
          <a:p>
            <a:pPr>
              <a:defRPr/>
            </a:pPr>
            <a:fld id="{F7021451-1387-4CA6-816F-3879F97B5CBC}" type="slidenum">
              <a:rPr lang="en-US"/>
              <a:t>24</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body">
    <p:bg>
      <p:bgPr shadeToTitle="0">
        <a:solidFill>
          <a:srgbClr val="FBF8F1"/>
        </a:solidFill>
      </p:bgPr>
    </p:bg>
    <p:spTree>
      <p:nvGrpSpPr>
        <p:cNvPr id="1" name=""/>
        <p:cNvGrpSpPr/>
        <p:nvPr/>
      </p:nvGrpSpPr>
      <p:grpSpPr bwMode="auto">
        <a:xfrm>
          <a:off x="0" y="0"/>
          <a:ext cx="0" cy="0"/>
          <a:chOff x="0" y="0"/>
          <a:chExt cx="0" cy="0"/>
        </a:xfrm>
      </p:grpSpPr>
      <p:sp>
        <p:nvSpPr>
          <p:cNvPr id="1061694136" name="Title Placeholder 1"/>
          <p:cNvSpPr>
            <a:spLocks noGrp="1"/>
          </p:cNvSpPr>
          <p:nvPr>
            <p:ph type="title"/>
          </p:nvPr>
        </p:nvSpPr>
        <p:spPr bwMode="auto">
          <a:xfrm>
            <a:off x="812800" y="1123950"/>
            <a:ext cx="10566400" cy="501650"/>
          </a:xfrm>
          <a:prstGeom prst="rect">
            <a:avLst/>
          </a:prstGeom>
          <a:noFill/>
          <a:ln/>
        </p:spPr>
        <p:txBody>
          <a:bodyPr wrap="square" lIns="0" tIns="0" rIns="0" bIns="0" rtlCol="0" anchor="t"/>
          <a:lstStyle>
            <a:lvl1pPr marL="0" indent="0" algn="l">
              <a:lnSpc>
                <a:spcPct val="114999"/>
              </a:lnSpc>
              <a:buNone/>
              <a:defRPr lang="en-US" sz="3600">
                <a:solidFill>
                  <a:srgbClr val="14213D"/>
                </a:solidFill>
                <a:latin typeface="Space Grotesk"/>
                <a:ea typeface="Space Grotesk"/>
                <a:cs typeface="Space Grotesk"/>
              </a:defRPr>
            </a:lvl1pPr>
          </a:lstStyle>
          <a:p>
            <a:pPr marL="0" indent="0" algn="l">
              <a:lnSpc>
                <a:spcPct val="114999"/>
              </a:lnSpc>
              <a:buNone/>
              <a:defRPr/>
            </a:pPr>
            <a:endParaRPr lang="en-US" sz="3600"/>
          </a:p>
        </p:txBody>
      </p:sp>
      <p:sp>
        <p:nvSpPr>
          <p:cNvPr id="1396510561" name="Text Placeholder 2"/>
          <p:cNvSpPr>
            <a:spLocks noGrp="1"/>
          </p:cNvSpPr>
          <p:nvPr>
            <p:ph type="body" idx="101"/>
          </p:nvPr>
        </p:nvSpPr>
        <p:spPr bwMode="auto">
          <a:xfrm>
            <a:off x="812800" y="1930400"/>
            <a:ext cx="10566400" cy="4114800"/>
          </a:xfrm>
          <a:prstGeom prst="rect">
            <a:avLst/>
          </a:prstGeom>
          <a:noFill/>
          <a:ln/>
        </p:spPr>
        <p:txBody>
          <a:bodyPr wrap="square" lIns="0" tIns="0" rIns="0" bIns="0" rtlCol="0" anchor="t"/>
          <a:lstStyle>
            <a:lvl1pPr marL="0" indent="0" algn="l">
              <a:lnSpc>
                <a:spcPct val="140000"/>
              </a:lnSpc>
              <a:buNone/>
              <a:defRPr lang="en-US" sz="1600">
                <a:solidFill>
                  <a:srgbClr val="14213D"/>
                </a:solidFill>
                <a:latin typeface="IBM Plex Mono"/>
                <a:ea typeface="IBM Plex Mono"/>
                <a:cs typeface="IBM Plex Mono"/>
              </a:defRPr>
            </a:lvl1pPr>
          </a:lstStyle>
          <a:p>
            <a:pPr marL="0" indent="0" algn="l">
              <a:lnSpc>
                <a:spcPct val="140000"/>
              </a:lnSpc>
              <a:buNone/>
              <a:defRPr/>
            </a:pPr>
            <a:endParaRPr lang="en-US" sz="1600"/>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BF8F1"/>
        </a:solidFill>
      </p:bgPr>
    </p:bg>
    <p:spTree>
      <p:nvGrpSpPr>
        <p:cNvPr id="1" name=""/>
        <p:cNvGrpSpPr/>
        <p:nvPr/>
      </p:nvGrpSpPr>
      <p:grpSpPr bwMode="auto">
        <a:xfrm>
          <a:off x="0" y="0"/>
          <a:ext cx="0" cy="0"/>
          <a:chOff x="0" y="0"/>
          <a:chExt cx="0" cy="0"/>
        </a:xfrm>
      </p:grpSpPr>
      <p:sp>
        <p:nvSpPr>
          <p:cNvPr id="1034505978" name="Title Placeholder 1"/>
          <p:cNvSpPr>
            <a:spLocks noGrp="1"/>
          </p:cNvSpPr>
          <p:nvPr>
            <p:ph type="title"/>
          </p:nvPr>
        </p:nvSpPr>
        <p:spPr bwMode="auto">
          <a:xfrm>
            <a:off x="812800" y="1123950"/>
            <a:ext cx="10566400" cy="501650"/>
          </a:xfrm>
          <a:prstGeom prst="rect">
            <a:avLst/>
          </a:prstGeom>
          <a:noFill/>
          <a:ln/>
        </p:spPr>
        <p:txBody>
          <a:bodyPr wrap="square" lIns="0" tIns="0" rIns="0" bIns="0" rtlCol="0" anchor="t"/>
          <a:lstStyle>
            <a:lvl1pPr marL="0" indent="0" algn="l">
              <a:lnSpc>
                <a:spcPct val="114999"/>
              </a:lnSpc>
              <a:buNone/>
              <a:defRPr lang="en-US" sz="3600">
                <a:solidFill>
                  <a:srgbClr val="14213D"/>
                </a:solidFill>
                <a:latin typeface="Space Grotesk"/>
                <a:ea typeface="Space Grotesk"/>
                <a:cs typeface="Space Grotesk"/>
              </a:defRPr>
            </a:lvl1pPr>
          </a:lstStyle>
          <a:p>
            <a:pPr marL="0" indent="0" algn="l">
              <a:lnSpc>
                <a:spcPct val="114999"/>
              </a:lnSpc>
              <a:buNone/>
              <a:defRPr/>
            </a:pPr>
            <a:endParaRPr lang="en-US" sz="3600"/>
          </a:p>
        </p:txBody>
      </p:sp>
      <p:sp>
        <p:nvSpPr>
          <p:cNvPr id="588924737" name="Text Placeholder 2"/>
          <p:cNvSpPr>
            <a:spLocks noGrp="1"/>
          </p:cNvSpPr>
          <p:nvPr>
            <p:ph type="body" idx="101"/>
          </p:nvPr>
        </p:nvSpPr>
        <p:spPr bwMode="auto">
          <a:xfrm>
            <a:off x="812800" y="1930400"/>
            <a:ext cx="10566400" cy="4114800"/>
          </a:xfrm>
          <a:prstGeom prst="rect">
            <a:avLst/>
          </a:prstGeom>
          <a:noFill/>
          <a:ln/>
        </p:spPr>
        <p:txBody>
          <a:bodyPr wrap="square" lIns="0" tIns="0" rIns="0" bIns="0" rtlCol="0" anchor="t"/>
          <a:lstStyle>
            <a:lvl1pPr marL="0" indent="0" algn="l">
              <a:lnSpc>
                <a:spcPct val="140000"/>
              </a:lnSpc>
              <a:buNone/>
              <a:defRPr lang="en-US" sz="1600">
                <a:solidFill>
                  <a:srgbClr val="14213D"/>
                </a:solidFill>
                <a:latin typeface="IBM Plex Mono"/>
                <a:ea typeface="IBM Plex Mono"/>
                <a:cs typeface="IBM Plex Mono"/>
              </a:defRPr>
            </a:lvl1pPr>
          </a:lstStyle>
          <a:p>
            <a:pPr marL="0" indent="0" algn="l">
              <a:lnSpc>
                <a:spcPct val="140000"/>
              </a:lnSpc>
              <a:buNone/>
              <a:defRPr/>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3.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BF8F1"/>
        </a:solidFill>
      </p:bgPr>
    </p:bg>
    <p:spTree>
      <p:nvGrpSpPr>
        <p:cNvPr id="1" name=""/>
        <p:cNvGrpSpPr/>
        <p:nvPr/>
      </p:nvGrpSpPr>
      <p:grpSpPr bwMode="auto">
        <a:xfrm>
          <a:off x="0" y="0"/>
          <a:ext cx="0" cy="0"/>
          <a:chOff x="0" y="0"/>
          <a:chExt cx="0" cy="0"/>
        </a:xfrm>
      </p:grpSpPr>
      <p:pic>
        <p:nvPicPr>
          <p:cNvPr id="2076869233" name="Image 0" descr="On a blue-to-pink gradient panel: a jittering, drifting charge trace over past shots, with one dropout, then a dashed forecast with a widening uncertainty band after the present shot"/>
          <p:cNvPicPr>
            <a:picLocks noChangeAspect="1"/>
          </p:cNvPicPr>
          <p:nvPr/>
        </p:nvPicPr>
        <p:blipFill rotWithShape="1">
          <a:blip r:embed="rId3"/>
          <a:srcRect l="0" t="-10" r="0" b="-10"/>
          <a:stretch/>
        </p:blipFill>
        <p:spPr bwMode="auto">
          <a:xfrm>
            <a:off x="6477000" y="0"/>
            <a:ext cx="5715000" cy="6858000"/>
          </a:xfrm>
          <a:prstGeom prst="rect">
            <a:avLst/>
          </a:prstGeom>
        </p:spPr>
      </p:pic>
      <p:sp>
        <p:nvSpPr>
          <p:cNvPr id="886360349" name="Shape 0"/>
          <p:cNvSpPr/>
          <p:nvPr/>
        </p:nvSpPr>
        <p:spPr bwMode="auto">
          <a:xfrm>
            <a:off x="812800" y="812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456664469" name="Text 1"/>
          <p:cNvSpPr/>
          <p:nvPr/>
        </p:nvSpPr>
        <p:spPr bwMode="auto">
          <a:xfrm>
            <a:off x="812800" y="939800"/>
            <a:ext cx="5415534" cy="482600"/>
          </a:xfrm>
          <a:prstGeom prst="rect">
            <a:avLst/>
          </a:prstGeom>
          <a:noFill/>
          <a:ln/>
        </p:spPr>
        <p:txBody>
          <a:bodyPr wrap="square" lIns="0" tIns="0" rIns="0" bIns="0" rtlCol="0" anchor="t">
            <a:normAutofit/>
          </a:bodyPr>
          <a:lstStyle/>
          <a:p>
            <a:pPr marL="0" indent="0" algn="l">
              <a:lnSpc>
                <a:spcPts val="1800"/>
              </a:lnSpc>
              <a:buNone/>
              <a:defRPr/>
            </a:pPr>
            <a:r>
              <a:rPr lang="en-US" sz="1200" spc="150">
                <a:solidFill>
                  <a:srgbClr val="6D28D9"/>
                </a:solidFill>
                <a:latin typeface="IBM Plex Mono"/>
                <a:ea typeface="IBM Plex Mono"/>
                <a:cs typeface="IBM Plex Mono"/>
              </a:rPr>
              <a:t>AISSAI ACCELERATOR HACKATHON 2026</a:t>
            </a:r>
            <a:endParaRPr lang="en-US" sz="1200"/>
          </a:p>
          <a:p>
            <a:pPr marL="0" indent="0" algn="l">
              <a:lnSpc>
                <a:spcPts val="1800"/>
              </a:lnSpc>
              <a:buNone/>
              <a:defRPr/>
            </a:pPr>
            <a:r>
              <a:rPr lang="en-US" sz="1200" spc="150">
                <a:solidFill>
                  <a:srgbClr val="6D28D9"/>
                </a:solidFill>
                <a:latin typeface="IBM Plex Mono"/>
                <a:ea typeface="IBM Plex Mono"/>
                <a:cs typeface="IBM Plex Mono"/>
              </a:rPr>
              <a:t>OPTIMISATION CHALLENGE</a:t>
            </a:r>
            <a:endParaRPr lang="en-US" sz="1200"/>
          </a:p>
        </p:txBody>
      </p:sp>
      <p:sp>
        <p:nvSpPr>
          <p:cNvPr id="1805979644" name="Text 2"/>
          <p:cNvSpPr>
            <a:spLocks noGrp="1"/>
          </p:cNvSpPr>
          <p:nvPr>
            <p:ph type="title"/>
          </p:nvPr>
        </p:nvSpPr>
        <p:spPr bwMode="auto">
          <a:xfrm>
            <a:off x="812800" y="2143125"/>
            <a:ext cx="5415534" cy="193040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14213D"/>
                </a:solidFill>
                <a:latin typeface="Space Grotesk"/>
                <a:ea typeface="Space Grotesk"/>
                <a:cs typeface="Space Grotesk"/>
              </a:rPr>
              <a:t>Forecasting the </a:t>
            </a:r>
            <a:r>
              <a:rPr lang="en-US" sz="4800" b="1" i="0">
                <a:solidFill>
                  <a:srgbClr val="6D28D9"/>
                </a:solidFill>
                <a:latin typeface="Space Grotesk"/>
                <a:ea typeface="Space Grotesk"/>
                <a:cs typeface="Space Grotesk"/>
              </a:rPr>
              <a:t>CLEAR</a:t>
            </a:r>
            <a:r>
              <a:rPr lang="en-US" sz="4800" b="1" i="0">
                <a:solidFill>
                  <a:srgbClr val="14213D"/>
                </a:solidFill>
                <a:latin typeface="Space Grotesk"/>
                <a:ea typeface="Space Grotesk"/>
                <a:cs typeface="Space Grotesk"/>
              </a:rPr>
              <a:t> beam charge</a:t>
            </a:r>
            <a:endParaRPr lang="en-US" sz="4800"/>
          </a:p>
        </p:txBody>
      </p:sp>
      <p:sp>
        <p:nvSpPr>
          <p:cNvPr id="1422350437" name="Text 3"/>
          <p:cNvSpPr/>
          <p:nvPr/>
        </p:nvSpPr>
        <p:spPr bwMode="auto">
          <a:xfrm>
            <a:off x="812800" y="4225925"/>
            <a:ext cx="5415534" cy="58420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3B4660"/>
                </a:solidFill>
                <a:latin typeface="IBM Plex Sans"/>
                <a:ea typeface="IBM Plex Sans"/>
                <a:cs typeface="IBM Plex Sans"/>
              </a:rPr>
              <a:t>How will the beam behave next, and can we see it coming?</a:t>
            </a:r>
            <a:endParaRPr lang="en-US" sz="1600"/>
          </a:p>
        </p:txBody>
      </p:sp>
      <p:sp>
        <p:nvSpPr>
          <p:cNvPr id="1812023079" name="Text 4"/>
          <p:cNvSpPr/>
          <p:nvPr/>
        </p:nvSpPr>
        <p:spPr bwMode="auto">
          <a:xfrm>
            <a:off x="812799" y="4892674"/>
            <a:ext cx="5415534" cy="30480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4213D"/>
                </a:solidFill>
                <a:latin typeface="IBM Plex Sans"/>
                <a:ea typeface="IBM Plex Sans"/>
                <a:cs typeface="IBM Plex Sans"/>
              </a:rPr>
              <a:t>Antonio Gilardi</a:t>
            </a:r>
            <a:r>
              <a:rPr lang="en" sz="1600" b="1">
                <a:solidFill>
                  <a:srgbClr val="14213D"/>
                </a:solidFill>
                <a:latin typeface="IBM Plex Sans"/>
                <a:ea typeface="IBM Plex Sans"/>
                <a:cs typeface="IBM Plex Sans"/>
              </a:rPr>
              <a:t> (Team Leader &amp; Case Holder)</a:t>
            </a:r>
            <a:endParaRPr lang="en-US" sz="1600"/>
          </a:p>
        </p:txBody>
      </p:sp>
      <p:sp>
        <p:nvSpPr>
          <p:cNvPr id="1489657920" name="Text 5"/>
          <p:cNvSpPr/>
          <p:nvPr/>
        </p:nvSpPr>
        <p:spPr bwMode="auto">
          <a:xfrm>
            <a:off x="812799" y="5197474"/>
            <a:ext cx="5415534"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5A6478"/>
                </a:solidFill>
                <a:latin typeface="IBM Plex Mono"/>
                <a:ea typeface="IBM Plex Mono"/>
                <a:cs typeface="IBM Plex Mono"/>
              </a:rPr>
              <a:t>CERN · CLEAR · antonio.gilardi@cern.ch</a:t>
            </a:r>
            <a:endParaRPr lang="en-US" sz="1200"/>
          </a:p>
        </p:txBody>
      </p:sp>
      <p:sp>
        <p:nvSpPr>
          <p:cNvPr id="273832997" name="Text 6"/>
          <p:cNvSpPr/>
          <p:nvPr/>
        </p:nvSpPr>
        <p:spPr bwMode="auto">
          <a:xfrm>
            <a:off x="6921500" y="5080000"/>
            <a:ext cx="196215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FFFDF7"/>
                </a:solidFill>
                <a:latin typeface="IBM Plex Mono"/>
                <a:ea typeface="IBM Plex Mono"/>
                <a:cs typeface="IBM Plex Mono"/>
              </a:rPr>
              <a:t>past shots</a:t>
            </a:r>
            <a:endParaRPr lang="en-US" sz="1200"/>
          </a:p>
        </p:txBody>
      </p:sp>
      <p:sp>
        <p:nvSpPr>
          <p:cNvPr id="168063695" name="Text 7"/>
          <p:cNvSpPr/>
          <p:nvPr/>
        </p:nvSpPr>
        <p:spPr bwMode="auto">
          <a:xfrm>
            <a:off x="8953500" y="4667250"/>
            <a:ext cx="100330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FFFDF7"/>
                </a:solidFill>
                <a:latin typeface="IBM Plex Mono"/>
                <a:ea typeface="IBM Plex Mono"/>
                <a:cs typeface="IBM Plex Mono"/>
              </a:rPr>
              <a:t>dropout</a:t>
            </a:r>
            <a:endParaRPr lang="en-US" sz="1200"/>
          </a:p>
        </p:txBody>
      </p:sp>
      <p:sp>
        <p:nvSpPr>
          <p:cNvPr id="2066418267" name="Text 8"/>
          <p:cNvSpPr/>
          <p:nvPr/>
        </p:nvSpPr>
        <p:spPr bwMode="auto">
          <a:xfrm>
            <a:off x="10071100" y="2476500"/>
            <a:ext cx="558800" cy="234950"/>
          </a:xfrm>
          <a:prstGeom prst="rect">
            <a:avLst/>
          </a:prstGeom>
          <a:noFill/>
          <a:ln/>
        </p:spPr>
        <p:txBody>
          <a:bodyPr wrap="square" lIns="0" tIns="0" rIns="0" bIns="0" rtlCol="0" anchor="t">
            <a:normAutofit/>
          </a:bodyPr>
          <a:lstStyle/>
          <a:p>
            <a:pPr marL="0" indent="0" algn="ctr">
              <a:lnSpc>
                <a:spcPts val="1680"/>
              </a:lnSpc>
              <a:buNone/>
              <a:defRPr/>
            </a:pPr>
            <a:r>
              <a:rPr lang="en-US" sz="1200">
                <a:solidFill>
                  <a:srgbClr val="FFFDF7"/>
                </a:solidFill>
                <a:latin typeface="IBM Plex Mono"/>
                <a:ea typeface="IBM Plex Mono"/>
                <a:cs typeface="IBM Plex Mono"/>
              </a:rPr>
              <a:t>now</a:t>
            </a:r>
            <a:endParaRPr lang="en-US" sz="1200"/>
          </a:p>
        </p:txBody>
      </p:sp>
      <p:sp>
        <p:nvSpPr>
          <p:cNvPr id="1599199379" name="Text 9"/>
          <p:cNvSpPr/>
          <p:nvPr/>
        </p:nvSpPr>
        <p:spPr bwMode="auto">
          <a:xfrm>
            <a:off x="10477500" y="2870200"/>
            <a:ext cx="106680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FFFDF7"/>
                </a:solidFill>
                <a:latin typeface="IBM Plex Mono"/>
                <a:ea typeface="IBM Plex Mono"/>
                <a:cs typeface="IBM Plex Mono"/>
              </a:rPr>
              <a:t>forecast</a:t>
            </a:r>
            <a:endParaRPr lang="en-US" sz="1200"/>
          </a:p>
        </p:txBody>
      </p:sp>
      <p:sp>
        <p:nvSpPr>
          <p:cNvPr id="1605322185" name="Text 4"/>
          <p:cNvSpPr/>
          <p:nvPr/>
        </p:nvSpPr>
        <p:spPr bwMode="auto">
          <a:xfrm flipH="0" flipV="0">
            <a:off x="812799" y="5559256"/>
            <a:ext cx="5415534" cy="1298743"/>
          </a:xfrm>
          <a:prstGeom prst="rect">
            <a:avLst/>
          </a:prstGeom>
          <a:noFill/>
          <a:ln/>
        </p:spPr>
        <p:txBody>
          <a:bodyPr wrap="square" lIns="0" tIns="0" rIns="0" bIns="0" rtlCol="0" anchor="t">
            <a:normAutofit/>
          </a:bodyPr>
          <a:lstStyle/>
          <a:p>
            <a:pPr marL="0" indent="0" algn="l">
              <a:lnSpc>
                <a:spcPts val="2239"/>
              </a:lnSpc>
              <a:buNone/>
              <a:defRPr/>
            </a:pPr>
            <a:r>
              <a:rPr lang="en" sz="1600" b="1">
                <a:solidFill>
                  <a:srgbClr val="14213D"/>
                </a:solidFill>
                <a:latin typeface="IBM Plex Sans"/>
                <a:ea typeface="IBM Plex Sans"/>
                <a:cs typeface="IBM Plex Sans"/>
              </a:rPr>
              <a:t>Jan Jug</a:t>
            </a:r>
            <a:endParaRPr lang="en" sz="1600" b="1">
              <a:solidFill>
                <a:srgbClr val="14213D"/>
              </a:solidFill>
              <a:latin typeface="IBM Plex Sans"/>
              <a:ea typeface="IBM Plex Sans"/>
              <a:cs typeface="IBM Plex Sans"/>
            </a:endParaRPr>
          </a:p>
          <a:p>
            <a:pPr marL="0" indent="0" algn="l">
              <a:lnSpc>
                <a:spcPts val="2239"/>
              </a:lnSpc>
              <a:buNone/>
              <a:defRPr/>
            </a:pPr>
            <a:r>
              <a:rPr lang="en" sz="1600" b="1">
                <a:solidFill>
                  <a:srgbClr val="14213D"/>
                </a:solidFill>
                <a:latin typeface="IBM Plex Sans"/>
                <a:ea typeface="IBM Plex Sans"/>
                <a:cs typeface="IBM Plex Sans"/>
              </a:rPr>
              <a:t>Quentin Bruant</a:t>
            </a:r>
            <a:endParaRPr lang="en" sz="1600" b="1">
              <a:solidFill>
                <a:srgbClr val="14213D"/>
              </a:solidFill>
              <a:latin typeface="IBM Plex Sans"/>
              <a:ea typeface="IBM Plex Sans"/>
              <a:cs typeface="IBM Plex Sans"/>
            </a:endParaRPr>
          </a:p>
          <a:p>
            <a:pPr marL="0" indent="0" algn="l">
              <a:lnSpc>
                <a:spcPts val="2239"/>
              </a:lnSpc>
              <a:buNone/>
              <a:defRPr/>
            </a:pPr>
            <a:r>
              <a:rPr lang="en" sz="1600" b="1">
                <a:solidFill>
                  <a:srgbClr val="14213D"/>
                </a:solidFill>
                <a:latin typeface="IBM Plex Sans"/>
                <a:ea typeface="IBM Plex Sans"/>
                <a:cs typeface="IBM Plex Sans"/>
              </a:rPr>
              <a:t>Alex Brynes</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BF8F1"/>
        </a:solidFill>
      </p:bgPr>
    </p:bg>
    <p:spTree>
      <p:nvGrpSpPr>
        <p:cNvPr id="1" name=""/>
        <p:cNvGrpSpPr/>
        <p:nvPr/>
      </p:nvGrpSpPr>
      <p:grpSpPr bwMode="auto">
        <a:xfrm>
          <a:off x="0" y="0"/>
          <a:ext cx="0" cy="0"/>
          <a:chOff x="0" y="0"/>
          <a:chExt cx="0" cy="0"/>
        </a:xfrm>
      </p:grpSpPr>
      <p:sp>
        <p:nvSpPr>
          <p:cNvPr id="778817009"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969162062" name="Text 1"/>
          <p:cNvSpPr/>
          <p:nvPr/>
        </p:nvSpPr>
        <p:spPr bwMode="auto">
          <a:xfrm>
            <a:off x="812800" y="812800"/>
            <a:ext cx="10883392" cy="234950"/>
          </a:xfrm>
          <a:prstGeom prst="rect">
            <a:avLst/>
          </a:prstGeom>
          <a:noFill/>
          <a:ln/>
        </p:spPr>
        <p:txBody>
          <a:bodyPr wrap="square" lIns="0" tIns="0" rIns="0" bIns="0" rtlCol="0" anchor="t">
            <a:normAutofit/>
          </a:bodyPr>
          <a:lstStyle/>
          <a:p>
            <a:pPr marL="0" indent="0" algn="l">
              <a:lnSpc>
                <a:spcPts val="1680"/>
              </a:lnSpc>
              <a:buNone/>
              <a:defRPr/>
            </a:pPr>
            <a:r>
              <a:rPr lang="en-US" sz="1200" spc="150">
                <a:solidFill>
                  <a:srgbClr val="6D28D9"/>
                </a:solidFill>
                <a:latin typeface="IBM Plex Mono"/>
                <a:ea typeface="IBM Plex Mono"/>
                <a:cs typeface="IBM Plex Mono"/>
              </a:rPr>
              <a:t>THE CHALLENGE</a:t>
            </a:r>
            <a:endParaRPr lang="en-US" sz="1200"/>
          </a:p>
        </p:txBody>
      </p:sp>
      <p:sp>
        <p:nvSpPr>
          <p:cNvPr id="956390384" name="Text 2"/>
          <p:cNvSpPr>
            <a:spLocks noGrp="1"/>
          </p:cNvSpPr>
          <p:nvPr>
            <p:ph type="title"/>
          </p:nvPr>
        </p:nvSpPr>
        <p:spPr bwMode="auto">
          <a:xfrm>
            <a:off x="812800" y="11239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Three steps, one question</a:t>
            </a:r>
            <a:endParaRPr lang="en-US" sz="3600"/>
          </a:p>
        </p:txBody>
      </p:sp>
      <p:sp>
        <p:nvSpPr>
          <p:cNvPr id="1258390474" name="Shape 3"/>
          <p:cNvSpPr/>
          <p:nvPr/>
        </p:nvSpPr>
        <p:spPr bwMode="auto">
          <a:xfrm>
            <a:off x="812800" y="1930400"/>
            <a:ext cx="3386634" cy="2159000"/>
          </a:xfrm>
          <a:prstGeom prst="roundRect">
            <a:avLst>
              <a:gd name="adj" fmla="val 4706"/>
            </a:avLst>
          </a:prstGeom>
          <a:solidFill>
            <a:srgbClr val="D5F3EE"/>
          </a:solidFill>
          <a:ln/>
        </p:spPr>
        <p:txBody>
          <a:bodyPr/>
          <a:lstStyle/>
          <a:p>
            <a:pPr>
              <a:defRPr/>
            </a:pPr>
            <a:endParaRPr lang="en-US"/>
          </a:p>
        </p:txBody>
      </p:sp>
      <p:sp>
        <p:nvSpPr>
          <p:cNvPr id="1027395957" name="Shape 4"/>
          <p:cNvSpPr/>
          <p:nvPr/>
        </p:nvSpPr>
        <p:spPr bwMode="auto">
          <a:xfrm>
            <a:off x="812800" y="1930400"/>
            <a:ext cx="3386634" cy="2159000"/>
          </a:xfrm>
          <a:custGeom>
            <a:avLst/>
            <a:gdLst/>
            <a:ahLst/>
            <a:cxnLst/>
            <a:rect l="l" t="t" r="r" b="b"/>
            <a:pathLst>
              <a:path w="3386634" h="2159000" fill="norm" stroke="1" extrusionOk="0">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0F766E"/>
          </a:solidFill>
          <a:ln/>
        </p:spPr>
        <p:txBody>
          <a:bodyPr/>
          <a:lstStyle/>
          <a:p>
            <a:pPr>
              <a:defRPr/>
            </a:pPr>
            <a:endParaRPr lang="en-US"/>
          </a:p>
        </p:txBody>
      </p:sp>
      <p:sp>
        <p:nvSpPr>
          <p:cNvPr id="424758288" name="Text 5"/>
          <p:cNvSpPr/>
          <p:nvPr/>
        </p:nvSpPr>
        <p:spPr bwMode="auto">
          <a:xfrm>
            <a:off x="1016000" y="2184400"/>
            <a:ext cx="3069641" cy="234950"/>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0F766E"/>
                </a:solidFill>
                <a:latin typeface="IBM Plex Mono"/>
                <a:ea typeface="IBM Plex Mono"/>
                <a:cs typeface="IBM Plex Mono"/>
              </a:rPr>
              <a:t>STEP 1 · EASY</a:t>
            </a:r>
            <a:endParaRPr lang="en-US" sz="1200"/>
          </a:p>
        </p:txBody>
      </p:sp>
      <p:sp>
        <p:nvSpPr>
          <p:cNvPr id="728186461" name="Text 6"/>
          <p:cNvSpPr/>
          <p:nvPr/>
        </p:nvSpPr>
        <p:spPr bwMode="auto">
          <a:xfrm>
            <a:off x="1016000" y="2495550"/>
            <a:ext cx="3069641" cy="342900"/>
          </a:xfrm>
          <a:prstGeom prst="rect">
            <a:avLst/>
          </a:prstGeom>
          <a:noFill/>
          <a:ln/>
        </p:spPr>
        <p:txBody>
          <a:bodyPr wrap="square" lIns="0" tIns="0" rIns="0" bIns="0" rtlCol="0" anchor="t">
            <a:normAutofit/>
          </a:bodyPr>
          <a:lstStyle/>
          <a:p>
            <a:pPr marL="0" indent="0" algn="l">
              <a:lnSpc>
                <a:spcPts val="2530"/>
              </a:lnSpc>
              <a:buNone/>
              <a:defRPr/>
            </a:pPr>
            <a:r>
              <a:rPr lang="en-US" sz="2200" b="1">
                <a:solidFill>
                  <a:srgbClr val="14213D"/>
                </a:solidFill>
                <a:latin typeface="Space Grotesk"/>
                <a:ea typeface="Space Grotesk"/>
                <a:cs typeface="Space Grotesk"/>
              </a:rPr>
              <a:t>Understand</a:t>
            </a:r>
            <a:endParaRPr lang="en-US" sz="2200"/>
          </a:p>
        </p:txBody>
      </p:sp>
      <p:sp>
        <p:nvSpPr>
          <p:cNvPr id="1482242605" name="Shape 7"/>
          <p:cNvSpPr/>
          <p:nvPr/>
        </p:nvSpPr>
        <p:spPr bwMode="auto">
          <a:xfrm>
            <a:off x="1016000" y="2914650"/>
            <a:ext cx="2123480" cy="311150"/>
          </a:xfrm>
          <a:prstGeom prst="roundRect">
            <a:avLst>
              <a:gd name="adj" fmla="val 16327"/>
            </a:avLst>
          </a:prstGeom>
          <a:solidFill>
            <a:srgbClr val="FFFDF8"/>
          </a:solidFill>
          <a:ln/>
        </p:spPr>
        <p:txBody>
          <a:bodyPr/>
          <a:lstStyle/>
          <a:p>
            <a:pPr>
              <a:defRPr/>
            </a:pPr>
            <a:endParaRPr lang="en-US"/>
          </a:p>
        </p:txBody>
      </p:sp>
      <p:sp>
        <p:nvSpPr>
          <p:cNvPr id="1292656220" name="Text 8"/>
          <p:cNvSpPr/>
          <p:nvPr/>
        </p:nvSpPr>
        <p:spPr bwMode="auto">
          <a:xfrm>
            <a:off x="1117600" y="2965450"/>
            <a:ext cx="1977888"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14213D"/>
                </a:solidFill>
                <a:latin typeface="IBM Plex Mono"/>
                <a:ea typeface="IBM Plex Mono"/>
                <a:cs typeface="IBM Plex Mono"/>
              </a:rPr>
              <a:t>raw run → clean table</a:t>
            </a:r>
            <a:endParaRPr lang="en-US" sz="1200"/>
          </a:p>
        </p:txBody>
      </p:sp>
      <p:sp>
        <p:nvSpPr>
          <p:cNvPr id="556096630" name="Text 9"/>
          <p:cNvSpPr/>
          <p:nvPr/>
        </p:nvSpPr>
        <p:spPr bwMode="auto">
          <a:xfrm>
            <a:off x="1016000" y="3327400"/>
            <a:ext cx="3069641" cy="58420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3B4660"/>
                </a:solidFill>
                <a:latin typeface="IBM Plex Sans"/>
                <a:ea typeface="IBM Plex Sans"/>
                <a:cs typeface="IBM Plex Sans"/>
              </a:rPr>
              <a:t>Clean, synchronise, rank every signal.</a:t>
            </a:r>
            <a:endParaRPr lang="en-US" sz="1600"/>
          </a:p>
        </p:txBody>
      </p:sp>
      <p:sp>
        <p:nvSpPr>
          <p:cNvPr id="325476428" name="Shape 10"/>
          <p:cNvSpPr/>
          <p:nvPr/>
        </p:nvSpPr>
        <p:spPr bwMode="auto">
          <a:xfrm>
            <a:off x="4402634" y="1930400"/>
            <a:ext cx="3386634" cy="2159000"/>
          </a:xfrm>
          <a:prstGeom prst="roundRect">
            <a:avLst>
              <a:gd name="adj" fmla="val 4706"/>
            </a:avLst>
          </a:prstGeom>
          <a:solidFill>
            <a:srgbClr val="DBE7FF"/>
          </a:solidFill>
          <a:ln/>
        </p:spPr>
        <p:txBody>
          <a:bodyPr/>
          <a:lstStyle/>
          <a:p>
            <a:pPr>
              <a:defRPr/>
            </a:pPr>
            <a:endParaRPr lang="en-US"/>
          </a:p>
        </p:txBody>
      </p:sp>
      <p:sp>
        <p:nvSpPr>
          <p:cNvPr id="696356745" name="Shape 11"/>
          <p:cNvSpPr/>
          <p:nvPr/>
        </p:nvSpPr>
        <p:spPr bwMode="auto">
          <a:xfrm>
            <a:off x="4402634" y="1930400"/>
            <a:ext cx="3386634" cy="2159000"/>
          </a:xfrm>
          <a:custGeom>
            <a:avLst/>
            <a:gdLst/>
            <a:ahLst/>
            <a:cxnLst/>
            <a:rect l="l" t="t" r="r" b="b"/>
            <a:pathLst>
              <a:path w="3386634" h="2159000" fill="norm" stroke="1" extrusionOk="0">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1D4ED8"/>
          </a:solidFill>
          <a:ln/>
        </p:spPr>
        <p:txBody>
          <a:bodyPr/>
          <a:lstStyle/>
          <a:p>
            <a:pPr>
              <a:defRPr/>
            </a:pPr>
            <a:endParaRPr lang="en-US"/>
          </a:p>
        </p:txBody>
      </p:sp>
      <p:sp>
        <p:nvSpPr>
          <p:cNvPr id="1048742405" name="Text 12"/>
          <p:cNvSpPr/>
          <p:nvPr/>
        </p:nvSpPr>
        <p:spPr bwMode="auto">
          <a:xfrm>
            <a:off x="4605834" y="2184400"/>
            <a:ext cx="3069641" cy="234950"/>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1D4ED8"/>
                </a:solidFill>
                <a:latin typeface="IBM Plex Mono"/>
                <a:ea typeface="IBM Plex Mono"/>
                <a:cs typeface="IBM Plex Mono"/>
              </a:rPr>
              <a:t>STEP 2 · MEDIUM</a:t>
            </a:r>
            <a:endParaRPr lang="en-US" sz="1200"/>
          </a:p>
        </p:txBody>
      </p:sp>
      <p:sp>
        <p:nvSpPr>
          <p:cNvPr id="1503567221" name="Text 13"/>
          <p:cNvSpPr/>
          <p:nvPr/>
        </p:nvSpPr>
        <p:spPr bwMode="auto">
          <a:xfrm>
            <a:off x="4605834" y="2495550"/>
            <a:ext cx="3069641" cy="342900"/>
          </a:xfrm>
          <a:prstGeom prst="rect">
            <a:avLst/>
          </a:prstGeom>
          <a:noFill/>
          <a:ln/>
        </p:spPr>
        <p:txBody>
          <a:bodyPr wrap="square" lIns="0" tIns="0" rIns="0" bIns="0" rtlCol="0" anchor="t">
            <a:normAutofit/>
          </a:bodyPr>
          <a:lstStyle/>
          <a:p>
            <a:pPr marL="0" indent="0" algn="l">
              <a:lnSpc>
                <a:spcPts val="2530"/>
              </a:lnSpc>
              <a:buNone/>
              <a:defRPr/>
            </a:pPr>
            <a:r>
              <a:rPr lang="en-US" sz="2200" b="1">
                <a:solidFill>
                  <a:srgbClr val="14213D"/>
                </a:solidFill>
                <a:latin typeface="Space Grotesk"/>
                <a:ea typeface="Space Grotesk"/>
                <a:cs typeface="Space Grotesk"/>
              </a:rPr>
              <a:t>Virtual diagnostic</a:t>
            </a:r>
            <a:endParaRPr lang="en-US" sz="2200"/>
          </a:p>
        </p:txBody>
      </p:sp>
      <p:sp>
        <p:nvSpPr>
          <p:cNvPr id="1701960727" name="Shape 14"/>
          <p:cNvSpPr/>
          <p:nvPr/>
        </p:nvSpPr>
        <p:spPr bwMode="auto">
          <a:xfrm>
            <a:off x="4605834" y="2914650"/>
            <a:ext cx="1483420" cy="311150"/>
          </a:xfrm>
          <a:prstGeom prst="roundRect">
            <a:avLst>
              <a:gd name="adj" fmla="val 16327"/>
            </a:avLst>
          </a:prstGeom>
          <a:solidFill>
            <a:srgbClr val="FFFDF8"/>
          </a:solidFill>
          <a:ln/>
        </p:spPr>
        <p:txBody>
          <a:bodyPr/>
          <a:lstStyle/>
          <a:p>
            <a:pPr>
              <a:defRPr/>
            </a:pPr>
            <a:endParaRPr lang="en-US"/>
          </a:p>
        </p:txBody>
      </p:sp>
      <p:sp>
        <p:nvSpPr>
          <p:cNvPr id="517005090" name="Text 15"/>
          <p:cNvSpPr/>
          <p:nvPr/>
        </p:nvSpPr>
        <p:spPr bwMode="auto">
          <a:xfrm>
            <a:off x="4707434" y="2965450"/>
            <a:ext cx="133102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14213D"/>
                </a:solidFill>
                <a:latin typeface="IBM Plex Mono"/>
                <a:ea typeface="IBM Plex Mono"/>
                <a:cs typeface="IBM Plex Mono"/>
              </a:rPr>
              <a:t>Q[t] = f(X[t])</a:t>
            </a:r>
            <a:endParaRPr lang="en-US" sz="1200"/>
          </a:p>
        </p:txBody>
      </p:sp>
      <p:sp>
        <p:nvSpPr>
          <p:cNvPr id="1032096324" name="Text 16"/>
          <p:cNvSpPr/>
          <p:nvPr/>
        </p:nvSpPr>
        <p:spPr bwMode="auto">
          <a:xfrm>
            <a:off x="4605834" y="3327400"/>
            <a:ext cx="3069641" cy="58420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3B4660"/>
                </a:solidFill>
                <a:latin typeface="IBM Plex Sans"/>
                <a:ea typeface="IBM Plex Sans"/>
                <a:cs typeface="IBM Plex Sans"/>
              </a:rPr>
              <a:t>This shot's charge from this shot's signals.</a:t>
            </a:r>
            <a:endParaRPr lang="en-US" sz="1600"/>
          </a:p>
        </p:txBody>
      </p:sp>
      <p:sp>
        <p:nvSpPr>
          <p:cNvPr id="1126428260" name="Shape 17"/>
          <p:cNvSpPr/>
          <p:nvPr/>
        </p:nvSpPr>
        <p:spPr bwMode="auto">
          <a:xfrm>
            <a:off x="7992467" y="1930400"/>
            <a:ext cx="3386634" cy="2159000"/>
          </a:xfrm>
          <a:prstGeom prst="roundRect">
            <a:avLst>
              <a:gd name="adj" fmla="val 4706"/>
            </a:avLst>
          </a:prstGeom>
          <a:solidFill>
            <a:srgbClr val="FDE2EF"/>
          </a:solidFill>
          <a:ln/>
        </p:spPr>
        <p:txBody>
          <a:bodyPr/>
          <a:lstStyle/>
          <a:p>
            <a:pPr>
              <a:defRPr/>
            </a:pPr>
            <a:endParaRPr lang="en-US"/>
          </a:p>
        </p:txBody>
      </p:sp>
      <p:sp>
        <p:nvSpPr>
          <p:cNvPr id="1962701543" name="Shape 18"/>
          <p:cNvSpPr/>
          <p:nvPr/>
        </p:nvSpPr>
        <p:spPr bwMode="auto">
          <a:xfrm>
            <a:off x="7992467" y="1930400"/>
            <a:ext cx="3386634" cy="2159000"/>
          </a:xfrm>
          <a:custGeom>
            <a:avLst/>
            <a:gdLst/>
            <a:ahLst/>
            <a:cxnLst/>
            <a:rect l="l" t="t" r="r" b="b"/>
            <a:pathLst>
              <a:path w="3386634" h="2159000" fill="norm" stroke="1" extrusionOk="0">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BE185D"/>
          </a:solidFill>
          <a:ln/>
        </p:spPr>
        <p:txBody>
          <a:bodyPr/>
          <a:lstStyle/>
          <a:p>
            <a:pPr>
              <a:defRPr/>
            </a:pPr>
            <a:endParaRPr lang="en-US"/>
          </a:p>
        </p:txBody>
      </p:sp>
      <p:sp>
        <p:nvSpPr>
          <p:cNvPr id="1831250513" name="Text 19"/>
          <p:cNvSpPr/>
          <p:nvPr/>
        </p:nvSpPr>
        <p:spPr bwMode="auto">
          <a:xfrm>
            <a:off x="8195667" y="2184400"/>
            <a:ext cx="3069641" cy="234950"/>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BE185D"/>
                </a:solidFill>
                <a:latin typeface="IBM Plex Mono"/>
                <a:ea typeface="IBM Plex Mono"/>
                <a:cs typeface="IBM Plex Mono"/>
              </a:rPr>
              <a:t>STEP 3 · HARD</a:t>
            </a:r>
            <a:endParaRPr lang="en-US" sz="1200"/>
          </a:p>
        </p:txBody>
      </p:sp>
      <p:sp>
        <p:nvSpPr>
          <p:cNvPr id="1442793433" name="Text 20"/>
          <p:cNvSpPr/>
          <p:nvPr/>
        </p:nvSpPr>
        <p:spPr bwMode="auto">
          <a:xfrm>
            <a:off x="8195667" y="2495550"/>
            <a:ext cx="3069641" cy="342900"/>
          </a:xfrm>
          <a:prstGeom prst="rect">
            <a:avLst/>
          </a:prstGeom>
          <a:noFill/>
          <a:ln/>
        </p:spPr>
        <p:txBody>
          <a:bodyPr wrap="square" lIns="0" tIns="0" rIns="0" bIns="0" rtlCol="0" anchor="t">
            <a:normAutofit/>
          </a:bodyPr>
          <a:lstStyle/>
          <a:p>
            <a:pPr marL="0" indent="0" algn="l">
              <a:lnSpc>
                <a:spcPts val="2530"/>
              </a:lnSpc>
              <a:buNone/>
              <a:defRPr/>
            </a:pPr>
            <a:r>
              <a:rPr lang="en-US" sz="2200" b="1">
                <a:solidFill>
                  <a:srgbClr val="14213D"/>
                </a:solidFill>
                <a:latin typeface="Space Grotesk"/>
                <a:ea typeface="Space Grotesk"/>
                <a:cs typeface="Space Grotesk"/>
              </a:rPr>
              <a:t>Forecast</a:t>
            </a:r>
            <a:endParaRPr lang="en-US" sz="2200"/>
          </a:p>
        </p:txBody>
      </p:sp>
      <p:sp>
        <p:nvSpPr>
          <p:cNvPr id="1258927201" name="Shape 21"/>
          <p:cNvSpPr/>
          <p:nvPr/>
        </p:nvSpPr>
        <p:spPr bwMode="auto">
          <a:xfrm>
            <a:off x="8195667" y="2914650"/>
            <a:ext cx="2763639" cy="311150"/>
          </a:xfrm>
          <a:prstGeom prst="roundRect">
            <a:avLst>
              <a:gd name="adj" fmla="val 16327"/>
            </a:avLst>
          </a:prstGeom>
          <a:solidFill>
            <a:srgbClr val="FFFDF8"/>
          </a:solidFill>
          <a:ln/>
        </p:spPr>
        <p:txBody>
          <a:bodyPr/>
          <a:lstStyle/>
          <a:p>
            <a:pPr>
              <a:defRPr/>
            </a:pPr>
            <a:endParaRPr lang="en-US"/>
          </a:p>
        </p:txBody>
      </p:sp>
      <p:sp>
        <p:nvSpPr>
          <p:cNvPr id="28316031" name="Text 22"/>
          <p:cNvSpPr/>
          <p:nvPr/>
        </p:nvSpPr>
        <p:spPr bwMode="auto">
          <a:xfrm>
            <a:off x="8297267" y="2965450"/>
            <a:ext cx="2637252"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14213D"/>
                </a:solidFill>
                <a:latin typeface="IBM Plex Mono"/>
                <a:ea typeface="IBM Plex Mono"/>
                <a:cs typeface="IBM Plex Mono"/>
              </a:rPr>
              <a:t>Q[t+1…t+H] = f(X[≤t], Q[≤t])</a:t>
            </a:r>
            <a:endParaRPr lang="en-US" sz="1200"/>
          </a:p>
        </p:txBody>
      </p:sp>
      <p:sp>
        <p:nvSpPr>
          <p:cNvPr id="534631771" name="Text 23"/>
          <p:cNvSpPr/>
          <p:nvPr/>
        </p:nvSpPr>
        <p:spPr bwMode="auto">
          <a:xfrm>
            <a:off x="8195667" y="3327400"/>
            <a:ext cx="3069641" cy="58420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3B4660"/>
                </a:solidFill>
                <a:latin typeface="IBM Plex Sans"/>
                <a:ea typeface="IBM Plex Sans"/>
                <a:cs typeface="IBM Plex Sans"/>
              </a:rPr>
              <a:t>The next shots' charge, from the past.</a:t>
            </a:r>
            <a:endParaRPr lang="en-US" sz="1600"/>
          </a:p>
        </p:txBody>
      </p:sp>
      <p:sp>
        <p:nvSpPr>
          <p:cNvPr id="361855836" name="Shape 24"/>
          <p:cNvSpPr/>
          <p:nvPr/>
        </p:nvSpPr>
        <p:spPr bwMode="auto">
          <a:xfrm>
            <a:off x="812800" y="4394200"/>
            <a:ext cx="10566400" cy="965200"/>
          </a:xfrm>
          <a:prstGeom prst="roundRect">
            <a:avLst>
              <a:gd name="adj" fmla="val 10526"/>
            </a:avLst>
          </a:prstGeom>
          <a:gradFill>
            <a:gsLst>
              <a:gs pos="0">
                <a:srgbClr val="1D4ED8"/>
              </a:gs>
              <a:gs pos="55000">
                <a:srgbClr val="6D28D9"/>
              </a:gs>
              <a:gs pos="100000">
                <a:srgbClr val="BE185D"/>
              </a:gs>
            </a:gsLst>
            <a:lin ang="0" scaled="0"/>
          </a:gradFill>
          <a:ln/>
        </p:spPr>
        <p:txBody>
          <a:bodyPr/>
          <a:lstStyle/>
          <a:p>
            <a:pPr>
              <a:defRPr/>
            </a:pPr>
            <a:endParaRPr lang="en-US"/>
          </a:p>
        </p:txBody>
      </p:sp>
      <p:sp>
        <p:nvSpPr>
          <p:cNvPr id="2084997648" name="Text 25"/>
          <p:cNvSpPr/>
          <p:nvPr/>
        </p:nvSpPr>
        <p:spPr bwMode="auto">
          <a:xfrm>
            <a:off x="1066800" y="4772025"/>
            <a:ext cx="1661220" cy="234950"/>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DE68A"/>
                </a:solidFill>
                <a:latin typeface="IBM Plex Mono"/>
                <a:ea typeface="IBM Plex Mono"/>
                <a:cs typeface="IBM Plex Mono"/>
              </a:rPr>
              <a:t>THEN, OPTIONAL</a:t>
            </a:r>
            <a:endParaRPr lang="en-US" sz="1200"/>
          </a:p>
        </p:txBody>
      </p:sp>
      <p:sp>
        <p:nvSpPr>
          <p:cNvPr id="507652025" name="Text 26"/>
          <p:cNvSpPr/>
          <p:nvPr/>
        </p:nvSpPr>
        <p:spPr bwMode="auto">
          <a:xfrm>
            <a:off x="2728020" y="4597400"/>
            <a:ext cx="8649096" cy="58420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FFFDF7"/>
                </a:solidFill>
                <a:latin typeface="IBM Plex Sans"/>
                <a:ea typeface="IBM Plex Sans"/>
                <a:cs typeface="IBM Plex Sans"/>
              </a:rPr>
              <a:t>Close the loop with a controller g(x) on laser power or RF phase. </a:t>
            </a:r>
            <a:r>
              <a:rPr lang="en-US" sz="1600" b="1">
                <a:solidFill>
                  <a:srgbClr val="FFFDF7"/>
                </a:solidFill>
                <a:latin typeface="IBM Plex Sans"/>
                <a:ea typeface="IBM Plex Sans"/>
                <a:cs typeface="IBM Plex Sans"/>
              </a:rPr>
              <a:t>Extremely promising results can earn real beam time on CLEAR.</a:t>
            </a:r>
            <a:endParaRPr lang="en-US" sz="1600"/>
          </a:p>
        </p:txBody>
      </p:sp>
      <p:sp>
        <p:nvSpPr>
          <p:cNvPr id="21557908" name="Text 28"/>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11</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9626811"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598863592" name="Shape 1"/>
          <p:cNvSpPr/>
          <p:nvPr/>
        </p:nvSpPr>
        <p:spPr bwMode="auto">
          <a:xfrm>
            <a:off x="813816" y="813816"/>
            <a:ext cx="2834640" cy="283464"/>
          </a:xfrm>
          <a:prstGeom prst="roundRect">
            <a:avLst>
              <a:gd name="adj" fmla="val 17778"/>
            </a:avLst>
          </a:prstGeom>
          <a:solidFill>
            <a:srgbClr val="0F766E"/>
          </a:solidFill>
          <a:ln/>
        </p:spPr>
        <p:txBody>
          <a:bodyPr/>
          <a:lstStyle/>
          <a:p>
            <a:pPr>
              <a:defRPr/>
            </a:pPr>
            <a:endParaRPr lang="en-US"/>
          </a:p>
        </p:txBody>
      </p:sp>
      <p:sp>
        <p:nvSpPr>
          <p:cNvPr id="439871659"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1 · EASY · RESULTS</a:t>
            </a:r>
            <a:endParaRPr lang="en-US" sz="1200"/>
          </a:p>
        </p:txBody>
      </p:sp>
      <p:sp>
        <p:nvSpPr>
          <p:cNvPr id="702381356"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The data: 63k shots, 123 signals each</a:t>
            </a:r>
            <a:endParaRPr lang="en-US" sz="3600"/>
          </a:p>
        </p:txBody>
      </p:sp>
      <p:sp>
        <p:nvSpPr>
          <p:cNvPr id="716437576" name="Text 12"/>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20</a:t>
            </a:r>
            <a:endParaRPr lang="en-US" sz="1200"/>
          </a:p>
        </p:txBody>
      </p:sp>
      <p:sp>
        <p:nvSpPr>
          <p:cNvPr id="1896446483"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October 2026 acquisitions reduced to one row per shot (HDF5, 100 shots per chunk).</a:t>
            </a:r>
            <a:endParaRPr lang="en-US" sz="1600"/>
          </a:p>
        </p:txBody>
      </p:sp>
      <p:sp>
        <p:nvSpPr>
          <p:cNvPr id="2052663372" name="Text 6"/>
          <p:cNvSpPr/>
          <p:nvPr/>
        </p:nvSpPr>
        <p:spPr bwMode="auto">
          <a:xfrm flipH="0" flipV="0">
            <a:off x="868679" y="2286000"/>
            <a:ext cx="6398156" cy="2377440"/>
          </a:xfrm>
          <a:prstGeom prst="rect">
            <a:avLst/>
          </a:prstGeom>
          <a:noFill/>
          <a:ln/>
        </p:spPr>
        <p:txBody>
          <a:bodyPr wrap="square" lIns="0" tIns="0" rIns="0" bIns="0" rtlCol="0" anchor="t">
            <a:normAutofit/>
          </a:bodyPr>
          <a:lstStyle/>
          <a:p>
            <a:pPr marL="196342" indent="-196342" algn="l">
              <a:lnSpc>
                <a:spcPts val="1960"/>
              </a:lnSpc>
              <a:buSzPct val="100000"/>
              <a:buChar char="•"/>
              <a:defRPr/>
            </a:pPr>
            <a:r>
              <a:rPr lang="en-US" sz="1400">
                <a:solidFill>
                  <a:srgbClr val="3B4660"/>
                </a:solidFill>
                <a:latin typeface="IBM Plex Sans"/>
                <a:ea typeface="IBM Plex Sans"/>
                <a:cs typeface="IBM Plex Sans"/>
              </a:rPr>
              <a:t>9 runs, 1176 chunks, ~117k shots; 5 runs usable: 758 chunks, 136 GB</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Per shot: BCM_GUN (target), lab + clex laser meters, laser scope trace (2002 samples, 50 ns)</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BTV0125 virtual-cathode camera, 1216 × 1936 px</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7 RF traces × 960 samples (gun PGIA/PGRA/PGLA/PGIP, klystron PKI15A/P, PKR15A), magnets, temperature, humidity</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Machine pulses every 1.2 s, but the acquisition skips pulses: rows are 1.2, 2.4 or 3.6 s apart</a:t>
            </a:r>
            <a:endParaRPr lang="en-US" sz="1400"/>
          </a:p>
        </p:txBody>
      </p:sp>
      <p:pic>
        <p:nvPicPr>
          <p:cNvPr id="121061731" name="Picture 14" descr="04_btv0125_cell5.png"/>
          <p:cNvPicPr>
            <a:picLocks noChangeAspect="1"/>
          </p:cNvPicPr>
          <p:nvPr/>
        </p:nvPicPr>
        <p:blipFill rotWithShape="1">
          <a:blip r:embed="rId3"/>
          <a:stretch/>
        </p:blipFill>
        <p:spPr bwMode="auto">
          <a:xfrm flipH="0" flipV="0">
            <a:off x="2700020" y="4071305"/>
            <a:ext cx="4074158" cy="1780854"/>
          </a:xfrm>
          <a:prstGeom prst="rect">
            <a:avLst/>
          </a:prstGeom>
        </p:spPr>
      </p:pic>
      <p:sp>
        <p:nvSpPr>
          <p:cNvPr id="1276618783" name="Text 3"/>
          <p:cNvSpPr/>
          <p:nvPr/>
        </p:nvSpPr>
        <p:spPr bwMode="auto">
          <a:xfrm flipH="0" flipV="0">
            <a:off x="3362577" y="6026200"/>
            <a:ext cx="3116579" cy="274320"/>
          </a:xfrm>
          <a:prstGeom prst="rect">
            <a:avLst/>
          </a:prstGeom>
          <a:noFill/>
          <a:ln/>
        </p:spPr>
        <p:txBody>
          <a:bodyPr vertOverflow="overflow" horzOverflow="overflow" vert="horz" wrap="square" lIns="0" tIns="0" rIns="0" bIns="0" numCol="1" spcCol="0" rtlCol="0" fromWordArt="0" anchor="t" anchorCtr="0" forceAA="0" upright="0" compatLnSpc="0">
            <a:normAutofit fontScale="90000" lnSpcReduction="2000"/>
          </a:bodyPr>
          <a:lstStyle/>
          <a:p>
            <a:pPr marL="0" indent="0" algn="l">
              <a:lnSpc>
                <a:spcPts val="1399"/>
              </a:lnSpc>
              <a:buNone/>
              <a:defRPr/>
            </a:pPr>
            <a:r>
              <a:rPr lang="en" sz="1000" b="1">
                <a:solidFill>
                  <a:srgbClr val="14213D"/>
                </a:solidFill>
                <a:latin typeface="IBM Plex Sans"/>
                <a:ea typeface="IBM Plex Sans"/>
                <a:cs typeface="IBM Plex Sans"/>
              </a:rPr>
              <a:t>Photoinjector laser pulse: raw (left) and cleaned (right)</a:t>
            </a:r>
            <a:endParaRPr sz="10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306277"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33177254" name="Shape 1"/>
          <p:cNvSpPr/>
          <p:nvPr/>
        </p:nvSpPr>
        <p:spPr bwMode="auto">
          <a:xfrm>
            <a:off x="813816" y="813816"/>
            <a:ext cx="2834640" cy="283464"/>
          </a:xfrm>
          <a:prstGeom prst="roundRect">
            <a:avLst>
              <a:gd name="adj" fmla="val 17778"/>
            </a:avLst>
          </a:prstGeom>
          <a:solidFill>
            <a:srgbClr val="0F766E"/>
          </a:solidFill>
          <a:ln/>
        </p:spPr>
        <p:txBody>
          <a:bodyPr/>
          <a:lstStyle/>
          <a:p>
            <a:pPr>
              <a:defRPr/>
            </a:pPr>
            <a:endParaRPr lang="en-US"/>
          </a:p>
        </p:txBody>
      </p:sp>
      <p:sp>
        <p:nvSpPr>
          <p:cNvPr id="371577366"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1 · EASY · RESULTS</a:t>
            </a:r>
            <a:endParaRPr lang="en-US" sz="1200"/>
          </a:p>
        </p:txBody>
      </p:sp>
      <p:sp>
        <p:nvSpPr>
          <p:cNvPr id="891007293"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Run regimes, clean cuts and bad shots</a:t>
            </a:r>
            <a:endParaRPr lang="en-US" sz="3600"/>
          </a:p>
        </p:txBody>
      </p:sp>
      <p:sp>
        <p:nvSpPr>
          <p:cNvPr id="957043562" name="Text 12"/>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21</a:t>
            </a:r>
            <a:endParaRPr lang="en-US" sz="1200"/>
          </a:p>
        </p:txBody>
      </p:sp>
      <p:sp>
        <p:nvSpPr>
          <p:cNvPr id="779584217"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Every run was taken in different conditions</a:t>
            </a:r>
            <a:r>
              <a:rPr lang="en" sz="1600">
                <a:solidFill>
                  <a:srgbClr val="14213D"/>
                </a:solidFill>
                <a:latin typeface="IBM Plex Sans"/>
                <a:ea typeface="IBM Plex Sans"/>
                <a:cs typeface="IBM Plex Sans"/>
              </a:rPr>
              <a:t>.</a:t>
            </a:r>
            <a:endParaRPr lang="en-US" sz="1600"/>
          </a:p>
        </p:txBody>
      </p:sp>
      <p:sp>
        <p:nvSpPr>
          <p:cNvPr id="1624670760" name="Text 6"/>
          <p:cNvSpPr/>
          <p:nvPr/>
        </p:nvSpPr>
        <p:spPr bwMode="auto">
          <a:xfrm flipH="0" flipV="0">
            <a:off x="868679" y="2286000"/>
            <a:ext cx="5212080" cy="3203355"/>
          </a:xfrm>
          <a:prstGeom prst="rect">
            <a:avLst/>
          </a:prstGeom>
          <a:noFill/>
          <a:ln/>
        </p:spPr>
        <p:txBody>
          <a:bodyPr wrap="square" lIns="0" tIns="0" rIns="0" bIns="0" rtlCol="0" anchor="t">
            <a:normAutofit/>
          </a:bodyPr>
          <a:lstStyle/>
          <a:p>
            <a:pPr marL="196342" indent="-196342" algn="l">
              <a:lnSpc>
                <a:spcPts val="1960"/>
              </a:lnSpc>
              <a:buSzPct val="100000"/>
              <a:buChar char="•"/>
              <a:defRPr/>
            </a:pPr>
            <a:r>
              <a:rPr lang="en-US" sz="1400">
                <a:solidFill>
                  <a:srgbClr val="3B4660"/>
                </a:solidFill>
                <a:latin typeface="IBM Plex Sans"/>
                <a:ea typeface="IBM Plex Sans"/>
                <a:cs typeface="IBM Plex Sans"/>
              </a:rPr>
              <a:t>Plateaus at 0.1, 0.22, 4.8, 5.5 and 10 nC, laser scans, and a BCM stuck at a 1.67 nC ceiling</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Clean cuts by inspection: 634 chunks, 63,327 shots, 8 contiguous segments in 3 regimes</a:t>
            </a:r>
            <a:r>
              <a:rPr lang="en" sz="1400">
                <a:solidFill>
                  <a:srgbClr val="3B4660"/>
                </a:solidFill>
                <a:latin typeface="IBM Plex Sans"/>
                <a:ea typeface="IBM Plex Sans"/>
                <a:cs typeface="IBM Plex Sans"/>
              </a:rPr>
              <a:t>:</a:t>
            </a:r>
            <a:endParaRPr lang="en" sz="1400">
              <a:solidFill>
                <a:srgbClr val="3B4660"/>
              </a:solidFill>
              <a:latin typeface="IBM Plex Sans"/>
              <a:ea typeface="IBM Plex Sans"/>
              <a:cs typeface="IBM Plex Sans"/>
            </a:endParaRPr>
          </a:p>
          <a:p>
            <a:pPr marL="596391" lvl="1" indent="-196341" algn="l">
              <a:lnSpc>
                <a:spcPts val="1959"/>
              </a:lnSpc>
              <a:buSzPct val="100000"/>
              <a:buChar char="•"/>
              <a:defRPr/>
            </a:pPr>
            <a:r>
              <a:rPr lang="en" sz="1400">
                <a:solidFill>
                  <a:srgbClr val="3B4660"/>
                </a:solidFill>
                <a:latin typeface="IBM Plex Sans"/>
                <a:ea typeface="IBM Plex Sans"/>
                <a:cs typeface="IBM Plex Sans"/>
              </a:rPr>
              <a:t>Low charge (0.1 - 0.5 nC)</a:t>
            </a:r>
            <a:endParaRPr lang="en-US" sz="1400">
              <a:solidFill>
                <a:srgbClr val="3B4660"/>
              </a:solidFill>
              <a:latin typeface="IBM Plex Sans"/>
              <a:ea typeface="IBM Plex Sans"/>
              <a:cs typeface="IBM Plex Sans"/>
            </a:endParaRPr>
          </a:p>
          <a:p>
            <a:pPr marL="596391" lvl="1" indent="-196341" algn="l">
              <a:lnSpc>
                <a:spcPts val="1959"/>
              </a:lnSpc>
              <a:buSzPct val="100000"/>
              <a:buChar char="•"/>
              <a:defRPr/>
            </a:pPr>
            <a:r>
              <a:rPr lang="en" sz="1400">
                <a:solidFill>
                  <a:srgbClr val="3B4660"/>
                </a:solidFill>
                <a:latin typeface="IBM Plex Sans"/>
                <a:ea typeface="IBM Plex Sans"/>
                <a:cs typeface="IBM Plex Sans"/>
              </a:rPr>
              <a:t>High charge (5 - 20 nC), relatively stable</a:t>
            </a:r>
            <a:endParaRPr lang="en" sz="1400">
              <a:solidFill>
                <a:srgbClr val="3B4660"/>
              </a:solidFill>
              <a:latin typeface="IBM Plex Sans"/>
              <a:ea typeface="IBM Plex Sans"/>
              <a:cs typeface="IBM Plex Sans"/>
            </a:endParaRPr>
          </a:p>
          <a:p>
            <a:pPr marL="596391" lvl="1" indent="-196341" algn="l">
              <a:lnSpc>
                <a:spcPts val="1959"/>
              </a:lnSpc>
              <a:buSzPct val="100000"/>
              <a:buChar char="•"/>
              <a:defRPr/>
            </a:pPr>
            <a:r>
              <a:rPr lang="en" sz="1400">
                <a:solidFill>
                  <a:srgbClr val="3B4660"/>
                </a:solidFill>
                <a:latin typeface="IBM Plex Sans"/>
                <a:ea typeface="IBM Plex Sans"/>
                <a:cs typeface="IBM Plex Sans"/>
              </a:rPr>
              <a:t>High charge (5 - 20 nC), periodic drifts</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Flagged: frozen laser scope (repeats its trace on up to 20 % of shots) and frozen camera frames</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The BCM itself is sometimes wrong while the PGLA beam-loading step still sees the charge</a:t>
            </a:r>
            <a:endParaRPr lang="en-US" sz="1400"/>
          </a:p>
        </p:txBody>
      </p:sp>
      <p:pic>
        <p:nvPicPr>
          <p:cNvPr id="912093680" name="Picture 14" descr="bcm_runs.png"/>
          <p:cNvPicPr>
            <a:picLocks noChangeAspect="1"/>
          </p:cNvPicPr>
          <p:nvPr/>
        </p:nvPicPr>
        <p:blipFill rotWithShape="1">
          <a:blip r:embed="rId3"/>
          <a:stretch/>
        </p:blipFill>
        <p:spPr bwMode="auto">
          <a:xfrm flipH="0" flipV="0">
            <a:off x="5936971" y="2296270"/>
            <a:ext cx="6037902" cy="3789613"/>
          </a:xfrm>
          <a:prstGeom prst="rect">
            <a:avLst/>
          </a:prstGeom>
        </p:spPr>
      </p:pic>
      <p:pic>
        <p:nvPicPr>
          <p:cNvPr id="483819185" name="Picture 15" descr="stitched_bcm.png"/>
          <p:cNvPicPr>
            <a:picLocks noChangeAspect="1"/>
          </p:cNvPicPr>
          <p:nvPr/>
        </p:nvPicPr>
        <p:blipFill rotWithShape="1">
          <a:blip r:embed="rId4"/>
          <a:stretch/>
        </p:blipFill>
        <p:spPr bwMode="auto">
          <a:xfrm>
            <a:off x="1385636" y="5489355"/>
            <a:ext cx="4178164" cy="1325880"/>
          </a:xfrm>
          <a:prstGeom prst="rect">
            <a:avLst/>
          </a:prstGeom>
        </p:spPr>
      </p:pic>
      <p:sp>
        <p:nvSpPr>
          <p:cNvPr id="771272251" name="Text 3"/>
          <p:cNvSpPr/>
          <p:nvPr/>
        </p:nvSpPr>
        <p:spPr bwMode="auto">
          <a:xfrm flipH="0" flipV="0">
            <a:off x="2622426" y="5215035"/>
            <a:ext cx="1704585" cy="274320"/>
          </a:xfrm>
          <a:prstGeom prst="rect">
            <a:avLst/>
          </a:prstGeom>
          <a:noFill/>
          <a:ln/>
        </p:spPr>
        <p:txBody>
          <a:bodyPr vertOverflow="overflow" horzOverflow="overflow" vert="horz" wrap="square" lIns="0" tIns="0" rIns="0" bIns="0" numCol="1" spcCol="0" rtlCol="0" fromWordArt="0" anchor="t" anchorCtr="0" forceAA="0" upright="0" compatLnSpc="0">
            <a:normAutofit fontScale="70000" lnSpcReduction="6000"/>
          </a:bodyPr>
          <a:lstStyle/>
          <a:p>
            <a:pPr marL="0" indent="0" algn="l">
              <a:lnSpc>
                <a:spcPts val="1399"/>
              </a:lnSpc>
              <a:buNone/>
              <a:defRPr/>
            </a:pPr>
            <a:r>
              <a:rPr lang="en" sz="1000" b="1">
                <a:solidFill>
                  <a:srgbClr val="14213D"/>
                </a:solidFill>
                <a:latin typeface="IBM Plex Sans"/>
                <a:ea typeface="IBM Plex Sans"/>
                <a:cs typeface="IBM Plex Sans"/>
              </a:rPr>
              <a:t>All useful datasets stitched together</a:t>
            </a:r>
            <a:endParaRPr sz="1000" b="1"/>
          </a:p>
        </p:txBody>
      </p:sp>
      <p:sp>
        <p:nvSpPr>
          <p:cNvPr id="5451218" name="Text 3"/>
          <p:cNvSpPr/>
          <p:nvPr/>
        </p:nvSpPr>
        <p:spPr bwMode="auto">
          <a:xfrm flipH="0" flipV="0">
            <a:off x="8749986" y="6202679"/>
            <a:ext cx="674725" cy="274320"/>
          </a:xfrm>
          <a:prstGeom prst="rect">
            <a:avLst/>
          </a:prstGeom>
          <a:noFill/>
          <a:ln/>
        </p:spPr>
        <p:txBody>
          <a:bodyPr vertOverflow="overflow" horzOverflow="overflow" vert="horz" wrap="square" lIns="0" tIns="0" rIns="0" bIns="0" numCol="1" spcCol="0" rtlCol="0" fromWordArt="0" anchor="t" anchorCtr="0" forceAA="0" upright="0" compatLnSpc="0">
            <a:normAutofit fontScale="80000" lnSpcReduction="4000"/>
          </a:bodyPr>
          <a:lstStyle/>
          <a:p>
            <a:pPr marL="0" indent="0" algn="l">
              <a:lnSpc>
                <a:spcPts val="1399"/>
              </a:lnSpc>
              <a:buNone/>
              <a:defRPr/>
            </a:pPr>
            <a:r>
              <a:rPr lang="en" sz="1000" b="1">
                <a:solidFill>
                  <a:srgbClr val="14213D"/>
                </a:solidFill>
                <a:latin typeface="IBM Plex Sans"/>
                <a:ea typeface="IBM Plex Sans"/>
                <a:cs typeface="IBM Plex Sans"/>
              </a:rPr>
              <a:t>All 9 datasets</a:t>
            </a:r>
            <a:endParaRPr sz="10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3044801"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509083854" name="Shape 1"/>
          <p:cNvSpPr/>
          <p:nvPr/>
        </p:nvSpPr>
        <p:spPr bwMode="auto">
          <a:xfrm>
            <a:off x="813816" y="813816"/>
            <a:ext cx="2834640" cy="283464"/>
          </a:xfrm>
          <a:prstGeom prst="roundRect">
            <a:avLst>
              <a:gd name="adj" fmla="val 17778"/>
            </a:avLst>
          </a:prstGeom>
          <a:solidFill>
            <a:srgbClr val="0F766E"/>
          </a:solidFill>
          <a:ln/>
        </p:spPr>
        <p:txBody>
          <a:bodyPr/>
          <a:lstStyle/>
          <a:p>
            <a:pPr>
              <a:defRPr/>
            </a:pPr>
            <a:endParaRPr lang="en-US"/>
          </a:p>
        </p:txBody>
      </p:sp>
      <p:sp>
        <p:nvSpPr>
          <p:cNvPr id="2079618310"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1 · EASY · RESULTS</a:t>
            </a:r>
            <a:endParaRPr lang="en-US" sz="1200"/>
          </a:p>
        </p:txBody>
      </p:sp>
      <p:sp>
        <p:nvSpPr>
          <p:cNvPr id="1367915799"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Synchronisation on the pulse grid</a:t>
            </a:r>
            <a:endParaRPr lang="en-US" sz="3600"/>
          </a:p>
        </p:txBody>
      </p:sp>
      <p:sp>
        <p:nvSpPr>
          <p:cNvPr id="1596580936" name="Text 12"/>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22</a:t>
            </a:r>
            <a:endParaRPr lang="en-US" sz="1200"/>
          </a:p>
        </p:txBody>
      </p:sp>
      <p:sp>
        <p:nvSpPr>
          <p:cNvPr id="1724079367"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Pulses are skipped, so a fixed one-row shift is wrong: readings go on the 1.2 s pulse grid.</a:t>
            </a:r>
            <a:endParaRPr lang="en-US" sz="1600"/>
          </a:p>
        </p:txBody>
      </p:sp>
      <p:sp>
        <p:nvSpPr>
          <p:cNvPr id="1203784394" name="Text 6"/>
          <p:cNvSpPr/>
          <p:nvPr/>
        </p:nvSpPr>
        <p:spPr bwMode="auto">
          <a:xfrm>
            <a:off x="868680" y="2286000"/>
            <a:ext cx="5394960" cy="265176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Lag scans: lab laser vs charge r = 0.17 at lag 0, 0.83 at lag +1; camera peaks at lag 0</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Laser meters hold the previous pulse when read &lt; 2.2 s after the trigger</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RF traces hold the pulse before the one their stamp names; the camera stamp is one pulse late on 15 % of shots</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Aligned datasets (pulses.py, extract_features_aligned.py): readings of unrecorded pulses become NaN instead of a neighbour's value</a:t>
            </a:r>
            <a:endParaRPr lang="en-US" sz="1300"/>
          </a:p>
        </p:txBody>
      </p:sp>
      <p:sp>
        <p:nvSpPr>
          <p:cNvPr id="525887581" name="Text 3"/>
          <p:cNvSpPr/>
          <p:nvPr/>
        </p:nvSpPr>
        <p:spPr bwMode="auto">
          <a:xfrm>
            <a:off x="6400800" y="3611880"/>
            <a:ext cx="5120640" cy="274320"/>
          </a:xfrm>
          <a:prstGeom prst="rect">
            <a:avLst/>
          </a:prstGeom>
          <a:noFill/>
          <a:ln/>
        </p:spPr>
        <p:txBody>
          <a:bodyPr wrap="square" lIns="0" tIns="0" rIns="0" bIns="0" rtlCol="0" anchor="t">
            <a:normAutofit/>
          </a:bodyPr>
          <a:lstStyle/>
          <a:p>
            <a:pPr marL="0" indent="0" algn="l">
              <a:lnSpc>
                <a:spcPts val="1400"/>
              </a:lnSpc>
              <a:buNone/>
              <a:defRPr/>
            </a:pPr>
            <a:r>
              <a:rPr lang="en-US" sz="1000">
                <a:solidFill>
                  <a:srgbClr val="14213D"/>
                </a:solidFill>
                <a:latin typeface="IBM Plex Sans"/>
                <a:ea typeface="IBM Plex Sans"/>
                <a:cs typeface="IBM Plex Sans"/>
              </a:rPr>
              <a:t>Laser vs charge over a run, scatter, and the lag scan peaking at +1 row</a:t>
            </a:r>
            <a:endParaRPr lang="en-US" sz="1000"/>
          </a:p>
        </p:txBody>
      </p:sp>
      <p:pic>
        <p:nvPicPr>
          <p:cNvPr id="303108374" name="Picture 14" descr="03_laser_scope_cell10.png"/>
          <p:cNvPicPr>
            <a:picLocks noChangeAspect="1"/>
          </p:cNvPicPr>
          <p:nvPr/>
        </p:nvPicPr>
        <p:blipFill rotWithShape="1">
          <a:blip r:embed="rId3"/>
          <a:stretch/>
        </p:blipFill>
        <p:spPr bwMode="auto">
          <a:xfrm>
            <a:off x="6400800" y="2171843"/>
            <a:ext cx="5120640" cy="1417032"/>
          </a:xfrm>
          <a:prstGeom prst="rect">
            <a:avLst/>
          </a:prstGeom>
        </p:spPr>
      </p:pic>
      <p:graphicFrame>
        <p:nvGraphicFramePr>
          <p:cNvPr id="839465270" name="Table 15"/>
          <p:cNvGraphicFramePr>
            <a:graphicFrameLocks xmlns:a="http://schemas.openxmlformats.org/drawingml/2006/main" noGrp="1"/>
          </p:cNvGraphicFramePr>
          <p:nvPr/>
        </p:nvGraphicFramePr>
        <p:xfrm rot="0">
          <a:off x="6400800" y="3886200"/>
          <a:ext cx="5120635" cy="822960"/>
        </p:xfrm>
        <a:graphic>
          <a:graphicData uri="http://schemas.openxmlformats.org/drawingml/2006/table">
            <a:tbl>
              <a:tblPr firstRow="1" firstCol="0" lastRow="0" lastCol="0" bandRow="1" bandCol="0">
                <a:tableStyleId>{5C22544A-7EE6-4342-B048-85BDC9FD1C3A}</a:tableStyleId>
              </a:tblPr>
              <a:tblGrid>
                <a:gridCol w="1843430"/>
                <a:gridCol w="655441"/>
                <a:gridCol w="655441"/>
                <a:gridCol w="655441"/>
                <a:gridCol w="655441"/>
                <a:gridCol w="655441"/>
              </a:tblGrid>
              <a:tr h="274320">
                <a:tc>
                  <a:txBody>
                    <a:bodyPr/>
                    <a:p>
                      <a:pPr>
                        <a:defRPr/>
                      </a:pPr>
                      <a:r>
                        <a:rPr sz="1000" b="1">
                          <a:solidFill>
                            <a:srgbClr val="14213D"/>
                          </a:solidFill>
                          <a:latin typeface="IBM Plex Sans"/>
                        </a:rPr>
                        <a:t>ridge test R² (common rows)</a:t>
                      </a:r>
                      <a:endParaRPr/>
                    </a:p>
                  </a:txBody>
                  <a:tcPr marL="45720" marR="45720" marT="18288" marB="18288">
                    <a:solidFill>
                      <a:srgbClr val="E6E0D2"/>
                    </a:solidFill>
                  </a:tcPr>
                </a:tc>
                <a:tc>
                  <a:txBody>
                    <a:bodyPr/>
                    <a:p>
                      <a:pPr>
                        <a:defRPr/>
                      </a:pPr>
                      <a:r>
                        <a:rPr sz="1000" b="1">
                          <a:solidFill>
                            <a:srgbClr val="14213D"/>
                          </a:solidFill>
                          <a:latin typeface="IBM Plex Sans"/>
                        </a:rPr>
                        <a:t>seg 3</a:t>
                      </a:r>
                      <a:endParaRPr/>
                    </a:p>
                  </a:txBody>
                  <a:tcPr marL="45720" marR="45720" marT="18288" marB="18288">
                    <a:solidFill>
                      <a:srgbClr val="E6E0D2"/>
                    </a:solidFill>
                  </a:tcPr>
                </a:tc>
                <a:tc>
                  <a:txBody>
                    <a:bodyPr/>
                    <a:p>
                      <a:pPr>
                        <a:defRPr/>
                      </a:pPr>
                      <a:r>
                        <a:rPr sz="1000" b="1">
                          <a:solidFill>
                            <a:srgbClr val="14213D"/>
                          </a:solidFill>
                          <a:latin typeface="IBM Plex Sans"/>
                        </a:rPr>
                        <a:t>seg 4</a:t>
                      </a:r>
                      <a:endParaRPr/>
                    </a:p>
                  </a:txBody>
                  <a:tcPr marL="45720" marR="45720" marT="18288" marB="18288">
                    <a:solidFill>
                      <a:srgbClr val="E6E0D2"/>
                    </a:solidFill>
                  </a:tcPr>
                </a:tc>
                <a:tc>
                  <a:txBody>
                    <a:bodyPr/>
                    <a:p>
                      <a:pPr>
                        <a:defRPr/>
                      </a:pPr>
                      <a:r>
                        <a:rPr sz="1000" b="1">
                          <a:solidFill>
                            <a:srgbClr val="14213D"/>
                          </a:solidFill>
                          <a:latin typeface="IBM Plex Sans"/>
                        </a:rPr>
                        <a:t>seg 5</a:t>
                      </a:r>
                      <a:endParaRPr/>
                    </a:p>
                  </a:txBody>
                  <a:tcPr marL="45720" marR="45720" marT="18288" marB="18288">
                    <a:solidFill>
                      <a:srgbClr val="E6E0D2"/>
                    </a:solidFill>
                  </a:tcPr>
                </a:tc>
                <a:tc>
                  <a:txBody>
                    <a:bodyPr/>
                    <a:p>
                      <a:pPr>
                        <a:defRPr/>
                      </a:pPr>
                      <a:r>
                        <a:rPr sz="1000" b="1">
                          <a:solidFill>
                            <a:srgbClr val="14213D"/>
                          </a:solidFill>
                          <a:latin typeface="IBM Plex Sans"/>
                        </a:rPr>
                        <a:t>seg 1</a:t>
                      </a:r>
                      <a:endParaRPr/>
                    </a:p>
                  </a:txBody>
                  <a:tcPr marL="45720" marR="45720" marT="18288" marB="18288">
                    <a:solidFill>
                      <a:srgbClr val="E6E0D2"/>
                    </a:solidFill>
                  </a:tcPr>
                </a:tc>
                <a:tc>
                  <a:txBody>
                    <a:bodyPr/>
                    <a:p>
                      <a:pPr>
                        <a:defRPr/>
                      </a:pPr>
                      <a:r>
                        <a:rPr sz="1000" b="1">
                          <a:solidFill>
                            <a:srgbClr val="14213D"/>
                          </a:solidFill>
                          <a:latin typeface="IBM Plex Sans"/>
                        </a:rPr>
                        <a:t>seg 7</a:t>
                      </a:r>
                      <a:endParaRPr/>
                    </a:p>
                  </a:txBody>
                  <a:tcPr marL="45720" marR="45720" marT="18288" marB="18288">
                    <a:solidFill>
                      <a:srgbClr val="E6E0D2"/>
                    </a:solidFill>
                  </a:tcPr>
                </a:tc>
              </a:tr>
              <a:tr h="274320">
                <a:tc>
                  <a:txBody>
                    <a:bodyPr/>
                    <a:p>
                      <a:pPr>
                        <a:defRPr/>
                      </a:pPr>
                      <a:r>
                        <a:rPr sz="1000" b="1">
                          <a:solidFill>
                            <a:srgbClr val="14213D"/>
                          </a:solidFill>
                          <a:latin typeface="IBM Plex Sans"/>
                        </a:rPr>
                        <a:t>row-shifted datasets</a:t>
                      </a:r>
                      <a:endParaRPr/>
                    </a:p>
                  </a:txBody>
                  <a:tcPr marL="45720" marR="45720" marT="18288" marB="18288">
                    <a:solidFill>
                      <a:srgbClr val="FFFDF8"/>
                    </a:solidFill>
                  </a:tcPr>
                </a:tc>
                <a:tc>
                  <a:txBody>
                    <a:bodyPr/>
                    <a:p>
                      <a:pPr>
                        <a:defRPr/>
                      </a:pPr>
                      <a:r>
                        <a:rPr sz="1000" b="0">
                          <a:solidFill>
                            <a:srgbClr val="14213D"/>
                          </a:solidFill>
                          <a:latin typeface="IBM Plex Sans"/>
                        </a:rPr>
                        <a:t>0.19</a:t>
                      </a:r>
                      <a:endParaRPr/>
                    </a:p>
                  </a:txBody>
                  <a:tcPr marL="45720" marR="45720" marT="18288" marB="18288">
                    <a:solidFill>
                      <a:srgbClr val="FFFDF8"/>
                    </a:solidFill>
                  </a:tcPr>
                </a:tc>
                <a:tc>
                  <a:txBody>
                    <a:bodyPr/>
                    <a:p>
                      <a:pPr>
                        <a:defRPr/>
                      </a:pPr>
                      <a:r>
                        <a:rPr sz="1000" b="0">
                          <a:solidFill>
                            <a:srgbClr val="14213D"/>
                          </a:solidFill>
                          <a:latin typeface="IBM Plex Sans"/>
                        </a:rPr>
                        <a:t>0.54</a:t>
                      </a:r>
                      <a:endParaRPr/>
                    </a:p>
                  </a:txBody>
                  <a:tcPr marL="45720" marR="45720" marT="18288" marB="18288">
                    <a:solidFill>
                      <a:srgbClr val="FFFDF8"/>
                    </a:solidFill>
                  </a:tcPr>
                </a:tc>
                <a:tc>
                  <a:txBody>
                    <a:bodyPr/>
                    <a:p>
                      <a:pPr>
                        <a:defRPr/>
                      </a:pPr>
                      <a:r>
                        <a:rPr sz="1000" b="0">
                          <a:solidFill>
                            <a:srgbClr val="14213D"/>
                          </a:solidFill>
                          <a:latin typeface="IBM Plex Sans"/>
                        </a:rPr>
                        <a:t>0.65</a:t>
                      </a:r>
                      <a:endParaRPr/>
                    </a:p>
                  </a:txBody>
                  <a:tcPr marL="45720" marR="45720" marT="18288" marB="18288">
                    <a:solidFill>
                      <a:srgbClr val="FFFDF8"/>
                    </a:solidFill>
                  </a:tcPr>
                </a:tc>
                <a:tc>
                  <a:txBody>
                    <a:bodyPr/>
                    <a:p>
                      <a:pPr>
                        <a:defRPr/>
                      </a:pPr>
                      <a:r>
                        <a:rPr sz="1000" b="0">
                          <a:solidFill>
                            <a:srgbClr val="14213D"/>
                          </a:solidFill>
                          <a:latin typeface="IBM Plex Sans"/>
                        </a:rPr>
                        <a:t>0.44</a:t>
                      </a:r>
                      <a:endParaRPr/>
                    </a:p>
                  </a:txBody>
                  <a:tcPr marL="45720" marR="45720" marT="18288" marB="18288">
                    <a:solidFill>
                      <a:srgbClr val="FFFDF8"/>
                    </a:solidFill>
                  </a:tcPr>
                </a:tc>
                <a:tc>
                  <a:txBody>
                    <a:bodyPr/>
                    <a:p>
                      <a:pPr>
                        <a:defRPr/>
                      </a:pPr>
                      <a:r>
                        <a:rPr sz="1000" b="0">
                          <a:solidFill>
                            <a:srgbClr val="14213D"/>
                          </a:solidFill>
                          <a:latin typeface="IBM Plex Sans"/>
                        </a:rPr>
                        <a:t>0.38</a:t>
                      </a:r>
                      <a:endParaRPr/>
                    </a:p>
                  </a:txBody>
                  <a:tcPr marL="45720" marR="45720" marT="18288" marB="18288">
                    <a:solidFill>
                      <a:srgbClr val="FFFDF8"/>
                    </a:solidFill>
                  </a:tcPr>
                </a:tc>
              </a:tr>
              <a:tr h="274320">
                <a:tc>
                  <a:txBody>
                    <a:bodyPr/>
                    <a:p>
                      <a:pPr>
                        <a:defRPr/>
                      </a:pPr>
                      <a:r>
                        <a:rPr sz="1000" b="1">
                          <a:solidFill>
                            <a:srgbClr val="14213D"/>
                          </a:solidFill>
                          <a:latin typeface="IBM Plex Sans"/>
                        </a:rPr>
                        <a:t>pulse-aligned datasets</a:t>
                      </a:r>
                      <a:endParaRPr/>
                    </a:p>
                  </a:txBody>
                  <a:tcPr marL="45720" marR="45720" marT="18288" marB="18288">
                    <a:solidFill>
                      <a:srgbClr val="FFFDF8"/>
                    </a:solidFill>
                  </a:tcPr>
                </a:tc>
                <a:tc>
                  <a:txBody>
                    <a:bodyPr/>
                    <a:p>
                      <a:pPr>
                        <a:defRPr/>
                      </a:pPr>
                      <a:r>
                        <a:rPr sz="1000" b="0">
                          <a:solidFill>
                            <a:srgbClr val="14213D"/>
                          </a:solidFill>
                          <a:latin typeface="IBM Plex Sans"/>
                        </a:rPr>
                        <a:t>0.25</a:t>
                      </a:r>
                      <a:endParaRPr/>
                    </a:p>
                  </a:txBody>
                  <a:tcPr marL="45720" marR="45720" marT="18288" marB="18288">
                    <a:solidFill>
                      <a:srgbClr val="FFFDF8"/>
                    </a:solidFill>
                  </a:tcPr>
                </a:tc>
                <a:tc>
                  <a:txBody>
                    <a:bodyPr/>
                    <a:p>
                      <a:pPr>
                        <a:defRPr/>
                      </a:pPr>
                      <a:r>
                        <a:rPr sz="1000" b="0">
                          <a:solidFill>
                            <a:srgbClr val="14213D"/>
                          </a:solidFill>
                          <a:latin typeface="IBM Plex Sans"/>
                        </a:rPr>
                        <a:t>0.41</a:t>
                      </a:r>
                      <a:endParaRPr/>
                    </a:p>
                  </a:txBody>
                  <a:tcPr marL="45720" marR="45720" marT="18288" marB="18288">
                    <a:solidFill>
                      <a:srgbClr val="FFFDF8"/>
                    </a:solidFill>
                  </a:tcPr>
                </a:tc>
                <a:tc>
                  <a:txBody>
                    <a:bodyPr/>
                    <a:p>
                      <a:pPr>
                        <a:defRPr/>
                      </a:pPr>
                      <a:r>
                        <a:rPr sz="1000" b="0">
                          <a:solidFill>
                            <a:srgbClr val="14213D"/>
                          </a:solidFill>
                          <a:latin typeface="IBM Plex Sans"/>
                        </a:rPr>
                        <a:t>0.89</a:t>
                      </a:r>
                      <a:endParaRPr/>
                    </a:p>
                  </a:txBody>
                  <a:tcPr marL="45720" marR="45720" marT="18288" marB="18288">
                    <a:solidFill>
                      <a:srgbClr val="FFFDF8"/>
                    </a:solidFill>
                  </a:tcPr>
                </a:tc>
                <a:tc>
                  <a:txBody>
                    <a:bodyPr/>
                    <a:p>
                      <a:pPr>
                        <a:defRPr/>
                      </a:pPr>
                      <a:r>
                        <a:rPr sz="1000" b="0">
                          <a:solidFill>
                            <a:srgbClr val="14213D"/>
                          </a:solidFill>
                          <a:latin typeface="IBM Plex Sans"/>
                        </a:rPr>
                        <a:t>0.38</a:t>
                      </a:r>
                      <a:endParaRPr/>
                    </a:p>
                  </a:txBody>
                  <a:tcPr marL="45720" marR="45720" marT="18288" marB="18288">
                    <a:solidFill>
                      <a:srgbClr val="FFFDF8"/>
                    </a:solidFill>
                  </a:tcPr>
                </a:tc>
                <a:tc>
                  <a:txBody>
                    <a:bodyPr/>
                    <a:p>
                      <a:pPr>
                        <a:defRPr/>
                      </a:pPr>
                      <a:r>
                        <a:rPr sz="1000" b="0">
                          <a:solidFill>
                            <a:srgbClr val="14213D"/>
                          </a:solidFill>
                          <a:latin typeface="IBM Plex Sans"/>
                        </a:rPr>
                        <a:t>0.76</a:t>
                      </a:r>
                      <a:endParaRPr/>
                    </a:p>
                  </a:txBody>
                  <a:tcPr marL="45720" marR="45720" marT="18288" marB="18288">
                    <a:solidFill>
                      <a:srgbClr val="FFFD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5351367"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257879844" name="Shape 1"/>
          <p:cNvSpPr/>
          <p:nvPr/>
        </p:nvSpPr>
        <p:spPr bwMode="auto">
          <a:xfrm>
            <a:off x="813816" y="813816"/>
            <a:ext cx="2834640" cy="283464"/>
          </a:xfrm>
          <a:prstGeom prst="roundRect">
            <a:avLst>
              <a:gd name="adj" fmla="val 17778"/>
            </a:avLst>
          </a:prstGeom>
          <a:solidFill>
            <a:srgbClr val="0F766E"/>
          </a:solidFill>
          <a:ln/>
        </p:spPr>
        <p:txBody>
          <a:bodyPr/>
          <a:lstStyle/>
          <a:p>
            <a:pPr>
              <a:defRPr/>
            </a:pPr>
            <a:endParaRPr lang="en-US"/>
          </a:p>
        </p:txBody>
      </p:sp>
      <p:sp>
        <p:nvSpPr>
          <p:cNvPr id="1688295649"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1 · EASY · RESULTS</a:t>
            </a:r>
            <a:endParaRPr lang="en-US" sz="1200"/>
          </a:p>
        </p:txBody>
      </p:sp>
      <p:sp>
        <p:nvSpPr>
          <p:cNvPr id="1910114471"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What correlates with the charge</a:t>
            </a:r>
            <a:endParaRPr lang="en-US" sz="3600"/>
          </a:p>
        </p:txBody>
      </p:sp>
      <p:sp>
        <p:nvSpPr>
          <p:cNvPr id="114788281" name="Text 12"/>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23</a:t>
            </a:r>
            <a:endParaRPr lang="en-US" sz="1200"/>
          </a:p>
        </p:txBody>
      </p:sp>
      <p:sp>
        <p:nvSpPr>
          <p:cNvPr id="616467481"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Pearson r of the shot-to-shot parts</a:t>
            </a:r>
            <a:endParaRPr lang="en-US" sz="1600"/>
          </a:p>
        </p:txBody>
      </p:sp>
      <p:sp>
        <p:nvSpPr>
          <p:cNvPr id="1308662038" name="Text 6"/>
          <p:cNvSpPr/>
          <p:nvPr/>
        </p:nvSpPr>
        <p:spPr bwMode="auto">
          <a:xfrm>
            <a:off x="868680" y="2286000"/>
            <a:ext cx="5303520" cy="228600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Strongest: lab laser power, camera intensity (0.79), PCA PC3, laser scope amplitude</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Klystron, magnets and climate: |r| &lt; 0.1; ridge on all klystron samples has CV R² ≈ 0</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PGLA beam-loading dip (~7 mV, samples 631→636) is linear in charge 0.3–10.4 nC: a second charge monitor</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Charge is very persistent: "same as previous shot" R² = 0.96; shot-to-shot autocorrelation 0.67 at lag 1, 0 by lag 10</a:t>
            </a:r>
            <a:endParaRPr lang="en-US" sz="1300"/>
          </a:p>
        </p:txBody>
      </p:sp>
      <p:pic>
        <p:nvPicPr>
          <p:cNvPr id="992328151" name="Picture 15" descr="02_extract_waveforms_cell5.png"/>
          <p:cNvPicPr>
            <a:picLocks noChangeAspect="1"/>
          </p:cNvPicPr>
          <p:nvPr/>
        </p:nvPicPr>
        <p:blipFill rotWithShape="1">
          <a:blip r:embed="rId3"/>
          <a:stretch/>
        </p:blipFill>
        <p:spPr bwMode="auto">
          <a:xfrm>
            <a:off x="1570585" y="4617720"/>
            <a:ext cx="3899708" cy="1234440"/>
          </a:xfrm>
          <a:prstGeom prst="rect">
            <a:avLst/>
          </a:prstGeom>
        </p:spPr>
      </p:pic>
      <p:pic>
        <p:nvPicPr>
          <p:cNvPr id="901687724" name=""/>
          <p:cNvPicPr>
            <a:picLocks noChangeAspect="1"/>
          </p:cNvPicPr>
          <p:nvPr/>
        </p:nvPicPr>
        <p:blipFill rotWithShape="1">
          <a:blip r:embed="rId4"/>
          <a:stretch/>
        </p:blipFill>
        <p:spPr bwMode="auto">
          <a:xfrm flipH="0" flipV="0">
            <a:off x="7233119" y="1862893"/>
            <a:ext cx="4835495" cy="4076323"/>
          </a:xfrm>
          <a:prstGeom prst="rect">
            <a:avLst/>
          </a:prstGeom>
        </p:spPr>
      </p:pic>
      <p:sp>
        <p:nvSpPr>
          <p:cNvPr id="783689415" name="Text 3"/>
          <p:cNvSpPr/>
          <p:nvPr/>
        </p:nvSpPr>
        <p:spPr bwMode="auto">
          <a:xfrm flipH="0" flipV="0">
            <a:off x="1619350" y="5967729"/>
            <a:ext cx="3919498" cy="758774"/>
          </a:xfrm>
          <a:prstGeom prst="rect">
            <a:avLst/>
          </a:prstGeom>
          <a:noFill/>
          <a:ln/>
        </p:spPr>
        <p:txBody>
          <a:bodyPr vertOverflow="overflow" horzOverflow="overflow" vert="horz" wrap="square" lIns="0" tIns="0" rIns="0" bIns="0" numCol="1" spcCol="0" rtlCol="0" fromWordArt="0" anchor="t" anchorCtr="0" forceAA="0" upright="0" compatLnSpc="0">
            <a:normAutofit/>
          </a:bodyPr>
          <a:lstStyle/>
          <a:p>
            <a:pPr marL="0" indent="0" algn="l">
              <a:lnSpc>
                <a:spcPts val="1399"/>
              </a:lnSpc>
              <a:buNone/>
              <a:defRPr/>
            </a:pPr>
            <a:r>
              <a:rPr lang="en" sz="1000" b="1">
                <a:solidFill>
                  <a:srgbClr val="14213D"/>
                </a:solidFill>
                <a:latin typeface="IBM Plex Sans"/>
                <a:ea typeface="IBM Plex Sans"/>
                <a:cs typeface="IBM Plex Sans"/>
              </a:rPr>
              <a:t>RF forward power. Left: full trace; Right: beam loading (peak-to-peak) could be used as proxy for bunch charge.</a:t>
            </a:r>
            <a:endParaRPr sz="1000" b="1"/>
          </a:p>
        </p:txBody>
      </p:sp>
      <p:sp>
        <p:nvSpPr>
          <p:cNvPr id="832394176" name="Text 3"/>
          <p:cNvSpPr/>
          <p:nvPr/>
        </p:nvSpPr>
        <p:spPr bwMode="auto">
          <a:xfrm flipH="0" flipV="0">
            <a:off x="7435501" y="6024238"/>
            <a:ext cx="4374675" cy="702265"/>
          </a:xfrm>
          <a:prstGeom prst="rect">
            <a:avLst/>
          </a:prstGeom>
          <a:noFill/>
          <a:ln/>
        </p:spPr>
        <p:txBody>
          <a:bodyPr vertOverflow="overflow" horzOverflow="overflow" vert="horz" wrap="square" lIns="0" tIns="0" rIns="0" bIns="0" numCol="1" spcCol="0" rtlCol="0" fromWordArt="0" anchor="t" anchorCtr="0" forceAA="0" upright="0" compatLnSpc="0">
            <a:normAutofit/>
          </a:bodyPr>
          <a:lstStyle/>
          <a:p>
            <a:pPr marL="0" indent="0" algn="l">
              <a:lnSpc>
                <a:spcPts val="1399"/>
              </a:lnSpc>
              <a:buNone/>
              <a:defRPr/>
            </a:pPr>
            <a:r>
              <a:rPr lang="en" sz="1000" b="1">
                <a:solidFill>
                  <a:srgbClr val="14213D"/>
                </a:solidFill>
                <a:latin typeface="IBM Plex Sans"/>
                <a:ea typeface="IBM Plex Sans"/>
                <a:cs typeface="IBM Plex Sans"/>
              </a:rPr>
              <a:t>Pearson R between all variables in the dataset: BCM_GUN (leftmost column) is the target</a:t>
            </a:r>
            <a:endParaRPr sz="10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4809499"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576979514" name="Shape 1"/>
          <p:cNvSpPr/>
          <p:nvPr/>
        </p:nvSpPr>
        <p:spPr bwMode="auto">
          <a:xfrm>
            <a:off x="813816" y="813816"/>
            <a:ext cx="2834640" cy="283464"/>
          </a:xfrm>
          <a:prstGeom prst="roundRect">
            <a:avLst>
              <a:gd name="adj" fmla="val 17778"/>
            </a:avLst>
          </a:prstGeom>
          <a:solidFill>
            <a:srgbClr val="0F766E"/>
          </a:solidFill>
          <a:ln/>
        </p:spPr>
        <p:txBody>
          <a:bodyPr/>
          <a:lstStyle/>
          <a:p>
            <a:pPr>
              <a:defRPr/>
            </a:pPr>
            <a:endParaRPr lang="en-US"/>
          </a:p>
        </p:txBody>
      </p:sp>
      <p:sp>
        <p:nvSpPr>
          <p:cNvPr id="1166191999"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1 · EASY · RESULTS</a:t>
            </a:r>
            <a:endParaRPr lang="en-US" sz="1200"/>
          </a:p>
        </p:txBody>
      </p:sp>
      <p:sp>
        <p:nvSpPr>
          <p:cNvPr id="132760340"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Camera features: PCA, SVD, autoencoder</a:t>
            </a:r>
            <a:endParaRPr lang="en-US" sz="3600"/>
          </a:p>
        </p:txBody>
      </p:sp>
      <p:sp>
        <p:nvSpPr>
          <p:cNvPr id="2052032073" name="Text 12"/>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24</a:t>
            </a:r>
            <a:endParaRPr lang="en-US" sz="1200"/>
          </a:p>
        </p:txBody>
      </p:sp>
      <p:sp>
        <p:nvSpPr>
          <p:cNvPr id="1568315727"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Beyond peak and integral: what in the laser spot image carries the charge.</a:t>
            </a:r>
            <a:endParaRPr lang="en-US" sz="1600"/>
          </a:p>
        </p:txBody>
      </p:sp>
      <p:sp>
        <p:nvSpPr>
          <p:cNvPr id="1322216081" name="Text 6"/>
          <p:cNvSpPr/>
          <p:nvPr/>
        </p:nvSpPr>
        <p:spPr bwMode="auto">
          <a:xfrm>
            <a:off x="868680" y="3520440"/>
            <a:ext cx="5394960" cy="233172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Classic moments after ROI, background and median filter: intensity, centroid, sizes, tilt</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PCA over all shots: PC1 81.5 %, 6 PCs 97.5 %; PC1–2 = centroid motion, PC3–4 = brightness and size</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Per-image SVD: s1 ≈ brightness (r = 0.98 with intensity), no basis fitted across shots, so no leakage</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Greedy selection keeps 10 features: lab laser, PGLA drop, SVD s1/s4–s6, camera intensity, PKI15A, tilt, x</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CNN autoencoder (16-d latent) + LSTM on the latent sequence: prototype, no charge result yet</a:t>
            </a:r>
            <a:endParaRPr lang="en-US" sz="1300"/>
          </a:p>
        </p:txBody>
      </p:sp>
      <p:pic>
        <p:nvPicPr>
          <p:cNvPr id="2075603616" name="Picture 14" descr="04_1_btv0125_pca_cell7.png"/>
          <p:cNvPicPr>
            <a:picLocks noChangeAspect="1"/>
          </p:cNvPicPr>
          <p:nvPr/>
        </p:nvPicPr>
        <p:blipFill rotWithShape="1">
          <a:blip r:embed="rId3"/>
          <a:stretch/>
        </p:blipFill>
        <p:spPr bwMode="auto">
          <a:xfrm>
            <a:off x="822960" y="2238861"/>
            <a:ext cx="10698480" cy="1100117"/>
          </a:xfrm>
          <a:prstGeom prst="rect">
            <a:avLst/>
          </a:prstGeom>
        </p:spPr>
      </p:pic>
      <p:pic>
        <p:nvPicPr>
          <p:cNvPr id="2082171376" name="Picture 15" descr="shape_svd_vs_classic.png"/>
          <p:cNvPicPr>
            <a:picLocks noChangeAspect="1"/>
          </p:cNvPicPr>
          <p:nvPr/>
        </p:nvPicPr>
        <p:blipFill rotWithShape="1">
          <a:blip r:embed="rId4"/>
          <a:stretch/>
        </p:blipFill>
        <p:spPr bwMode="auto">
          <a:xfrm>
            <a:off x="6400800" y="3720883"/>
            <a:ext cx="5120640" cy="188511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9184875"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221956685" name="Shape 1"/>
          <p:cNvSpPr/>
          <p:nvPr/>
        </p:nvSpPr>
        <p:spPr bwMode="auto">
          <a:xfrm>
            <a:off x="813816" y="813816"/>
            <a:ext cx="2834640" cy="283464"/>
          </a:xfrm>
          <a:prstGeom prst="roundRect">
            <a:avLst>
              <a:gd name="adj" fmla="val 17778"/>
            </a:avLst>
          </a:prstGeom>
          <a:solidFill>
            <a:srgbClr val="0F766E"/>
          </a:solidFill>
          <a:ln/>
        </p:spPr>
        <p:txBody>
          <a:bodyPr/>
          <a:lstStyle/>
          <a:p>
            <a:pPr>
              <a:defRPr/>
            </a:pPr>
            <a:endParaRPr lang="en-US"/>
          </a:p>
        </p:txBody>
      </p:sp>
      <p:sp>
        <p:nvSpPr>
          <p:cNvPr id="1130767185"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1 · EASY · RESULTS</a:t>
            </a:r>
            <a:endParaRPr lang="en-US" sz="1200"/>
          </a:p>
        </p:txBody>
      </p:sp>
      <p:sp>
        <p:nvSpPr>
          <p:cNvPr id="581690567"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Structure across runs: t-SNE of the 16 features</a:t>
            </a:r>
            <a:endParaRPr lang="en-US" sz="3600"/>
          </a:p>
        </p:txBody>
      </p:sp>
      <p:sp>
        <p:nvSpPr>
          <p:cNvPr id="84331089" name="Text 12"/>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25</a:t>
            </a:r>
            <a:endParaRPr lang="en-US" sz="1200"/>
          </a:p>
        </p:txBody>
      </p:sp>
      <p:sp>
        <p:nvSpPr>
          <p:cNvPr id="1411023340"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Shots cluster by run and charge level; the features themselves carry little memory.</a:t>
            </a:r>
            <a:endParaRPr lang="en-US" sz="1600"/>
          </a:p>
        </p:txBody>
      </p:sp>
      <p:sp>
        <p:nvSpPr>
          <p:cNvPr id="1524894459" name="Text 6"/>
          <p:cNvSpPr/>
          <p:nvPr/>
        </p:nvSpPr>
        <p:spPr bwMode="auto">
          <a:xfrm>
            <a:off x="868680" y="4572000"/>
            <a:ext cx="10607040" cy="1280160"/>
          </a:xfrm>
          <a:prstGeom prst="rect">
            <a:avLst/>
          </a:prstGeom>
          <a:noFill/>
          <a:ln/>
        </p:spPr>
        <p:txBody>
          <a:bodyPr wrap="square" lIns="0" tIns="0" rIns="0" bIns="0" rtlCol="0" anchor="t">
            <a:normAutofit/>
          </a:bodyPr>
          <a:lstStyle/>
          <a:p>
            <a:pPr marL="196342" indent="-196342" algn="l">
              <a:lnSpc>
                <a:spcPts val="1960"/>
              </a:lnSpc>
              <a:buSzPct val="100000"/>
              <a:buChar char="•"/>
              <a:defRPr/>
            </a:pPr>
            <a:r>
              <a:rPr lang="en-US" sz="1400">
                <a:solidFill>
                  <a:srgbClr val="3B4660"/>
                </a:solidFill>
                <a:latin typeface="IBM Plex Sans"/>
                <a:ea typeface="IBM Plex Sans"/>
                <a:cs typeface="IBM Plex Sans"/>
              </a:rPr>
              <a:t>Segments 5 and 6 (both ~5.5 nC) overlap, segment 7 (10 nC) sits apart, the low-charge segments merge</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Predicting a feature from its previous shot: R² between −0.15 and 0.18, so the past adds little beyond the charge history</a:t>
            </a:r>
            <a:endParaRPr lang="en-US" sz="1400"/>
          </a:p>
        </p:txBody>
      </p:sp>
      <p:sp>
        <p:nvSpPr>
          <p:cNvPr id="822023807" name="Text 3"/>
          <p:cNvSpPr/>
          <p:nvPr/>
        </p:nvSpPr>
        <p:spPr bwMode="auto">
          <a:xfrm>
            <a:off x="822960" y="5870448"/>
            <a:ext cx="10607040" cy="274320"/>
          </a:xfrm>
          <a:prstGeom prst="rect">
            <a:avLst/>
          </a:prstGeom>
          <a:noFill/>
          <a:ln/>
        </p:spPr>
        <p:txBody>
          <a:bodyPr wrap="square" lIns="0" tIns="0" rIns="0" bIns="0" rtlCol="0" anchor="t">
            <a:normAutofit/>
          </a:bodyPr>
          <a:lstStyle/>
          <a:p>
            <a:pPr marL="0" indent="0" algn="l">
              <a:lnSpc>
                <a:spcPts val="1400"/>
              </a:lnSpc>
              <a:buNone/>
              <a:defRPr/>
            </a:pPr>
            <a:r>
              <a:rPr lang="en-US" sz="1000">
                <a:solidFill>
                  <a:srgbClr val="14213D"/>
                </a:solidFill>
                <a:latin typeface="IBM Plex Sans"/>
                <a:ea typeface="IBM Plex Sans"/>
                <a:cs typeface="IBM Plex Sans"/>
              </a:rPr>
              <a:t>10,500 shots, coloured by segment, by time and by charge.</a:t>
            </a:r>
            <a:endParaRPr lang="en-US" sz="1000"/>
          </a:p>
        </p:txBody>
      </p:sp>
      <p:pic>
        <p:nvPicPr>
          <p:cNvPr id="1459726955" name="Picture 14" descr="tsne_all_segments.png"/>
          <p:cNvPicPr>
            <a:picLocks noChangeAspect="1"/>
          </p:cNvPicPr>
          <p:nvPr/>
        </p:nvPicPr>
        <p:blipFill rotWithShape="1">
          <a:blip r:embed="rId3"/>
          <a:stretch/>
        </p:blipFill>
        <p:spPr bwMode="auto">
          <a:xfrm>
            <a:off x="2530903" y="2194560"/>
            <a:ext cx="7282592" cy="233172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BF8F1"/>
        </a:solidFill>
      </p:bgPr>
    </p:bg>
    <p:spTree>
      <p:nvGrpSpPr>
        <p:cNvPr id="1" name=""/>
        <p:cNvGrpSpPr/>
        <p:nvPr/>
      </p:nvGrpSpPr>
      <p:grpSpPr bwMode="auto">
        <a:xfrm>
          <a:off x="0" y="0"/>
          <a:ext cx="0" cy="0"/>
          <a:chOff x="0" y="0"/>
          <a:chExt cx="0" cy="0"/>
        </a:xfrm>
      </p:grpSpPr>
      <p:sp>
        <p:nvSpPr>
          <p:cNvPr id="2090128943"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99221111" name="Shape 1"/>
          <p:cNvSpPr/>
          <p:nvPr/>
        </p:nvSpPr>
        <p:spPr bwMode="auto">
          <a:xfrm>
            <a:off x="812800" y="812800"/>
            <a:ext cx="1765300" cy="285750"/>
          </a:xfrm>
          <a:prstGeom prst="roundRect">
            <a:avLst>
              <a:gd name="adj" fmla="val 17778"/>
            </a:avLst>
          </a:prstGeom>
          <a:solidFill>
            <a:srgbClr val="1D4ED8"/>
          </a:solidFill>
          <a:ln/>
        </p:spPr>
        <p:txBody>
          <a:bodyPr/>
          <a:lstStyle/>
          <a:p>
            <a:pPr>
              <a:defRPr/>
            </a:pPr>
            <a:endParaRPr lang="en-US"/>
          </a:p>
        </p:txBody>
      </p:sp>
      <p:sp>
        <p:nvSpPr>
          <p:cNvPr id="321911927" name="Text 2"/>
          <p:cNvSpPr/>
          <p:nvPr/>
        </p:nvSpPr>
        <p:spPr bwMode="auto">
          <a:xfrm>
            <a:off x="914400" y="850900"/>
            <a:ext cx="1612900" cy="234950"/>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2 · MEDIUM</a:t>
            </a:r>
            <a:endParaRPr lang="en-US" sz="1200"/>
          </a:p>
        </p:txBody>
      </p:sp>
      <p:sp>
        <p:nvSpPr>
          <p:cNvPr id="1712674818"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Virtual diagnostic</a:t>
            </a:r>
            <a:endParaRPr lang="en-US" sz="3600"/>
          </a:p>
        </p:txBody>
      </p:sp>
      <p:sp>
        <p:nvSpPr>
          <p:cNvPr id="1129274975" name="Text 5"/>
          <p:cNvSpPr/>
          <p:nvPr/>
        </p:nvSpPr>
        <p:spPr bwMode="auto">
          <a:xfrm>
            <a:off x="815975" y="2295525"/>
            <a:ext cx="5506541" cy="717550"/>
          </a:xfrm>
          <a:prstGeom prst="roundRect">
            <a:avLst>
              <a:gd name="adj" fmla="val 10177"/>
            </a:avLst>
          </a:prstGeom>
          <a:solidFill>
            <a:srgbClr val="FFFDF8"/>
          </a:solidFill>
          <a:ln w="6350">
            <a:solidFill>
              <a:srgbClr val="E6E0D2"/>
            </a:solidFill>
            <a:prstDash val="solid"/>
          </a:ln>
        </p:spPr>
        <p:txBody>
          <a:bodyPr wrap="square" lIns="134187" tIns="108787" rIns="0" bIns="83387" rtlCol="0" anchor="t">
            <a:normAutofit/>
          </a:bodyPr>
          <a:lstStyle/>
          <a:p>
            <a:pPr marL="0" indent="0" algn="l">
              <a:lnSpc>
                <a:spcPts val="1800"/>
              </a:lnSpc>
              <a:buNone/>
              <a:defRPr/>
            </a:pPr>
            <a:r>
              <a:rPr lang="en-US" sz="1200">
                <a:solidFill>
                  <a:srgbClr val="14213D"/>
                </a:solidFill>
                <a:latin typeface="IBM Plex Mono"/>
                <a:ea typeface="IBM Plex Mono"/>
                <a:cs typeface="IBM Plex Mono"/>
              </a:rPr>
              <a:t>Examine the performance of various model and try with and without BCM_GUN in the loop </a:t>
            </a:r>
            <a:endParaRPr lang="en-US" sz="1200"/>
          </a:p>
        </p:txBody>
      </p:sp>
      <p:sp>
        <p:nvSpPr>
          <p:cNvPr id="1373436005" name="Text 6"/>
          <p:cNvSpPr/>
          <p:nvPr/>
        </p:nvSpPr>
        <p:spPr bwMode="auto">
          <a:xfrm>
            <a:off x="870457" y="3219449"/>
            <a:ext cx="5613000" cy="2260600"/>
          </a:xfrm>
          <a:prstGeom prst="rect">
            <a:avLst/>
          </a:prstGeom>
          <a:noFill/>
          <a:ln/>
        </p:spPr>
        <p:txBody>
          <a:bodyPr wrap="square" lIns="0" tIns="0" rIns="0" bIns="0" rtlCol="0" anchor="t">
            <a:normAutofit/>
          </a:bodyPr>
          <a:lstStyle/>
          <a:p>
            <a:pPr marL="196342" indent="-196342" algn="l">
              <a:lnSpc>
                <a:spcPts val="2240"/>
              </a:lnSpc>
              <a:buSzPct val="100000"/>
              <a:buChar char="•"/>
              <a:defRPr/>
            </a:pPr>
            <a:r>
              <a:rPr lang="en-US" sz="1600">
                <a:solidFill>
                  <a:srgbClr val="3B4660"/>
                </a:solidFill>
                <a:latin typeface="IBM Plex Sans"/>
                <a:ea typeface="IBM Plex Sans"/>
                <a:cs typeface="IBM Plex Sans"/>
              </a:rPr>
              <a:t>Compare a linear model, a tree ensemble and a neural network</a:t>
            </a:r>
            <a:endParaRPr lang="en-US" sz="1600"/>
          </a:p>
          <a:p>
            <a:pPr marL="196342" indent="-196342" algn="l">
              <a:lnSpc>
                <a:spcPts val="2240"/>
              </a:lnSpc>
              <a:buSzPct val="100000"/>
              <a:buChar char="•"/>
              <a:defRPr/>
            </a:pPr>
            <a:r>
              <a:rPr lang="en-US" sz="1600">
                <a:solidFill>
                  <a:srgbClr val="3B4660"/>
                </a:solidFill>
                <a:latin typeface="IBM Plex Sans"/>
                <a:ea typeface="IBM Plex Sans"/>
                <a:cs typeface="IBM Plex Sans"/>
              </a:rPr>
              <a:t>Show what drives each model</a:t>
            </a:r>
            <a:endParaRPr lang="en-US" sz="1600"/>
          </a:p>
          <a:p>
            <a:pPr marL="196342" indent="-196342" algn="l">
              <a:lnSpc>
                <a:spcPts val="2240"/>
              </a:lnSpc>
              <a:buSzPct val="100000"/>
              <a:buChar char="•"/>
              <a:defRPr/>
            </a:pPr>
            <a:r>
              <a:rPr lang="en-US" sz="1600">
                <a:solidFill>
                  <a:srgbClr val="3B4660"/>
                </a:solidFill>
                <a:latin typeface="IBM Plex Sans"/>
                <a:ea typeface="IBM Plex Sans"/>
                <a:cs typeface="IBM Plex Sans"/>
              </a:rPr>
              <a:t>Cross-run: train on one run, test on another</a:t>
            </a:r>
            <a:endParaRPr lang="en-US" sz="1600"/>
          </a:p>
          <a:p>
            <a:pPr marL="196342" indent="-196342" algn="l">
              <a:lnSpc>
                <a:spcPts val="2240"/>
              </a:lnSpc>
              <a:buSzPct val="100000"/>
              <a:buChar char="•"/>
              <a:defRPr/>
            </a:pPr>
            <a:r>
              <a:rPr lang="en-US" sz="1600">
                <a:solidFill>
                  <a:srgbClr val="3B4660"/>
                </a:solidFill>
                <a:latin typeface="IBM Plex Sans"/>
                <a:ea typeface="IBM Plex Sans"/>
                <a:cs typeface="IBM Plex Sans"/>
              </a:rPr>
              <a:t>Report how much the metrics change with different past history</a:t>
            </a:r>
            <a:endParaRPr lang="en-US" sz="1600"/>
          </a:p>
        </p:txBody>
      </p:sp>
      <p:sp>
        <p:nvSpPr>
          <p:cNvPr id="702418081" name="Shape 7"/>
          <p:cNvSpPr/>
          <p:nvPr/>
        </p:nvSpPr>
        <p:spPr bwMode="auto">
          <a:xfrm>
            <a:off x="6630491" y="2006600"/>
            <a:ext cx="4748709" cy="3448050"/>
          </a:xfrm>
          <a:prstGeom prst="roundRect">
            <a:avLst>
              <a:gd name="adj" fmla="val 2947"/>
            </a:avLst>
          </a:prstGeom>
          <a:solidFill>
            <a:srgbClr val="DBE7FF"/>
          </a:solidFill>
          <a:ln/>
        </p:spPr>
        <p:txBody>
          <a:bodyPr/>
          <a:lstStyle/>
          <a:p>
            <a:pPr>
              <a:defRPr/>
            </a:pPr>
            <a:endParaRPr lang="en-US"/>
          </a:p>
        </p:txBody>
      </p:sp>
      <p:sp>
        <p:nvSpPr>
          <p:cNvPr id="2131015126" name="Shape 8"/>
          <p:cNvSpPr/>
          <p:nvPr/>
        </p:nvSpPr>
        <p:spPr bwMode="auto">
          <a:xfrm>
            <a:off x="6630491" y="2006600"/>
            <a:ext cx="4748709" cy="3448050"/>
          </a:xfrm>
          <a:custGeom>
            <a:avLst/>
            <a:gdLst/>
            <a:ahLst/>
            <a:cxnLst/>
            <a:rect l="l" t="t" r="r" b="b"/>
            <a:pathLst>
              <a:path w="4748709" h="3448050" fill="norm" stroke="1" extrusionOk="0">
                <a:moveTo>
                  <a:pt x="0" y="101600"/>
                </a:moveTo>
                <a:lnTo>
                  <a:pt x="0" y="101600"/>
                </a:lnTo>
                <a:arcTo wR="101600" hR="101600" stAng="10800000" swAng="5400000"/>
                <a:lnTo>
                  <a:pt x="4647109" y="0"/>
                </a:lnTo>
                <a:arcTo wR="101600" hR="101600" stAng="16200000" swAng="5400000"/>
                <a:lnTo>
                  <a:pt x="4748709" y="101600"/>
                </a:lnTo>
                <a:arcTo wR="101600" hR="50800" stAng="0" swAng="-5400000"/>
                <a:lnTo>
                  <a:pt x="101600" y="50800"/>
                </a:lnTo>
                <a:arcTo wR="101600" hR="50800" stAng="16200000" swAng="-5400000"/>
                <a:close/>
              </a:path>
            </a:pathLst>
          </a:custGeom>
          <a:solidFill>
            <a:srgbClr val="1D4ED8"/>
          </a:solidFill>
          <a:ln/>
        </p:spPr>
        <p:txBody>
          <a:bodyPr/>
          <a:lstStyle/>
          <a:p>
            <a:pPr>
              <a:defRPr/>
            </a:pPr>
            <a:endParaRPr lang="en-US"/>
          </a:p>
        </p:txBody>
      </p:sp>
      <p:sp>
        <p:nvSpPr>
          <p:cNvPr id="155467204" name="Text 9"/>
          <p:cNvSpPr/>
          <p:nvPr/>
        </p:nvSpPr>
        <p:spPr bwMode="auto">
          <a:xfrm>
            <a:off x="6884491" y="2311399"/>
            <a:ext cx="4367930" cy="234950"/>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1D4ED8"/>
                </a:solidFill>
                <a:latin typeface="IBM Plex Mono"/>
                <a:ea typeface="IBM Plex Mono"/>
                <a:cs typeface="IBM Plex Mono"/>
              </a:rPr>
              <a:t>THE GOAL</a:t>
            </a:r>
            <a:endParaRPr lang="en-US" sz="1200"/>
          </a:p>
        </p:txBody>
      </p:sp>
      <p:sp>
        <p:nvSpPr>
          <p:cNvPr id="780439826" name="Text 10"/>
          <p:cNvSpPr/>
          <p:nvPr/>
        </p:nvSpPr>
        <p:spPr bwMode="auto">
          <a:xfrm>
            <a:off x="6884491" y="2647949"/>
            <a:ext cx="4367930" cy="1913890"/>
          </a:xfrm>
          <a:prstGeom prst="rect">
            <a:avLst/>
          </a:prstGeom>
          <a:noFill/>
          <a:ln/>
        </p:spPr>
        <p:txBody>
          <a:bodyPr wrap="square" lIns="0" tIns="0" rIns="0" bIns="0" rtlCol="0" anchor="t">
            <a:normAutofit/>
          </a:bodyPr>
          <a:lstStyle/>
          <a:p>
            <a:pPr marL="342900" indent="-342900" algn="l">
              <a:lnSpc>
                <a:spcPts val="2240"/>
              </a:lnSpc>
              <a:buFont typeface="+mj-lt"/>
              <a:buAutoNum type="arabicPeriod"/>
              <a:defRPr/>
            </a:pPr>
            <a:r>
              <a:rPr lang="en-US" sz="1600">
                <a:solidFill>
                  <a:srgbClr val="14213D"/>
                </a:solidFill>
                <a:latin typeface="IBM Plex Sans"/>
                <a:ea typeface="IBM Plex Sans"/>
                <a:cs typeface="IBM Plex Sans"/>
              </a:rPr>
              <a:t>Obtain good performance in the virtual diagnostic fashion.</a:t>
            </a:r>
            <a:endParaRPr/>
          </a:p>
          <a:p>
            <a:pPr marL="342900" indent="-342900" algn="l">
              <a:lnSpc>
                <a:spcPts val="2240"/>
              </a:lnSpc>
              <a:buFont typeface="+mj-lt"/>
              <a:buAutoNum type="arabicPeriod"/>
              <a:defRPr/>
            </a:pPr>
            <a:r>
              <a:rPr lang="en-US" sz="1600">
                <a:solidFill>
                  <a:srgbClr val="14213D"/>
                </a:solidFill>
                <a:latin typeface="IBM Plex Sans"/>
                <a:ea typeface="IBM Plex Sans"/>
                <a:cs typeface="IBM Plex Sans"/>
              </a:rPr>
              <a:t>Identify the right metric and try some basic model (</a:t>
            </a:r>
            <a:r>
              <a:rPr lang="en-US" sz="1600">
                <a:solidFill>
                  <a:srgbClr val="14213D"/>
                </a:solidFill>
                <a:latin typeface="IBM Plex Sans"/>
                <a:ea typeface="IBM Plex Sans"/>
                <a:cs typeface="IBM Plex Sans"/>
              </a:rPr>
              <a:t>ElasticNet</a:t>
            </a:r>
            <a:r>
              <a:rPr lang="en-US" sz="1600">
                <a:solidFill>
                  <a:srgbClr val="14213D"/>
                </a:solidFill>
                <a:latin typeface="IBM Plex Sans"/>
                <a:ea typeface="IBM Plex Sans"/>
                <a:cs typeface="IBM Plex Sans"/>
              </a:rPr>
              <a:t>, Random Forest, XGBoost and MLP).</a:t>
            </a:r>
            <a:endParaRPr lang="en-US" sz="1600"/>
          </a:p>
        </p:txBody>
      </p:sp>
      <p:sp>
        <p:nvSpPr>
          <p:cNvPr id="1036298414"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26</a:t>
            </a:r>
            <a:endParaRPr lang="en-US" sz="1200"/>
          </a:p>
        </p:txBody>
      </p:sp>
      <p:sp>
        <p:nvSpPr>
          <p:cNvPr id="694321658" name="Text 12"/>
          <p:cNvSpPr/>
          <p:nvPr/>
        </p:nvSpPr>
        <p:spPr bwMode="auto">
          <a:xfrm>
            <a:off x="812799" y="6242049"/>
            <a:ext cx="7848599" cy="234949"/>
          </a:xfrm>
          <a:prstGeom prst="rect">
            <a:avLst/>
          </a:prstGeom>
          <a:noFill/>
          <a:ln/>
        </p:spPr>
        <p:txBody>
          <a:bodyPr wrap="square" lIns="0" tIns="0" rIns="0" bIns="0" rtlCol="0" anchor="t">
            <a:normAutofit/>
          </a:bodyPr>
          <a:lstStyle/>
          <a:p>
            <a:pPr marL="0" indent="0" algn="l">
              <a:lnSpc>
                <a:spcPts val="1679"/>
              </a:lnSpc>
              <a:buNone/>
              <a:defRPr/>
            </a:pPr>
            <a:r>
              <a:rPr lang="en-US" sz="1200">
                <a:solidFill>
                  <a:srgbClr val="5A6478"/>
                </a:solidFill>
                <a:latin typeface="IBM Plex Mono"/>
                <a:ea typeface="IBM Plex Mono"/>
                <a:cs typeface="IBM Plex Mono"/>
              </a:rPr>
              <a:t>Forecasting the CLEAR beam charge</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6759359"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2079522094" name="Shape 1"/>
          <p:cNvSpPr/>
          <p:nvPr/>
        </p:nvSpPr>
        <p:spPr bwMode="auto">
          <a:xfrm>
            <a:off x="813816" y="813816"/>
            <a:ext cx="2834640" cy="283464"/>
          </a:xfrm>
          <a:prstGeom prst="roundRect">
            <a:avLst>
              <a:gd name="adj" fmla="val 17778"/>
            </a:avLst>
          </a:prstGeom>
          <a:solidFill>
            <a:srgbClr val="1D4ED8"/>
          </a:solidFill>
          <a:ln/>
        </p:spPr>
        <p:txBody>
          <a:bodyPr/>
          <a:lstStyle/>
          <a:p>
            <a:pPr>
              <a:defRPr/>
            </a:pPr>
            <a:endParaRPr lang="en-US"/>
          </a:p>
        </p:txBody>
      </p:sp>
      <p:sp>
        <p:nvSpPr>
          <p:cNvPr id="543860505"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2 · MEDIUM · RESULTS</a:t>
            </a:r>
            <a:endParaRPr lang="en-US" sz="1200"/>
          </a:p>
        </p:txBody>
      </p:sp>
      <p:sp>
        <p:nvSpPr>
          <p:cNvPr id="2144792006"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Model zoo without BCM history</a:t>
            </a:r>
            <a:endParaRPr lang="en-US" sz="3600"/>
          </a:p>
        </p:txBody>
      </p:sp>
      <p:sp>
        <p:nvSpPr>
          <p:cNvPr id="456072539" name="Text 12"/>
          <p:cNvSpPr/>
          <p:nvPr/>
        </p:nvSpPr>
        <p:spPr bwMode="auto">
          <a:xfrm>
            <a:off x="812800" y="6242050"/>
            <a:ext cx="784860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5A6478"/>
                </a:solidFill>
                <a:latin typeface="IBM Plex Mono"/>
                <a:ea typeface="IBM Plex Mono"/>
                <a:cs typeface="IBM Plex Mono"/>
              </a:rPr>
              <a:t>Forecasting the CLEAR beam charge </a:t>
            </a:r>
            <a:endParaRPr lang="en-US" sz="1200"/>
          </a:p>
        </p:txBody>
      </p:sp>
      <p:sp>
        <p:nvSpPr>
          <p:cNvPr id="1572542394"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27</a:t>
            </a:r>
            <a:endParaRPr lang="en-US" sz="1200"/>
          </a:p>
        </p:txBody>
      </p:sp>
      <p:sp>
        <p:nvSpPr>
          <p:cNvPr id="1906469343"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Absolute charge from the same shot's inputs; per segment, chronological 80/20, shots with a camera frame.</a:t>
            </a:r>
            <a:endParaRPr lang="en-US" sz="1600"/>
          </a:p>
        </p:txBody>
      </p:sp>
      <p:sp>
        <p:nvSpPr>
          <p:cNvPr id="192729084" name="Text 6"/>
          <p:cNvSpPr/>
          <p:nvPr/>
        </p:nvSpPr>
        <p:spPr bwMode="auto">
          <a:xfrm>
            <a:off x="6995160" y="2240280"/>
            <a:ext cx="4480560" cy="219456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MLP best on 4 of 7 segments (R² 0.91 on seg 5)</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Trees cannot extrapolate beyond the training range (XGBoost 185 pC on seg 1)</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A never-seen segment is off by 12–60 %; refitting only its intercept fixes it: the slopes transfer</a:t>
            </a:r>
            <a:endParaRPr lang="en-US" sz="1300"/>
          </a:p>
        </p:txBody>
      </p:sp>
      <p:pic>
        <p:nvPicPr>
          <p:cNvPr id="1802676023" name="Picture 15" descr="08_simple_models_cell15.png"/>
          <p:cNvPicPr>
            <a:picLocks noChangeAspect="1"/>
          </p:cNvPicPr>
          <p:nvPr/>
        </p:nvPicPr>
        <p:blipFill rotWithShape="1">
          <a:blip r:embed="rId3"/>
          <a:stretch/>
        </p:blipFill>
        <p:spPr bwMode="auto">
          <a:xfrm>
            <a:off x="3624673" y="4297680"/>
            <a:ext cx="5095052" cy="1554480"/>
          </a:xfrm>
          <a:prstGeom prst="rect">
            <a:avLst/>
          </a:prstGeom>
        </p:spPr>
      </p:pic>
      <p:graphicFrame>
        <p:nvGraphicFramePr>
          <p:cNvPr id="1409054549" name="Table 16"/>
          <p:cNvGraphicFramePr>
            <a:graphicFrameLocks xmlns:a="http://schemas.openxmlformats.org/drawingml/2006/main" noGrp="1"/>
          </p:cNvGraphicFramePr>
          <p:nvPr/>
        </p:nvGraphicFramePr>
        <p:xfrm rot="0">
          <a:off x="868680" y="2240280"/>
          <a:ext cx="5852153" cy="1920240"/>
        </p:xfrm>
        <a:graphic>
          <a:graphicData uri="http://schemas.openxmlformats.org/drawingml/2006/table">
            <a:tbl>
              <a:tblPr firstRow="1" firstCol="0" lastRow="0" lastCol="0" bandRow="1" bandCol="0">
                <a:tableStyleId>{5C22544A-7EE6-4342-B048-85BDC9FD1C3A}</a:tableStyleId>
              </a:tblPr>
              <a:tblGrid>
                <a:gridCol w="1755648"/>
                <a:gridCol w="585215"/>
                <a:gridCol w="585215"/>
                <a:gridCol w="585215"/>
                <a:gridCol w="585215"/>
                <a:gridCol w="585215"/>
                <a:gridCol w="585215"/>
                <a:gridCol w="585215"/>
              </a:tblGrid>
              <a:tr h="320040">
                <a:tc>
                  <a:txBody>
                    <a:bodyPr/>
                    <a:p>
                      <a:pPr>
                        <a:defRPr/>
                      </a:pPr>
                      <a:r>
                        <a:rPr sz="1100" b="1">
                          <a:solidFill>
                            <a:srgbClr val="14213D"/>
                          </a:solidFill>
                          <a:latin typeface="IBM Plex Sans"/>
                        </a:rPr>
                        <a:t>MAE pC</a:t>
                      </a:r>
                      <a:endParaRPr/>
                    </a:p>
                  </a:txBody>
                  <a:tcPr marL="45720" marR="45720" marT="18288" marB="18288">
                    <a:solidFill>
                      <a:srgbClr val="E6E0D2"/>
                    </a:solidFill>
                  </a:tcPr>
                </a:tc>
                <a:tc>
                  <a:txBody>
                    <a:bodyPr/>
                    <a:p>
                      <a:pPr>
                        <a:defRPr/>
                      </a:pPr>
                      <a:r>
                        <a:rPr sz="1100" b="1">
                          <a:solidFill>
                            <a:srgbClr val="14213D"/>
                          </a:solidFill>
                          <a:latin typeface="IBM Plex Sans"/>
                        </a:rPr>
                        <a:t>seg 0</a:t>
                      </a:r>
                      <a:endParaRPr/>
                    </a:p>
                  </a:txBody>
                  <a:tcPr marL="45720" marR="45720" marT="18288" marB="18288">
                    <a:solidFill>
                      <a:srgbClr val="E6E0D2"/>
                    </a:solidFill>
                  </a:tcPr>
                </a:tc>
                <a:tc>
                  <a:txBody>
                    <a:bodyPr/>
                    <a:p>
                      <a:pPr>
                        <a:defRPr/>
                      </a:pPr>
                      <a:r>
                        <a:rPr sz="1100" b="1">
                          <a:solidFill>
                            <a:srgbClr val="14213D"/>
                          </a:solidFill>
                          <a:latin typeface="IBM Plex Sans"/>
                        </a:rPr>
                        <a:t>seg 3</a:t>
                      </a:r>
                      <a:endParaRPr/>
                    </a:p>
                  </a:txBody>
                  <a:tcPr marL="45720" marR="45720" marT="18288" marB="18288">
                    <a:solidFill>
                      <a:srgbClr val="E6E0D2"/>
                    </a:solidFill>
                  </a:tcPr>
                </a:tc>
                <a:tc>
                  <a:txBody>
                    <a:bodyPr/>
                    <a:p>
                      <a:pPr>
                        <a:defRPr/>
                      </a:pPr>
                      <a:r>
                        <a:rPr sz="1100" b="1">
                          <a:solidFill>
                            <a:srgbClr val="14213D"/>
                          </a:solidFill>
                          <a:latin typeface="IBM Plex Sans"/>
                        </a:rPr>
                        <a:t>seg 4</a:t>
                      </a:r>
                      <a:endParaRPr/>
                    </a:p>
                  </a:txBody>
                  <a:tcPr marL="45720" marR="45720" marT="18288" marB="18288">
                    <a:solidFill>
                      <a:srgbClr val="E6E0D2"/>
                    </a:solidFill>
                  </a:tcPr>
                </a:tc>
                <a:tc>
                  <a:txBody>
                    <a:bodyPr/>
                    <a:p>
                      <a:pPr>
                        <a:defRPr/>
                      </a:pPr>
                      <a:r>
                        <a:rPr sz="1100" b="1">
                          <a:solidFill>
                            <a:srgbClr val="14213D"/>
                          </a:solidFill>
                          <a:latin typeface="IBM Plex Sans"/>
                        </a:rPr>
                        <a:t>seg 5</a:t>
                      </a:r>
                      <a:endParaRPr/>
                    </a:p>
                  </a:txBody>
                  <a:tcPr marL="45720" marR="45720" marT="18288" marB="18288">
                    <a:solidFill>
                      <a:srgbClr val="E6E0D2"/>
                    </a:solidFill>
                  </a:tcPr>
                </a:tc>
                <a:tc>
                  <a:txBody>
                    <a:bodyPr/>
                    <a:p>
                      <a:pPr>
                        <a:defRPr/>
                      </a:pPr>
                      <a:r>
                        <a:rPr sz="1100" b="1">
                          <a:solidFill>
                            <a:srgbClr val="14213D"/>
                          </a:solidFill>
                          <a:latin typeface="IBM Plex Sans"/>
                        </a:rPr>
                        <a:t>seg 1</a:t>
                      </a:r>
                      <a:endParaRPr/>
                    </a:p>
                  </a:txBody>
                  <a:tcPr marL="45720" marR="45720" marT="18288" marB="18288">
                    <a:solidFill>
                      <a:srgbClr val="E6E0D2"/>
                    </a:solidFill>
                  </a:tcPr>
                </a:tc>
                <a:tc>
                  <a:txBody>
                    <a:bodyPr/>
                    <a:p>
                      <a:pPr>
                        <a:defRPr/>
                      </a:pPr>
                      <a:r>
                        <a:rPr sz="1100" b="1">
                          <a:solidFill>
                            <a:srgbClr val="14213D"/>
                          </a:solidFill>
                          <a:latin typeface="IBM Plex Sans"/>
                        </a:rPr>
                        <a:t>seg 6</a:t>
                      </a:r>
                      <a:endParaRPr/>
                    </a:p>
                  </a:txBody>
                  <a:tcPr marL="45720" marR="45720" marT="18288" marB="18288">
                    <a:solidFill>
                      <a:srgbClr val="E6E0D2"/>
                    </a:solidFill>
                  </a:tcPr>
                </a:tc>
                <a:tc>
                  <a:txBody>
                    <a:bodyPr/>
                    <a:p>
                      <a:pPr>
                        <a:defRPr/>
                      </a:pPr>
                      <a:r>
                        <a:rPr sz="1100" b="1">
                          <a:solidFill>
                            <a:srgbClr val="14213D"/>
                          </a:solidFill>
                          <a:latin typeface="IBM Plex Sans"/>
                        </a:rPr>
                        <a:t>seg 7</a:t>
                      </a:r>
                      <a:endParaRPr/>
                    </a:p>
                  </a:txBody>
                  <a:tcPr marL="45720" marR="45720" marT="18288" marB="18288">
                    <a:solidFill>
                      <a:srgbClr val="E6E0D2"/>
                    </a:solidFill>
                  </a:tcPr>
                </a:tc>
              </a:tr>
              <a:tr h="320040">
                <a:tc>
                  <a:txBody>
                    <a:bodyPr/>
                    <a:p>
                      <a:pPr>
                        <a:defRPr/>
                      </a:pPr>
                      <a:r>
                        <a:rPr sz="1100" b="1">
                          <a:solidFill>
                            <a:srgbClr val="14213D"/>
                          </a:solidFill>
                          <a:latin typeface="IBM Plex Sans"/>
                        </a:rPr>
                        <a:t>train mean</a:t>
                      </a:r>
                      <a:endParaRPr/>
                    </a:p>
                  </a:txBody>
                  <a:tcPr marL="45720" marR="45720" marT="18288" marB="18288">
                    <a:solidFill>
                      <a:srgbClr val="FFFDF8"/>
                    </a:solidFill>
                  </a:tcPr>
                </a:tc>
                <a:tc>
                  <a:txBody>
                    <a:bodyPr/>
                    <a:p>
                      <a:pPr>
                        <a:defRPr/>
                      </a:pPr>
                      <a:r>
                        <a:rPr sz="1100" b="0">
                          <a:solidFill>
                            <a:srgbClr val="14213D"/>
                          </a:solidFill>
                          <a:latin typeface="IBM Plex Sans"/>
                        </a:rPr>
                        <a:t>35.1</a:t>
                      </a:r>
                      <a:endParaRPr/>
                    </a:p>
                  </a:txBody>
                  <a:tcPr marL="45720" marR="45720" marT="18288" marB="18288">
                    <a:solidFill>
                      <a:srgbClr val="FFFDF8"/>
                    </a:solidFill>
                  </a:tcPr>
                </a:tc>
                <a:tc>
                  <a:txBody>
                    <a:bodyPr/>
                    <a:p>
                      <a:pPr>
                        <a:defRPr/>
                      </a:pPr>
                      <a:r>
                        <a:rPr sz="1100" b="0">
                          <a:solidFill>
                            <a:srgbClr val="14213D"/>
                          </a:solidFill>
                          <a:latin typeface="IBM Plex Sans"/>
                        </a:rPr>
                        <a:t>14.5</a:t>
                      </a:r>
                      <a:endParaRPr/>
                    </a:p>
                  </a:txBody>
                  <a:tcPr marL="45720" marR="45720" marT="18288" marB="18288">
                    <a:solidFill>
                      <a:srgbClr val="FFFDF8"/>
                    </a:solidFill>
                  </a:tcPr>
                </a:tc>
                <a:tc>
                  <a:txBody>
                    <a:bodyPr/>
                    <a:p>
                      <a:pPr>
                        <a:defRPr/>
                      </a:pPr>
                      <a:r>
                        <a:rPr sz="1100" b="0">
                          <a:solidFill>
                            <a:srgbClr val="14213D"/>
                          </a:solidFill>
                          <a:latin typeface="IBM Plex Sans"/>
                        </a:rPr>
                        <a:t>18.2</a:t>
                      </a:r>
                      <a:endParaRPr/>
                    </a:p>
                  </a:txBody>
                  <a:tcPr marL="45720" marR="45720" marT="18288" marB="18288">
                    <a:solidFill>
                      <a:srgbClr val="FFFDF8"/>
                    </a:solidFill>
                  </a:tcPr>
                </a:tc>
                <a:tc>
                  <a:txBody>
                    <a:bodyPr/>
                    <a:p>
                      <a:pPr>
                        <a:defRPr/>
                      </a:pPr>
                      <a:r>
                        <a:rPr sz="1100" b="0">
                          <a:solidFill>
                            <a:srgbClr val="14213D"/>
                          </a:solidFill>
                          <a:latin typeface="IBM Plex Sans"/>
                        </a:rPr>
                        <a:t>384</a:t>
                      </a:r>
                      <a:endParaRPr/>
                    </a:p>
                  </a:txBody>
                  <a:tcPr marL="45720" marR="45720" marT="18288" marB="18288">
                    <a:solidFill>
                      <a:srgbClr val="FFFDF8"/>
                    </a:solidFill>
                  </a:tcPr>
                </a:tc>
                <a:tc>
                  <a:txBody>
                    <a:bodyPr/>
                    <a:p>
                      <a:pPr>
                        <a:defRPr/>
                      </a:pPr>
                      <a:r>
                        <a:rPr sz="1100" b="0">
                          <a:solidFill>
                            <a:srgbClr val="14213D"/>
                          </a:solidFill>
                          <a:latin typeface="IBM Plex Sans"/>
                        </a:rPr>
                        <a:t>306</a:t>
                      </a:r>
                      <a:endParaRPr/>
                    </a:p>
                  </a:txBody>
                  <a:tcPr marL="45720" marR="45720" marT="18288" marB="18288">
                    <a:solidFill>
                      <a:srgbClr val="FFFDF8"/>
                    </a:solidFill>
                  </a:tcPr>
                </a:tc>
                <a:tc>
                  <a:txBody>
                    <a:bodyPr/>
                    <a:p>
                      <a:pPr>
                        <a:defRPr/>
                      </a:pPr>
                      <a:r>
                        <a:rPr sz="1100" b="0">
                          <a:solidFill>
                            <a:srgbClr val="14213D"/>
                          </a:solidFill>
                          <a:latin typeface="IBM Plex Sans"/>
                        </a:rPr>
                        <a:t>167</a:t>
                      </a:r>
                      <a:endParaRPr/>
                    </a:p>
                  </a:txBody>
                  <a:tcPr marL="45720" marR="45720" marT="18288" marB="18288">
                    <a:solidFill>
                      <a:srgbClr val="FFFDF8"/>
                    </a:solidFill>
                  </a:tcPr>
                </a:tc>
                <a:tc>
                  <a:txBody>
                    <a:bodyPr/>
                    <a:p>
                      <a:pPr>
                        <a:defRPr/>
                      </a:pPr>
                      <a:r>
                        <a:rPr sz="1100" b="0">
                          <a:solidFill>
                            <a:srgbClr val="14213D"/>
                          </a:solidFill>
                          <a:latin typeface="IBM Plex Sans"/>
                        </a:rPr>
                        <a:t>428</a:t>
                      </a:r>
                      <a:endParaRPr/>
                    </a:p>
                  </a:txBody>
                  <a:tcPr marL="45720" marR="45720" marT="18288" marB="18288">
                    <a:solidFill>
                      <a:srgbClr val="FFFDF8"/>
                    </a:solidFill>
                  </a:tcPr>
                </a:tc>
              </a:tr>
              <a:tr h="320040">
                <a:tc>
                  <a:txBody>
                    <a:bodyPr/>
                    <a:p>
                      <a:pPr>
                        <a:defRPr/>
                      </a:pPr>
                      <a:r>
                        <a:rPr sz="1100" b="1">
                          <a:solidFill>
                            <a:srgbClr val="14213D"/>
                          </a:solidFill>
                          <a:latin typeface="IBM Plex Sans"/>
                        </a:rPr>
                        <a:t>linear</a:t>
                      </a:r>
                      <a:endParaRPr/>
                    </a:p>
                  </a:txBody>
                  <a:tcPr marL="45720" marR="45720" marT="18288" marB="18288">
                    <a:solidFill>
                      <a:srgbClr val="FFFDF8"/>
                    </a:solidFill>
                  </a:tcPr>
                </a:tc>
                <a:tc>
                  <a:txBody>
                    <a:bodyPr/>
                    <a:p>
                      <a:pPr>
                        <a:defRPr/>
                      </a:pPr>
                      <a:r>
                        <a:rPr sz="1100" b="0">
                          <a:solidFill>
                            <a:srgbClr val="14213D"/>
                          </a:solidFill>
                          <a:latin typeface="IBM Plex Sans"/>
                        </a:rPr>
                        <a:t>13.4</a:t>
                      </a:r>
                      <a:endParaRPr/>
                    </a:p>
                  </a:txBody>
                  <a:tcPr marL="45720" marR="45720" marT="18288" marB="18288">
                    <a:solidFill>
                      <a:srgbClr val="FFFDF8"/>
                    </a:solidFill>
                  </a:tcPr>
                </a:tc>
                <a:tc>
                  <a:txBody>
                    <a:bodyPr/>
                    <a:p>
                      <a:pPr>
                        <a:defRPr/>
                      </a:pPr>
                      <a:r>
                        <a:rPr sz="1100" b="0">
                          <a:solidFill>
                            <a:srgbClr val="14213D"/>
                          </a:solidFill>
                          <a:latin typeface="IBM Plex Sans"/>
                        </a:rPr>
                        <a:t>11.0</a:t>
                      </a:r>
                      <a:endParaRPr/>
                    </a:p>
                  </a:txBody>
                  <a:tcPr marL="45720" marR="45720" marT="18288" marB="18288">
                    <a:solidFill>
                      <a:srgbClr val="FFFDF8"/>
                    </a:solidFill>
                  </a:tcPr>
                </a:tc>
                <a:tc>
                  <a:txBody>
                    <a:bodyPr/>
                    <a:p>
                      <a:pPr>
                        <a:defRPr/>
                      </a:pPr>
                      <a:r>
                        <a:rPr sz="1100" b="0">
                          <a:solidFill>
                            <a:srgbClr val="14213D"/>
                          </a:solidFill>
                          <a:latin typeface="IBM Plex Sans"/>
                        </a:rPr>
                        <a:t>9.5</a:t>
                      </a:r>
                      <a:endParaRPr/>
                    </a:p>
                  </a:txBody>
                  <a:tcPr marL="45720" marR="45720" marT="18288" marB="18288">
                    <a:solidFill>
                      <a:srgbClr val="FFFDF8"/>
                    </a:solidFill>
                  </a:tcPr>
                </a:tc>
                <a:tc>
                  <a:txBody>
                    <a:bodyPr/>
                    <a:p>
                      <a:pPr>
                        <a:defRPr/>
                      </a:pPr>
                      <a:r>
                        <a:rPr sz="1100" b="0">
                          <a:solidFill>
                            <a:srgbClr val="14213D"/>
                          </a:solidFill>
                          <a:latin typeface="IBM Plex Sans"/>
                        </a:rPr>
                        <a:t>143</a:t>
                      </a:r>
                      <a:endParaRPr/>
                    </a:p>
                  </a:txBody>
                  <a:tcPr marL="45720" marR="45720" marT="18288" marB="18288">
                    <a:solidFill>
                      <a:srgbClr val="FFFDF8"/>
                    </a:solidFill>
                  </a:tcPr>
                </a:tc>
                <a:tc>
                  <a:txBody>
                    <a:bodyPr/>
                    <a:p>
                      <a:pPr>
                        <a:defRPr/>
                      </a:pPr>
                      <a:r>
                        <a:rPr sz="1100" b="0">
                          <a:solidFill>
                            <a:srgbClr val="14213D"/>
                          </a:solidFill>
                          <a:latin typeface="IBM Plex Sans"/>
                        </a:rPr>
                        <a:t>167</a:t>
                      </a:r>
                      <a:endParaRPr/>
                    </a:p>
                  </a:txBody>
                  <a:tcPr marL="45720" marR="45720" marT="18288" marB="18288">
                    <a:solidFill>
                      <a:srgbClr val="FFFDF8"/>
                    </a:solidFill>
                  </a:tcPr>
                </a:tc>
                <a:tc>
                  <a:txBody>
                    <a:bodyPr/>
                    <a:p>
                      <a:pPr>
                        <a:defRPr/>
                      </a:pPr>
                      <a:r>
                        <a:rPr sz="1100" b="0">
                          <a:solidFill>
                            <a:srgbClr val="14213D"/>
                          </a:solidFill>
                          <a:latin typeface="IBM Plex Sans"/>
                        </a:rPr>
                        <a:t>47.8</a:t>
                      </a:r>
                      <a:endParaRPr/>
                    </a:p>
                  </a:txBody>
                  <a:tcPr marL="45720" marR="45720" marT="18288" marB="18288">
                    <a:solidFill>
                      <a:srgbClr val="FFFDF8"/>
                    </a:solidFill>
                  </a:tcPr>
                </a:tc>
                <a:tc>
                  <a:txBody>
                    <a:bodyPr/>
                    <a:p>
                      <a:pPr>
                        <a:defRPr/>
                      </a:pPr>
                      <a:r>
                        <a:rPr sz="1100" b="0">
                          <a:solidFill>
                            <a:srgbClr val="14213D"/>
                          </a:solidFill>
                          <a:latin typeface="IBM Plex Sans"/>
                        </a:rPr>
                        <a:t>278</a:t>
                      </a:r>
                      <a:endParaRPr/>
                    </a:p>
                  </a:txBody>
                  <a:tcPr marL="45720" marR="45720" marT="18288" marB="18288">
                    <a:solidFill>
                      <a:srgbClr val="FFFDF8"/>
                    </a:solidFill>
                  </a:tcPr>
                </a:tc>
              </a:tr>
              <a:tr h="320040">
                <a:tc>
                  <a:txBody>
                    <a:bodyPr/>
                    <a:p>
                      <a:pPr>
                        <a:defRPr/>
                      </a:pPr>
                      <a:r>
                        <a:rPr sz="1100" b="1">
                          <a:solidFill>
                            <a:srgbClr val="14213D"/>
                          </a:solidFill>
                          <a:latin typeface="IBM Plex Sans"/>
                        </a:rPr>
                        <a:t>random forest</a:t>
                      </a:r>
                      <a:endParaRPr/>
                    </a:p>
                  </a:txBody>
                  <a:tcPr marL="45720" marR="45720" marT="18288" marB="18288">
                    <a:solidFill>
                      <a:srgbClr val="FFFDF8"/>
                    </a:solidFill>
                  </a:tcPr>
                </a:tc>
                <a:tc>
                  <a:txBody>
                    <a:bodyPr/>
                    <a:p>
                      <a:pPr>
                        <a:defRPr/>
                      </a:pPr>
                      <a:r>
                        <a:rPr sz="1100" b="0">
                          <a:solidFill>
                            <a:srgbClr val="14213D"/>
                          </a:solidFill>
                          <a:latin typeface="IBM Plex Sans"/>
                        </a:rPr>
                        <a:t>12.0</a:t>
                      </a:r>
                      <a:endParaRPr/>
                    </a:p>
                  </a:txBody>
                  <a:tcPr marL="45720" marR="45720" marT="18288" marB="18288">
                    <a:solidFill>
                      <a:srgbClr val="FFFDF8"/>
                    </a:solidFill>
                  </a:tcPr>
                </a:tc>
                <a:tc>
                  <a:txBody>
                    <a:bodyPr/>
                    <a:p>
                      <a:pPr>
                        <a:defRPr/>
                      </a:pPr>
                      <a:r>
                        <a:rPr sz="1100" b="0">
                          <a:solidFill>
                            <a:srgbClr val="14213D"/>
                          </a:solidFill>
                          <a:latin typeface="IBM Plex Sans"/>
                        </a:rPr>
                        <a:t>10.1</a:t>
                      </a:r>
                      <a:endParaRPr/>
                    </a:p>
                  </a:txBody>
                  <a:tcPr marL="45720" marR="45720" marT="18288" marB="18288">
                    <a:solidFill>
                      <a:srgbClr val="FFFDF8"/>
                    </a:solidFill>
                  </a:tcPr>
                </a:tc>
                <a:tc>
                  <a:txBody>
                    <a:bodyPr/>
                    <a:p>
                      <a:pPr>
                        <a:defRPr/>
                      </a:pPr>
                      <a:r>
                        <a:rPr sz="1100" b="0">
                          <a:solidFill>
                            <a:srgbClr val="14213D"/>
                          </a:solidFill>
                          <a:latin typeface="IBM Plex Sans"/>
                        </a:rPr>
                        <a:t>9.3</a:t>
                      </a:r>
                      <a:endParaRPr/>
                    </a:p>
                  </a:txBody>
                  <a:tcPr marL="45720" marR="45720" marT="18288" marB="18288">
                    <a:solidFill>
                      <a:srgbClr val="FFFDF8"/>
                    </a:solidFill>
                  </a:tcPr>
                </a:tc>
                <a:tc>
                  <a:txBody>
                    <a:bodyPr/>
                    <a:p>
                      <a:pPr>
                        <a:defRPr/>
                      </a:pPr>
                      <a:r>
                        <a:rPr sz="1100" b="0">
                          <a:solidFill>
                            <a:srgbClr val="14213D"/>
                          </a:solidFill>
                          <a:latin typeface="IBM Plex Sans"/>
                        </a:rPr>
                        <a:t>96</a:t>
                      </a:r>
                      <a:endParaRPr/>
                    </a:p>
                  </a:txBody>
                  <a:tcPr marL="45720" marR="45720" marT="18288" marB="18288">
                    <a:solidFill>
                      <a:srgbClr val="FFFDF8"/>
                    </a:solidFill>
                  </a:tcPr>
                </a:tc>
                <a:tc>
                  <a:txBody>
                    <a:bodyPr/>
                    <a:p>
                      <a:pPr>
                        <a:defRPr/>
                      </a:pPr>
                      <a:r>
                        <a:rPr sz="1100" b="0">
                          <a:solidFill>
                            <a:srgbClr val="14213D"/>
                          </a:solidFill>
                          <a:latin typeface="IBM Plex Sans"/>
                        </a:rPr>
                        <a:t>134</a:t>
                      </a:r>
                      <a:endParaRPr/>
                    </a:p>
                  </a:txBody>
                  <a:tcPr marL="45720" marR="45720" marT="18288" marB="18288">
                    <a:solidFill>
                      <a:srgbClr val="FFFDF8"/>
                    </a:solidFill>
                  </a:tcPr>
                </a:tc>
                <a:tc>
                  <a:txBody>
                    <a:bodyPr/>
                    <a:p>
                      <a:pPr>
                        <a:defRPr/>
                      </a:pPr>
                      <a:r>
                        <a:rPr sz="1100" b="0">
                          <a:solidFill>
                            <a:srgbClr val="14213D"/>
                          </a:solidFill>
                          <a:latin typeface="IBM Plex Sans"/>
                        </a:rPr>
                        <a:t>63.8</a:t>
                      </a:r>
                      <a:endParaRPr/>
                    </a:p>
                  </a:txBody>
                  <a:tcPr marL="45720" marR="45720" marT="18288" marB="18288">
                    <a:solidFill>
                      <a:srgbClr val="FFFDF8"/>
                    </a:solidFill>
                  </a:tcPr>
                </a:tc>
                <a:tc>
                  <a:txBody>
                    <a:bodyPr/>
                    <a:p>
                      <a:pPr>
                        <a:defRPr/>
                      </a:pPr>
                      <a:r>
                        <a:rPr sz="1100" b="0">
                          <a:solidFill>
                            <a:srgbClr val="14213D"/>
                          </a:solidFill>
                          <a:latin typeface="IBM Plex Sans"/>
                        </a:rPr>
                        <a:t>265</a:t>
                      </a:r>
                      <a:endParaRPr/>
                    </a:p>
                  </a:txBody>
                  <a:tcPr marL="45720" marR="45720" marT="18288" marB="18288">
                    <a:solidFill>
                      <a:srgbClr val="FFFDF8"/>
                    </a:solidFill>
                  </a:tcPr>
                </a:tc>
              </a:tr>
              <a:tr h="320040">
                <a:tc>
                  <a:txBody>
                    <a:bodyPr/>
                    <a:p>
                      <a:pPr>
                        <a:defRPr/>
                      </a:pPr>
                      <a:r>
                        <a:rPr sz="1100" b="1">
                          <a:solidFill>
                            <a:srgbClr val="14213D"/>
                          </a:solidFill>
                          <a:latin typeface="IBM Plex Sans"/>
                        </a:rPr>
                        <a:t>XGBoost</a:t>
                      </a:r>
                      <a:endParaRPr/>
                    </a:p>
                  </a:txBody>
                  <a:tcPr marL="45720" marR="45720" marT="18288" marB="18288">
                    <a:solidFill>
                      <a:srgbClr val="FFFDF8"/>
                    </a:solidFill>
                  </a:tcPr>
                </a:tc>
                <a:tc>
                  <a:txBody>
                    <a:bodyPr/>
                    <a:p>
                      <a:pPr>
                        <a:defRPr/>
                      </a:pPr>
                      <a:r>
                        <a:rPr sz="1100" b="0">
                          <a:solidFill>
                            <a:srgbClr val="14213D"/>
                          </a:solidFill>
                          <a:latin typeface="IBM Plex Sans"/>
                        </a:rPr>
                        <a:t>16.8</a:t>
                      </a:r>
                      <a:endParaRPr/>
                    </a:p>
                  </a:txBody>
                  <a:tcPr marL="45720" marR="45720" marT="18288" marB="18288">
                    <a:solidFill>
                      <a:srgbClr val="FFFDF8"/>
                    </a:solidFill>
                  </a:tcPr>
                </a:tc>
                <a:tc>
                  <a:txBody>
                    <a:bodyPr/>
                    <a:p>
                      <a:pPr>
                        <a:defRPr/>
                      </a:pPr>
                      <a:r>
                        <a:rPr sz="1100" b="0">
                          <a:solidFill>
                            <a:srgbClr val="14213D"/>
                          </a:solidFill>
                          <a:latin typeface="IBM Plex Sans"/>
                        </a:rPr>
                        <a:t>10.7</a:t>
                      </a:r>
                      <a:endParaRPr/>
                    </a:p>
                  </a:txBody>
                  <a:tcPr marL="45720" marR="45720" marT="18288" marB="18288">
                    <a:solidFill>
                      <a:srgbClr val="FFFDF8"/>
                    </a:solidFill>
                  </a:tcPr>
                </a:tc>
                <a:tc>
                  <a:txBody>
                    <a:bodyPr/>
                    <a:p>
                      <a:pPr>
                        <a:defRPr/>
                      </a:pPr>
                      <a:r>
                        <a:rPr sz="1100" b="0">
                          <a:solidFill>
                            <a:srgbClr val="14213D"/>
                          </a:solidFill>
                          <a:latin typeface="IBM Plex Sans"/>
                        </a:rPr>
                        <a:t>9.2</a:t>
                      </a:r>
                      <a:endParaRPr/>
                    </a:p>
                  </a:txBody>
                  <a:tcPr marL="45720" marR="45720" marT="18288" marB="18288">
                    <a:solidFill>
                      <a:srgbClr val="FFFDF8"/>
                    </a:solidFill>
                  </a:tcPr>
                </a:tc>
                <a:tc>
                  <a:txBody>
                    <a:bodyPr/>
                    <a:p>
                      <a:pPr>
                        <a:defRPr/>
                      </a:pPr>
                      <a:r>
                        <a:rPr sz="1100" b="0">
                          <a:solidFill>
                            <a:srgbClr val="14213D"/>
                          </a:solidFill>
                          <a:latin typeface="IBM Plex Sans"/>
                        </a:rPr>
                        <a:t>91</a:t>
                      </a:r>
                      <a:endParaRPr/>
                    </a:p>
                  </a:txBody>
                  <a:tcPr marL="45720" marR="45720" marT="18288" marB="18288">
                    <a:solidFill>
                      <a:srgbClr val="FFFDF8"/>
                    </a:solidFill>
                  </a:tcPr>
                </a:tc>
                <a:tc>
                  <a:txBody>
                    <a:bodyPr/>
                    <a:p>
                      <a:pPr>
                        <a:defRPr/>
                      </a:pPr>
                      <a:r>
                        <a:rPr sz="1100" b="0">
                          <a:solidFill>
                            <a:srgbClr val="14213D"/>
                          </a:solidFill>
                          <a:latin typeface="IBM Plex Sans"/>
                        </a:rPr>
                        <a:t>185</a:t>
                      </a:r>
                      <a:endParaRPr/>
                    </a:p>
                  </a:txBody>
                  <a:tcPr marL="45720" marR="45720" marT="18288" marB="18288">
                    <a:solidFill>
                      <a:srgbClr val="FFFDF8"/>
                    </a:solidFill>
                  </a:tcPr>
                </a:tc>
                <a:tc>
                  <a:txBody>
                    <a:bodyPr/>
                    <a:p>
                      <a:pPr>
                        <a:defRPr/>
                      </a:pPr>
                      <a:r>
                        <a:rPr sz="1100" b="0">
                          <a:solidFill>
                            <a:srgbClr val="14213D"/>
                          </a:solidFill>
                          <a:latin typeface="IBM Plex Sans"/>
                        </a:rPr>
                        <a:t>57.2</a:t>
                      </a:r>
                      <a:endParaRPr/>
                    </a:p>
                  </a:txBody>
                  <a:tcPr marL="45720" marR="45720" marT="18288" marB="18288">
                    <a:solidFill>
                      <a:srgbClr val="FFFDF8"/>
                    </a:solidFill>
                  </a:tcPr>
                </a:tc>
                <a:tc>
                  <a:txBody>
                    <a:bodyPr/>
                    <a:p>
                      <a:pPr>
                        <a:defRPr/>
                      </a:pPr>
                      <a:r>
                        <a:rPr sz="1100" b="0">
                          <a:solidFill>
                            <a:srgbClr val="14213D"/>
                          </a:solidFill>
                          <a:latin typeface="IBM Plex Sans"/>
                        </a:rPr>
                        <a:t>247</a:t>
                      </a:r>
                      <a:endParaRPr/>
                    </a:p>
                  </a:txBody>
                  <a:tcPr marL="45720" marR="45720" marT="18288" marB="18288">
                    <a:solidFill>
                      <a:srgbClr val="FFFDF8"/>
                    </a:solidFill>
                  </a:tcPr>
                </a:tc>
              </a:tr>
              <a:tr h="320040">
                <a:tc>
                  <a:txBody>
                    <a:bodyPr/>
                    <a:p>
                      <a:pPr>
                        <a:defRPr/>
                      </a:pPr>
                      <a:r>
                        <a:rPr sz="1100" b="1">
                          <a:solidFill>
                            <a:srgbClr val="14213D"/>
                          </a:solidFill>
                          <a:latin typeface="IBM Plex Sans"/>
                        </a:rPr>
                        <a:t>MLP (32-16)</a:t>
                      </a:r>
                      <a:endParaRPr/>
                    </a:p>
                  </a:txBody>
                  <a:tcPr marL="45720" marR="45720" marT="18288" marB="18288">
                    <a:solidFill>
                      <a:srgbClr val="FFFDF8"/>
                    </a:solidFill>
                  </a:tcPr>
                </a:tc>
                <a:tc>
                  <a:txBody>
                    <a:bodyPr/>
                    <a:p>
                      <a:pPr>
                        <a:defRPr/>
                      </a:pPr>
                      <a:r>
                        <a:rPr sz="1100" b="0">
                          <a:solidFill>
                            <a:srgbClr val="14213D"/>
                          </a:solidFill>
                          <a:latin typeface="IBM Plex Sans"/>
                        </a:rPr>
                        <a:t>11.2</a:t>
                      </a:r>
                      <a:endParaRPr/>
                    </a:p>
                  </a:txBody>
                  <a:tcPr marL="45720" marR="45720" marT="18288" marB="18288">
                    <a:solidFill>
                      <a:srgbClr val="FFFDF8"/>
                    </a:solidFill>
                  </a:tcPr>
                </a:tc>
                <a:tc>
                  <a:txBody>
                    <a:bodyPr/>
                    <a:p>
                      <a:pPr>
                        <a:defRPr/>
                      </a:pPr>
                      <a:r>
                        <a:rPr sz="1100" b="0">
                          <a:solidFill>
                            <a:srgbClr val="14213D"/>
                          </a:solidFill>
                          <a:latin typeface="IBM Plex Sans"/>
                        </a:rPr>
                        <a:t>9.9</a:t>
                      </a:r>
                      <a:endParaRPr/>
                    </a:p>
                  </a:txBody>
                  <a:tcPr marL="45720" marR="45720" marT="18288" marB="18288">
                    <a:solidFill>
                      <a:srgbClr val="FFFDF8"/>
                    </a:solidFill>
                  </a:tcPr>
                </a:tc>
                <a:tc>
                  <a:txBody>
                    <a:bodyPr/>
                    <a:p>
                      <a:pPr>
                        <a:defRPr/>
                      </a:pPr>
                      <a:r>
                        <a:rPr sz="1100" b="0">
                          <a:solidFill>
                            <a:srgbClr val="14213D"/>
                          </a:solidFill>
                          <a:latin typeface="IBM Plex Sans"/>
                        </a:rPr>
                        <a:t>9.6</a:t>
                      </a:r>
                      <a:endParaRPr/>
                    </a:p>
                  </a:txBody>
                  <a:tcPr marL="45720" marR="45720" marT="18288" marB="18288">
                    <a:solidFill>
                      <a:srgbClr val="FFFDF8"/>
                    </a:solidFill>
                  </a:tcPr>
                </a:tc>
                <a:tc>
                  <a:txBody>
                    <a:bodyPr/>
                    <a:p>
                      <a:pPr>
                        <a:defRPr/>
                      </a:pPr>
                      <a:r>
                        <a:rPr sz="1100" b="0">
                          <a:solidFill>
                            <a:srgbClr val="14213D"/>
                          </a:solidFill>
                          <a:latin typeface="IBM Plex Sans"/>
                        </a:rPr>
                        <a:t>86</a:t>
                      </a:r>
                      <a:endParaRPr/>
                    </a:p>
                  </a:txBody>
                  <a:tcPr marL="45720" marR="45720" marT="18288" marB="18288">
                    <a:solidFill>
                      <a:srgbClr val="FFFDF8"/>
                    </a:solidFill>
                  </a:tcPr>
                </a:tc>
                <a:tc>
                  <a:txBody>
                    <a:bodyPr/>
                    <a:p>
                      <a:pPr>
                        <a:defRPr/>
                      </a:pPr>
                      <a:r>
                        <a:rPr sz="1100" b="0">
                          <a:solidFill>
                            <a:srgbClr val="14213D"/>
                          </a:solidFill>
                          <a:latin typeface="IBM Plex Sans"/>
                        </a:rPr>
                        <a:t>141</a:t>
                      </a:r>
                      <a:endParaRPr/>
                    </a:p>
                  </a:txBody>
                  <a:tcPr marL="45720" marR="45720" marT="18288" marB="18288">
                    <a:solidFill>
                      <a:srgbClr val="FFFDF8"/>
                    </a:solidFill>
                  </a:tcPr>
                </a:tc>
                <a:tc>
                  <a:txBody>
                    <a:bodyPr/>
                    <a:p>
                      <a:pPr>
                        <a:defRPr/>
                      </a:pPr>
                      <a:r>
                        <a:rPr sz="1100" b="0">
                          <a:solidFill>
                            <a:srgbClr val="14213D"/>
                          </a:solidFill>
                          <a:latin typeface="IBM Plex Sans"/>
                        </a:rPr>
                        <a:t>50.4</a:t>
                      </a:r>
                      <a:endParaRPr/>
                    </a:p>
                  </a:txBody>
                  <a:tcPr marL="45720" marR="45720" marT="18288" marB="18288">
                    <a:solidFill>
                      <a:srgbClr val="FFFDF8"/>
                    </a:solidFill>
                  </a:tcPr>
                </a:tc>
                <a:tc>
                  <a:txBody>
                    <a:bodyPr/>
                    <a:p>
                      <a:pPr>
                        <a:defRPr/>
                      </a:pPr>
                      <a:r>
                        <a:rPr sz="1100" b="0">
                          <a:solidFill>
                            <a:srgbClr val="14213D"/>
                          </a:solidFill>
                          <a:latin typeface="IBM Plex Sans"/>
                        </a:rPr>
                        <a:t>211</a:t>
                      </a:r>
                      <a:endParaRPr/>
                    </a:p>
                  </a:txBody>
                  <a:tcPr marL="45720" marR="45720" marT="18288" marB="18288">
                    <a:solidFill>
                      <a:srgbClr val="FFFD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1008157"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702407855" name="Shape 1"/>
          <p:cNvSpPr/>
          <p:nvPr/>
        </p:nvSpPr>
        <p:spPr bwMode="auto">
          <a:xfrm>
            <a:off x="813816" y="813816"/>
            <a:ext cx="2834640" cy="283464"/>
          </a:xfrm>
          <a:prstGeom prst="roundRect">
            <a:avLst>
              <a:gd name="adj" fmla="val 17778"/>
            </a:avLst>
          </a:prstGeom>
          <a:solidFill>
            <a:srgbClr val="1D4ED8"/>
          </a:solidFill>
          <a:ln/>
        </p:spPr>
        <p:txBody>
          <a:bodyPr/>
          <a:lstStyle/>
          <a:p>
            <a:pPr>
              <a:defRPr/>
            </a:pPr>
            <a:endParaRPr lang="en-US"/>
          </a:p>
        </p:txBody>
      </p:sp>
      <p:sp>
        <p:nvSpPr>
          <p:cNvPr id="917519175"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2 · MEDIUM · RESULTS</a:t>
            </a:r>
            <a:endParaRPr lang="en-US" sz="1200"/>
          </a:p>
        </p:txBody>
      </p:sp>
      <p:sp>
        <p:nvSpPr>
          <p:cNvPr id="682565165"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Slow level + shot-to-shot model</a:t>
            </a:r>
            <a:endParaRPr lang="en-US" sz="3600"/>
          </a:p>
        </p:txBody>
      </p:sp>
      <p:sp>
        <p:nvSpPr>
          <p:cNvPr id="128214686" name="Text 12"/>
          <p:cNvSpPr/>
          <p:nvPr/>
        </p:nvSpPr>
        <p:spPr bwMode="auto">
          <a:xfrm>
            <a:off x="812800" y="6242050"/>
            <a:ext cx="784860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5A6478"/>
                </a:solidFill>
                <a:latin typeface="IBM Plex Mono"/>
                <a:ea typeface="IBM Plex Mono"/>
                <a:cs typeface="IBM Plex Mono"/>
              </a:rPr>
              <a:t>Forecasting the CLEAR beam charge </a:t>
            </a:r>
            <a:endParaRPr lang="en-US" sz="1200"/>
          </a:p>
        </p:txBody>
      </p:sp>
      <p:sp>
        <p:nvSpPr>
          <p:cNvPr id="1476895814"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28</a:t>
            </a:r>
            <a:endParaRPr lang="en-US" sz="1200"/>
          </a:p>
        </p:txBody>
      </p:sp>
      <p:sp>
        <p:nvSpPr>
          <p:cNvPr id="1591909234"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Target: log charge minus the trailing 50-shot mean; one model per regime; test = last 10 %.</a:t>
            </a:r>
            <a:endParaRPr lang="en-US" sz="1600"/>
          </a:p>
        </p:txBody>
      </p:sp>
      <p:sp>
        <p:nvSpPr>
          <p:cNvPr id="2055887128" name="Text 6"/>
          <p:cNvSpPr/>
          <p:nvPr/>
        </p:nvSpPr>
        <p:spPr bwMode="auto">
          <a:xfrm>
            <a:off x="7132320" y="2240280"/>
            <a:ext cx="4389120" cy="228600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GRU halves the ridge error at high charge; the gain is the nonlinearity, not memory (window 1 ≈ 64)</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Ridge under the GRU keeps extrapolating on seg 7's jump to 18 nC (226 → 147 pC)</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Cross-run: trained on the other runs only, within 0–10 % of pooled training</a:t>
            </a:r>
            <a:endParaRPr lang="en-US" sz="1300"/>
          </a:p>
        </p:txBody>
      </p:sp>
      <p:pic>
        <p:nvPicPr>
          <p:cNvPr id="403833326" name="Picture 15" descr="jitter_sequence_crop.png"/>
          <p:cNvPicPr>
            <a:picLocks noChangeAspect="1"/>
          </p:cNvPicPr>
          <p:nvPr/>
        </p:nvPicPr>
        <p:blipFill rotWithShape="1">
          <a:blip r:embed="rId3"/>
          <a:stretch/>
        </p:blipFill>
        <p:spPr bwMode="auto">
          <a:xfrm>
            <a:off x="7231380" y="3840480"/>
            <a:ext cx="4191000" cy="2011680"/>
          </a:xfrm>
          <a:prstGeom prst="rect">
            <a:avLst/>
          </a:prstGeom>
        </p:spPr>
      </p:pic>
      <p:graphicFrame>
        <p:nvGraphicFramePr>
          <p:cNvPr id="1611861126" name="Table 16"/>
          <p:cNvGraphicFramePr>
            <a:graphicFrameLocks xmlns:a="http://schemas.openxmlformats.org/drawingml/2006/main" noGrp="1"/>
          </p:cNvGraphicFramePr>
          <p:nvPr/>
        </p:nvGraphicFramePr>
        <p:xfrm rot="0">
          <a:off x="868680" y="2240280"/>
          <a:ext cx="6035039" cy="2194560"/>
        </p:xfrm>
        <a:graphic>
          <a:graphicData uri="http://schemas.openxmlformats.org/drawingml/2006/table">
            <a:tbl>
              <a:tblPr firstRow="1" firstCol="0" lastRow="0" lastCol="0" bandRow="1" bandCol="0">
                <a:tableStyleId>{5C22544A-7EE6-4342-B048-85BDC9FD1C3A}</a:tableStyleId>
              </a:tblPr>
              <a:tblGrid>
                <a:gridCol w="2051913"/>
                <a:gridCol w="569018"/>
                <a:gridCol w="569018"/>
                <a:gridCol w="569018"/>
                <a:gridCol w="569018"/>
                <a:gridCol w="569018"/>
                <a:gridCol w="569018"/>
                <a:gridCol w="569018"/>
              </a:tblGrid>
              <a:tr h="313508">
                <a:tc>
                  <a:txBody>
                    <a:bodyPr/>
                    <a:p>
                      <a:pPr>
                        <a:defRPr/>
                      </a:pPr>
                      <a:r>
                        <a:rPr sz="1000" b="1">
                          <a:solidFill>
                            <a:srgbClr val="14213D"/>
                          </a:solidFill>
                          <a:latin typeface="IBM Plex Sans"/>
                        </a:rPr>
                        <a:t>MAE pC</a:t>
                      </a:r>
                      <a:endParaRPr/>
                    </a:p>
                  </a:txBody>
                  <a:tcPr marL="45720" marR="45720" marT="18288" marB="18288">
                    <a:solidFill>
                      <a:srgbClr val="E6E0D2"/>
                    </a:solidFill>
                  </a:tcPr>
                </a:tc>
                <a:tc>
                  <a:txBody>
                    <a:bodyPr/>
                    <a:p>
                      <a:pPr>
                        <a:defRPr/>
                      </a:pPr>
                      <a:r>
                        <a:rPr sz="1000" b="1">
                          <a:solidFill>
                            <a:srgbClr val="14213D"/>
                          </a:solidFill>
                          <a:latin typeface="IBM Plex Sans"/>
                        </a:rPr>
                        <a:t>seg 0</a:t>
                      </a:r>
                      <a:endParaRPr/>
                    </a:p>
                  </a:txBody>
                  <a:tcPr marL="45720" marR="45720" marT="18288" marB="18288">
                    <a:solidFill>
                      <a:srgbClr val="E6E0D2"/>
                    </a:solidFill>
                  </a:tcPr>
                </a:tc>
                <a:tc>
                  <a:txBody>
                    <a:bodyPr/>
                    <a:p>
                      <a:pPr>
                        <a:defRPr/>
                      </a:pPr>
                      <a:r>
                        <a:rPr sz="1000" b="1">
                          <a:solidFill>
                            <a:srgbClr val="14213D"/>
                          </a:solidFill>
                          <a:latin typeface="IBM Plex Sans"/>
                        </a:rPr>
                        <a:t>seg 3</a:t>
                      </a:r>
                      <a:endParaRPr/>
                    </a:p>
                  </a:txBody>
                  <a:tcPr marL="45720" marR="45720" marT="18288" marB="18288">
                    <a:solidFill>
                      <a:srgbClr val="E6E0D2"/>
                    </a:solidFill>
                  </a:tcPr>
                </a:tc>
                <a:tc>
                  <a:txBody>
                    <a:bodyPr/>
                    <a:p>
                      <a:pPr>
                        <a:defRPr/>
                      </a:pPr>
                      <a:r>
                        <a:rPr sz="1000" b="1">
                          <a:solidFill>
                            <a:srgbClr val="14213D"/>
                          </a:solidFill>
                          <a:latin typeface="IBM Plex Sans"/>
                        </a:rPr>
                        <a:t>seg 4</a:t>
                      </a:r>
                      <a:endParaRPr/>
                    </a:p>
                  </a:txBody>
                  <a:tcPr marL="45720" marR="45720" marT="18288" marB="18288">
                    <a:solidFill>
                      <a:srgbClr val="E6E0D2"/>
                    </a:solidFill>
                  </a:tcPr>
                </a:tc>
                <a:tc>
                  <a:txBody>
                    <a:bodyPr/>
                    <a:p>
                      <a:pPr>
                        <a:defRPr/>
                      </a:pPr>
                      <a:r>
                        <a:rPr sz="1000" b="1">
                          <a:solidFill>
                            <a:srgbClr val="14213D"/>
                          </a:solidFill>
                          <a:latin typeface="IBM Plex Sans"/>
                        </a:rPr>
                        <a:t>seg 5</a:t>
                      </a:r>
                      <a:endParaRPr/>
                    </a:p>
                  </a:txBody>
                  <a:tcPr marL="45720" marR="45720" marT="18288" marB="18288">
                    <a:solidFill>
                      <a:srgbClr val="E6E0D2"/>
                    </a:solidFill>
                  </a:tcPr>
                </a:tc>
                <a:tc>
                  <a:txBody>
                    <a:bodyPr/>
                    <a:p>
                      <a:pPr>
                        <a:defRPr/>
                      </a:pPr>
                      <a:r>
                        <a:rPr sz="1000" b="1">
                          <a:solidFill>
                            <a:srgbClr val="14213D"/>
                          </a:solidFill>
                          <a:latin typeface="IBM Plex Sans"/>
                        </a:rPr>
                        <a:t>seg 1</a:t>
                      </a:r>
                      <a:endParaRPr/>
                    </a:p>
                  </a:txBody>
                  <a:tcPr marL="45720" marR="45720" marT="18288" marB="18288">
                    <a:solidFill>
                      <a:srgbClr val="E6E0D2"/>
                    </a:solidFill>
                  </a:tcPr>
                </a:tc>
                <a:tc>
                  <a:txBody>
                    <a:bodyPr/>
                    <a:p>
                      <a:pPr>
                        <a:defRPr/>
                      </a:pPr>
                      <a:r>
                        <a:rPr sz="1000" b="1">
                          <a:solidFill>
                            <a:srgbClr val="14213D"/>
                          </a:solidFill>
                          <a:latin typeface="IBM Plex Sans"/>
                        </a:rPr>
                        <a:t>seg 6</a:t>
                      </a:r>
                      <a:endParaRPr/>
                    </a:p>
                  </a:txBody>
                  <a:tcPr marL="45720" marR="45720" marT="18288" marB="18288">
                    <a:solidFill>
                      <a:srgbClr val="E6E0D2"/>
                    </a:solidFill>
                  </a:tcPr>
                </a:tc>
                <a:tc>
                  <a:txBody>
                    <a:bodyPr/>
                    <a:p>
                      <a:pPr>
                        <a:defRPr/>
                      </a:pPr>
                      <a:r>
                        <a:rPr sz="1000" b="1">
                          <a:solidFill>
                            <a:srgbClr val="14213D"/>
                          </a:solidFill>
                          <a:latin typeface="IBM Plex Sans"/>
                        </a:rPr>
                        <a:t>seg 7</a:t>
                      </a:r>
                      <a:endParaRPr/>
                    </a:p>
                  </a:txBody>
                  <a:tcPr marL="45720" marR="45720" marT="18288" marB="18288">
                    <a:solidFill>
                      <a:srgbClr val="E6E0D2"/>
                    </a:solidFill>
                  </a:tcPr>
                </a:tc>
              </a:tr>
              <a:tr h="313508">
                <a:tc>
                  <a:txBody>
                    <a:bodyPr/>
                    <a:p>
                      <a:pPr>
                        <a:defRPr/>
                      </a:pPr>
                      <a:r>
                        <a:rPr sz="1000" b="1">
                          <a:solidFill>
                            <a:srgbClr val="14213D"/>
                          </a:solidFill>
                          <a:latin typeface="IBM Plex Sans"/>
                        </a:rPr>
                        <a:t>trailing level only</a:t>
                      </a:r>
                      <a:endParaRPr/>
                    </a:p>
                  </a:txBody>
                  <a:tcPr marL="45720" marR="45720" marT="18288" marB="18288">
                    <a:solidFill>
                      <a:srgbClr val="FFFDF8"/>
                    </a:solidFill>
                  </a:tcPr>
                </a:tc>
                <a:tc>
                  <a:txBody>
                    <a:bodyPr/>
                    <a:p>
                      <a:pPr>
                        <a:defRPr/>
                      </a:pPr>
                      <a:r>
                        <a:rPr sz="1000" b="0">
                          <a:solidFill>
                            <a:srgbClr val="14213D"/>
                          </a:solidFill>
                          <a:latin typeface="IBM Plex Sans"/>
                        </a:rPr>
                        <a:t>18.2</a:t>
                      </a:r>
                      <a:endParaRPr/>
                    </a:p>
                  </a:txBody>
                  <a:tcPr marL="45720" marR="45720" marT="18288" marB="18288">
                    <a:solidFill>
                      <a:srgbClr val="FFFDF8"/>
                    </a:solidFill>
                  </a:tcPr>
                </a:tc>
                <a:tc>
                  <a:txBody>
                    <a:bodyPr/>
                    <a:p>
                      <a:pPr>
                        <a:defRPr/>
                      </a:pPr>
                      <a:r>
                        <a:rPr sz="1000" b="0">
                          <a:solidFill>
                            <a:srgbClr val="14213D"/>
                          </a:solidFill>
                          <a:latin typeface="IBM Plex Sans"/>
                        </a:rPr>
                        <a:t>12.4</a:t>
                      </a:r>
                      <a:endParaRPr/>
                    </a:p>
                  </a:txBody>
                  <a:tcPr marL="45720" marR="45720" marT="18288" marB="18288">
                    <a:solidFill>
                      <a:srgbClr val="FFFDF8"/>
                    </a:solidFill>
                  </a:tcPr>
                </a:tc>
                <a:tc>
                  <a:txBody>
                    <a:bodyPr/>
                    <a:p>
                      <a:pPr>
                        <a:defRPr/>
                      </a:pPr>
                      <a:r>
                        <a:rPr sz="1000" b="0">
                          <a:solidFill>
                            <a:srgbClr val="14213D"/>
                          </a:solidFill>
                          <a:latin typeface="IBM Plex Sans"/>
                        </a:rPr>
                        <a:t>11.7</a:t>
                      </a:r>
                      <a:endParaRPr/>
                    </a:p>
                  </a:txBody>
                  <a:tcPr marL="45720" marR="45720" marT="18288" marB="18288">
                    <a:solidFill>
                      <a:srgbClr val="FFFDF8"/>
                    </a:solidFill>
                  </a:tcPr>
                </a:tc>
                <a:tc>
                  <a:txBody>
                    <a:bodyPr/>
                    <a:p>
                      <a:pPr>
                        <a:defRPr/>
                      </a:pPr>
                      <a:r>
                        <a:rPr sz="1000" b="0">
                          <a:solidFill>
                            <a:srgbClr val="14213D"/>
                          </a:solidFill>
                          <a:latin typeface="IBM Plex Sans"/>
                        </a:rPr>
                        <a:t>145.5</a:t>
                      </a:r>
                      <a:endParaRPr/>
                    </a:p>
                  </a:txBody>
                  <a:tcPr marL="45720" marR="45720" marT="18288" marB="18288">
                    <a:solidFill>
                      <a:srgbClr val="FFFDF8"/>
                    </a:solidFill>
                  </a:tcPr>
                </a:tc>
                <a:tc>
                  <a:txBody>
                    <a:bodyPr/>
                    <a:p>
                      <a:pPr>
                        <a:defRPr/>
                      </a:pPr>
                      <a:r>
                        <a:rPr sz="1000" b="0">
                          <a:solidFill>
                            <a:srgbClr val="14213D"/>
                          </a:solidFill>
                          <a:latin typeface="IBM Plex Sans"/>
                        </a:rPr>
                        <a:t>143.3</a:t>
                      </a:r>
                      <a:endParaRPr/>
                    </a:p>
                  </a:txBody>
                  <a:tcPr marL="45720" marR="45720" marT="18288" marB="18288">
                    <a:solidFill>
                      <a:srgbClr val="FFFDF8"/>
                    </a:solidFill>
                  </a:tcPr>
                </a:tc>
                <a:tc>
                  <a:txBody>
                    <a:bodyPr/>
                    <a:p>
                      <a:pPr>
                        <a:defRPr/>
                      </a:pPr>
                      <a:r>
                        <a:rPr sz="1000" b="0">
                          <a:solidFill>
                            <a:srgbClr val="14213D"/>
                          </a:solidFill>
                          <a:latin typeface="IBM Plex Sans"/>
                        </a:rPr>
                        <a:t>122.2</a:t>
                      </a:r>
                      <a:endParaRPr/>
                    </a:p>
                  </a:txBody>
                  <a:tcPr marL="45720" marR="45720" marT="18288" marB="18288">
                    <a:solidFill>
                      <a:srgbClr val="FFFDF8"/>
                    </a:solidFill>
                  </a:tcPr>
                </a:tc>
                <a:tc>
                  <a:txBody>
                    <a:bodyPr/>
                    <a:p>
                      <a:pPr>
                        <a:defRPr/>
                      </a:pPr>
                      <a:r>
                        <a:rPr sz="1000" b="0">
                          <a:solidFill>
                            <a:srgbClr val="14213D"/>
                          </a:solidFill>
                          <a:latin typeface="IBM Plex Sans"/>
                        </a:rPr>
                        <a:t>428.1</a:t>
                      </a:r>
                      <a:endParaRPr/>
                    </a:p>
                  </a:txBody>
                  <a:tcPr marL="45720" marR="45720" marT="18288" marB="18288">
                    <a:solidFill>
                      <a:srgbClr val="FFFDF8"/>
                    </a:solidFill>
                  </a:tcPr>
                </a:tc>
              </a:tr>
              <a:tr h="313508">
                <a:tc>
                  <a:txBody>
                    <a:bodyPr/>
                    <a:p>
                      <a:pPr>
                        <a:defRPr/>
                      </a:pPr>
                      <a:r>
                        <a:rPr sz="1000" b="1">
                          <a:solidFill>
                            <a:srgbClr val="14213D"/>
                          </a:solidFill>
                          <a:latin typeface="IBM Plex Sans"/>
                        </a:rPr>
                        <a:t>ridge, current shot</a:t>
                      </a:r>
                      <a:endParaRPr/>
                    </a:p>
                  </a:txBody>
                  <a:tcPr marL="45720" marR="45720" marT="18288" marB="18288">
                    <a:solidFill>
                      <a:srgbClr val="FFFDF8"/>
                    </a:solidFill>
                  </a:tcPr>
                </a:tc>
                <a:tc>
                  <a:txBody>
                    <a:bodyPr/>
                    <a:p>
                      <a:pPr>
                        <a:defRPr/>
                      </a:pPr>
                      <a:r>
                        <a:rPr sz="1000" b="0">
                          <a:solidFill>
                            <a:srgbClr val="14213D"/>
                          </a:solidFill>
                          <a:latin typeface="IBM Plex Sans"/>
                        </a:rPr>
                        <a:t>10.0</a:t>
                      </a:r>
                      <a:endParaRPr/>
                    </a:p>
                  </a:txBody>
                  <a:tcPr marL="45720" marR="45720" marT="18288" marB="18288">
                    <a:solidFill>
                      <a:srgbClr val="FFFDF8"/>
                    </a:solidFill>
                  </a:tcPr>
                </a:tc>
                <a:tc>
                  <a:txBody>
                    <a:bodyPr/>
                    <a:p>
                      <a:pPr>
                        <a:defRPr/>
                      </a:pPr>
                      <a:r>
                        <a:rPr sz="1000" b="0">
                          <a:solidFill>
                            <a:srgbClr val="14213D"/>
                          </a:solidFill>
                          <a:latin typeface="IBM Plex Sans"/>
                        </a:rPr>
                        <a:t>9.4</a:t>
                      </a:r>
                      <a:endParaRPr/>
                    </a:p>
                  </a:txBody>
                  <a:tcPr marL="45720" marR="45720" marT="18288" marB="18288">
                    <a:solidFill>
                      <a:srgbClr val="FFFDF8"/>
                    </a:solidFill>
                  </a:tcPr>
                </a:tc>
                <a:tc>
                  <a:txBody>
                    <a:bodyPr/>
                    <a:p>
                      <a:pPr>
                        <a:defRPr/>
                      </a:pPr>
                      <a:r>
                        <a:rPr sz="1000" b="0">
                          <a:solidFill>
                            <a:srgbClr val="14213D"/>
                          </a:solidFill>
                          <a:latin typeface="IBM Plex Sans"/>
                        </a:rPr>
                        <a:t>8.9</a:t>
                      </a:r>
                      <a:endParaRPr/>
                    </a:p>
                  </a:txBody>
                  <a:tcPr marL="45720" marR="45720" marT="18288" marB="18288">
                    <a:solidFill>
                      <a:srgbClr val="FFFDF8"/>
                    </a:solidFill>
                  </a:tcPr>
                </a:tc>
                <a:tc>
                  <a:txBody>
                    <a:bodyPr/>
                    <a:p>
                      <a:pPr>
                        <a:defRPr/>
                      </a:pPr>
                      <a:r>
                        <a:rPr sz="1000" b="0">
                          <a:solidFill>
                            <a:srgbClr val="14213D"/>
                          </a:solidFill>
                          <a:latin typeface="IBM Plex Sans"/>
                        </a:rPr>
                        <a:t>69.5</a:t>
                      </a:r>
                      <a:endParaRPr/>
                    </a:p>
                  </a:txBody>
                  <a:tcPr marL="45720" marR="45720" marT="18288" marB="18288">
                    <a:solidFill>
                      <a:srgbClr val="FFFDF8"/>
                    </a:solidFill>
                  </a:tcPr>
                </a:tc>
                <a:tc>
                  <a:txBody>
                    <a:bodyPr/>
                    <a:p>
                      <a:pPr>
                        <a:defRPr/>
                      </a:pPr>
                      <a:r>
                        <a:rPr sz="1000" b="0">
                          <a:solidFill>
                            <a:srgbClr val="14213D"/>
                          </a:solidFill>
                          <a:latin typeface="IBM Plex Sans"/>
                        </a:rPr>
                        <a:t>84.6</a:t>
                      </a:r>
                      <a:endParaRPr/>
                    </a:p>
                  </a:txBody>
                  <a:tcPr marL="45720" marR="45720" marT="18288" marB="18288">
                    <a:solidFill>
                      <a:srgbClr val="FFFDF8"/>
                    </a:solidFill>
                  </a:tcPr>
                </a:tc>
                <a:tc>
                  <a:txBody>
                    <a:bodyPr/>
                    <a:p>
                      <a:pPr>
                        <a:defRPr/>
                      </a:pPr>
                      <a:r>
                        <a:rPr sz="1000" b="0">
                          <a:solidFill>
                            <a:srgbClr val="14213D"/>
                          </a:solidFill>
                          <a:latin typeface="IBM Plex Sans"/>
                        </a:rPr>
                        <a:t>57.0</a:t>
                      </a:r>
                      <a:endParaRPr/>
                    </a:p>
                  </a:txBody>
                  <a:tcPr marL="45720" marR="45720" marT="18288" marB="18288">
                    <a:solidFill>
                      <a:srgbClr val="FFFDF8"/>
                    </a:solidFill>
                  </a:tcPr>
                </a:tc>
                <a:tc>
                  <a:txBody>
                    <a:bodyPr/>
                    <a:p>
                      <a:pPr>
                        <a:defRPr/>
                      </a:pPr>
                      <a:r>
                        <a:rPr sz="1000" b="0">
                          <a:solidFill>
                            <a:srgbClr val="14213D"/>
                          </a:solidFill>
                          <a:latin typeface="IBM Plex Sans"/>
                        </a:rPr>
                        <a:t>174.4</a:t>
                      </a:r>
                      <a:endParaRPr/>
                    </a:p>
                  </a:txBody>
                  <a:tcPr marL="45720" marR="45720" marT="18288" marB="18288">
                    <a:solidFill>
                      <a:srgbClr val="FFFDF8"/>
                    </a:solidFill>
                  </a:tcPr>
                </a:tc>
              </a:tr>
              <a:tr h="313508">
                <a:tc>
                  <a:txBody>
                    <a:bodyPr/>
                    <a:p>
                      <a:pPr>
                        <a:defRPr/>
                      </a:pPr>
                      <a:r>
                        <a:rPr sz="1000" b="1">
                          <a:solidFill>
                            <a:srgbClr val="14213D"/>
                          </a:solidFill>
                          <a:latin typeface="IBM Plex Sans"/>
                        </a:rPr>
                        <a:t>GRU, window 16</a:t>
                      </a:r>
                      <a:endParaRPr/>
                    </a:p>
                  </a:txBody>
                  <a:tcPr marL="45720" marR="45720" marT="18288" marB="18288">
                    <a:solidFill>
                      <a:srgbClr val="FFFDF8"/>
                    </a:solidFill>
                  </a:tcPr>
                </a:tc>
                <a:tc>
                  <a:txBody>
                    <a:bodyPr/>
                    <a:p>
                      <a:pPr>
                        <a:defRPr/>
                      </a:pPr>
                      <a:r>
                        <a:rPr sz="1000" b="0">
                          <a:solidFill>
                            <a:srgbClr val="14213D"/>
                          </a:solidFill>
                          <a:latin typeface="IBM Plex Sans"/>
                        </a:rPr>
                        <a:t>9.1</a:t>
                      </a:r>
                      <a:endParaRPr/>
                    </a:p>
                  </a:txBody>
                  <a:tcPr marL="45720" marR="45720" marT="18288" marB="18288">
                    <a:solidFill>
                      <a:srgbClr val="FFFDF8"/>
                    </a:solidFill>
                  </a:tcPr>
                </a:tc>
                <a:tc>
                  <a:txBody>
                    <a:bodyPr/>
                    <a:p>
                      <a:pPr>
                        <a:defRPr/>
                      </a:pPr>
                      <a:r>
                        <a:rPr sz="1000" b="0">
                          <a:solidFill>
                            <a:srgbClr val="14213D"/>
                          </a:solidFill>
                          <a:latin typeface="IBM Plex Sans"/>
                        </a:rPr>
                        <a:t>9.2</a:t>
                      </a:r>
                      <a:endParaRPr/>
                    </a:p>
                  </a:txBody>
                  <a:tcPr marL="45720" marR="45720" marT="18288" marB="18288">
                    <a:solidFill>
                      <a:srgbClr val="FFFDF8"/>
                    </a:solidFill>
                  </a:tcPr>
                </a:tc>
                <a:tc>
                  <a:txBody>
                    <a:bodyPr/>
                    <a:p>
                      <a:pPr>
                        <a:defRPr/>
                      </a:pPr>
                      <a:r>
                        <a:rPr sz="1000" b="0">
                          <a:solidFill>
                            <a:srgbClr val="14213D"/>
                          </a:solidFill>
                          <a:latin typeface="IBM Plex Sans"/>
                        </a:rPr>
                        <a:t>8.1</a:t>
                      </a:r>
                      <a:endParaRPr/>
                    </a:p>
                  </a:txBody>
                  <a:tcPr marL="45720" marR="45720" marT="18288" marB="18288">
                    <a:solidFill>
                      <a:srgbClr val="FFFDF8"/>
                    </a:solidFill>
                  </a:tcPr>
                </a:tc>
                <a:tc>
                  <a:txBody>
                    <a:bodyPr/>
                    <a:p>
                      <a:pPr>
                        <a:defRPr/>
                      </a:pPr>
                      <a:r>
                        <a:rPr sz="1000" b="0">
                          <a:solidFill>
                            <a:srgbClr val="14213D"/>
                          </a:solidFill>
                          <a:latin typeface="IBM Plex Sans"/>
                        </a:rPr>
                        <a:t>42.1</a:t>
                      </a:r>
                      <a:endParaRPr/>
                    </a:p>
                  </a:txBody>
                  <a:tcPr marL="45720" marR="45720" marT="18288" marB="18288">
                    <a:solidFill>
                      <a:srgbClr val="FFFDF8"/>
                    </a:solidFill>
                  </a:tcPr>
                </a:tc>
                <a:tc>
                  <a:txBody>
                    <a:bodyPr/>
                    <a:p>
                      <a:pPr>
                        <a:defRPr/>
                      </a:pPr>
                      <a:r>
                        <a:rPr sz="1000" b="0">
                          <a:solidFill>
                            <a:srgbClr val="14213D"/>
                          </a:solidFill>
                          <a:latin typeface="IBM Plex Sans"/>
                        </a:rPr>
                        <a:t>47.2</a:t>
                      </a:r>
                      <a:endParaRPr/>
                    </a:p>
                  </a:txBody>
                  <a:tcPr marL="45720" marR="45720" marT="18288" marB="18288">
                    <a:solidFill>
                      <a:srgbClr val="FFFDF8"/>
                    </a:solidFill>
                  </a:tcPr>
                </a:tc>
                <a:tc>
                  <a:txBody>
                    <a:bodyPr/>
                    <a:p>
                      <a:pPr>
                        <a:defRPr/>
                      </a:pPr>
                      <a:r>
                        <a:rPr sz="1000" b="0">
                          <a:solidFill>
                            <a:srgbClr val="14213D"/>
                          </a:solidFill>
                          <a:latin typeface="IBM Plex Sans"/>
                        </a:rPr>
                        <a:t>31.2</a:t>
                      </a:r>
                      <a:endParaRPr/>
                    </a:p>
                  </a:txBody>
                  <a:tcPr marL="45720" marR="45720" marT="18288" marB="18288">
                    <a:solidFill>
                      <a:srgbClr val="FFFDF8"/>
                    </a:solidFill>
                  </a:tcPr>
                </a:tc>
                <a:tc>
                  <a:txBody>
                    <a:bodyPr/>
                    <a:p>
                      <a:pPr>
                        <a:defRPr/>
                      </a:pPr>
                      <a:r>
                        <a:rPr sz="1000" b="0">
                          <a:solidFill>
                            <a:srgbClr val="14213D"/>
                          </a:solidFill>
                          <a:latin typeface="IBM Plex Sans"/>
                        </a:rPr>
                        <a:t>226.3</a:t>
                      </a:r>
                      <a:endParaRPr/>
                    </a:p>
                  </a:txBody>
                  <a:tcPr marL="45720" marR="45720" marT="18288" marB="18288">
                    <a:solidFill>
                      <a:srgbClr val="FFFDF8"/>
                    </a:solidFill>
                  </a:tcPr>
                </a:tc>
              </a:tr>
              <a:tr h="313508">
                <a:tc>
                  <a:txBody>
                    <a:bodyPr/>
                    <a:p>
                      <a:pPr>
                        <a:defRPr/>
                      </a:pPr>
                      <a:r>
                        <a:rPr sz="1000" b="1">
                          <a:solidFill>
                            <a:srgbClr val="14213D"/>
                          </a:solidFill>
                          <a:latin typeface="IBM Plex Sans"/>
                        </a:rPr>
                        <a:t>ridge + past BCM + GRU (64)</a:t>
                      </a:r>
                      <a:endParaRPr/>
                    </a:p>
                  </a:txBody>
                  <a:tcPr marL="45720" marR="45720" marT="18288" marB="18288">
                    <a:solidFill>
                      <a:srgbClr val="FFFDF8"/>
                    </a:solidFill>
                  </a:tcPr>
                </a:tc>
                <a:tc>
                  <a:txBody>
                    <a:bodyPr/>
                    <a:p>
                      <a:pPr>
                        <a:defRPr/>
                      </a:pPr>
                      <a:r>
                        <a:rPr sz="1000" b="0">
                          <a:solidFill>
                            <a:srgbClr val="14213D"/>
                          </a:solidFill>
                          <a:latin typeface="IBM Plex Sans"/>
                        </a:rPr>
                        <a:t>9.2</a:t>
                      </a:r>
                      <a:endParaRPr/>
                    </a:p>
                  </a:txBody>
                  <a:tcPr marL="45720" marR="45720" marT="18288" marB="18288">
                    <a:solidFill>
                      <a:srgbClr val="FFFDF8"/>
                    </a:solidFill>
                  </a:tcPr>
                </a:tc>
                <a:tc>
                  <a:txBody>
                    <a:bodyPr/>
                    <a:p>
                      <a:pPr>
                        <a:defRPr/>
                      </a:pPr>
                      <a:r>
                        <a:rPr sz="1000" b="0">
                          <a:solidFill>
                            <a:srgbClr val="14213D"/>
                          </a:solidFill>
                          <a:latin typeface="IBM Plex Sans"/>
                        </a:rPr>
                        <a:t>9.1</a:t>
                      </a:r>
                      <a:endParaRPr/>
                    </a:p>
                  </a:txBody>
                  <a:tcPr marL="45720" marR="45720" marT="18288" marB="18288">
                    <a:solidFill>
                      <a:srgbClr val="FFFDF8"/>
                    </a:solidFill>
                  </a:tcPr>
                </a:tc>
                <a:tc>
                  <a:txBody>
                    <a:bodyPr/>
                    <a:p>
                      <a:pPr>
                        <a:defRPr/>
                      </a:pPr>
                      <a:r>
                        <a:rPr sz="1000" b="0">
                          <a:solidFill>
                            <a:srgbClr val="14213D"/>
                          </a:solidFill>
                          <a:latin typeface="IBM Plex Sans"/>
                        </a:rPr>
                        <a:t>8.1</a:t>
                      </a:r>
                      <a:endParaRPr/>
                    </a:p>
                  </a:txBody>
                  <a:tcPr marL="45720" marR="45720" marT="18288" marB="18288">
                    <a:solidFill>
                      <a:srgbClr val="FFFDF8"/>
                    </a:solidFill>
                  </a:tcPr>
                </a:tc>
                <a:tc>
                  <a:txBody>
                    <a:bodyPr/>
                    <a:p>
                      <a:pPr>
                        <a:defRPr/>
                      </a:pPr>
                      <a:r>
                        <a:rPr sz="1000" b="0">
                          <a:solidFill>
                            <a:srgbClr val="14213D"/>
                          </a:solidFill>
                          <a:latin typeface="IBM Plex Sans"/>
                        </a:rPr>
                        <a:t>40.8</a:t>
                      </a:r>
                      <a:endParaRPr/>
                    </a:p>
                  </a:txBody>
                  <a:tcPr marL="45720" marR="45720" marT="18288" marB="18288">
                    <a:solidFill>
                      <a:srgbClr val="FFFDF8"/>
                    </a:solidFill>
                  </a:tcPr>
                </a:tc>
                <a:tc>
                  <a:txBody>
                    <a:bodyPr/>
                    <a:p>
                      <a:pPr>
                        <a:defRPr/>
                      </a:pPr>
                      <a:r>
                        <a:rPr sz="1000" b="0">
                          <a:solidFill>
                            <a:srgbClr val="14213D"/>
                          </a:solidFill>
                          <a:latin typeface="IBM Plex Sans"/>
                        </a:rPr>
                        <a:t>45.7</a:t>
                      </a:r>
                      <a:endParaRPr/>
                    </a:p>
                  </a:txBody>
                  <a:tcPr marL="45720" marR="45720" marT="18288" marB="18288">
                    <a:solidFill>
                      <a:srgbClr val="FFFDF8"/>
                    </a:solidFill>
                  </a:tcPr>
                </a:tc>
                <a:tc>
                  <a:txBody>
                    <a:bodyPr/>
                    <a:p>
                      <a:pPr>
                        <a:defRPr/>
                      </a:pPr>
                      <a:r>
                        <a:rPr sz="1000" b="0">
                          <a:solidFill>
                            <a:srgbClr val="14213D"/>
                          </a:solidFill>
                          <a:latin typeface="IBM Plex Sans"/>
                        </a:rPr>
                        <a:t>31.0</a:t>
                      </a:r>
                      <a:endParaRPr/>
                    </a:p>
                  </a:txBody>
                  <a:tcPr marL="45720" marR="45720" marT="18288" marB="18288">
                    <a:solidFill>
                      <a:srgbClr val="FFFDF8"/>
                    </a:solidFill>
                  </a:tcPr>
                </a:tc>
                <a:tc>
                  <a:txBody>
                    <a:bodyPr/>
                    <a:p>
                      <a:pPr>
                        <a:defRPr/>
                      </a:pPr>
                      <a:r>
                        <a:rPr sz="1000" b="0">
                          <a:solidFill>
                            <a:srgbClr val="14213D"/>
                          </a:solidFill>
                          <a:latin typeface="IBM Plex Sans"/>
                        </a:rPr>
                        <a:t>147.0</a:t>
                      </a:r>
                      <a:endParaRPr/>
                    </a:p>
                  </a:txBody>
                  <a:tcPr marL="45720" marR="45720" marT="18288" marB="18288">
                    <a:solidFill>
                      <a:srgbClr val="FFFDF8"/>
                    </a:solidFill>
                  </a:tcPr>
                </a:tc>
              </a:tr>
              <a:tr h="313508">
                <a:tc>
                  <a:txBody>
                    <a:bodyPr/>
                    <a:p>
                      <a:pPr>
                        <a:defRPr/>
                      </a:pPr>
                      <a:r>
                        <a:rPr sz="1000" b="1">
                          <a:solidFill>
                            <a:srgbClr val="14213D"/>
                          </a:solidFill>
                          <a:latin typeface="IBM Plex Sans"/>
                        </a:rPr>
                        <a:t>  + online refit</a:t>
                      </a:r>
                      <a:endParaRPr/>
                    </a:p>
                  </a:txBody>
                  <a:tcPr marL="45720" marR="45720" marT="18288" marB="18288">
                    <a:solidFill>
                      <a:srgbClr val="FFFDF8"/>
                    </a:solidFill>
                  </a:tcPr>
                </a:tc>
                <a:tc>
                  <a:txBody>
                    <a:bodyPr/>
                    <a:p>
                      <a:pPr>
                        <a:defRPr/>
                      </a:pPr>
                      <a:r>
                        <a:rPr sz="1000" b="0">
                          <a:solidFill>
                            <a:srgbClr val="14213D"/>
                          </a:solidFill>
                          <a:latin typeface="IBM Plex Sans"/>
                        </a:rPr>
                        <a:t>9.1</a:t>
                      </a:r>
                      <a:endParaRPr/>
                    </a:p>
                  </a:txBody>
                  <a:tcPr marL="45720" marR="45720" marT="18288" marB="18288">
                    <a:solidFill>
                      <a:srgbClr val="FFFDF8"/>
                    </a:solidFill>
                  </a:tcPr>
                </a:tc>
                <a:tc>
                  <a:txBody>
                    <a:bodyPr/>
                    <a:p>
                      <a:pPr>
                        <a:defRPr/>
                      </a:pPr>
                      <a:r>
                        <a:rPr sz="1000" b="0">
                          <a:solidFill>
                            <a:srgbClr val="14213D"/>
                          </a:solidFill>
                          <a:latin typeface="IBM Plex Sans"/>
                        </a:rPr>
                        <a:t>9.2</a:t>
                      </a:r>
                      <a:endParaRPr/>
                    </a:p>
                  </a:txBody>
                  <a:tcPr marL="45720" marR="45720" marT="18288" marB="18288">
                    <a:solidFill>
                      <a:srgbClr val="FFFDF8"/>
                    </a:solidFill>
                  </a:tcPr>
                </a:tc>
                <a:tc>
                  <a:txBody>
                    <a:bodyPr/>
                    <a:p>
                      <a:pPr>
                        <a:defRPr/>
                      </a:pPr>
                      <a:r>
                        <a:rPr sz="1000" b="0">
                          <a:solidFill>
                            <a:srgbClr val="14213D"/>
                          </a:solidFill>
                          <a:latin typeface="IBM Plex Sans"/>
                        </a:rPr>
                        <a:t>8.1</a:t>
                      </a:r>
                      <a:endParaRPr/>
                    </a:p>
                  </a:txBody>
                  <a:tcPr marL="45720" marR="45720" marT="18288" marB="18288">
                    <a:solidFill>
                      <a:srgbClr val="FFFDF8"/>
                    </a:solidFill>
                  </a:tcPr>
                </a:tc>
                <a:tc>
                  <a:txBody>
                    <a:bodyPr/>
                    <a:p>
                      <a:pPr>
                        <a:defRPr/>
                      </a:pPr>
                      <a:r>
                        <a:rPr sz="1000" b="0">
                          <a:solidFill>
                            <a:srgbClr val="14213D"/>
                          </a:solidFill>
                          <a:latin typeface="IBM Plex Sans"/>
                        </a:rPr>
                        <a:t>40.7</a:t>
                      </a:r>
                      <a:endParaRPr/>
                    </a:p>
                  </a:txBody>
                  <a:tcPr marL="45720" marR="45720" marT="18288" marB="18288">
                    <a:solidFill>
                      <a:srgbClr val="FFFDF8"/>
                    </a:solidFill>
                  </a:tcPr>
                </a:tc>
                <a:tc>
                  <a:txBody>
                    <a:bodyPr/>
                    <a:p>
                      <a:pPr>
                        <a:defRPr/>
                      </a:pPr>
                      <a:r>
                        <a:rPr sz="1000" b="0">
                          <a:solidFill>
                            <a:srgbClr val="14213D"/>
                          </a:solidFill>
                          <a:latin typeface="IBM Plex Sans"/>
                        </a:rPr>
                        <a:t>45.8</a:t>
                      </a:r>
                      <a:endParaRPr/>
                    </a:p>
                  </a:txBody>
                  <a:tcPr marL="45720" marR="45720" marT="18288" marB="18288">
                    <a:solidFill>
                      <a:srgbClr val="FFFDF8"/>
                    </a:solidFill>
                  </a:tcPr>
                </a:tc>
                <a:tc>
                  <a:txBody>
                    <a:bodyPr/>
                    <a:p>
                      <a:pPr>
                        <a:defRPr/>
                      </a:pPr>
                      <a:r>
                        <a:rPr sz="1000" b="0">
                          <a:solidFill>
                            <a:srgbClr val="14213D"/>
                          </a:solidFill>
                          <a:latin typeface="IBM Plex Sans"/>
                        </a:rPr>
                        <a:t>27.8</a:t>
                      </a:r>
                      <a:endParaRPr/>
                    </a:p>
                  </a:txBody>
                  <a:tcPr marL="45720" marR="45720" marT="18288" marB="18288">
                    <a:solidFill>
                      <a:srgbClr val="FFFDF8"/>
                    </a:solidFill>
                  </a:tcPr>
                </a:tc>
                <a:tc>
                  <a:txBody>
                    <a:bodyPr/>
                    <a:p>
                      <a:pPr>
                        <a:defRPr/>
                      </a:pPr>
                      <a:r>
                        <a:rPr sz="1000" b="0">
                          <a:solidFill>
                            <a:srgbClr val="14213D"/>
                          </a:solidFill>
                          <a:latin typeface="IBM Plex Sans"/>
                        </a:rPr>
                        <a:t>133.2</a:t>
                      </a:r>
                      <a:endParaRPr/>
                    </a:p>
                  </a:txBody>
                  <a:tcPr marL="45720" marR="45720" marT="18288" marB="18288">
                    <a:solidFill>
                      <a:srgbClr val="FFFDF8"/>
                    </a:solidFill>
                  </a:tcPr>
                </a:tc>
              </a:tr>
              <a:tr h="313512">
                <a:tc>
                  <a:txBody>
                    <a:bodyPr/>
                    <a:p>
                      <a:pPr>
                        <a:defRPr/>
                      </a:pPr>
                      <a:r>
                        <a:rPr sz="1000" b="1">
                          <a:solidFill>
                            <a:srgbClr val="14213D"/>
                          </a:solidFill>
                          <a:latin typeface="IBM Plex Sans"/>
                        </a:rPr>
                        <a:t>BCM noise rms (floor)</a:t>
                      </a:r>
                      <a:endParaRPr/>
                    </a:p>
                  </a:txBody>
                  <a:tcPr marL="45720" marR="45720" marT="18288" marB="18288">
                    <a:solidFill>
                      <a:srgbClr val="FFFDF8"/>
                    </a:solidFill>
                  </a:tcPr>
                </a:tc>
                <a:tc>
                  <a:txBody>
                    <a:bodyPr/>
                    <a:p>
                      <a:pPr>
                        <a:defRPr/>
                      </a:pPr>
                      <a:r>
                        <a:rPr sz="1000" b="0">
                          <a:solidFill>
                            <a:srgbClr val="14213D"/>
                          </a:solidFill>
                          <a:latin typeface="IBM Plex Sans"/>
                        </a:rPr>
                        <a:t>11.7</a:t>
                      </a:r>
                      <a:endParaRPr/>
                    </a:p>
                  </a:txBody>
                  <a:tcPr marL="45720" marR="45720" marT="18288" marB="18288">
                    <a:solidFill>
                      <a:srgbClr val="FFFDF8"/>
                    </a:solidFill>
                  </a:tcPr>
                </a:tc>
                <a:tc>
                  <a:txBody>
                    <a:bodyPr/>
                    <a:p>
                      <a:pPr>
                        <a:defRPr/>
                      </a:pPr>
                      <a:r>
                        <a:rPr sz="1000" b="0">
                          <a:solidFill>
                            <a:srgbClr val="14213D"/>
                          </a:solidFill>
                          <a:latin typeface="IBM Plex Sans"/>
                        </a:rPr>
                        <a:t>11.8</a:t>
                      </a:r>
                      <a:endParaRPr/>
                    </a:p>
                  </a:txBody>
                  <a:tcPr marL="45720" marR="45720" marT="18288" marB="18288">
                    <a:solidFill>
                      <a:srgbClr val="FFFDF8"/>
                    </a:solidFill>
                  </a:tcPr>
                </a:tc>
                <a:tc>
                  <a:txBody>
                    <a:bodyPr/>
                    <a:p>
                      <a:pPr>
                        <a:defRPr/>
                      </a:pPr>
                      <a:r>
                        <a:rPr sz="1000" b="0">
                          <a:solidFill>
                            <a:srgbClr val="14213D"/>
                          </a:solidFill>
                          <a:latin typeface="IBM Plex Sans"/>
                        </a:rPr>
                        <a:t>11.0</a:t>
                      </a:r>
                      <a:endParaRPr/>
                    </a:p>
                  </a:txBody>
                  <a:tcPr marL="45720" marR="45720" marT="18288" marB="18288">
                    <a:solidFill>
                      <a:srgbClr val="FFFDF8"/>
                    </a:solidFill>
                  </a:tcPr>
                </a:tc>
                <a:tc>
                  <a:txBody>
                    <a:bodyPr/>
                    <a:p>
                      <a:pPr>
                        <a:defRPr/>
                      </a:pPr>
                      <a:r>
                        <a:rPr sz="1000" b="0">
                          <a:solidFill>
                            <a:srgbClr val="14213D"/>
                          </a:solidFill>
                          <a:latin typeface="IBM Plex Sans"/>
                        </a:rPr>
                        <a:t>40</a:t>
                      </a:r>
                      <a:endParaRPr/>
                    </a:p>
                  </a:txBody>
                  <a:tcPr marL="45720" marR="45720" marT="18288" marB="18288">
                    <a:solidFill>
                      <a:srgbClr val="FFFDF8"/>
                    </a:solidFill>
                  </a:tcPr>
                </a:tc>
                <a:tc>
                  <a:txBody>
                    <a:bodyPr/>
                    <a:p>
                      <a:pPr>
                        <a:defRPr/>
                      </a:pPr>
                      <a:r>
                        <a:rPr sz="1000" b="0">
                          <a:solidFill>
                            <a:srgbClr val="14213D"/>
                          </a:solidFill>
                          <a:latin typeface="IBM Plex Sans"/>
                        </a:rPr>
                        <a:t>57</a:t>
                      </a:r>
                      <a:endParaRPr/>
                    </a:p>
                  </a:txBody>
                  <a:tcPr marL="45720" marR="45720" marT="18288" marB="18288">
                    <a:solidFill>
                      <a:srgbClr val="FFFDF8"/>
                    </a:solidFill>
                  </a:tcPr>
                </a:tc>
                <a:tc>
                  <a:txBody>
                    <a:bodyPr/>
                    <a:p>
                      <a:pPr>
                        <a:defRPr/>
                      </a:pPr>
                      <a:r>
                        <a:rPr sz="1000" b="0">
                          <a:solidFill>
                            <a:srgbClr val="14213D"/>
                          </a:solidFill>
                          <a:latin typeface="IBM Plex Sans"/>
                        </a:rPr>
                        <a:t>34</a:t>
                      </a:r>
                      <a:endParaRPr/>
                    </a:p>
                  </a:txBody>
                  <a:tcPr marL="45720" marR="45720" marT="18288" marB="18288">
                    <a:solidFill>
                      <a:srgbClr val="FFFDF8"/>
                    </a:solidFill>
                  </a:tcPr>
                </a:tc>
                <a:tc>
                  <a:txBody>
                    <a:bodyPr/>
                    <a:p>
                      <a:pPr>
                        <a:defRPr/>
                      </a:pPr>
                      <a:r>
                        <a:rPr sz="1000" b="0">
                          <a:solidFill>
                            <a:srgbClr val="14213D"/>
                          </a:solidFill>
                          <a:latin typeface="IBM Plex Sans"/>
                        </a:rPr>
                        <a:t>73</a:t>
                      </a:r>
                      <a:endParaRPr/>
                    </a:p>
                  </a:txBody>
                  <a:tcPr marL="45720" marR="45720" marT="18288" marB="18288">
                    <a:solidFill>
                      <a:srgbClr val="FFFD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5387354"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910282258" name="Shape 1"/>
          <p:cNvSpPr/>
          <p:nvPr/>
        </p:nvSpPr>
        <p:spPr bwMode="auto">
          <a:xfrm>
            <a:off x="813816" y="813816"/>
            <a:ext cx="2834640" cy="283464"/>
          </a:xfrm>
          <a:prstGeom prst="roundRect">
            <a:avLst>
              <a:gd name="adj" fmla="val 17778"/>
            </a:avLst>
          </a:prstGeom>
          <a:solidFill>
            <a:srgbClr val="1D4ED8"/>
          </a:solidFill>
          <a:ln/>
        </p:spPr>
        <p:txBody>
          <a:bodyPr/>
          <a:lstStyle/>
          <a:p>
            <a:pPr>
              <a:defRPr/>
            </a:pPr>
            <a:endParaRPr lang="en-US"/>
          </a:p>
        </p:txBody>
      </p:sp>
      <p:sp>
        <p:nvSpPr>
          <p:cNvPr id="1059104925"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2 · MEDIUM · RESULTS</a:t>
            </a:r>
            <a:endParaRPr lang="en-US" sz="1200"/>
          </a:p>
        </p:txBody>
      </p:sp>
      <p:sp>
        <p:nvSpPr>
          <p:cNvPr id="2095083504"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Nine model families converge</a:t>
            </a:r>
            <a:endParaRPr lang="en-US" sz="3600"/>
          </a:p>
        </p:txBody>
      </p:sp>
      <p:sp>
        <p:nvSpPr>
          <p:cNvPr id="570959829" name="Text 12"/>
          <p:cNvSpPr/>
          <p:nvPr/>
        </p:nvSpPr>
        <p:spPr bwMode="auto">
          <a:xfrm>
            <a:off x="812800" y="6242050"/>
            <a:ext cx="784860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5A6478"/>
                </a:solidFill>
                <a:latin typeface="IBM Plex Mono"/>
                <a:ea typeface="IBM Plex Mono"/>
                <a:cs typeface="IBM Plex Mono"/>
              </a:rPr>
              <a:t>Forecasting the CLEAR beam charge </a:t>
            </a:r>
            <a:endParaRPr lang="en-US" sz="1200"/>
          </a:p>
        </p:txBody>
      </p:sp>
      <p:sp>
        <p:nvSpPr>
          <p:cNvPr id="1654343891"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29</a:t>
            </a:r>
            <a:endParaRPr lang="en-US" sz="1200"/>
          </a:p>
        </p:txBody>
      </p:sp>
      <p:sp>
        <p:nvSpPr>
          <p:cNvPr id="1964444870"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Linear, ridge, random forest, XGBoost, MLP, RNN, GRU, LSTM, sparse GP and ensembles; MAE in % of the level.</a:t>
            </a:r>
            <a:endParaRPr lang="en-US" sz="1600"/>
          </a:p>
        </p:txBody>
      </p:sp>
      <p:sp>
        <p:nvSpPr>
          <p:cNvPr id="82375802" name="Text 6"/>
          <p:cNvSpPr/>
          <p:nvPr/>
        </p:nvSpPr>
        <p:spPr bwMode="auto">
          <a:xfrm>
            <a:off x="868680" y="2286000"/>
            <a:ext cx="10607040" cy="137160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Outlier-robust preparation brings all families within ~10 %: squared-loss models were chasing camera spikes (seg 1 ridge 2.86 → 1.12 %)</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Pulse alignment helps the nonlinear models: XGBoost seg 5 1.26 → 0.95 %, best LSTM 0.87 %; GRU / GP beat ridge by 11–22 % at high charge</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Ensembles match the best single model; stacking does not help</a:t>
            </a:r>
            <a:endParaRPr lang="en-US" sz="1300"/>
          </a:p>
        </p:txBody>
      </p:sp>
      <p:pic>
        <p:nvPicPr>
          <p:cNvPr id="344728897" name="Picture 15" descr="11_robust_preparation_cell7.png"/>
          <p:cNvPicPr>
            <a:picLocks noChangeAspect="1"/>
          </p:cNvPicPr>
          <p:nvPr/>
        </p:nvPicPr>
        <p:blipFill rotWithShape="1">
          <a:blip r:embed="rId3"/>
          <a:stretch/>
        </p:blipFill>
        <p:spPr bwMode="auto">
          <a:xfrm>
            <a:off x="822960" y="4049188"/>
            <a:ext cx="6309360" cy="1365662"/>
          </a:xfrm>
          <a:prstGeom prst="rect">
            <a:avLst/>
          </a:prstGeom>
        </p:spPr>
      </p:pic>
      <p:pic>
        <p:nvPicPr>
          <p:cNvPr id="2016514875" name="Picture 16" descr="15_alignment_significance_intervals_cell8.png"/>
          <p:cNvPicPr>
            <a:picLocks noChangeAspect="1"/>
          </p:cNvPicPr>
          <p:nvPr/>
        </p:nvPicPr>
        <p:blipFill rotWithShape="1">
          <a:blip r:embed="rId4"/>
          <a:stretch/>
        </p:blipFill>
        <p:spPr bwMode="auto">
          <a:xfrm>
            <a:off x="7223760" y="4235866"/>
            <a:ext cx="4297680" cy="99230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2496703"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803920854" name="Shape 1"/>
          <p:cNvSpPr/>
          <p:nvPr/>
        </p:nvSpPr>
        <p:spPr bwMode="auto">
          <a:xfrm>
            <a:off x="813816" y="813816"/>
            <a:ext cx="2834640" cy="283464"/>
          </a:xfrm>
          <a:prstGeom prst="roundRect">
            <a:avLst>
              <a:gd name="adj" fmla="val 17778"/>
            </a:avLst>
          </a:prstGeom>
          <a:solidFill>
            <a:srgbClr val="1D4ED8"/>
          </a:solidFill>
          <a:ln/>
        </p:spPr>
        <p:txBody>
          <a:bodyPr/>
          <a:lstStyle/>
          <a:p>
            <a:pPr>
              <a:defRPr/>
            </a:pPr>
            <a:endParaRPr lang="en-US"/>
          </a:p>
        </p:txBody>
      </p:sp>
      <p:sp>
        <p:nvSpPr>
          <p:cNvPr id="1060350598"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2 · MEDIUM · RESULTS</a:t>
            </a:r>
            <a:endParaRPr lang="en-US" sz="1200"/>
          </a:p>
        </p:txBody>
      </p:sp>
      <p:sp>
        <p:nvSpPr>
          <p:cNvPr id="2057820981"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BCM lost for good: cut at 70 % of each segment</a:t>
            </a:r>
            <a:endParaRPr lang="en-US" sz="3600"/>
          </a:p>
        </p:txBody>
      </p:sp>
      <p:sp>
        <p:nvSpPr>
          <p:cNvPr id="933849162" name="Text 12"/>
          <p:cNvSpPr/>
          <p:nvPr/>
        </p:nvSpPr>
        <p:spPr bwMode="auto">
          <a:xfrm>
            <a:off x="812800" y="6242050"/>
            <a:ext cx="784860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5A6478"/>
                </a:solidFill>
                <a:latin typeface="IBM Plex Mono"/>
                <a:ea typeface="IBM Plex Mono"/>
                <a:cs typeface="IBM Plex Mono"/>
              </a:rPr>
              <a:t>Forecasting the CLEAR beam charge </a:t>
            </a:r>
            <a:endParaRPr lang="en-US" sz="1200"/>
          </a:p>
        </p:txBody>
      </p:sp>
      <p:sp>
        <p:nvSpPr>
          <p:cNvPr id="134480557"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30</a:t>
            </a:r>
            <a:endParaRPr lang="en-US" sz="1200"/>
          </a:p>
        </p:txBody>
      </p:sp>
      <p:sp>
        <p:nvSpPr>
          <p:cNvPr id="257810206"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Train before the cut, infer after it with no BCM at all: trend from recent shots + MLP on the shot-to-shot part.</a:t>
            </a:r>
            <a:endParaRPr lang="en-US" sz="1600"/>
          </a:p>
        </p:txBody>
      </p:sp>
      <p:sp>
        <p:nvSpPr>
          <p:cNvPr id="694454470" name="Text 6"/>
          <p:cNvSpPr/>
          <p:nvPr/>
        </p:nvSpPr>
        <p:spPr bwMode="auto">
          <a:xfrm>
            <a:off x="7132320" y="2240280"/>
            <a:ext cx="4389120" cy="201168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Concordance (CCC) loss restores the fluctuation size: ~90 % of it vs 55–65 % with MSE</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Seg 6: correlation 0.99, difference std 48.6 pC (0.9 %)</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Monotonic physics constraint removes "more laser → less charge" violations</a:t>
            </a:r>
            <a:endParaRPr lang="en-US" sz="1300"/>
          </a:p>
        </p:txBody>
      </p:sp>
      <p:pic>
        <p:nvPicPr>
          <p:cNvPr id="1051203797" name="Picture 15" descr="segment_06_crop.png"/>
          <p:cNvPicPr>
            <a:picLocks noChangeAspect="1"/>
          </p:cNvPicPr>
          <p:nvPr/>
        </p:nvPicPr>
        <p:blipFill rotWithShape="1">
          <a:blip r:embed="rId3"/>
          <a:stretch/>
        </p:blipFill>
        <p:spPr bwMode="auto">
          <a:xfrm>
            <a:off x="1720636" y="4251960"/>
            <a:ext cx="3691046" cy="1600200"/>
          </a:xfrm>
          <a:prstGeom prst="rect">
            <a:avLst/>
          </a:prstGeom>
        </p:spPr>
      </p:pic>
      <p:pic>
        <p:nvPicPr>
          <p:cNvPr id="1288486645" name="Picture 16" descr="shot_to_shot_vs_ceiling.png"/>
          <p:cNvPicPr>
            <a:picLocks noChangeAspect="1"/>
          </p:cNvPicPr>
          <p:nvPr/>
        </p:nvPicPr>
        <p:blipFill rotWithShape="1">
          <a:blip r:embed="rId4"/>
          <a:stretch/>
        </p:blipFill>
        <p:spPr bwMode="auto">
          <a:xfrm>
            <a:off x="6858502" y="4251960"/>
            <a:ext cx="4205235" cy="1600200"/>
          </a:xfrm>
          <a:prstGeom prst="rect">
            <a:avLst/>
          </a:prstGeom>
        </p:spPr>
      </p:pic>
      <p:graphicFrame>
        <p:nvGraphicFramePr>
          <p:cNvPr id="1541773420" name="Table 17"/>
          <p:cNvGraphicFramePr>
            <a:graphicFrameLocks xmlns:a="http://schemas.openxmlformats.org/drawingml/2006/main" noGrp="1"/>
          </p:cNvGraphicFramePr>
          <p:nvPr/>
        </p:nvGraphicFramePr>
        <p:xfrm rot="0">
          <a:off x="868680" y="2240280"/>
          <a:ext cx="6035032" cy="1920240"/>
        </p:xfrm>
        <a:graphic>
          <a:graphicData uri="http://schemas.openxmlformats.org/drawingml/2006/table">
            <a:tbl>
              <a:tblPr firstRow="1" firstCol="0" lastRow="0" lastCol="0" bandRow="1" bandCol="0">
                <a:tableStyleId>{5C22544A-7EE6-4342-B048-85BDC9FD1C3A}</a:tableStyleId>
              </a:tblPr>
              <a:tblGrid>
                <a:gridCol w="1810511"/>
                <a:gridCol w="603503"/>
                <a:gridCol w="603503"/>
                <a:gridCol w="603503"/>
                <a:gridCol w="603503"/>
                <a:gridCol w="603503"/>
                <a:gridCol w="603503"/>
                <a:gridCol w="603503"/>
              </a:tblGrid>
              <a:tr h="320040">
                <a:tc>
                  <a:txBody>
                    <a:bodyPr/>
                    <a:p>
                      <a:pPr>
                        <a:defRPr/>
                      </a:pPr>
                      <a:r>
                        <a:rPr sz="1000" b="1">
                          <a:solidFill>
                            <a:srgbClr val="14213D"/>
                          </a:solidFill>
                          <a:latin typeface="IBM Plex Sans"/>
                        </a:rPr>
                        <a:t>MAE pC</a:t>
                      </a:r>
                      <a:endParaRPr/>
                    </a:p>
                  </a:txBody>
                  <a:tcPr marL="45720" marR="45720" marT="18288" marB="18288">
                    <a:solidFill>
                      <a:srgbClr val="E6E0D2"/>
                    </a:solidFill>
                  </a:tcPr>
                </a:tc>
                <a:tc>
                  <a:txBody>
                    <a:bodyPr/>
                    <a:p>
                      <a:pPr>
                        <a:defRPr/>
                      </a:pPr>
                      <a:r>
                        <a:rPr sz="1000" b="1">
                          <a:solidFill>
                            <a:srgbClr val="14213D"/>
                          </a:solidFill>
                          <a:latin typeface="IBM Plex Sans"/>
                        </a:rPr>
                        <a:t>seg 0</a:t>
                      </a:r>
                      <a:endParaRPr/>
                    </a:p>
                  </a:txBody>
                  <a:tcPr marL="45720" marR="45720" marT="18288" marB="18288">
                    <a:solidFill>
                      <a:srgbClr val="E6E0D2"/>
                    </a:solidFill>
                  </a:tcPr>
                </a:tc>
                <a:tc>
                  <a:txBody>
                    <a:bodyPr/>
                    <a:p>
                      <a:pPr>
                        <a:defRPr/>
                      </a:pPr>
                      <a:r>
                        <a:rPr sz="1000" b="1">
                          <a:solidFill>
                            <a:srgbClr val="14213D"/>
                          </a:solidFill>
                          <a:latin typeface="IBM Plex Sans"/>
                        </a:rPr>
                        <a:t>seg 3</a:t>
                      </a:r>
                      <a:endParaRPr/>
                    </a:p>
                  </a:txBody>
                  <a:tcPr marL="45720" marR="45720" marT="18288" marB="18288">
                    <a:solidFill>
                      <a:srgbClr val="E6E0D2"/>
                    </a:solidFill>
                  </a:tcPr>
                </a:tc>
                <a:tc>
                  <a:txBody>
                    <a:bodyPr/>
                    <a:p>
                      <a:pPr>
                        <a:defRPr/>
                      </a:pPr>
                      <a:r>
                        <a:rPr sz="1000" b="1">
                          <a:solidFill>
                            <a:srgbClr val="14213D"/>
                          </a:solidFill>
                          <a:latin typeface="IBM Plex Sans"/>
                        </a:rPr>
                        <a:t>seg 4</a:t>
                      </a:r>
                      <a:endParaRPr/>
                    </a:p>
                  </a:txBody>
                  <a:tcPr marL="45720" marR="45720" marT="18288" marB="18288">
                    <a:solidFill>
                      <a:srgbClr val="E6E0D2"/>
                    </a:solidFill>
                  </a:tcPr>
                </a:tc>
                <a:tc>
                  <a:txBody>
                    <a:bodyPr/>
                    <a:p>
                      <a:pPr>
                        <a:defRPr/>
                      </a:pPr>
                      <a:r>
                        <a:rPr sz="1000" b="1">
                          <a:solidFill>
                            <a:srgbClr val="14213D"/>
                          </a:solidFill>
                          <a:latin typeface="IBM Plex Sans"/>
                        </a:rPr>
                        <a:t>seg 5</a:t>
                      </a:r>
                      <a:endParaRPr/>
                    </a:p>
                  </a:txBody>
                  <a:tcPr marL="45720" marR="45720" marT="18288" marB="18288">
                    <a:solidFill>
                      <a:srgbClr val="E6E0D2"/>
                    </a:solidFill>
                  </a:tcPr>
                </a:tc>
                <a:tc>
                  <a:txBody>
                    <a:bodyPr/>
                    <a:p>
                      <a:pPr>
                        <a:defRPr/>
                      </a:pPr>
                      <a:r>
                        <a:rPr sz="1000" b="1">
                          <a:solidFill>
                            <a:srgbClr val="14213D"/>
                          </a:solidFill>
                          <a:latin typeface="IBM Plex Sans"/>
                        </a:rPr>
                        <a:t>seg 1</a:t>
                      </a:r>
                      <a:endParaRPr/>
                    </a:p>
                  </a:txBody>
                  <a:tcPr marL="45720" marR="45720" marT="18288" marB="18288">
                    <a:solidFill>
                      <a:srgbClr val="E6E0D2"/>
                    </a:solidFill>
                  </a:tcPr>
                </a:tc>
                <a:tc>
                  <a:txBody>
                    <a:bodyPr/>
                    <a:p>
                      <a:pPr>
                        <a:defRPr/>
                      </a:pPr>
                      <a:r>
                        <a:rPr sz="1000" b="1">
                          <a:solidFill>
                            <a:srgbClr val="14213D"/>
                          </a:solidFill>
                          <a:latin typeface="IBM Plex Sans"/>
                        </a:rPr>
                        <a:t>seg 6</a:t>
                      </a:r>
                      <a:endParaRPr/>
                    </a:p>
                  </a:txBody>
                  <a:tcPr marL="45720" marR="45720" marT="18288" marB="18288">
                    <a:solidFill>
                      <a:srgbClr val="E6E0D2"/>
                    </a:solidFill>
                  </a:tcPr>
                </a:tc>
                <a:tc>
                  <a:txBody>
                    <a:bodyPr/>
                    <a:p>
                      <a:pPr>
                        <a:defRPr/>
                      </a:pPr>
                      <a:r>
                        <a:rPr sz="1000" b="1">
                          <a:solidFill>
                            <a:srgbClr val="14213D"/>
                          </a:solidFill>
                          <a:latin typeface="IBM Plex Sans"/>
                        </a:rPr>
                        <a:t>seg 7</a:t>
                      </a:r>
                      <a:endParaRPr/>
                    </a:p>
                  </a:txBody>
                  <a:tcPr marL="45720" marR="45720" marT="18288" marB="18288">
                    <a:solidFill>
                      <a:srgbClr val="E6E0D2"/>
                    </a:solidFill>
                  </a:tcPr>
                </a:tc>
              </a:tr>
              <a:tr h="320040">
                <a:tc>
                  <a:txBody>
                    <a:bodyPr/>
                    <a:p>
                      <a:pPr>
                        <a:defRPr/>
                      </a:pPr>
                      <a:r>
                        <a:rPr sz="1000" b="1">
                          <a:solidFill>
                            <a:srgbClr val="14213D"/>
                          </a:solidFill>
                          <a:latin typeface="IBM Plex Sans"/>
                        </a:rPr>
                        <a:t>Ridge + HGB trend</a:t>
                      </a:r>
                      <a:endParaRPr/>
                    </a:p>
                  </a:txBody>
                  <a:tcPr marL="45720" marR="45720" marT="18288" marB="18288">
                    <a:solidFill>
                      <a:srgbClr val="FFFDF8"/>
                    </a:solidFill>
                  </a:tcPr>
                </a:tc>
                <a:tc>
                  <a:txBody>
                    <a:bodyPr/>
                    <a:p>
                      <a:pPr>
                        <a:defRPr/>
                      </a:pPr>
                      <a:r>
                        <a:rPr sz="1000" b="0">
                          <a:solidFill>
                            <a:srgbClr val="14213D"/>
                          </a:solidFill>
                          <a:latin typeface="IBM Plex Sans"/>
                        </a:rPr>
                        <a:t>11.8</a:t>
                      </a:r>
                      <a:endParaRPr/>
                    </a:p>
                  </a:txBody>
                  <a:tcPr marL="45720" marR="45720" marT="18288" marB="18288">
                    <a:solidFill>
                      <a:srgbClr val="FFFDF8"/>
                    </a:solidFill>
                  </a:tcPr>
                </a:tc>
                <a:tc>
                  <a:txBody>
                    <a:bodyPr/>
                    <a:p>
                      <a:pPr>
                        <a:defRPr/>
                      </a:pPr>
                      <a:r>
                        <a:rPr sz="1000" b="0">
                          <a:solidFill>
                            <a:srgbClr val="14213D"/>
                          </a:solidFill>
                          <a:latin typeface="IBM Plex Sans"/>
                        </a:rPr>
                        <a:t>9.1</a:t>
                      </a:r>
                      <a:endParaRPr/>
                    </a:p>
                  </a:txBody>
                  <a:tcPr marL="45720" marR="45720" marT="18288" marB="18288">
                    <a:solidFill>
                      <a:srgbClr val="FFFDF8"/>
                    </a:solidFill>
                  </a:tcPr>
                </a:tc>
                <a:tc>
                  <a:txBody>
                    <a:bodyPr/>
                    <a:p>
                      <a:pPr>
                        <a:defRPr/>
                      </a:pPr>
                      <a:r>
                        <a:rPr sz="1000" b="0">
                          <a:solidFill>
                            <a:srgbClr val="14213D"/>
                          </a:solidFill>
                          <a:latin typeface="IBM Plex Sans"/>
                        </a:rPr>
                        <a:t>9.0</a:t>
                      </a:r>
                      <a:endParaRPr/>
                    </a:p>
                  </a:txBody>
                  <a:tcPr marL="45720" marR="45720" marT="18288" marB="18288">
                    <a:solidFill>
                      <a:srgbClr val="FFFDF8"/>
                    </a:solidFill>
                  </a:tcPr>
                </a:tc>
                <a:tc>
                  <a:txBody>
                    <a:bodyPr/>
                    <a:p>
                      <a:pPr>
                        <a:defRPr/>
                      </a:pPr>
                      <a:r>
                        <a:rPr sz="1000" b="0">
                          <a:solidFill>
                            <a:srgbClr val="14213D"/>
                          </a:solidFill>
                          <a:latin typeface="IBM Plex Sans"/>
                        </a:rPr>
                        <a:t>85.2</a:t>
                      </a:r>
                      <a:endParaRPr/>
                    </a:p>
                  </a:txBody>
                  <a:tcPr marL="45720" marR="45720" marT="18288" marB="18288">
                    <a:solidFill>
                      <a:srgbClr val="FFFDF8"/>
                    </a:solidFill>
                  </a:tcPr>
                </a:tc>
                <a:tc>
                  <a:txBody>
                    <a:bodyPr/>
                    <a:p>
                      <a:pPr>
                        <a:defRPr/>
                      </a:pPr>
                      <a:r>
                        <a:rPr sz="1000" b="0">
                          <a:solidFill>
                            <a:srgbClr val="14213D"/>
                          </a:solidFill>
                          <a:latin typeface="IBM Plex Sans"/>
                        </a:rPr>
                        <a:t>186</a:t>
                      </a:r>
                      <a:endParaRPr/>
                    </a:p>
                  </a:txBody>
                  <a:tcPr marL="45720" marR="45720" marT="18288" marB="18288">
                    <a:solidFill>
                      <a:srgbClr val="FFFDF8"/>
                    </a:solidFill>
                  </a:tcPr>
                </a:tc>
                <a:tc>
                  <a:txBody>
                    <a:bodyPr/>
                    <a:p>
                      <a:pPr>
                        <a:defRPr/>
                      </a:pPr>
                      <a:r>
                        <a:rPr sz="1000" b="0">
                          <a:solidFill>
                            <a:srgbClr val="14213D"/>
                          </a:solidFill>
                          <a:latin typeface="IBM Plex Sans"/>
                        </a:rPr>
                        <a:t>42.5</a:t>
                      </a:r>
                      <a:endParaRPr/>
                    </a:p>
                  </a:txBody>
                  <a:tcPr marL="45720" marR="45720" marT="18288" marB="18288">
                    <a:solidFill>
                      <a:srgbClr val="FFFDF8"/>
                    </a:solidFill>
                  </a:tcPr>
                </a:tc>
                <a:tc>
                  <a:txBody>
                    <a:bodyPr/>
                    <a:p>
                      <a:pPr>
                        <a:defRPr/>
                      </a:pPr>
                      <a:r>
                        <a:rPr sz="1000" b="0">
                          <a:solidFill>
                            <a:srgbClr val="14213D"/>
                          </a:solidFill>
                          <a:latin typeface="IBM Plex Sans"/>
                        </a:rPr>
                        <a:t>163</a:t>
                      </a:r>
                      <a:endParaRPr/>
                    </a:p>
                  </a:txBody>
                  <a:tcPr marL="45720" marR="45720" marT="18288" marB="18288">
                    <a:solidFill>
                      <a:srgbClr val="FFFDF8"/>
                    </a:solidFill>
                  </a:tcPr>
                </a:tc>
              </a:tr>
              <a:tr h="320040">
                <a:tc>
                  <a:txBody>
                    <a:bodyPr/>
                    <a:p>
                      <a:pPr>
                        <a:defRPr/>
                      </a:pPr>
                      <a:r>
                        <a:rPr sz="1000" b="1">
                          <a:solidFill>
                            <a:srgbClr val="14213D"/>
                          </a:solidFill>
                          <a:latin typeface="IBM Plex Sans"/>
                        </a:rPr>
                        <a:t>trend + MLP (CCC loss) ×6</a:t>
                      </a:r>
                      <a:endParaRPr/>
                    </a:p>
                  </a:txBody>
                  <a:tcPr marL="45720" marR="45720" marT="18288" marB="18288">
                    <a:solidFill>
                      <a:srgbClr val="FFFDF8"/>
                    </a:solidFill>
                  </a:tcPr>
                </a:tc>
                <a:tc>
                  <a:txBody>
                    <a:bodyPr/>
                    <a:p>
                      <a:pPr>
                        <a:defRPr/>
                      </a:pPr>
                      <a:r>
                        <a:rPr sz="1000" b="0">
                          <a:solidFill>
                            <a:srgbClr val="14213D"/>
                          </a:solidFill>
                          <a:latin typeface="IBM Plex Sans"/>
                        </a:rPr>
                        <a:t>11.1</a:t>
                      </a:r>
                      <a:endParaRPr/>
                    </a:p>
                  </a:txBody>
                  <a:tcPr marL="45720" marR="45720" marT="18288" marB="18288">
                    <a:solidFill>
                      <a:srgbClr val="FFFDF8"/>
                    </a:solidFill>
                  </a:tcPr>
                </a:tc>
                <a:tc>
                  <a:txBody>
                    <a:bodyPr/>
                    <a:p>
                      <a:pPr>
                        <a:defRPr/>
                      </a:pPr>
                      <a:r>
                        <a:rPr sz="1000" b="0">
                          <a:solidFill>
                            <a:srgbClr val="14213D"/>
                          </a:solidFill>
                          <a:latin typeface="IBM Plex Sans"/>
                        </a:rPr>
                        <a:t>8.9</a:t>
                      </a:r>
                      <a:endParaRPr/>
                    </a:p>
                  </a:txBody>
                  <a:tcPr marL="45720" marR="45720" marT="18288" marB="18288">
                    <a:solidFill>
                      <a:srgbClr val="FFFDF8"/>
                    </a:solidFill>
                  </a:tcPr>
                </a:tc>
                <a:tc>
                  <a:txBody>
                    <a:bodyPr/>
                    <a:p>
                      <a:pPr>
                        <a:defRPr/>
                      </a:pPr>
                      <a:r>
                        <a:rPr sz="1000" b="0">
                          <a:solidFill>
                            <a:srgbClr val="14213D"/>
                          </a:solidFill>
                          <a:latin typeface="IBM Plex Sans"/>
                        </a:rPr>
                        <a:t>9.9</a:t>
                      </a:r>
                      <a:endParaRPr/>
                    </a:p>
                  </a:txBody>
                  <a:tcPr marL="45720" marR="45720" marT="18288" marB="18288">
                    <a:solidFill>
                      <a:srgbClr val="FFFDF8"/>
                    </a:solidFill>
                  </a:tcPr>
                </a:tc>
                <a:tc>
                  <a:txBody>
                    <a:bodyPr/>
                    <a:p>
                      <a:pPr>
                        <a:defRPr/>
                      </a:pPr>
                      <a:r>
                        <a:rPr sz="1000" b="0">
                          <a:solidFill>
                            <a:srgbClr val="14213D"/>
                          </a:solidFill>
                          <a:latin typeface="IBM Plex Sans"/>
                        </a:rPr>
                        <a:t>83.5</a:t>
                      </a:r>
                      <a:endParaRPr/>
                    </a:p>
                  </a:txBody>
                  <a:tcPr marL="45720" marR="45720" marT="18288" marB="18288">
                    <a:solidFill>
                      <a:srgbClr val="FFFDF8"/>
                    </a:solidFill>
                  </a:tcPr>
                </a:tc>
                <a:tc>
                  <a:txBody>
                    <a:bodyPr/>
                    <a:p>
                      <a:pPr>
                        <a:defRPr/>
                      </a:pPr>
                      <a:r>
                        <a:rPr sz="1000" b="0">
                          <a:solidFill>
                            <a:srgbClr val="14213D"/>
                          </a:solidFill>
                          <a:latin typeface="IBM Plex Sans"/>
                        </a:rPr>
                        <a:t>101</a:t>
                      </a:r>
                      <a:endParaRPr/>
                    </a:p>
                  </a:txBody>
                  <a:tcPr marL="45720" marR="45720" marT="18288" marB="18288">
                    <a:solidFill>
                      <a:srgbClr val="FFFDF8"/>
                    </a:solidFill>
                  </a:tcPr>
                </a:tc>
                <a:tc>
                  <a:txBody>
                    <a:bodyPr/>
                    <a:p>
                      <a:pPr>
                        <a:defRPr/>
                      </a:pPr>
                      <a:r>
                        <a:rPr sz="1000" b="0">
                          <a:solidFill>
                            <a:srgbClr val="14213D"/>
                          </a:solidFill>
                          <a:latin typeface="IBM Plex Sans"/>
                        </a:rPr>
                        <a:t>39.3</a:t>
                      </a:r>
                      <a:endParaRPr/>
                    </a:p>
                  </a:txBody>
                  <a:tcPr marL="45720" marR="45720" marT="18288" marB="18288">
                    <a:solidFill>
                      <a:srgbClr val="FFFDF8"/>
                    </a:solidFill>
                  </a:tcPr>
                </a:tc>
                <a:tc>
                  <a:txBody>
                    <a:bodyPr/>
                    <a:p>
                      <a:pPr>
                        <a:defRPr/>
                      </a:pPr>
                      <a:r>
                        <a:rPr sz="1000" b="0">
                          <a:solidFill>
                            <a:srgbClr val="14213D"/>
                          </a:solidFill>
                          <a:latin typeface="IBM Plex Sans"/>
                        </a:rPr>
                        <a:t>146</a:t>
                      </a:r>
                      <a:endParaRPr/>
                    </a:p>
                  </a:txBody>
                  <a:tcPr marL="45720" marR="45720" marT="18288" marB="18288">
                    <a:solidFill>
                      <a:srgbClr val="FFFDF8"/>
                    </a:solidFill>
                  </a:tcPr>
                </a:tc>
              </a:tr>
              <a:tr h="320040">
                <a:tc>
                  <a:txBody>
                    <a:bodyPr/>
                    <a:p>
                      <a:pPr>
                        <a:defRPr/>
                      </a:pPr>
                      <a:r>
                        <a:rPr sz="1000" b="1">
                          <a:solidFill>
                            <a:srgbClr val="14213D"/>
                          </a:solidFill>
                          <a:latin typeface="IBM Plex Sans"/>
                        </a:rPr>
                        <a:t>physics-constrained</a:t>
                      </a:r>
                      <a:endParaRPr/>
                    </a:p>
                  </a:txBody>
                  <a:tcPr marL="45720" marR="45720" marT="18288" marB="18288">
                    <a:solidFill>
                      <a:srgbClr val="FFFDF8"/>
                    </a:solidFill>
                  </a:tcPr>
                </a:tc>
                <a:tc>
                  <a:txBody>
                    <a:bodyPr/>
                    <a:p>
                      <a:pPr>
                        <a:defRPr/>
                      </a:pPr>
                      <a:r>
                        <a:rPr sz="1000" b="0">
                          <a:solidFill>
                            <a:srgbClr val="14213D"/>
                          </a:solidFill>
                          <a:latin typeface="IBM Plex Sans"/>
                        </a:rPr>
                        <a:t>12.1</a:t>
                      </a:r>
                      <a:endParaRPr/>
                    </a:p>
                  </a:txBody>
                  <a:tcPr marL="45720" marR="45720" marT="18288" marB="18288">
                    <a:solidFill>
                      <a:srgbClr val="FFFDF8"/>
                    </a:solidFill>
                  </a:tcPr>
                </a:tc>
                <a:tc>
                  <a:txBody>
                    <a:bodyPr/>
                    <a:p>
                      <a:pPr>
                        <a:defRPr/>
                      </a:pPr>
                      <a:r>
                        <a:rPr sz="1000" b="0">
                          <a:solidFill>
                            <a:srgbClr val="14213D"/>
                          </a:solidFill>
                          <a:latin typeface="IBM Plex Sans"/>
                        </a:rPr>
                        <a:t>9.1</a:t>
                      </a:r>
                      <a:endParaRPr/>
                    </a:p>
                  </a:txBody>
                  <a:tcPr marL="45720" marR="45720" marT="18288" marB="18288">
                    <a:solidFill>
                      <a:srgbClr val="FFFDF8"/>
                    </a:solidFill>
                  </a:tcPr>
                </a:tc>
                <a:tc>
                  <a:txBody>
                    <a:bodyPr/>
                    <a:p>
                      <a:pPr>
                        <a:defRPr/>
                      </a:pPr>
                      <a:r>
                        <a:rPr sz="1000" b="0">
                          <a:solidFill>
                            <a:srgbClr val="14213D"/>
                          </a:solidFill>
                          <a:latin typeface="IBM Plex Sans"/>
                        </a:rPr>
                        <a:t>10.1</a:t>
                      </a:r>
                      <a:endParaRPr/>
                    </a:p>
                  </a:txBody>
                  <a:tcPr marL="45720" marR="45720" marT="18288" marB="18288">
                    <a:solidFill>
                      <a:srgbClr val="FFFDF8"/>
                    </a:solidFill>
                  </a:tcPr>
                </a:tc>
                <a:tc>
                  <a:txBody>
                    <a:bodyPr/>
                    <a:p>
                      <a:pPr>
                        <a:defRPr/>
                      </a:pPr>
                      <a:r>
                        <a:rPr sz="1000" b="0">
                          <a:solidFill>
                            <a:srgbClr val="14213D"/>
                          </a:solidFill>
                          <a:latin typeface="IBM Plex Sans"/>
                        </a:rPr>
                        <a:t>96.3</a:t>
                      </a:r>
                      <a:endParaRPr/>
                    </a:p>
                  </a:txBody>
                  <a:tcPr marL="45720" marR="45720" marT="18288" marB="18288">
                    <a:solidFill>
                      <a:srgbClr val="FFFDF8"/>
                    </a:solidFill>
                  </a:tcPr>
                </a:tc>
                <a:tc>
                  <a:txBody>
                    <a:bodyPr/>
                    <a:p>
                      <a:pPr>
                        <a:defRPr/>
                      </a:pPr>
                      <a:r>
                        <a:rPr sz="1000" b="0">
                          <a:solidFill>
                            <a:srgbClr val="14213D"/>
                          </a:solidFill>
                          <a:latin typeface="IBM Plex Sans"/>
                        </a:rPr>
                        <a:t>107</a:t>
                      </a:r>
                      <a:endParaRPr/>
                    </a:p>
                  </a:txBody>
                  <a:tcPr marL="45720" marR="45720" marT="18288" marB="18288">
                    <a:solidFill>
                      <a:srgbClr val="FFFDF8"/>
                    </a:solidFill>
                  </a:tcPr>
                </a:tc>
                <a:tc>
                  <a:txBody>
                    <a:bodyPr/>
                    <a:p>
                      <a:pPr>
                        <a:defRPr/>
                      </a:pPr>
                      <a:r>
                        <a:rPr sz="1000" b="0">
                          <a:solidFill>
                            <a:srgbClr val="14213D"/>
                          </a:solidFill>
                          <a:latin typeface="IBM Plex Sans"/>
                        </a:rPr>
                        <a:t>39.5</a:t>
                      </a:r>
                      <a:endParaRPr/>
                    </a:p>
                  </a:txBody>
                  <a:tcPr marL="45720" marR="45720" marT="18288" marB="18288">
                    <a:solidFill>
                      <a:srgbClr val="FFFDF8"/>
                    </a:solidFill>
                  </a:tcPr>
                </a:tc>
                <a:tc>
                  <a:txBody>
                    <a:bodyPr/>
                    <a:p>
                      <a:pPr>
                        <a:defRPr/>
                      </a:pPr>
                      <a:r>
                        <a:rPr sz="1000" b="0">
                          <a:solidFill>
                            <a:srgbClr val="14213D"/>
                          </a:solidFill>
                          <a:latin typeface="IBM Plex Sans"/>
                        </a:rPr>
                        <a:t>143</a:t>
                      </a:r>
                      <a:endParaRPr/>
                    </a:p>
                  </a:txBody>
                  <a:tcPr marL="45720" marR="45720" marT="18288" marB="18288">
                    <a:solidFill>
                      <a:srgbClr val="FFFDF8"/>
                    </a:solidFill>
                  </a:tcPr>
                </a:tc>
              </a:tr>
              <a:tr h="320040">
                <a:tc>
                  <a:txBody>
                    <a:bodyPr/>
                    <a:p>
                      <a:pPr>
                        <a:defRPr/>
                      </a:pPr>
                      <a:r>
                        <a:rPr sz="1000" b="1">
                          <a:solidFill>
                            <a:srgbClr val="14213D"/>
                          </a:solidFill>
                          <a:latin typeface="IBM Plex Sans"/>
                        </a:rPr>
                        <a:t>TCN trend (1-D conv)</a:t>
                      </a:r>
                      <a:endParaRPr/>
                    </a:p>
                  </a:txBody>
                  <a:tcPr marL="45720" marR="45720" marT="18288" marB="18288">
                    <a:solidFill>
                      <a:srgbClr val="FFFDF8"/>
                    </a:solidFill>
                  </a:tcPr>
                </a:tc>
                <a:tc>
                  <a:txBody>
                    <a:bodyPr/>
                    <a:p>
                      <a:pPr>
                        <a:defRPr/>
                      </a:pPr>
                      <a:r>
                        <a:rPr sz="1000" b="0">
                          <a:solidFill>
                            <a:srgbClr val="14213D"/>
                          </a:solidFill>
                          <a:latin typeface="IBM Plex Sans"/>
                        </a:rPr>
                        <a:t>17.4</a:t>
                      </a:r>
                      <a:endParaRPr/>
                    </a:p>
                  </a:txBody>
                  <a:tcPr marL="45720" marR="45720" marT="18288" marB="18288">
                    <a:solidFill>
                      <a:srgbClr val="FFFDF8"/>
                    </a:solidFill>
                  </a:tcPr>
                </a:tc>
                <a:tc>
                  <a:txBody>
                    <a:bodyPr/>
                    <a:p>
                      <a:pPr>
                        <a:defRPr/>
                      </a:pPr>
                      <a:r>
                        <a:rPr sz="1000" b="0">
                          <a:solidFill>
                            <a:srgbClr val="14213D"/>
                          </a:solidFill>
                          <a:latin typeface="IBM Plex Sans"/>
                        </a:rPr>
                        <a:t>9.0</a:t>
                      </a:r>
                      <a:endParaRPr/>
                    </a:p>
                  </a:txBody>
                  <a:tcPr marL="45720" marR="45720" marT="18288" marB="18288">
                    <a:solidFill>
                      <a:srgbClr val="FFFDF8"/>
                    </a:solidFill>
                  </a:tcPr>
                </a:tc>
                <a:tc>
                  <a:txBody>
                    <a:bodyPr/>
                    <a:p>
                      <a:pPr>
                        <a:defRPr/>
                      </a:pPr>
                      <a:r>
                        <a:rPr sz="1000" b="0">
                          <a:solidFill>
                            <a:srgbClr val="14213D"/>
                          </a:solidFill>
                          <a:latin typeface="IBM Plex Sans"/>
                        </a:rPr>
                        <a:t>10.4</a:t>
                      </a:r>
                      <a:endParaRPr/>
                    </a:p>
                  </a:txBody>
                  <a:tcPr marL="45720" marR="45720" marT="18288" marB="18288">
                    <a:solidFill>
                      <a:srgbClr val="FFFDF8"/>
                    </a:solidFill>
                  </a:tcPr>
                </a:tc>
                <a:tc>
                  <a:txBody>
                    <a:bodyPr/>
                    <a:p>
                      <a:pPr>
                        <a:defRPr/>
                      </a:pPr>
                      <a:r>
                        <a:rPr sz="1000" b="0">
                          <a:solidFill>
                            <a:srgbClr val="14213D"/>
                          </a:solidFill>
                          <a:latin typeface="IBM Plex Sans"/>
                        </a:rPr>
                        <a:t>85.8</a:t>
                      </a:r>
                      <a:endParaRPr/>
                    </a:p>
                  </a:txBody>
                  <a:tcPr marL="45720" marR="45720" marT="18288" marB="18288">
                    <a:solidFill>
                      <a:srgbClr val="FFFDF8"/>
                    </a:solidFill>
                  </a:tcPr>
                </a:tc>
                <a:tc>
                  <a:txBody>
                    <a:bodyPr/>
                    <a:p>
                      <a:pPr>
                        <a:defRPr/>
                      </a:pPr>
                      <a:r>
                        <a:rPr sz="1000" b="0">
                          <a:solidFill>
                            <a:srgbClr val="14213D"/>
                          </a:solidFill>
                          <a:latin typeface="IBM Plex Sans"/>
                        </a:rPr>
                        <a:t>113</a:t>
                      </a:r>
                      <a:endParaRPr/>
                    </a:p>
                  </a:txBody>
                  <a:tcPr marL="45720" marR="45720" marT="18288" marB="18288">
                    <a:solidFill>
                      <a:srgbClr val="FFFDF8"/>
                    </a:solidFill>
                  </a:tcPr>
                </a:tc>
                <a:tc>
                  <a:txBody>
                    <a:bodyPr/>
                    <a:p>
                      <a:pPr>
                        <a:defRPr/>
                      </a:pPr>
                      <a:r>
                        <a:rPr sz="1000" b="0">
                          <a:solidFill>
                            <a:srgbClr val="14213D"/>
                          </a:solidFill>
                          <a:latin typeface="IBM Plex Sans"/>
                        </a:rPr>
                        <a:t>44.4</a:t>
                      </a:r>
                      <a:endParaRPr/>
                    </a:p>
                  </a:txBody>
                  <a:tcPr marL="45720" marR="45720" marT="18288" marB="18288">
                    <a:solidFill>
                      <a:srgbClr val="FFFDF8"/>
                    </a:solidFill>
                  </a:tcPr>
                </a:tc>
                <a:tc>
                  <a:txBody>
                    <a:bodyPr/>
                    <a:p>
                      <a:pPr>
                        <a:defRPr/>
                      </a:pPr>
                      <a:r>
                        <a:rPr sz="1000" b="0">
                          <a:solidFill>
                            <a:srgbClr val="14213D"/>
                          </a:solidFill>
                          <a:latin typeface="IBM Plex Sans"/>
                        </a:rPr>
                        <a:t>161</a:t>
                      </a:r>
                      <a:endParaRPr/>
                    </a:p>
                  </a:txBody>
                  <a:tcPr marL="45720" marR="45720" marT="18288" marB="18288">
                    <a:solidFill>
                      <a:srgbClr val="FFFDF8"/>
                    </a:solidFill>
                  </a:tcPr>
                </a:tc>
              </a:tr>
              <a:tr h="320040">
                <a:tc>
                  <a:txBody>
                    <a:bodyPr/>
                    <a:p>
                      <a:pPr>
                        <a:defRPr/>
                      </a:pPr>
                      <a:r>
                        <a:rPr sz="1000" b="1">
                          <a:solidFill>
                            <a:srgbClr val="14213D"/>
                          </a:solidFill>
                          <a:latin typeface="IBM Plex Sans"/>
                        </a:rPr>
                        <a:t>pretrained + fine-tuned</a:t>
                      </a:r>
                      <a:endParaRPr/>
                    </a:p>
                  </a:txBody>
                  <a:tcPr marL="45720" marR="45720" marT="18288" marB="18288">
                    <a:solidFill>
                      <a:srgbClr val="FFFDF8"/>
                    </a:solidFill>
                  </a:tcPr>
                </a:tc>
                <a:tc>
                  <a:txBody>
                    <a:bodyPr/>
                    <a:p>
                      <a:pPr>
                        <a:defRPr/>
                      </a:pPr>
                      <a:r>
                        <a:rPr sz="1000" b="0">
                          <a:solidFill>
                            <a:srgbClr val="14213D"/>
                          </a:solidFill>
                          <a:latin typeface="IBM Plex Sans"/>
                        </a:rPr>
                        <a:t>11.0</a:t>
                      </a:r>
                      <a:endParaRPr/>
                    </a:p>
                  </a:txBody>
                  <a:tcPr marL="45720" marR="45720" marT="18288" marB="18288">
                    <a:solidFill>
                      <a:srgbClr val="FFFDF8"/>
                    </a:solidFill>
                  </a:tcPr>
                </a:tc>
                <a:tc>
                  <a:txBody>
                    <a:bodyPr/>
                    <a:p>
                      <a:pPr>
                        <a:defRPr/>
                      </a:pPr>
                      <a:r>
                        <a:rPr sz="1000" b="0">
                          <a:solidFill>
                            <a:srgbClr val="14213D"/>
                          </a:solidFill>
                          <a:latin typeface="IBM Plex Sans"/>
                        </a:rPr>
                        <a:t>9.3</a:t>
                      </a:r>
                      <a:endParaRPr/>
                    </a:p>
                  </a:txBody>
                  <a:tcPr marL="45720" marR="45720" marT="18288" marB="18288">
                    <a:solidFill>
                      <a:srgbClr val="FFFDF8"/>
                    </a:solidFill>
                  </a:tcPr>
                </a:tc>
                <a:tc>
                  <a:txBody>
                    <a:bodyPr/>
                    <a:p>
                      <a:pPr>
                        <a:defRPr/>
                      </a:pPr>
                      <a:r>
                        <a:rPr sz="1000" b="0">
                          <a:solidFill>
                            <a:srgbClr val="14213D"/>
                          </a:solidFill>
                          <a:latin typeface="IBM Plex Sans"/>
                        </a:rPr>
                        <a:t>9.4</a:t>
                      </a:r>
                      <a:endParaRPr/>
                    </a:p>
                  </a:txBody>
                  <a:tcPr marL="45720" marR="45720" marT="18288" marB="18288">
                    <a:solidFill>
                      <a:srgbClr val="FFFDF8"/>
                    </a:solidFill>
                  </a:tcPr>
                </a:tc>
                <a:tc>
                  <a:txBody>
                    <a:bodyPr/>
                    <a:p>
                      <a:pPr>
                        <a:defRPr/>
                      </a:pPr>
                      <a:r>
                        <a:rPr sz="1000" b="0">
                          <a:solidFill>
                            <a:srgbClr val="14213D"/>
                          </a:solidFill>
                          <a:latin typeface="IBM Plex Sans"/>
                        </a:rPr>
                        <a:t>82.3</a:t>
                      </a:r>
                      <a:endParaRPr/>
                    </a:p>
                  </a:txBody>
                  <a:tcPr marL="45720" marR="45720" marT="18288" marB="18288">
                    <a:solidFill>
                      <a:srgbClr val="FFFDF8"/>
                    </a:solidFill>
                  </a:tcPr>
                </a:tc>
                <a:tc>
                  <a:txBody>
                    <a:bodyPr/>
                    <a:p>
                      <a:pPr>
                        <a:defRPr/>
                      </a:pPr>
                      <a:r>
                        <a:rPr sz="1000" b="0">
                          <a:solidFill>
                            <a:srgbClr val="14213D"/>
                          </a:solidFill>
                          <a:latin typeface="IBM Plex Sans"/>
                        </a:rPr>
                        <a:t>102</a:t>
                      </a:r>
                      <a:endParaRPr/>
                    </a:p>
                  </a:txBody>
                  <a:tcPr marL="45720" marR="45720" marT="18288" marB="18288">
                    <a:solidFill>
                      <a:srgbClr val="FFFDF8"/>
                    </a:solidFill>
                  </a:tcPr>
                </a:tc>
                <a:tc>
                  <a:txBody>
                    <a:bodyPr/>
                    <a:p>
                      <a:pPr>
                        <a:defRPr/>
                      </a:pPr>
                      <a:r>
                        <a:rPr sz="1000" b="0">
                          <a:solidFill>
                            <a:srgbClr val="14213D"/>
                          </a:solidFill>
                          <a:latin typeface="IBM Plex Sans"/>
                        </a:rPr>
                        <a:t>36.0</a:t>
                      </a:r>
                      <a:endParaRPr/>
                    </a:p>
                  </a:txBody>
                  <a:tcPr marL="45720" marR="45720" marT="18288" marB="18288">
                    <a:solidFill>
                      <a:srgbClr val="FFFDF8"/>
                    </a:solidFill>
                  </a:tcPr>
                </a:tc>
                <a:tc>
                  <a:txBody>
                    <a:bodyPr/>
                    <a:p>
                      <a:pPr>
                        <a:defRPr/>
                      </a:pPr>
                      <a:r>
                        <a:rPr sz="1000" b="0">
                          <a:solidFill>
                            <a:srgbClr val="14213D"/>
                          </a:solidFill>
                          <a:latin typeface="IBM Plex Sans"/>
                        </a:rPr>
                        <a:t>139</a:t>
                      </a:r>
                      <a:endParaRPr/>
                    </a:p>
                  </a:txBody>
                  <a:tcPr marL="45720" marR="45720" marT="18288" marB="18288">
                    <a:solidFill>
                      <a:srgbClr val="FFFD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6510549"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792287546" name="Shape 1"/>
          <p:cNvSpPr/>
          <p:nvPr/>
        </p:nvSpPr>
        <p:spPr bwMode="auto">
          <a:xfrm>
            <a:off x="813816" y="813816"/>
            <a:ext cx="2834640" cy="283464"/>
          </a:xfrm>
          <a:prstGeom prst="roundRect">
            <a:avLst>
              <a:gd name="adj" fmla="val 17778"/>
            </a:avLst>
          </a:prstGeom>
          <a:solidFill>
            <a:srgbClr val="1D4ED8"/>
          </a:solidFill>
          <a:ln/>
        </p:spPr>
        <p:txBody>
          <a:bodyPr/>
          <a:lstStyle/>
          <a:p>
            <a:pPr>
              <a:defRPr/>
            </a:pPr>
            <a:endParaRPr lang="en-US"/>
          </a:p>
        </p:txBody>
      </p:sp>
      <p:sp>
        <p:nvSpPr>
          <p:cNvPr id="1032337692"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2 · MEDIUM · RESULTS</a:t>
            </a:r>
            <a:endParaRPr lang="en-US" sz="1200"/>
          </a:p>
        </p:txBody>
      </p:sp>
      <p:sp>
        <p:nvSpPr>
          <p:cNvPr id="1370886116"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Drivers and the noise floor</a:t>
            </a:r>
            <a:endParaRPr lang="en-US" sz="3600"/>
          </a:p>
        </p:txBody>
      </p:sp>
      <p:sp>
        <p:nvSpPr>
          <p:cNvPr id="1010199871" name="Text 12"/>
          <p:cNvSpPr/>
          <p:nvPr/>
        </p:nvSpPr>
        <p:spPr bwMode="auto">
          <a:xfrm>
            <a:off x="812800" y="6242050"/>
            <a:ext cx="784860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5A6478"/>
                </a:solidFill>
                <a:latin typeface="IBM Plex Mono"/>
                <a:ea typeface="IBM Plex Mono"/>
                <a:cs typeface="IBM Plex Mono"/>
              </a:rPr>
              <a:t>Forecasting the CLEAR beam charge </a:t>
            </a:r>
            <a:endParaRPr lang="en-US" sz="1200"/>
          </a:p>
        </p:txBody>
      </p:sp>
      <p:sp>
        <p:nvSpPr>
          <p:cNvPr id="174978514"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31</a:t>
            </a:r>
            <a:endParaRPr lang="en-US" sz="1200"/>
          </a:p>
        </p:txBody>
      </p:sp>
      <p:sp>
        <p:nvSpPr>
          <p:cNvPr id="1071475122"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Feature importance and the distance to the BCM's own noise.</a:t>
            </a:r>
            <a:endParaRPr lang="en-US" sz="1600"/>
          </a:p>
        </p:txBody>
      </p:sp>
      <p:sp>
        <p:nvSpPr>
          <p:cNvPr id="849308187" name="Text 6"/>
          <p:cNvSpPr/>
          <p:nvPr/>
        </p:nvSpPr>
        <p:spPr bwMode="auto">
          <a:xfrm>
            <a:off x="868680" y="2286000"/>
            <a:ext cx="5303520" cy="356616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Camera intensity carries most of it: shuffling it costs +16 to +163 % RMSE; then SVD s1, lab laser (high charge), clex (low charge)</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Laser pulse shape and RF add &lt; 1.2 points</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BCM noise measured with a three-cornered hat: σ² = (10.7 pC)² + (0.72 % Q)²</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Best models are at the noise floor on segs 0, 4, 6 and 1.3–2× above it on segs 1, 3, 5</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Missing camera frames (~18 % at high charge) triple the error: the largest errors come from them</a:t>
            </a:r>
            <a:endParaRPr lang="en-US" sz="1300"/>
          </a:p>
        </p:txBody>
      </p:sp>
      <p:pic>
        <p:nvPicPr>
          <p:cNvPr id="1306231717" name="Picture 15" descr="feature_importance.png"/>
          <p:cNvPicPr>
            <a:picLocks noChangeAspect="1"/>
          </p:cNvPicPr>
          <p:nvPr/>
        </p:nvPicPr>
        <p:blipFill rotWithShape="1">
          <a:blip r:embed="rId3"/>
          <a:stretch/>
        </p:blipFill>
        <p:spPr bwMode="auto">
          <a:xfrm>
            <a:off x="7375916" y="2148840"/>
            <a:ext cx="3078967" cy="2194560"/>
          </a:xfrm>
          <a:prstGeom prst="rect">
            <a:avLst/>
          </a:prstGeom>
        </p:spPr>
      </p:pic>
      <p:pic>
        <p:nvPicPr>
          <p:cNvPr id="576352617" name="Picture 16" descr="13_models_gp_ensembles_floor_cell7.png"/>
          <p:cNvPicPr>
            <a:picLocks noChangeAspect="1"/>
          </p:cNvPicPr>
          <p:nvPr/>
        </p:nvPicPr>
        <p:blipFill rotWithShape="1">
          <a:blip r:embed="rId4"/>
          <a:stretch/>
        </p:blipFill>
        <p:spPr bwMode="auto">
          <a:xfrm>
            <a:off x="7125053" y="4389120"/>
            <a:ext cx="3580692" cy="14630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BF8F1"/>
        </a:solidFill>
      </p:bgPr>
    </p:bg>
    <p:spTree>
      <p:nvGrpSpPr>
        <p:cNvPr id="1" name=""/>
        <p:cNvGrpSpPr/>
        <p:nvPr/>
      </p:nvGrpSpPr>
      <p:grpSpPr bwMode="auto">
        <a:xfrm>
          <a:off x="0" y="0"/>
          <a:ext cx="0" cy="0"/>
          <a:chOff x="0" y="0"/>
          <a:chExt cx="0" cy="0"/>
        </a:xfrm>
      </p:grpSpPr>
      <p:sp>
        <p:nvSpPr>
          <p:cNvPr id="1411024436"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722399685" name="Shape 1"/>
          <p:cNvSpPr/>
          <p:nvPr/>
        </p:nvSpPr>
        <p:spPr bwMode="auto">
          <a:xfrm>
            <a:off x="812800" y="812800"/>
            <a:ext cx="1557039" cy="285750"/>
          </a:xfrm>
          <a:prstGeom prst="roundRect">
            <a:avLst>
              <a:gd name="adj" fmla="val 17778"/>
            </a:avLst>
          </a:prstGeom>
          <a:solidFill>
            <a:srgbClr val="BE185D"/>
          </a:solidFill>
          <a:ln/>
        </p:spPr>
        <p:txBody>
          <a:bodyPr/>
          <a:lstStyle/>
          <a:p>
            <a:pPr>
              <a:defRPr/>
            </a:pPr>
            <a:endParaRPr lang="en-US"/>
          </a:p>
        </p:txBody>
      </p:sp>
      <p:sp>
        <p:nvSpPr>
          <p:cNvPr id="397085610" name="Text 2"/>
          <p:cNvSpPr/>
          <p:nvPr/>
        </p:nvSpPr>
        <p:spPr bwMode="auto">
          <a:xfrm>
            <a:off x="914400" y="850900"/>
            <a:ext cx="1404640" cy="234950"/>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3 · HARD</a:t>
            </a:r>
            <a:endParaRPr lang="en-US" sz="1200"/>
          </a:p>
        </p:txBody>
      </p:sp>
      <p:sp>
        <p:nvSpPr>
          <p:cNvPr id="731571482"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Forecasting</a:t>
            </a:r>
            <a:endParaRPr lang="en-US" sz="3600"/>
          </a:p>
        </p:txBody>
      </p:sp>
      <p:sp>
        <p:nvSpPr>
          <p:cNvPr id="1400020618" name="Text 5"/>
          <p:cNvSpPr/>
          <p:nvPr/>
        </p:nvSpPr>
        <p:spPr bwMode="auto">
          <a:xfrm>
            <a:off x="815975" y="2295525"/>
            <a:ext cx="5506541" cy="717550"/>
          </a:xfrm>
          <a:prstGeom prst="roundRect">
            <a:avLst>
              <a:gd name="adj" fmla="val 10177"/>
            </a:avLst>
          </a:prstGeom>
          <a:solidFill>
            <a:srgbClr val="FFFDF8"/>
          </a:solidFill>
          <a:ln w="6350">
            <a:solidFill>
              <a:srgbClr val="E6E0D2"/>
            </a:solidFill>
            <a:prstDash val="solid"/>
          </a:ln>
        </p:spPr>
        <p:txBody>
          <a:bodyPr wrap="square" lIns="134187" tIns="108787" rIns="0" bIns="83387" rtlCol="0" anchor="t">
            <a:normAutofit/>
          </a:bodyPr>
          <a:lstStyle/>
          <a:p>
            <a:pPr marL="0" indent="0" algn="l">
              <a:lnSpc>
                <a:spcPts val="1800"/>
              </a:lnSpc>
              <a:buNone/>
              <a:defRPr/>
            </a:pPr>
            <a:r>
              <a:rPr lang="en-US" sz="1200">
                <a:solidFill>
                  <a:srgbClr val="14213D"/>
                </a:solidFill>
                <a:latin typeface="IBM Plex Mono"/>
                <a:ea typeface="IBM Plex Mono"/>
                <a:cs typeface="IBM Plex Mono"/>
              </a:rPr>
              <a:t>Repeat what done for virtual diagnostic in a more complex scenario</a:t>
            </a:r>
            <a:endParaRPr lang="en-US" sz="1200"/>
          </a:p>
        </p:txBody>
      </p:sp>
      <p:sp>
        <p:nvSpPr>
          <p:cNvPr id="527308822" name="Text 6"/>
          <p:cNvSpPr/>
          <p:nvPr/>
        </p:nvSpPr>
        <p:spPr bwMode="auto">
          <a:xfrm>
            <a:off x="870457" y="3219449"/>
            <a:ext cx="5613000" cy="1981200"/>
          </a:xfrm>
          <a:prstGeom prst="rect">
            <a:avLst/>
          </a:prstGeom>
          <a:noFill/>
          <a:ln/>
        </p:spPr>
        <p:txBody>
          <a:bodyPr wrap="square" lIns="0" tIns="0" rIns="0" bIns="0" rtlCol="0" anchor="t">
            <a:normAutofit/>
          </a:bodyPr>
          <a:lstStyle/>
          <a:p>
            <a:pPr marL="196342" indent="-196342" algn="l">
              <a:lnSpc>
                <a:spcPts val="2240"/>
              </a:lnSpc>
              <a:buSzPct val="100000"/>
              <a:buChar char="•"/>
              <a:defRPr/>
            </a:pPr>
            <a:r>
              <a:rPr lang="en-US" sz="1600">
                <a:solidFill>
                  <a:srgbClr val="3B4660"/>
                </a:solidFill>
                <a:latin typeface="IBM Plex Sans"/>
                <a:ea typeface="IBM Plex Sans"/>
                <a:cs typeface="IBM Plex Sans"/>
              </a:rPr>
              <a:t>One step ahead, then up to 50 shots</a:t>
            </a:r>
            <a:endParaRPr lang="en-US" sz="1600"/>
          </a:p>
          <a:p>
            <a:pPr marL="196342" indent="-196342" algn="l">
              <a:lnSpc>
                <a:spcPts val="2240"/>
              </a:lnSpc>
              <a:buSzPct val="100000"/>
              <a:buChar char="•"/>
              <a:defRPr/>
            </a:pPr>
            <a:r>
              <a:rPr lang="en-US" sz="1600">
                <a:solidFill>
                  <a:srgbClr val="3B4660"/>
                </a:solidFill>
                <a:latin typeface="IBM Plex Sans"/>
                <a:ea typeface="IBM Plex Sans"/>
                <a:cs typeface="IBM Plex Sans"/>
              </a:rPr>
              <a:t>At least one sequence model: TFT, DeepAR, LSTM/GRU or a time-series foundation model</a:t>
            </a:r>
            <a:endParaRPr lang="en-US" sz="1600"/>
          </a:p>
          <a:p>
            <a:pPr marL="196342" indent="-196342" algn="l">
              <a:lnSpc>
                <a:spcPts val="2240"/>
              </a:lnSpc>
              <a:buSzPct val="100000"/>
              <a:buChar char="•"/>
              <a:defRPr/>
            </a:pPr>
            <a:r>
              <a:rPr lang="en-US" sz="1600">
                <a:solidFill>
                  <a:srgbClr val="3B4660"/>
                </a:solidFill>
                <a:latin typeface="IBM Plex Sans"/>
                <a:ea typeface="IBM Plex Sans"/>
                <a:cs typeface="IBM Plex Sans"/>
              </a:rPr>
              <a:t>Tune the context window and show its effect</a:t>
            </a:r>
            <a:endParaRPr lang="en-US" sz="1600"/>
          </a:p>
        </p:txBody>
      </p:sp>
      <p:sp>
        <p:nvSpPr>
          <p:cNvPr id="882042922" name="Shape 7"/>
          <p:cNvSpPr/>
          <p:nvPr/>
        </p:nvSpPr>
        <p:spPr bwMode="auto">
          <a:xfrm>
            <a:off x="6630491" y="2006600"/>
            <a:ext cx="4748709" cy="3168649"/>
          </a:xfrm>
          <a:prstGeom prst="roundRect">
            <a:avLst>
              <a:gd name="adj" fmla="val 3206"/>
            </a:avLst>
          </a:prstGeom>
          <a:solidFill>
            <a:srgbClr val="FDE2EF"/>
          </a:solidFill>
          <a:ln/>
        </p:spPr>
        <p:txBody>
          <a:bodyPr/>
          <a:lstStyle/>
          <a:p>
            <a:pPr>
              <a:defRPr/>
            </a:pPr>
            <a:endParaRPr lang="en-US"/>
          </a:p>
        </p:txBody>
      </p:sp>
      <p:sp>
        <p:nvSpPr>
          <p:cNvPr id="1191578723" name="Shape 8"/>
          <p:cNvSpPr/>
          <p:nvPr/>
        </p:nvSpPr>
        <p:spPr bwMode="auto">
          <a:xfrm>
            <a:off x="6630491" y="2006600"/>
            <a:ext cx="4748709" cy="3168649"/>
          </a:xfrm>
          <a:custGeom>
            <a:avLst/>
            <a:gdLst/>
            <a:ahLst/>
            <a:cxnLst/>
            <a:rect l="l" t="t" r="r" b="b"/>
            <a:pathLst>
              <a:path w="4748709" h="3168650" fill="norm" stroke="1" extrusionOk="0">
                <a:moveTo>
                  <a:pt x="0" y="101600"/>
                </a:moveTo>
                <a:lnTo>
                  <a:pt x="0" y="101600"/>
                </a:lnTo>
                <a:arcTo wR="101600" hR="101600" stAng="10800000" swAng="5400000"/>
                <a:lnTo>
                  <a:pt x="4647109" y="0"/>
                </a:lnTo>
                <a:arcTo wR="101600" hR="101600" stAng="16200000" swAng="5400000"/>
                <a:lnTo>
                  <a:pt x="4748709" y="101600"/>
                </a:lnTo>
                <a:arcTo wR="101600" hR="50800" stAng="0" swAng="-5400000"/>
                <a:lnTo>
                  <a:pt x="101600" y="50800"/>
                </a:lnTo>
                <a:arcTo wR="101600" hR="50800" stAng="16200000" swAng="-5400000"/>
                <a:close/>
              </a:path>
            </a:pathLst>
          </a:custGeom>
          <a:solidFill>
            <a:srgbClr val="BE185D"/>
          </a:solidFill>
          <a:ln/>
        </p:spPr>
        <p:txBody>
          <a:bodyPr/>
          <a:lstStyle/>
          <a:p>
            <a:pPr>
              <a:defRPr/>
            </a:pPr>
            <a:endParaRPr lang="en-US"/>
          </a:p>
        </p:txBody>
      </p:sp>
      <p:sp>
        <p:nvSpPr>
          <p:cNvPr id="130815431" name="Text 9"/>
          <p:cNvSpPr/>
          <p:nvPr/>
        </p:nvSpPr>
        <p:spPr bwMode="auto">
          <a:xfrm>
            <a:off x="6884491" y="2311399"/>
            <a:ext cx="4367930" cy="234950"/>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BE185D"/>
                </a:solidFill>
                <a:latin typeface="IBM Plex Mono"/>
                <a:ea typeface="IBM Plex Mono"/>
                <a:cs typeface="IBM Plex Mono"/>
              </a:rPr>
              <a:t>THE GOAL</a:t>
            </a:r>
            <a:endParaRPr lang="en-US" sz="1200"/>
          </a:p>
        </p:txBody>
      </p:sp>
      <p:sp>
        <p:nvSpPr>
          <p:cNvPr id="769029280" name="Text 10"/>
          <p:cNvSpPr/>
          <p:nvPr/>
        </p:nvSpPr>
        <p:spPr bwMode="auto">
          <a:xfrm>
            <a:off x="6913265" y="2647949"/>
            <a:ext cx="4331536" cy="1802130"/>
          </a:xfrm>
          <a:prstGeom prst="rect">
            <a:avLst/>
          </a:prstGeom>
          <a:noFill/>
          <a:ln/>
        </p:spPr>
        <p:txBody>
          <a:bodyPr wrap="square" lIns="0" tIns="0" rIns="0" bIns="0" rtlCol="0" anchor="t">
            <a:normAutofit/>
          </a:bodyPr>
          <a:lstStyle/>
          <a:p>
            <a:pPr marL="225227" indent="-225227">
              <a:lnSpc>
                <a:spcPts val="2240"/>
              </a:lnSpc>
              <a:buSzPct val="100000"/>
              <a:buFontTx/>
              <a:buAutoNum type="arabicPeriod"/>
              <a:defRPr/>
            </a:pPr>
            <a:r>
              <a:rPr lang="en-US" sz="1600">
                <a:solidFill>
                  <a:srgbClr val="14213D"/>
                </a:solidFill>
                <a:latin typeface="IBM Plex Sans"/>
                <a:ea typeface="IBM Plex Sans"/>
                <a:cs typeface="IBM Plex Sans"/>
              </a:rPr>
              <a:t>Identify the right metric and try some basic model </a:t>
            </a:r>
            <a:endParaRPr/>
          </a:p>
          <a:p>
            <a:pPr marL="225227" indent="-225227" algn="l">
              <a:lnSpc>
                <a:spcPts val="2240"/>
              </a:lnSpc>
              <a:buSzPct val="100000"/>
              <a:buFontTx/>
              <a:buAutoNum type="arabicPeriod"/>
              <a:defRPr/>
            </a:pPr>
            <a:r>
              <a:rPr lang="en-US" sz="1600">
                <a:solidFill>
                  <a:srgbClr val="14213D"/>
                </a:solidFill>
                <a:latin typeface="IBM Plex Sans"/>
                <a:ea typeface="IBM Plex Sans"/>
                <a:cs typeface="IBM Plex Sans"/>
              </a:rPr>
              <a:t>Beat the rolling mean</a:t>
            </a:r>
            <a:endParaRPr/>
          </a:p>
          <a:p>
            <a:pPr marL="225227" indent="-225227" algn="l">
              <a:lnSpc>
                <a:spcPts val="2240"/>
              </a:lnSpc>
              <a:buSzPct val="100000"/>
              <a:buFontTx/>
              <a:buAutoNum type="arabicPeriod"/>
              <a:defRPr/>
            </a:pPr>
            <a:r>
              <a:rPr lang="en-US" sz="1600">
                <a:solidFill>
                  <a:srgbClr val="14213D"/>
                </a:solidFill>
                <a:latin typeface="IBM Plex Sans"/>
                <a:ea typeface="IBM Plex Sans"/>
                <a:cs typeface="IBM Plex Sans"/>
              </a:rPr>
              <a:t>Deploy in the machine the model </a:t>
            </a:r>
            <a:endParaRPr/>
          </a:p>
        </p:txBody>
      </p:sp>
      <p:sp>
        <p:nvSpPr>
          <p:cNvPr id="2088223268" name="Text 12"/>
          <p:cNvSpPr/>
          <p:nvPr/>
        </p:nvSpPr>
        <p:spPr bwMode="auto">
          <a:xfrm>
            <a:off x="812800" y="6242050"/>
            <a:ext cx="7848600"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5A6478"/>
                </a:solidFill>
                <a:latin typeface="IBM Plex Mono"/>
                <a:ea typeface="IBM Plex Mono"/>
                <a:cs typeface="IBM Plex Mono"/>
              </a:rPr>
              <a:t>Forecasting the CLEAR beam charge</a:t>
            </a:r>
            <a:endParaRPr lang="en-US" sz="1200"/>
          </a:p>
        </p:txBody>
      </p:sp>
      <p:sp>
        <p:nvSpPr>
          <p:cNvPr id="2080192353"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6634077"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924349298" name="Shape 1"/>
          <p:cNvSpPr/>
          <p:nvPr/>
        </p:nvSpPr>
        <p:spPr bwMode="auto">
          <a:xfrm>
            <a:off x="813816" y="813816"/>
            <a:ext cx="2834640" cy="283464"/>
          </a:xfrm>
          <a:prstGeom prst="roundRect">
            <a:avLst>
              <a:gd name="adj" fmla="val 17778"/>
            </a:avLst>
          </a:prstGeom>
          <a:solidFill>
            <a:srgbClr val="BE185D"/>
          </a:solidFill>
          <a:ln/>
        </p:spPr>
        <p:txBody>
          <a:bodyPr/>
          <a:lstStyle/>
          <a:p>
            <a:pPr>
              <a:defRPr/>
            </a:pPr>
            <a:endParaRPr lang="en-US"/>
          </a:p>
        </p:txBody>
      </p:sp>
      <p:sp>
        <p:nvSpPr>
          <p:cNvPr id="988402004"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3 · HARD · RESULTS</a:t>
            </a:r>
            <a:endParaRPr lang="en-US" sz="1200"/>
          </a:p>
        </p:txBody>
      </p:sp>
      <p:sp>
        <p:nvSpPr>
          <p:cNvPr id="160970738"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Next shot: beating the rolling mean of 9</a:t>
            </a:r>
            <a:endParaRPr lang="en-US" sz="3600"/>
          </a:p>
        </p:txBody>
      </p:sp>
      <p:sp>
        <p:nvSpPr>
          <p:cNvPr id="93253334"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33</a:t>
            </a:r>
            <a:endParaRPr lang="en-US" sz="1200"/>
          </a:p>
        </p:txBody>
      </p:sp>
      <p:sp>
        <p:nvSpPr>
          <p:cNvPr id="415428821"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Charge of shot n+1 from everything up to shot n; last 10 % of each run.</a:t>
            </a:r>
            <a:endParaRPr lang="en-US" sz="1600"/>
          </a:p>
        </p:txBody>
      </p:sp>
      <p:sp>
        <p:nvSpPr>
          <p:cNvPr id="1493655186" name="Text 6"/>
          <p:cNvSpPr/>
          <p:nvPr/>
        </p:nvSpPr>
        <p:spPr bwMode="auto">
          <a:xfrm>
            <a:off x="868680" y="4069080"/>
            <a:ext cx="5760720" cy="182880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GRU gain significant on all 5 runs (block bootstrap); persistence is 25 % worse</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Run 1's gain is mostly its final level jump (3.6 % on its stable shots)</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Context window 8–256 shots: ≤ 1.3 pC difference; laser and other inputs add nothing</a:t>
            </a:r>
            <a:endParaRPr lang="en-US" sz="1300"/>
          </a:p>
        </p:txBody>
      </p:sp>
      <p:pic>
        <p:nvPicPr>
          <p:cNvPr id="1128384537" name="Picture 15" descr="gru_2026-10-08_00-08-19_crop.png"/>
          <p:cNvPicPr>
            <a:picLocks noChangeAspect="1"/>
          </p:cNvPicPr>
          <p:nvPr/>
        </p:nvPicPr>
        <p:blipFill rotWithShape="1">
          <a:blip r:embed="rId3"/>
          <a:stretch/>
        </p:blipFill>
        <p:spPr bwMode="auto">
          <a:xfrm>
            <a:off x="6858000" y="3208877"/>
            <a:ext cx="4663440" cy="1537521"/>
          </a:xfrm>
          <a:prstGeom prst="rect">
            <a:avLst/>
          </a:prstGeom>
        </p:spPr>
      </p:pic>
      <p:graphicFrame>
        <p:nvGraphicFramePr>
          <p:cNvPr id="1413883968" name="Table 16"/>
          <p:cNvGraphicFramePr>
            <a:graphicFrameLocks xmlns:a="http://schemas.openxmlformats.org/drawingml/2006/main" noGrp="1"/>
          </p:cNvGraphicFramePr>
          <p:nvPr/>
        </p:nvGraphicFramePr>
        <p:xfrm rot="0">
          <a:off x="868680" y="2240280"/>
          <a:ext cx="5852156" cy="1645920"/>
        </p:xfrm>
        <a:graphic>
          <a:graphicData uri="http://schemas.openxmlformats.org/drawingml/2006/table">
            <a:tbl>
              <a:tblPr firstRow="1" firstCol="0" lastRow="0" lastCol="0" bandRow="1" bandCol="0">
                <a:tableStyleId>{5C22544A-7EE6-4342-B048-85BDC9FD1C3A}</a:tableStyleId>
              </a:tblPr>
              <a:tblGrid>
                <a:gridCol w="1521561"/>
                <a:gridCol w="866119"/>
                <a:gridCol w="866119"/>
                <a:gridCol w="866119"/>
                <a:gridCol w="866119"/>
                <a:gridCol w="866119"/>
              </a:tblGrid>
              <a:tr h="329184">
                <a:tc>
                  <a:txBody>
                    <a:bodyPr/>
                    <a:p>
                      <a:pPr>
                        <a:defRPr/>
                      </a:pPr>
                      <a:r>
                        <a:rPr sz="1000" b="1">
                          <a:solidFill>
                            <a:srgbClr val="14213D"/>
                          </a:solidFill>
                          <a:latin typeface="IBM Plex Sans"/>
                        </a:rPr>
                        <a:t>MAE vs 9-shot mean</a:t>
                      </a:r>
                      <a:endParaRPr/>
                    </a:p>
                  </a:txBody>
                  <a:tcPr marL="45720" marR="45720" marT="18288" marB="18288">
                    <a:solidFill>
                      <a:srgbClr val="E6E0D2"/>
                    </a:solidFill>
                  </a:tcPr>
                </a:tc>
                <a:tc>
                  <a:txBody>
                    <a:bodyPr/>
                    <a:p>
                      <a:pPr>
                        <a:defRPr/>
                      </a:pPr>
                      <a:r>
                        <a:rPr sz="1000" b="1">
                          <a:solidFill>
                            <a:srgbClr val="14213D"/>
                          </a:solidFill>
                          <a:latin typeface="IBM Plex Sans"/>
                        </a:rPr>
                        <a:t>run 1 (10 nC)</a:t>
                      </a:r>
                      <a:endParaRPr/>
                    </a:p>
                  </a:txBody>
                  <a:tcPr marL="45720" marR="45720" marT="18288" marB="18288">
                    <a:solidFill>
                      <a:srgbClr val="E6E0D2"/>
                    </a:solidFill>
                  </a:tcPr>
                </a:tc>
                <a:tc>
                  <a:txBody>
                    <a:bodyPr/>
                    <a:p>
                      <a:pPr>
                        <a:defRPr/>
                      </a:pPr>
                      <a:r>
                        <a:rPr sz="1000" b="1">
                          <a:solidFill>
                            <a:srgbClr val="14213D"/>
                          </a:solidFill>
                          <a:latin typeface="IBM Plex Sans"/>
                        </a:rPr>
                        <a:t>run 2 (5.5)</a:t>
                      </a:r>
                      <a:endParaRPr/>
                    </a:p>
                  </a:txBody>
                  <a:tcPr marL="45720" marR="45720" marT="18288" marB="18288">
                    <a:solidFill>
                      <a:srgbClr val="E6E0D2"/>
                    </a:solidFill>
                  </a:tcPr>
                </a:tc>
                <a:tc>
                  <a:txBody>
                    <a:bodyPr/>
                    <a:p>
                      <a:pPr>
                        <a:defRPr/>
                      </a:pPr>
                      <a:r>
                        <a:rPr sz="1000" b="1">
                          <a:solidFill>
                            <a:srgbClr val="14213D"/>
                          </a:solidFill>
                          <a:latin typeface="IBM Plex Sans"/>
                        </a:rPr>
                        <a:t>run 3 (4.8)</a:t>
                      </a:r>
                      <a:endParaRPr/>
                    </a:p>
                  </a:txBody>
                  <a:tcPr marL="45720" marR="45720" marT="18288" marB="18288">
                    <a:solidFill>
                      <a:srgbClr val="E6E0D2"/>
                    </a:solidFill>
                  </a:tcPr>
                </a:tc>
                <a:tc>
                  <a:txBody>
                    <a:bodyPr/>
                    <a:p>
                      <a:pPr>
                        <a:defRPr/>
                      </a:pPr>
                      <a:r>
                        <a:rPr sz="1000" b="1">
                          <a:solidFill>
                            <a:srgbClr val="14213D"/>
                          </a:solidFill>
                          <a:latin typeface="IBM Plex Sans"/>
                        </a:rPr>
                        <a:t>run 4 (0.2)</a:t>
                      </a:r>
                      <a:endParaRPr/>
                    </a:p>
                  </a:txBody>
                  <a:tcPr marL="45720" marR="45720" marT="18288" marB="18288">
                    <a:solidFill>
                      <a:srgbClr val="E6E0D2"/>
                    </a:solidFill>
                  </a:tcPr>
                </a:tc>
                <a:tc>
                  <a:txBody>
                    <a:bodyPr/>
                    <a:p>
                      <a:pPr>
                        <a:defRPr/>
                      </a:pPr>
                      <a:r>
                        <a:rPr sz="1000" b="1">
                          <a:solidFill>
                            <a:srgbClr val="14213D"/>
                          </a:solidFill>
                          <a:latin typeface="IBM Plex Sans"/>
                        </a:rPr>
                        <a:t>run 5 (0.1)</a:t>
                      </a:r>
                      <a:endParaRPr/>
                    </a:p>
                  </a:txBody>
                  <a:tcPr marL="45720" marR="45720" marT="18288" marB="18288">
                    <a:solidFill>
                      <a:srgbClr val="E6E0D2"/>
                    </a:solidFill>
                  </a:tcPr>
                </a:tc>
              </a:tr>
              <a:tr h="329184">
                <a:tc>
                  <a:txBody>
                    <a:bodyPr/>
                    <a:p>
                      <a:pPr>
                        <a:defRPr/>
                      </a:pPr>
                      <a:r>
                        <a:rPr sz="1000" b="1">
                          <a:solidFill>
                            <a:srgbClr val="14213D"/>
                          </a:solidFill>
                          <a:latin typeface="IBM Plex Sans"/>
                        </a:rPr>
                        <a:t>9-shot mean (nC)</a:t>
                      </a:r>
                      <a:endParaRPr/>
                    </a:p>
                  </a:txBody>
                  <a:tcPr marL="45720" marR="45720" marT="18288" marB="18288">
                    <a:solidFill>
                      <a:srgbClr val="FFFDF8"/>
                    </a:solidFill>
                  </a:tcPr>
                </a:tc>
                <a:tc>
                  <a:txBody>
                    <a:bodyPr/>
                    <a:p>
                      <a:pPr>
                        <a:defRPr/>
                      </a:pPr>
                      <a:r>
                        <a:rPr sz="1000" b="0">
                          <a:solidFill>
                            <a:srgbClr val="14213D"/>
                          </a:solidFill>
                          <a:latin typeface="IBM Plex Sans"/>
                        </a:rPr>
                        <a:t>0.343</a:t>
                      </a:r>
                      <a:endParaRPr/>
                    </a:p>
                  </a:txBody>
                  <a:tcPr marL="45720" marR="45720" marT="18288" marB="18288">
                    <a:solidFill>
                      <a:srgbClr val="FFFDF8"/>
                    </a:solidFill>
                  </a:tcPr>
                </a:tc>
                <a:tc>
                  <a:txBody>
                    <a:bodyPr/>
                    <a:p>
                      <a:pPr>
                        <a:defRPr/>
                      </a:pPr>
                      <a:r>
                        <a:rPr sz="1000" b="0">
                          <a:solidFill>
                            <a:srgbClr val="14213D"/>
                          </a:solidFill>
                          <a:latin typeface="IBM Plex Sans"/>
                        </a:rPr>
                        <a:t>0.144</a:t>
                      </a:r>
                      <a:endParaRPr/>
                    </a:p>
                  </a:txBody>
                  <a:tcPr marL="45720" marR="45720" marT="18288" marB="18288">
                    <a:solidFill>
                      <a:srgbClr val="FFFDF8"/>
                    </a:solidFill>
                  </a:tcPr>
                </a:tc>
                <a:tc>
                  <a:txBody>
                    <a:bodyPr/>
                    <a:p>
                      <a:pPr>
                        <a:defRPr/>
                      </a:pPr>
                      <a:r>
                        <a:rPr sz="1000" b="0">
                          <a:solidFill>
                            <a:srgbClr val="14213D"/>
                          </a:solidFill>
                          <a:latin typeface="IBM Plex Sans"/>
                        </a:rPr>
                        <a:t>0.141</a:t>
                      </a:r>
                      <a:endParaRPr/>
                    </a:p>
                  </a:txBody>
                  <a:tcPr marL="45720" marR="45720" marT="18288" marB="18288">
                    <a:solidFill>
                      <a:srgbClr val="FFFDF8"/>
                    </a:solidFill>
                  </a:tcPr>
                </a:tc>
                <a:tc>
                  <a:txBody>
                    <a:bodyPr/>
                    <a:p>
                      <a:pPr>
                        <a:defRPr/>
                      </a:pPr>
                      <a:r>
                        <a:rPr sz="1000" b="0">
                          <a:solidFill>
                            <a:srgbClr val="14213D"/>
                          </a:solidFill>
                          <a:latin typeface="IBM Plex Sans"/>
                        </a:rPr>
                        <a:t>0.0195</a:t>
                      </a:r>
                      <a:endParaRPr/>
                    </a:p>
                  </a:txBody>
                  <a:tcPr marL="45720" marR="45720" marT="18288" marB="18288">
                    <a:solidFill>
                      <a:srgbClr val="FFFDF8"/>
                    </a:solidFill>
                  </a:tcPr>
                </a:tc>
                <a:tc>
                  <a:txBody>
                    <a:bodyPr/>
                    <a:p>
                      <a:pPr>
                        <a:defRPr/>
                      </a:pPr>
                      <a:r>
                        <a:rPr sz="1000" b="0">
                          <a:solidFill>
                            <a:srgbClr val="14213D"/>
                          </a:solidFill>
                          <a:latin typeface="IBM Plex Sans"/>
                        </a:rPr>
                        <a:t>0.0122</a:t>
                      </a:r>
                      <a:endParaRPr/>
                    </a:p>
                  </a:txBody>
                  <a:tcPr marL="45720" marR="45720" marT="18288" marB="18288">
                    <a:solidFill>
                      <a:srgbClr val="FFFDF8"/>
                    </a:solidFill>
                  </a:tcPr>
                </a:tc>
              </a:tr>
              <a:tr h="329184">
                <a:tc>
                  <a:txBody>
                    <a:bodyPr/>
                    <a:p>
                      <a:pPr>
                        <a:defRPr/>
                      </a:pPr>
                      <a:r>
                        <a:rPr sz="1000" b="1">
                          <a:solidFill>
                            <a:srgbClr val="14213D"/>
                          </a:solidFill>
                          <a:latin typeface="IBM Plex Sans"/>
                        </a:rPr>
                        <a:t>hybrid level</a:t>
                      </a:r>
                      <a:endParaRPr/>
                    </a:p>
                  </a:txBody>
                  <a:tcPr marL="45720" marR="45720" marT="18288" marB="18288">
                    <a:solidFill>
                      <a:srgbClr val="FFFDF8"/>
                    </a:solidFill>
                  </a:tcPr>
                </a:tc>
                <a:tc>
                  <a:txBody>
                    <a:bodyPr/>
                    <a:p>
                      <a:pPr>
                        <a:defRPr/>
                      </a:pPr>
                      <a:r>
                        <a:rPr sz="1000" b="0">
                          <a:solidFill>
                            <a:srgbClr val="14213D"/>
                          </a:solidFill>
                          <a:latin typeface="IBM Plex Sans"/>
                        </a:rPr>
                        <a:t>−8.0 %</a:t>
                      </a:r>
                      <a:endParaRPr/>
                    </a:p>
                  </a:txBody>
                  <a:tcPr marL="45720" marR="45720" marT="18288" marB="18288">
                    <a:solidFill>
                      <a:srgbClr val="FFFDF8"/>
                    </a:solidFill>
                  </a:tcPr>
                </a:tc>
                <a:tc>
                  <a:txBody>
                    <a:bodyPr/>
                    <a:p>
                      <a:pPr>
                        <a:defRPr/>
                      </a:pPr>
                      <a:r>
                        <a:rPr sz="1000" b="0">
                          <a:solidFill>
                            <a:srgbClr val="14213D"/>
                          </a:solidFill>
                          <a:latin typeface="IBM Plex Sans"/>
                        </a:rPr>
                        <a:t>−1.9 %</a:t>
                      </a:r>
                      <a:endParaRPr/>
                    </a:p>
                  </a:txBody>
                  <a:tcPr marL="45720" marR="45720" marT="18288" marB="18288">
                    <a:solidFill>
                      <a:srgbClr val="FFFDF8"/>
                    </a:solidFill>
                  </a:tcPr>
                </a:tc>
                <a:tc>
                  <a:txBody>
                    <a:bodyPr/>
                    <a:p>
                      <a:pPr>
                        <a:defRPr/>
                      </a:pPr>
                      <a:r>
                        <a:rPr sz="1000" b="0">
                          <a:solidFill>
                            <a:srgbClr val="14213D"/>
                          </a:solidFill>
                          <a:latin typeface="IBM Plex Sans"/>
                        </a:rPr>
                        <a:t>−1.6 %</a:t>
                      </a:r>
                      <a:endParaRPr/>
                    </a:p>
                  </a:txBody>
                  <a:tcPr marL="45720" marR="45720" marT="18288" marB="18288">
                    <a:solidFill>
                      <a:srgbClr val="FFFDF8"/>
                    </a:solidFill>
                  </a:tcPr>
                </a:tc>
                <a:tc>
                  <a:txBody>
                    <a:bodyPr/>
                    <a:p>
                      <a:pPr>
                        <a:defRPr/>
                      </a:pPr>
                      <a:r>
                        <a:rPr sz="1000" b="0">
                          <a:solidFill>
                            <a:srgbClr val="14213D"/>
                          </a:solidFill>
                          <a:latin typeface="IBM Plex Sans"/>
                        </a:rPr>
                        <a:t>−1.7 %</a:t>
                      </a:r>
                      <a:endParaRPr/>
                    </a:p>
                  </a:txBody>
                  <a:tcPr marL="45720" marR="45720" marT="18288" marB="18288">
                    <a:solidFill>
                      <a:srgbClr val="FFFDF8"/>
                    </a:solidFill>
                  </a:tcPr>
                </a:tc>
                <a:tc>
                  <a:txBody>
                    <a:bodyPr/>
                    <a:p>
                      <a:pPr>
                        <a:defRPr/>
                      </a:pPr>
                      <a:r>
                        <a:rPr sz="1000" b="0">
                          <a:solidFill>
                            <a:srgbClr val="14213D"/>
                          </a:solidFill>
                          <a:latin typeface="IBM Plex Sans"/>
                        </a:rPr>
                        <a:t>−2.5 %</a:t>
                      </a:r>
                      <a:endParaRPr/>
                    </a:p>
                  </a:txBody>
                  <a:tcPr marL="45720" marR="45720" marT="18288" marB="18288">
                    <a:solidFill>
                      <a:srgbClr val="FFFDF8"/>
                    </a:solidFill>
                  </a:tcPr>
                </a:tc>
              </a:tr>
              <a:tr h="329184">
                <a:tc>
                  <a:txBody>
                    <a:bodyPr/>
                    <a:p>
                      <a:pPr>
                        <a:defRPr/>
                      </a:pPr>
                      <a:r>
                        <a:rPr sz="1000" b="1">
                          <a:solidFill>
                            <a:srgbClr val="14213D"/>
                          </a:solidFill>
                          <a:latin typeface="IBM Plex Sans"/>
                        </a:rPr>
                        <a:t>GRU, pooled runs</a:t>
                      </a:r>
                      <a:endParaRPr/>
                    </a:p>
                  </a:txBody>
                  <a:tcPr marL="45720" marR="45720" marT="18288" marB="18288">
                    <a:solidFill>
                      <a:srgbClr val="FFFDF8"/>
                    </a:solidFill>
                  </a:tcPr>
                </a:tc>
                <a:tc>
                  <a:txBody>
                    <a:bodyPr/>
                    <a:p>
                      <a:pPr>
                        <a:defRPr/>
                      </a:pPr>
                      <a:r>
                        <a:rPr sz="1000" b="0">
                          <a:solidFill>
                            <a:srgbClr val="14213D"/>
                          </a:solidFill>
                          <a:latin typeface="IBM Plex Sans"/>
                        </a:rPr>
                        <a:t>−9.2 %</a:t>
                      </a:r>
                      <a:endParaRPr/>
                    </a:p>
                  </a:txBody>
                  <a:tcPr marL="45720" marR="45720" marT="18288" marB="18288">
                    <a:solidFill>
                      <a:srgbClr val="FFFDF8"/>
                    </a:solidFill>
                  </a:tcPr>
                </a:tc>
                <a:tc>
                  <a:txBody>
                    <a:bodyPr/>
                    <a:p>
                      <a:pPr>
                        <a:defRPr/>
                      </a:pPr>
                      <a:r>
                        <a:rPr sz="1000" b="0">
                          <a:solidFill>
                            <a:srgbClr val="14213D"/>
                          </a:solidFill>
                          <a:latin typeface="IBM Plex Sans"/>
                        </a:rPr>
                        <a:t>−3.0 %</a:t>
                      </a:r>
                      <a:endParaRPr/>
                    </a:p>
                  </a:txBody>
                  <a:tcPr marL="45720" marR="45720" marT="18288" marB="18288">
                    <a:solidFill>
                      <a:srgbClr val="FFFDF8"/>
                    </a:solidFill>
                  </a:tcPr>
                </a:tc>
                <a:tc>
                  <a:txBody>
                    <a:bodyPr/>
                    <a:p>
                      <a:pPr>
                        <a:defRPr/>
                      </a:pPr>
                      <a:r>
                        <a:rPr sz="1000" b="0">
                          <a:solidFill>
                            <a:srgbClr val="14213D"/>
                          </a:solidFill>
                          <a:latin typeface="IBM Plex Sans"/>
                        </a:rPr>
                        <a:t>−3.9 %</a:t>
                      </a:r>
                      <a:endParaRPr/>
                    </a:p>
                  </a:txBody>
                  <a:tcPr marL="45720" marR="45720" marT="18288" marB="18288">
                    <a:solidFill>
                      <a:srgbClr val="FFFDF8"/>
                    </a:solidFill>
                  </a:tcPr>
                </a:tc>
                <a:tc>
                  <a:txBody>
                    <a:bodyPr/>
                    <a:p>
                      <a:pPr>
                        <a:defRPr/>
                      </a:pPr>
                      <a:r>
                        <a:rPr sz="1000" b="0">
                          <a:solidFill>
                            <a:srgbClr val="14213D"/>
                          </a:solidFill>
                          <a:latin typeface="IBM Plex Sans"/>
                        </a:rPr>
                        <a:t>−4.6 %</a:t>
                      </a:r>
                      <a:endParaRPr/>
                    </a:p>
                  </a:txBody>
                  <a:tcPr marL="45720" marR="45720" marT="18288" marB="18288">
                    <a:solidFill>
                      <a:srgbClr val="FFFDF8"/>
                    </a:solidFill>
                  </a:tcPr>
                </a:tc>
                <a:tc>
                  <a:txBody>
                    <a:bodyPr/>
                    <a:p>
                      <a:pPr>
                        <a:defRPr/>
                      </a:pPr>
                      <a:r>
                        <a:rPr sz="1000" b="0">
                          <a:solidFill>
                            <a:srgbClr val="14213D"/>
                          </a:solidFill>
                          <a:latin typeface="IBM Plex Sans"/>
                        </a:rPr>
                        <a:t>−3.3 %</a:t>
                      </a:r>
                      <a:endParaRPr/>
                    </a:p>
                  </a:txBody>
                  <a:tcPr marL="45720" marR="45720" marT="18288" marB="18288">
                    <a:solidFill>
                      <a:srgbClr val="FFFDF8"/>
                    </a:solidFill>
                  </a:tcPr>
                </a:tc>
              </a:tr>
              <a:tr h="329184">
                <a:tc>
                  <a:txBody>
                    <a:bodyPr/>
                    <a:p>
                      <a:pPr>
                        <a:defRPr/>
                      </a:pPr>
                      <a:r>
                        <a:rPr sz="1000" b="1">
                          <a:solidFill>
                            <a:srgbClr val="14213D"/>
                          </a:solidFill>
                          <a:latin typeface="IBM Plex Sans"/>
                        </a:rPr>
                        <a:t>GRU, other runs only</a:t>
                      </a:r>
                      <a:endParaRPr/>
                    </a:p>
                  </a:txBody>
                  <a:tcPr marL="45720" marR="45720" marT="18288" marB="18288">
                    <a:solidFill>
                      <a:srgbClr val="FFFDF8"/>
                    </a:solidFill>
                  </a:tcPr>
                </a:tc>
                <a:tc>
                  <a:txBody>
                    <a:bodyPr/>
                    <a:p>
                      <a:pPr>
                        <a:defRPr/>
                      </a:pPr>
                      <a:r>
                        <a:rPr sz="1000" b="0">
                          <a:solidFill>
                            <a:srgbClr val="14213D"/>
                          </a:solidFill>
                          <a:latin typeface="IBM Plex Sans"/>
                        </a:rPr>
                        <a:t>−8.8 %</a:t>
                      </a:r>
                      <a:endParaRPr/>
                    </a:p>
                  </a:txBody>
                  <a:tcPr marL="45720" marR="45720" marT="18288" marB="18288">
                    <a:solidFill>
                      <a:srgbClr val="FFFDF8"/>
                    </a:solidFill>
                  </a:tcPr>
                </a:tc>
                <a:tc>
                  <a:txBody>
                    <a:bodyPr/>
                    <a:p>
                      <a:pPr>
                        <a:defRPr/>
                      </a:pPr>
                      <a:r>
                        <a:rPr sz="1000" b="0">
                          <a:solidFill>
                            <a:srgbClr val="14213D"/>
                          </a:solidFill>
                          <a:latin typeface="IBM Plex Sans"/>
                        </a:rPr>
                        <a:t>−2.3 %</a:t>
                      </a:r>
                      <a:endParaRPr/>
                    </a:p>
                  </a:txBody>
                  <a:tcPr marL="45720" marR="45720" marT="18288" marB="18288">
                    <a:solidFill>
                      <a:srgbClr val="FFFDF8"/>
                    </a:solidFill>
                  </a:tcPr>
                </a:tc>
                <a:tc>
                  <a:txBody>
                    <a:bodyPr/>
                    <a:p>
                      <a:pPr>
                        <a:defRPr/>
                      </a:pPr>
                      <a:r>
                        <a:rPr sz="1000" b="0">
                          <a:solidFill>
                            <a:srgbClr val="14213D"/>
                          </a:solidFill>
                          <a:latin typeface="IBM Plex Sans"/>
                        </a:rPr>
                        <a:t>−3.1 %</a:t>
                      </a:r>
                      <a:endParaRPr/>
                    </a:p>
                  </a:txBody>
                  <a:tcPr marL="45720" marR="45720" marT="18288" marB="18288">
                    <a:solidFill>
                      <a:srgbClr val="FFFDF8"/>
                    </a:solidFill>
                  </a:tcPr>
                </a:tc>
                <a:tc>
                  <a:txBody>
                    <a:bodyPr/>
                    <a:p>
                      <a:pPr>
                        <a:defRPr/>
                      </a:pPr>
                      <a:r>
                        <a:rPr sz="1000" b="0">
                          <a:solidFill>
                            <a:srgbClr val="14213D"/>
                          </a:solidFill>
                          <a:latin typeface="IBM Plex Sans"/>
                        </a:rPr>
                        <a:t>−4.8 %</a:t>
                      </a:r>
                      <a:endParaRPr/>
                    </a:p>
                  </a:txBody>
                  <a:tcPr marL="45720" marR="45720" marT="18288" marB="18288">
                    <a:solidFill>
                      <a:srgbClr val="FFFDF8"/>
                    </a:solidFill>
                  </a:tcPr>
                </a:tc>
                <a:tc>
                  <a:txBody>
                    <a:bodyPr/>
                    <a:p>
                      <a:pPr>
                        <a:defRPr/>
                      </a:pPr>
                      <a:r>
                        <a:rPr sz="1000" b="0">
                          <a:solidFill>
                            <a:srgbClr val="14213D"/>
                          </a:solidFill>
                          <a:latin typeface="IBM Plex Sans"/>
                        </a:rPr>
                        <a:t>−3.6 %</a:t>
                      </a:r>
                      <a:endParaRPr/>
                    </a:p>
                  </a:txBody>
                  <a:tcPr marL="45720" marR="45720" marT="18288" marB="18288">
                    <a:solidFill>
                      <a:srgbClr val="FFFD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451371"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505828463" name="Shape 1"/>
          <p:cNvSpPr/>
          <p:nvPr/>
        </p:nvSpPr>
        <p:spPr bwMode="auto">
          <a:xfrm>
            <a:off x="813816" y="813816"/>
            <a:ext cx="2834640" cy="283464"/>
          </a:xfrm>
          <a:prstGeom prst="roundRect">
            <a:avLst>
              <a:gd name="adj" fmla="val 17778"/>
            </a:avLst>
          </a:prstGeom>
          <a:solidFill>
            <a:srgbClr val="BE185D"/>
          </a:solidFill>
          <a:ln/>
        </p:spPr>
        <p:txBody>
          <a:bodyPr/>
          <a:lstStyle/>
          <a:p>
            <a:pPr>
              <a:defRPr/>
            </a:pPr>
            <a:endParaRPr lang="en-US"/>
          </a:p>
        </p:txBody>
      </p:sp>
      <p:sp>
        <p:nvSpPr>
          <p:cNvPr id="764947623"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3 · HARD · RESULTS</a:t>
            </a:r>
            <a:endParaRPr lang="en-US" sz="1200"/>
          </a:p>
        </p:txBody>
      </p:sp>
      <p:sp>
        <p:nvSpPr>
          <p:cNvPr id="1972719275"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Further ahead, smaller gains</a:t>
            </a:r>
            <a:endParaRPr lang="en-US" sz="3600"/>
          </a:p>
        </p:txBody>
      </p:sp>
      <p:sp>
        <p:nvSpPr>
          <p:cNvPr id="1345342297"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34</a:t>
            </a:r>
            <a:endParaRPr lang="en-US" sz="1200"/>
          </a:p>
        </p:txBody>
      </p:sp>
      <p:sp>
        <p:nvSpPr>
          <p:cNvPr id="1622201319"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Multi-step forecasts against the 9-shot mean and the oracle-trend floor.</a:t>
            </a:r>
            <a:endParaRPr lang="en-US" sz="1600"/>
          </a:p>
        </p:txBody>
      </p:sp>
      <p:sp>
        <p:nvSpPr>
          <p:cNvPr id="37611732" name="Text 6"/>
          <p:cNvSpPr/>
          <p:nvPr/>
        </p:nvSpPr>
        <p:spPr bwMode="auto">
          <a:xfrm>
            <a:off x="868680" y="4160519"/>
            <a:ext cx="4937760" cy="173736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h = 1–5: 1.5–7 % better than the 9-shot mean, significant on 5–7 of 7 segments; h = 50 mostly not</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Ensemble at the floor up to N ≈ 2, +6 % at N = 10, +22 % at N = 100</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Instruments add ~0.5–1 point: the next laser pulse is not predictable (R² ≤ 0.35)</a:t>
            </a:r>
            <a:endParaRPr lang="en-US" sz="1300"/>
          </a:p>
        </p:txBody>
      </p:sp>
      <p:pic>
        <p:nvPicPr>
          <p:cNvPr id="261057403" name="Picture 15" descr="15_alignment_significance_intervals_cell16.png"/>
          <p:cNvPicPr>
            <a:picLocks noChangeAspect="1"/>
          </p:cNvPicPr>
          <p:nvPr/>
        </p:nvPicPr>
        <p:blipFill rotWithShape="1">
          <a:blip r:embed="rId3"/>
          <a:stretch/>
        </p:blipFill>
        <p:spPr bwMode="auto">
          <a:xfrm>
            <a:off x="1008311" y="2194560"/>
            <a:ext cx="10327777" cy="1920240"/>
          </a:xfrm>
          <a:prstGeom prst="rect">
            <a:avLst/>
          </a:prstGeom>
        </p:spPr>
      </p:pic>
      <p:pic>
        <p:nvPicPr>
          <p:cNvPr id="180072381" name="Picture 16" descr="excess_over_floor.png"/>
          <p:cNvPicPr>
            <a:picLocks noChangeAspect="1"/>
          </p:cNvPicPr>
          <p:nvPr/>
        </p:nvPicPr>
        <p:blipFill rotWithShape="1">
          <a:blip r:embed="rId4"/>
          <a:stretch/>
        </p:blipFill>
        <p:spPr bwMode="auto">
          <a:xfrm>
            <a:off x="7090967" y="4160519"/>
            <a:ext cx="3283101" cy="16916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7143927"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917519278" name="Shape 1"/>
          <p:cNvSpPr/>
          <p:nvPr/>
        </p:nvSpPr>
        <p:spPr bwMode="auto">
          <a:xfrm>
            <a:off x="813816" y="813816"/>
            <a:ext cx="2834640" cy="283464"/>
          </a:xfrm>
          <a:prstGeom prst="roundRect">
            <a:avLst>
              <a:gd name="adj" fmla="val 17778"/>
            </a:avLst>
          </a:prstGeom>
          <a:solidFill>
            <a:srgbClr val="BE185D"/>
          </a:solidFill>
          <a:ln/>
        </p:spPr>
        <p:txBody>
          <a:bodyPr/>
          <a:lstStyle/>
          <a:p>
            <a:pPr>
              <a:defRPr/>
            </a:pPr>
            <a:endParaRPr lang="en-US"/>
          </a:p>
        </p:txBody>
      </p:sp>
      <p:sp>
        <p:nvSpPr>
          <p:cNvPr id="1182713972"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3 · HARD · RESULTS</a:t>
            </a:r>
            <a:endParaRPr lang="en-US" sz="1200"/>
          </a:p>
        </p:txBody>
      </p:sp>
      <p:sp>
        <p:nvSpPr>
          <p:cNvPr id="216147311"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Pitfall: a fake gain from misaligned data</a:t>
            </a:r>
            <a:endParaRPr lang="en-US" sz="3600"/>
          </a:p>
        </p:txBody>
      </p:sp>
      <p:sp>
        <p:nvSpPr>
          <p:cNvPr id="1230681046"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35</a:t>
            </a:r>
            <a:endParaRPr lang="en-US" sz="1200"/>
          </a:p>
        </p:txBody>
      </p:sp>
      <p:sp>
        <p:nvSpPr>
          <p:cNvPr id="884639625"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With the laser meter on the wrong row, the "forecast" sees the future.</a:t>
            </a:r>
            <a:endParaRPr lang="en-US" sz="1600"/>
          </a:p>
        </p:txBody>
      </p:sp>
      <p:sp>
        <p:nvSpPr>
          <p:cNvPr id="1377109050" name="Text 6"/>
          <p:cNvSpPr/>
          <p:nvPr/>
        </p:nvSpPr>
        <p:spPr bwMode="auto">
          <a:xfrm>
            <a:off x="868680" y="2286000"/>
            <a:ext cx="5120640" cy="3566160"/>
          </a:xfrm>
          <a:prstGeom prst="rect">
            <a:avLst/>
          </a:prstGeom>
          <a:noFill/>
          <a:ln/>
        </p:spPr>
        <p:txBody>
          <a:bodyPr wrap="square" lIns="0" tIns="0" rIns="0" bIns="0" rtlCol="0" anchor="t">
            <a:normAutofit/>
          </a:bodyPr>
          <a:lstStyle/>
          <a:p>
            <a:pPr marL="196342" indent="-196342" algn="l">
              <a:lnSpc>
                <a:spcPts val="1960"/>
              </a:lnSpc>
              <a:buSzPct val="100000"/>
              <a:buChar char="•"/>
              <a:defRPr/>
            </a:pPr>
            <a:r>
              <a:rPr lang="en-US" sz="1400">
                <a:solidFill>
                  <a:srgbClr val="3B4660"/>
                </a:solidFill>
                <a:latin typeface="IBM Plex Sans"/>
                <a:ea typeface="IBM Plex Sans"/>
                <a:cs typeface="IBM Plex Sans"/>
              </a:rPr>
              <a:t>Row-shifted datasets: h = 1 gain of −17 to −19 % vs the 9-shot mean</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Pulse-aligned: −3 to −4 %, flat over horizon</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Two-step model (past → present features → charge) no better than the 51-shot mean: present features cannot be forecast</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Lesson: check every variable's lag on the pulse grid before trusting a gain</a:t>
            </a:r>
            <a:endParaRPr lang="en-US" sz="1400"/>
          </a:p>
        </p:txBody>
      </p:sp>
      <p:pic>
        <p:nvPicPr>
          <p:cNvPr id="1112055719" name="Picture 15" descr="15_alignment_significance_intervals_cell13.png"/>
          <p:cNvPicPr>
            <a:picLocks noChangeAspect="1"/>
          </p:cNvPicPr>
          <p:nvPr/>
        </p:nvPicPr>
        <p:blipFill rotWithShape="1">
          <a:blip r:embed="rId3"/>
          <a:stretch/>
        </p:blipFill>
        <p:spPr bwMode="auto">
          <a:xfrm>
            <a:off x="6217920" y="2358627"/>
            <a:ext cx="5303520" cy="1317785"/>
          </a:xfrm>
          <a:prstGeom prst="rect">
            <a:avLst/>
          </a:prstGeom>
        </p:spPr>
      </p:pic>
      <p:pic>
        <p:nvPicPr>
          <p:cNvPr id="1639273330" name="Picture 16" descr="10_forecast_two_step_cell10.png"/>
          <p:cNvPicPr>
            <a:picLocks noChangeAspect="1"/>
          </p:cNvPicPr>
          <p:nvPr/>
        </p:nvPicPr>
        <p:blipFill rotWithShape="1">
          <a:blip r:embed="rId4"/>
          <a:stretch/>
        </p:blipFill>
        <p:spPr bwMode="auto">
          <a:xfrm>
            <a:off x="6217920" y="4073776"/>
            <a:ext cx="5303520" cy="16822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786741"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029988258" name="Shape 1"/>
          <p:cNvSpPr/>
          <p:nvPr/>
        </p:nvSpPr>
        <p:spPr bwMode="auto">
          <a:xfrm>
            <a:off x="813816" y="813816"/>
            <a:ext cx="2834640" cy="283464"/>
          </a:xfrm>
          <a:prstGeom prst="roundRect">
            <a:avLst>
              <a:gd name="adj" fmla="val 17778"/>
            </a:avLst>
          </a:prstGeom>
          <a:solidFill>
            <a:srgbClr val="BE185D"/>
          </a:solidFill>
          <a:ln/>
        </p:spPr>
        <p:txBody>
          <a:bodyPr/>
          <a:lstStyle/>
          <a:p>
            <a:pPr>
              <a:defRPr/>
            </a:pPr>
            <a:endParaRPr lang="en-US"/>
          </a:p>
        </p:txBody>
      </p:sp>
      <p:sp>
        <p:nvSpPr>
          <p:cNvPr id="1551160926"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3 · HARD · RESULTS</a:t>
            </a:r>
            <a:endParaRPr lang="en-US" sz="1200"/>
          </a:p>
        </p:txBody>
      </p:sp>
      <p:sp>
        <p:nvSpPr>
          <p:cNvPr id="316430742"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Filtering the slow level: simple wins</a:t>
            </a:r>
            <a:endParaRPr lang="en-US" sz="3600"/>
          </a:p>
        </p:txBody>
      </p:sp>
      <p:sp>
        <p:nvSpPr>
          <p:cNvPr id="1237289975"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36</a:t>
            </a:r>
            <a:endParaRPr lang="en-US" sz="1200"/>
          </a:p>
        </p:txBody>
      </p:sp>
      <p:sp>
        <p:nvSpPr>
          <p:cNvPr id="1615695903"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Trailing mean vs median vs robust EMA vs Kalman level filter, with and without a ridge on top.</a:t>
            </a:r>
            <a:endParaRPr lang="en-US" sz="1600"/>
          </a:p>
        </p:txBody>
      </p:sp>
      <p:sp>
        <p:nvSpPr>
          <p:cNvPr id="1335871459" name="Text 6"/>
          <p:cNvSpPr/>
          <p:nvPr/>
        </p:nvSpPr>
        <p:spPr bwMode="auto">
          <a:xfrm>
            <a:off x="868680" y="3977639"/>
            <a:ext cx="5120640" cy="1874519"/>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Kalman tuned on the level alone is the best level (seg 5: 140.5 vs 145.5 pC) but absorbs predictable jitter</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Spectrum: no lines, residual white; only seg 3 has a slow drift the trailing mean misses</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Online refit after every shot: −22 to −43 % on the ridge, seg 6 31 → 28 pC on the best model</a:t>
            </a:r>
            <a:endParaRPr lang="en-US" sz="1300"/>
          </a:p>
        </p:txBody>
      </p:sp>
      <p:pic>
        <p:nvPicPr>
          <p:cNvPr id="2083521293" name="Picture 15" descr="jitter_kalman.png"/>
          <p:cNvPicPr>
            <a:picLocks noChangeAspect="1"/>
          </p:cNvPicPr>
          <p:nvPr/>
        </p:nvPicPr>
        <p:blipFill rotWithShape="1">
          <a:blip r:embed="rId3"/>
          <a:stretch/>
        </p:blipFill>
        <p:spPr bwMode="auto">
          <a:xfrm>
            <a:off x="6377940" y="2148840"/>
            <a:ext cx="4937760" cy="3703320"/>
          </a:xfrm>
          <a:prstGeom prst="rect">
            <a:avLst/>
          </a:prstGeom>
        </p:spPr>
      </p:pic>
      <p:graphicFrame>
        <p:nvGraphicFramePr>
          <p:cNvPr id="194677722" name="Table 16"/>
          <p:cNvGraphicFramePr>
            <a:graphicFrameLocks xmlns:a="http://schemas.openxmlformats.org/drawingml/2006/main" noGrp="1"/>
          </p:cNvGraphicFramePr>
          <p:nvPr/>
        </p:nvGraphicFramePr>
        <p:xfrm rot="0">
          <a:off x="868680" y="2240280"/>
          <a:ext cx="5120638" cy="1600200"/>
        </p:xfrm>
        <a:graphic>
          <a:graphicData uri="http://schemas.openxmlformats.org/drawingml/2006/table">
            <a:tbl>
              <a:tblPr firstRow="1" firstCol="0" lastRow="0" lastCol="0" bandRow="1" bandCol="0">
                <a:tableStyleId>{5C22544A-7EE6-4342-B048-85BDC9FD1C3A}</a:tableStyleId>
              </a:tblPr>
              <a:tblGrid>
                <a:gridCol w="1843430"/>
                <a:gridCol w="819302"/>
                <a:gridCol w="819302"/>
                <a:gridCol w="819302"/>
                <a:gridCol w="819302"/>
              </a:tblGrid>
              <a:tr h="320040">
                <a:tc>
                  <a:txBody>
                    <a:bodyPr/>
                    <a:p>
                      <a:pPr>
                        <a:defRPr/>
                      </a:pPr>
                      <a:r>
                        <a:rPr sz="1100" b="1">
                          <a:solidFill>
                            <a:srgbClr val="14213D"/>
                          </a:solidFill>
                          <a:latin typeface="IBM Plex Sans"/>
                        </a:rPr>
                        <a:t>MAE pC, + ridge</a:t>
                      </a:r>
                      <a:endParaRPr/>
                    </a:p>
                  </a:txBody>
                  <a:tcPr marL="45720" marR="45720" marT="18288" marB="18288">
                    <a:solidFill>
                      <a:srgbClr val="E6E0D2"/>
                    </a:solidFill>
                  </a:tcPr>
                </a:tc>
                <a:tc>
                  <a:txBody>
                    <a:bodyPr/>
                    <a:p>
                      <a:pPr>
                        <a:defRPr/>
                      </a:pPr>
                      <a:r>
                        <a:rPr sz="1100" b="1">
                          <a:solidFill>
                            <a:srgbClr val="14213D"/>
                          </a:solidFill>
                          <a:latin typeface="IBM Plex Sans"/>
                        </a:rPr>
                        <a:t>seg 3</a:t>
                      </a:r>
                      <a:endParaRPr/>
                    </a:p>
                  </a:txBody>
                  <a:tcPr marL="45720" marR="45720" marT="18288" marB="18288">
                    <a:solidFill>
                      <a:srgbClr val="E6E0D2"/>
                    </a:solidFill>
                  </a:tcPr>
                </a:tc>
                <a:tc>
                  <a:txBody>
                    <a:bodyPr/>
                    <a:p>
                      <a:pPr>
                        <a:defRPr/>
                      </a:pPr>
                      <a:r>
                        <a:rPr sz="1100" b="1">
                          <a:solidFill>
                            <a:srgbClr val="14213D"/>
                          </a:solidFill>
                          <a:latin typeface="IBM Plex Sans"/>
                        </a:rPr>
                        <a:t>seg 5</a:t>
                      </a:r>
                      <a:endParaRPr/>
                    </a:p>
                  </a:txBody>
                  <a:tcPr marL="45720" marR="45720" marT="18288" marB="18288">
                    <a:solidFill>
                      <a:srgbClr val="E6E0D2"/>
                    </a:solidFill>
                  </a:tcPr>
                </a:tc>
                <a:tc>
                  <a:txBody>
                    <a:bodyPr/>
                    <a:p>
                      <a:pPr>
                        <a:defRPr/>
                      </a:pPr>
                      <a:r>
                        <a:rPr sz="1100" b="1">
                          <a:solidFill>
                            <a:srgbClr val="14213D"/>
                          </a:solidFill>
                          <a:latin typeface="IBM Plex Sans"/>
                        </a:rPr>
                        <a:t>seg 1</a:t>
                      </a:r>
                      <a:endParaRPr/>
                    </a:p>
                  </a:txBody>
                  <a:tcPr marL="45720" marR="45720" marT="18288" marB="18288">
                    <a:solidFill>
                      <a:srgbClr val="E6E0D2"/>
                    </a:solidFill>
                  </a:tcPr>
                </a:tc>
                <a:tc>
                  <a:txBody>
                    <a:bodyPr/>
                    <a:p>
                      <a:pPr>
                        <a:defRPr/>
                      </a:pPr>
                      <a:r>
                        <a:rPr sz="1100" b="1">
                          <a:solidFill>
                            <a:srgbClr val="14213D"/>
                          </a:solidFill>
                          <a:latin typeface="IBM Plex Sans"/>
                        </a:rPr>
                        <a:t>seg 6</a:t>
                      </a:r>
                      <a:endParaRPr/>
                    </a:p>
                  </a:txBody>
                  <a:tcPr marL="45720" marR="45720" marT="18288" marB="18288">
                    <a:solidFill>
                      <a:srgbClr val="E6E0D2"/>
                    </a:solidFill>
                  </a:tcPr>
                </a:tc>
              </a:tr>
              <a:tr h="320040">
                <a:tc>
                  <a:txBody>
                    <a:bodyPr/>
                    <a:p>
                      <a:pPr>
                        <a:defRPr/>
                      </a:pPr>
                      <a:r>
                        <a:rPr sz="1100" b="1">
                          <a:solidFill>
                            <a:srgbClr val="14213D"/>
                          </a:solidFill>
                          <a:latin typeface="IBM Plex Sans"/>
                        </a:rPr>
                        <a:t>trailing mean 50</a:t>
                      </a:r>
                      <a:endParaRPr/>
                    </a:p>
                  </a:txBody>
                  <a:tcPr marL="45720" marR="45720" marT="18288" marB="18288">
                    <a:solidFill>
                      <a:srgbClr val="FFFDF8"/>
                    </a:solidFill>
                  </a:tcPr>
                </a:tc>
                <a:tc>
                  <a:txBody>
                    <a:bodyPr/>
                    <a:p>
                      <a:pPr>
                        <a:defRPr/>
                      </a:pPr>
                      <a:r>
                        <a:rPr sz="1100" b="0">
                          <a:solidFill>
                            <a:srgbClr val="14213D"/>
                          </a:solidFill>
                          <a:latin typeface="IBM Plex Sans"/>
                        </a:rPr>
                        <a:t>9.4</a:t>
                      </a:r>
                      <a:endParaRPr/>
                    </a:p>
                  </a:txBody>
                  <a:tcPr marL="45720" marR="45720" marT="18288" marB="18288">
                    <a:solidFill>
                      <a:srgbClr val="FFFDF8"/>
                    </a:solidFill>
                  </a:tcPr>
                </a:tc>
                <a:tc>
                  <a:txBody>
                    <a:bodyPr/>
                    <a:p>
                      <a:pPr>
                        <a:defRPr/>
                      </a:pPr>
                      <a:r>
                        <a:rPr sz="1100" b="0">
                          <a:solidFill>
                            <a:srgbClr val="14213D"/>
                          </a:solidFill>
                          <a:latin typeface="IBM Plex Sans"/>
                        </a:rPr>
                        <a:t>69.5</a:t>
                      </a:r>
                      <a:endParaRPr/>
                    </a:p>
                  </a:txBody>
                  <a:tcPr marL="45720" marR="45720" marT="18288" marB="18288">
                    <a:solidFill>
                      <a:srgbClr val="FFFDF8"/>
                    </a:solidFill>
                  </a:tcPr>
                </a:tc>
                <a:tc>
                  <a:txBody>
                    <a:bodyPr/>
                    <a:p>
                      <a:pPr>
                        <a:defRPr/>
                      </a:pPr>
                      <a:r>
                        <a:rPr sz="1100" b="0">
                          <a:solidFill>
                            <a:srgbClr val="14213D"/>
                          </a:solidFill>
                          <a:latin typeface="IBM Plex Sans"/>
                        </a:rPr>
                        <a:t>84.6</a:t>
                      </a:r>
                      <a:endParaRPr/>
                    </a:p>
                  </a:txBody>
                  <a:tcPr marL="45720" marR="45720" marT="18288" marB="18288">
                    <a:solidFill>
                      <a:srgbClr val="FFFDF8"/>
                    </a:solidFill>
                  </a:tcPr>
                </a:tc>
                <a:tc>
                  <a:txBody>
                    <a:bodyPr/>
                    <a:p>
                      <a:pPr>
                        <a:defRPr/>
                      </a:pPr>
                      <a:r>
                        <a:rPr sz="1100" b="0">
                          <a:solidFill>
                            <a:srgbClr val="14213D"/>
                          </a:solidFill>
                          <a:latin typeface="IBM Plex Sans"/>
                        </a:rPr>
                        <a:t>57.0</a:t>
                      </a:r>
                      <a:endParaRPr/>
                    </a:p>
                  </a:txBody>
                  <a:tcPr marL="45720" marR="45720" marT="18288" marB="18288">
                    <a:solidFill>
                      <a:srgbClr val="FFFDF8"/>
                    </a:solidFill>
                  </a:tcPr>
                </a:tc>
              </a:tr>
              <a:tr h="320040">
                <a:tc>
                  <a:txBody>
                    <a:bodyPr/>
                    <a:p>
                      <a:pPr>
                        <a:defRPr/>
                      </a:pPr>
                      <a:r>
                        <a:rPr sz="1100" b="1">
                          <a:solidFill>
                            <a:srgbClr val="14213D"/>
                          </a:solidFill>
                          <a:latin typeface="IBM Plex Sans"/>
                        </a:rPr>
                        <a:t>trailing median 50</a:t>
                      </a:r>
                      <a:endParaRPr/>
                    </a:p>
                  </a:txBody>
                  <a:tcPr marL="45720" marR="45720" marT="18288" marB="18288">
                    <a:solidFill>
                      <a:srgbClr val="FFFDF8"/>
                    </a:solidFill>
                  </a:tcPr>
                </a:tc>
                <a:tc>
                  <a:txBody>
                    <a:bodyPr/>
                    <a:p>
                      <a:pPr>
                        <a:defRPr/>
                      </a:pPr>
                      <a:r>
                        <a:rPr sz="1100" b="0">
                          <a:solidFill>
                            <a:srgbClr val="14213D"/>
                          </a:solidFill>
                          <a:latin typeface="IBM Plex Sans"/>
                        </a:rPr>
                        <a:t>9.2</a:t>
                      </a:r>
                      <a:endParaRPr/>
                    </a:p>
                  </a:txBody>
                  <a:tcPr marL="45720" marR="45720" marT="18288" marB="18288">
                    <a:solidFill>
                      <a:srgbClr val="FFFDF8"/>
                    </a:solidFill>
                  </a:tcPr>
                </a:tc>
                <a:tc>
                  <a:txBody>
                    <a:bodyPr/>
                    <a:p>
                      <a:pPr>
                        <a:defRPr/>
                      </a:pPr>
                      <a:r>
                        <a:rPr sz="1100" b="0">
                          <a:solidFill>
                            <a:srgbClr val="14213D"/>
                          </a:solidFill>
                          <a:latin typeface="IBM Plex Sans"/>
                        </a:rPr>
                        <a:t>71.2</a:t>
                      </a:r>
                      <a:endParaRPr/>
                    </a:p>
                  </a:txBody>
                  <a:tcPr marL="45720" marR="45720" marT="18288" marB="18288">
                    <a:solidFill>
                      <a:srgbClr val="FFFDF8"/>
                    </a:solidFill>
                  </a:tcPr>
                </a:tc>
                <a:tc>
                  <a:txBody>
                    <a:bodyPr/>
                    <a:p>
                      <a:pPr>
                        <a:defRPr/>
                      </a:pPr>
                      <a:r>
                        <a:rPr sz="1100" b="0">
                          <a:solidFill>
                            <a:srgbClr val="14213D"/>
                          </a:solidFill>
                          <a:latin typeface="IBM Plex Sans"/>
                        </a:rPr>
                        <a:t>84.6</a:t>
                      </a:r>
                      <a:endParaRPr/>
                    </a:p>
                  </a:txBody>
                  <a:tcPr marL="45720" marR="45720" marT="18288" marB="18288">
                    <a:solidFill>
                      <a:srgbClr val="FFFDF8"/>
                    </a:solidFill>
                  </a:tcPr>
                </a:tc>
                <a:tc>
                  <a:txBody>
                    <a:bodyPr/>
                    <a:p>
                      <a:pPr>
                        <a:defRPr/>
                      </a:pPr>
                      <a:r>
                        <a:rPr sz="1100" b="0">
                          <a:solidFill>
                            <a:srgbClr val="14213D"/>
                          </a:solidFill>
                          <a:latin typeface="IBM Plex Sans"/>
                        </a:rPr>
                        <a:t>59.0</a:t>
                      </a:r>
                      <a:endParaRPr/>
                    </a:p>
                  </a:txBody>
                  <a:tcPr marL="45720" marR="45720" marT="18288" marB="18288">
                    <a:solidFill>
                      <a:srgbClr val="FFFDF8"/>
                    </a:solidFill>
                  </a:tcPr>
                </a:tc>
              </a:tr>
              <a:tr h="320040">
                <a:tc>
                  <a:txBody>
                    <a:bodyPr/>
                    <a:p>
                      <a:pPr>
                        <a:defRPr/>
                      </a:pPr>
                      <a:r>
                        <a:rPr sz="1100" b="1">
                          <a:solidFill>
                            <a:srgbClr val="14213D"/>
                          </a:solidFill>
                          <a:latin typeface="IBM Plex Sans"/>
                        </a:rPr>
                        <a:t>robust EMA (half-life 25)</a:t>
                      </a:r>
                      <a:endParaRPr/>
                    </a:p>
                  </a:txBody>
                  <a:tcPr marL="45720" marR="45720" marT="18288" marB="18288">
                    <a:solidFill>
                      <a:srgbClr val="FFFDF8"/>
                    </a:solidFill>
                  </a:tcPr>
                </a:tc>
                <a:tc>
                  <a:txBody>
                    <a:bodyPr/>
                    <a:p>
                      <a:pPr>
                        <a:defRPr/>
                      </a:pPr>
                      <a:r>
                        <a:rPr sz="1100" b="0">
                          <a:solidFill>
                            <a:srgbClr val="14213D"/>
                          </a:solidFill>
                          <a:latin typeface="IBM Plex Sans"/>
                        </a:rPr>
                        <a:t>9.2</a:t>
                      </a:r>
                      <a:endParaRPr/>
                    </a:p>
                  </a:txBody>
                  <a:tcPr marL="45720" marR="45720" marT="18288" marB="18288">
                    <a:solidFill>
                      <a:srgbClr val="FFFDF8"/>
                    </a:solidFill>
                  </a:tcPr>
                </a:tc>
                <a:tc>
                  <a:txBody>
                    <a:bodyPr/>
                    <a:p>
                      <a:pPr>
                        <a:defRPr/>
                      </a:pPr>
                      <a:r>
                        <a:rPr sz="1100" b="0">
                          <a:solidFill>
                            <a:srgbClr val="14213D"/>
                          </a:solidFill>
                          <a:latin typeface="IBM Plex Sans"/>
                        </a:rPr>
                        <a:t>72.5</a:t>
                      </a:r>
                      <a:endParaRPr/>
                    </a:p>
                  </a:txBody>
                  <a:tcPr marL="45720" marR="45720" marT="18288" marB="18288">
                    <a:solidFill>
                      <a:srgbClr val="FFFDF8"/>
                    </a:solidFill>
                  </a:tcPr>
                </a:tc>
                <a:tc>
                  <a:txBody>
                    <a:bodyPr/>
                    <a:p>
                      <a:pPr>
                        <a:defRPr/>
                      </a:pPr>
                      <a:r>
                        <a:rPr sz="1100" b="0">
                          <a:solidFill>
                            <a:srgbClr val="14213D"/>
                          </a:solidFill>
                          <a:latin typeface="IBM Plex Sans"/>
                        </a:rPr>
                        <a:t>88.0</a:t>
                      </a:r>
                      <a:endParaRPr/>
                    </a:p>
                  </a:txBody>
                  <a:tcPr marL="45720" marR="45720" marT="18288" marB="18288">
                    <a:solidFill>
                      <a:srgbClr val="FFFDF8"/>
                    </a:solidFill>
                  </a:tcPr>
                </a:tc>
                <a:tc>
                  <a:txBody>
                    <a:bodyPr/>
                    <a:p>
                      <a:pPr>
                        <a:defRPr/>
                      </a:pPr>
                      <a:r>
                        <a:rPr sz="1100" b="0">
                          <a:solidFill>
                            <a:srgbClr val="14213D"/>
                          </a:solidFill>
                          <a:latin typeface="IBM Plex Sans"/>
                        </a:rPr>
                        <a:t>56.9</a:t>
                      </a:r>
                      <a:endParaRPr/>
                    </a:p>
                  </a:txBody>
                  <a:tcPr marL="45720" marR="45720" marT="18288" marB="18288">
                    <a:solidFill>
                      <a:srgbClr val="FFFDF8"/>
                    </a:solidFill>
                  </a:tcPr>
                </a:tc>
              </a:tr>
              <a:tr h="320040">
                <a:tc>
                  <a:txBody>
                    <a:bodyPr/>
                    <a:p>
                      <a:pPr>
                        <a:defRPr/>
                      </a:pPr>
                      <a:r>
                        <a:rPr sz="1100" b="1">
                          <a:solidFill>
                            <a:srgbClr val="14213D"/>
                          </a:solidFill>
                          <a:latin typeface="IBM Plex Sans"/>
                        </a:rPr>
                        <a:t>Kalman level</a:t>
                      </a:r>
                      <a:endParaRPr/>
                    </a:p>
                  </a:txBody>
                  <a:tcPr marL="45720" marR="45720" marT="18288" marB="18288">
                    <a:solidFill>
                      <a:srgbClr val="FFFDF8"/>
                    </a:solidFill>
                  </a:tcPr>
                </a:tc>
                <a:tc>
                  <a:txBody>
                    <a:bodyPr/>
                    <a:p>
                      <a:pPr>
                        <a:defRPr/>
                      </a:pPr>
                      <a:r>
                        <a:rPr sz="1100" b="0">
                          <a:solidFill>
                            <a:srgbClr val="14213D"/>
                          </a:solidFill>
                          <a:latin typeface="IBM Plex Sans"/>
                        </a:rPr>
                        <a:t>9.2</a:t>
                      </a:r>
                      <a:endParaRPr/>
                    </a:p>
                  </a:txBody>
                  <a:tcPr marL="45720" marR="45720" marT="18288" marB="18288">
                    <a:solidFill>
                      <a:srgbClr val="FFFDF8"/>
                    </a:solidFill>
                  </a:tcPr>
                </a:tc>
                <a:tc>
                  <a:txBody>
                    <a:bodyPr/>
                    <a:p>
                      <a:pPr>
                        <a:defRPr/>
                      </a:pPr>
                      <a:r>
                        <a:rPr sz="1100" b="0">
                          <a:solidFill>
                            <a:srgbClr val="14213D"/>
                          </a:solidFill>
                          <a:latin typeface="IBM Plex Sans"/>
                        </a:rPr>
                        <a:t>72.1</a:t>
                      </a:r>
                      <a:endParaRPr/>
                    </a:p>
                  </a:txBody>
                  <a:tcPr marL="45720" marR="45720" marT="18288" marB="18288">
                    <a:solidFill>
                      <a:srgbClr val="FFFDF8"/>
                    </a:solidFill>
                  </a:tcPr>
                </a:tc>
                <a:tc>
                  <a:txBody>
                    <a:bodyPr/>
                    <a:p>
                      <a:pPr>
                        <a:defRPr/>
                      </a:pPr>
                      <a:r>
                        <a:rPr sz="1100" b="0">
                          <a:solidFill>
                            <a:srgbClr val="14213D"/>
                          </a:solidFill>
                          <a:latin typeface="IBM Plex Sans"/>
                        </a:rPr>
                        <a:t>85.6</a:t>
                      </a:r>
                      <a:endParaRPr/>
                    </a:p>
                  </a:txBody>
                  <a:tcPr marL="45720" marR="45720" marT="18288" marB="18288">
                    <a:solidFill>
                      <a:srgbClr val="FFFDF8"/>
                    </a:solidFill>
                  </a:tcPr>
                </a:tc>
                <a:tc>
                  <a:txBody>
                    <a:bodyPr/>
                    <a:p>
                      <a:pPr>
                        <a:defRPr/>
                      </a:pPr>
                      <a:r>
                        <a:rPr sz="1100" b="0">
                          <a:solidFill>
                            <a:srgbClr val="14213D"/>
                          </a:solidFill>
                          <a:latin typeface="IBM Plex Sans"/>
                        </a:rPr>
                        <a:t>57.3</a:t>
                      </a:r>
                      <a:endParaRPr/>
                    </a:p>
                  </a:txBody>
                  <a:tcPr marL="45720" marR="45720" marT="18288" marB="18288">
                    <a:solidFill>
                      <a:srgbClr val="FFFDF8"/>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6527789"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182168361" name="Shape 1"/>
          <p:cNvSpPr/>
          <p:nvPr/>
        </p:nvSpPr>
        <p:spPr bwMode="auto">
          <a:xfrm>
            <a:off x="813816" y="813816"/>
            <a:ext cx="2834640" cy="283464"/>
          </a:xfrm>
          <a:prstGeom prst="roundRect">
            <a:avLst>
              <a:gd name="adj" fmla="val 17778"/>
            </a:avLst>
          </a:prstGeom>
          <a:solidFill>
            <a:srgbClr val="BE185D"/>
          </a:solidFill>
          <a:ln/>
        </p:spPr>
        <p:txBody>
          <a:bodyPr/>
          <a:lstStyle/>
          <a:p>
            <a:pPr>
              <a:defRPr/>
            </a:pPr>
            <a:endParaRPr lang="en-US"/>
          </a:p>
        </p:txBody>
      </p:sp>
      <p:sp>
        <p:nvSpPr>
          <p:cNvPr id="1123198138"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3 · HARD · RESULTS</a:t>
            </a:r>
            <a:endParaRPr lang="en-US" sz="1200"/>
          </a:p>
        </p:txBody>
      </p:sp>
      <p:sp>
        <p:nvSpPr>
          <p:cNvPr id="829381001"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How low can it go: noise floor and uncertainty</a:t>
            </a:r>
            <a:endParaRPr lang="en-US" sz="3600"/>
          </a:p>
        </p:txBody>
      </p:sp>
      <p:sp>
        <p:nvSpPr>
          <p:cNvPr id="444880217"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37</a:t>
            </a:r>
            <a:endParaRPr lang="en-US" sz="1200"/>
          </a:p>
        </p:txBody>
      </p:sp>
      <p:sp>
        <p:nvSpPr>
          <p:cNvPr id="2135958290" name="Text 3"/>
          <p:cNvSpPr/>
          <p:nvPr/>
        </p:nvSpPr>
        <p:spPr bwMode="auto">
          <a:xfrm>
            <a:off x="813816" y="1783080"/>
            <a:ext cx="10881360" cy="32004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14213D"/>
                </a:solidFill>
                <a:latin typeface="IBM Plex Sans"/>
                <a:ea typeface="IBM Plex Sans"/>
                <a:cs typeface="IBM Plex Sans"/>
              </a:rPr>
              <a:t>The BCM's own noise sets the floor; prediction intervals checked on the test region.</a:t>
            </a:r>
            <a:endParaRPr lang="en-US" sz="1600"/>
          </a:p>
        </p:txBody>
      </p:sp>
      <p:sp>
        <p:nvSpPr>
          <p:cNvPr id="610337443" name="Text 6"/>
          <p:cNvSpPr/>
          <p:nvPr/>
        </p:nvSpPr>
        <p:spPr bwMode="auto">
          <a:xfrm>
            <a:off x="868680" y="2286000"/>
            <a:ext cx="5120640" cy="3566160"/>
          </a:xfrm>
          <a:prstGeom prst="rect">
            <a:avLst/>
          </a:prstGeom>
          <a:noFill/>
          <a:ln/>
        </p:spPr>
        <p:txBody>
          <a:bodyPr wrap="square" lIns="0" tIns="0" rIns="0" bIns="0" rtlCol="0" anchor="t">
            <a:normAutofit/>
          </a:bodyPr>
          <a:lstStyle/>
          <a:p>
            <a:pPr marL="196342" indent="-196342" algn="l">
              <a:lnSpc>
                <a:spcPts val="1820"/>
              </a:lnSpc>
              <a:buSzPct val="100000"/>
              <a:buChar char="•"/>
              <a:defRPr/>
            </a:pPr>
            <a:r>
              <a:rPr lang="en-US" sz="1300">
                <a:solidFill>
                  <a:srgbClr val="3B4660"/>
                </a:solidFill>
                <a:latin typeface="IBM Plex Sans"/>
                <a:ea typeface="IBM Plex Sans"/>
                <a:cs typeface="IBM Plex Sans"/>
              </a:rPr>
              <a:t>BCM noise: white, Gaussian core with heavy tails (0.2–1.5 % beyond 4σ); ~50 % of the jitter at low charge</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Rolling 90 % interval covers 87–92 % (±5–7 % at 5–10 nC)</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GP with the measured noise as its kernel noise: no better MAE, right intervals once missing camera frames get extra variance (86–95 %)</a:t>
            </a:r>
            <a:endParaRPr lang="en-US" sz="1300"/>
          </a:p>
          <a:p>
            <a:pPr marL="196342" indent="-196342" algn="l">
              <a:lnSpc>
                <a:spcPts val="1820"/>
              </a:lnSpc>
              <a:buSzPct val="100000"/>
              <a:buChar char="•"/>
              <a:defRPr/>
            </a:pPr>
            <a:r>
              <a:rPr lang="en-US" sz="1300">
                <a:solidFill>
                  <a:srgbClr val="3B4660"/>
                </a:solidFill>
                <a:latin typeface="IBM Plex Sans"/>
                <a:ea typeface="IBM Plex Sans"/>
                <a:cs typeface="IBM Plex Sans"/>
              </a:rPr>
              <a:t>Minimax (max-error) training does not reduce the worst error</a:t>
            </a:r>
            <a:endParaRPr lang="en-US" sz="1300"/>
          </a:p>
        </p:txBody>
      </p:sp>
      <p:pic>
        <p:nvPicPr>
          <p:cNvPr id="105906672" name="Picture 15" descr="jitter_noise.png"/>
          <p:cNvPicPr>
            <a:picLocks noChangeAspect="1"/>
          </p:cNvPicPr>
          <p:nvPr/>
        </p:nvPicPr>
        <p:blipFill rotWithShape="1">
          <a:blip r:embed="rId3"/>
          <a:stretch/>
        </p:blipFill>
        <p:spPr bwMode="auto">
          <a:xfrm>
            <a:off x="6181997" y="2148840"/>
            <a:ext cx="5329645" cy="2331720"/>
          </a:xfrm>
          <a:prstGeom prst="rect">
            <a:avLst/>
          </a:prstGeom>
        </p:spPr>
      </p:pic>
      <p:pic>
        <p:nvPicPr>
          <p:cNvPr id="1828564935" name="Picture 16" descr="interval_2026-10-08_21-11-47.png"/>
          <p:cNvPicPr>
            <a:picLocks noChangeAspect="1"/>
          </p:cNvPicPr>
          <p:nvPr/>
        </p:nvPicPr>
        <p:blipFill rotWithShape="1">
          <a:blip r:embed="rId4"/>
          <a:stretch/>
        </p:blipFill>
        <p:spPr bwMode="auto">
          <a:xfrm>
            <a:off x="6858000" y="4526280"/>
            <a:ext cx="3977639" cy="13258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4994058"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838706282" name="Shape 1"/>
          <p:cNvSpPr/>
          <p:nvPr/>
        </p:nvSpPr>
        <p:spPr bwMode="auto">
          <a:xfrm>
            <a:off x="813816" y="813816"/>
            <a:ext cx="2834640" cy="283464"/>
          </a:xfrm>
          <a:prstGeom prst="roundRect">
            <a:avLst>
              <a:gd name="adj" fmla="val 17778"/>
            </a:avLst>
          </a:prstGeom>
          <a:solidFill>
            <a:srgbClr val="BE185D"/>
          </a:solidFill>
          <a:ln/>
        </p:spPr>
        <p:txBody>
          <a:bodyPr/>
          <a:lstStyle/>
          <a:p>
            <a:pPr>
              <a:defRPr/>
            </a:pPr>
            <a:endParaRPr lang="en-US"/>
          </a:p>
        </p:txBody>
      </p:sp>
      <p:sp>
        <p:nvSpPr>
          <p:cNvPr id="358342837" name="Text 2"/>
          <p:cNvSpPr/>
          <p:nvPr/>
        </p:nvSpPr>
        <p:spPr bwMode="auto">
          <a:xfrm>
            <a:off x="914400" y="850392"/>
            <a:ext cx="2743200" cy="237744"/>
          </a:xfrm>
          <a:prstGeom prst="rect">
            <a:avLst/>
          </a:prstGeom>
          <a:noFill/>
          <a:ln/>
        </p:spPr>
        <p:txBody>
          <a:bodyPr wrap="square" lIns="0" tIns="0" rIns="0" bIns="0" rtlCol="0" anchor="t">
            <a:normAutofit/>
          </a:bodyPr>
          <a:lstStyle/>
          <a:p>
            <a:pPr marL="0" indent="0" algn="l">
              <a:lnSpc>
                <a:spcPts val="1680"/>
              </a:lnSpc>
              <a:buNone/>
              <a:defRPr/>
            </a:pPr>
            <a:r>
              <a:rPr lang="en-US" sz="1200" spc="100">
                <a:solidFill>
                  <a:srgbClr val="FFFDF7"/>
                </a:solidFill>
                <a:latin typeface="IBM Plex Mono"/>
                <a:ea typeface="IBM Plex Mono"/>
                <a:cs typeface="IBM Plex Mono"/>
              </a:rPr>
              <a:t>TIER 3 · HARD · RESULTS</a:t>
            </a:r>
            <a:endParaRPr lang="en-US" sz="1200"/>
          </a:p>
        </p:txBody>
      </p:sp>
      <p:sp>
        <p:nvSpPr>
          <p:cNvPr id="1740871445" name="Text 3"/>
          <p:cNvSpPr>
            <a:spLocks noGrp="1"/>
          </p:cNvSpPr>
          <p:nvPr>
            <p:ph type="title"/>
          </p:nvPr>
        </p:nvSpPr>
        <p:spPr bwMode="auto">
          <a:xfrm>
            <a:off x="812800" y="12001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Summary: what worked and what did not</a:t>
            </a:r>
            <a:endParaRPr lang="en-US" sz="3600"/>
          </a:p>
        </p:txBody>
      </p:sp>
      <p:sp>
        <p:nvSpPr>
          <p:cNvPr id="1055571646" name="Text 13"/>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38</a:t>
            </a:r>
            <a:endParaRPr lang="en-US" sz="1200"/>
          </a:p>
        </p:txBody>
      </p:sp>
      <p:sp>
        <p:nvSpPr>
          <p:cNvPr id="925363646" name="Text 6"/>
          <p:cNvSpPr/>
          <p:nvPr/>
        </p:nvSpPr>
        <p:spPr bwMode="auto">
          <a:xfrm>
            <a:off x="868680" y="2377440"/>
            <a:ext cx="5120640" cy="3474720"/>
          </a:xfrm>
          <a:prstGeom prst="rect">
            <a:avLst/>
          </a:prstGeom>
          <a:noFill/>
          <a:ln/>
        </p:spPr>
        <p:txBody>
          <a:bodyPr wrap="square" lIns="0" tIns="0" rIns="0" bIns="0" rtlCol="0" anchor="t">
            <a:normAutofit/>
          </a:bodyPr>
          <a:lstStyle/>
          <a:p>
            <a:pPr marL="196342" indent="-196342" algn="l">
              <a:lnSpc>
                <a:spcPts val="1960"/>
              </a:lnSpc>
              <a:buSzPct val="100000"/>
              <a:buChar char="•"/>
              <a:defRPr/>
            </a:pPr>
            <a:r>
              <a:rPr lang="en-US" sz="1400">
                <a:solidFill>
                  <a:srgbClr val="3B4660"/>
                </a:solidFill>
                <a:latin typeface="IBM Plex Sans"/>
                <a:ea typeface="IBM Plex Sans"/>
                <a:cs typeface="IBM Plex Sans"/>
              </a:rPr>
              <a:t>Worked</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Pulse-grid alignment of every reading</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Slow + fast split: trailing level + GRU, at the noise floor on 3 segments</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Beating the 9-shot mean on every run (−2 to −9 %)</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Measured BCM noise for honest intervals</a:t>
            </a:r>
            <a:endParaRPr lang="en-US" sz="1400"/>
          </a:p>
        </p:txBody>
      </p:sp>
      <p:sp>
        <p:nvSpPr>
          <p:cNvPr id="2029069948" name="Text 6"/>
          <p:cNvSpPr/>
          <p:nvPr/>
        </p:nvSpPr>
        <p:spPr bwMode="auto">
          <a:xfrm>
            <a:off x="6355080" y="2377440"/>
            <a:ext cx="5120640" cy="3474720"/>
          </a:xfrm>
          <a:prstGeom prst="rect">
            <a:avLst/>
          </a:prstGeom>
          <a:noFill/>
          <a:ln/>
        </p:spPr>
        <p:txBody>
          <a:bodyPr wrap="square" lIns="0" tIns="0" rIns="0" bIns="0" rtlCol="0" anchor="t">
            <a:normAutofit/>
          </a:bodyPr>
          <a:lstStyle/>
          <a:p>
            <a:pPr marL="196342" indent="-196342" algn="l">
              <a:lnSpc>
                <a:spcPts val="1960"/>
              </a:lnSpc>
              <a:buSzPct val="100000"/>
              <a:buChar char="•"/>
              <a:defRPr/>
            </a:pPr>
            <a:r>
              <a:rPr lang="en-US" sz="1400">
                <a:solidFill>
                  <a:srgbClr val="3B4660"/>
                </a:solidFill>
                <a:latin typeface="IBM Plex Sans"/>
                <a:ea typeface="IBM Plex Sans"/>
                <a:cs typeface="IBM Plex Sans"/>
              </a:rPr>
              <a:t>Did not help</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Kalman / EMA / median levels, periodic terms</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Forecasting the instruments (two-step models)</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Attention, autoencoders, minimax training</a:t>
            </a:r>
            <a:endParaRPr lang="en-US" sz="1400"/>
          </a:p>
          <a:p>
            <a:pPr marL="196342" indent="-196342" algn="l">
              <a:lnSpc>
                <a:spcPts val="1960"/>
              </a:lnSpc>
              <a:buSzPct val="100000"/>
              <a:buChar char="•"/>
              <a:defRPr/>
            </a:pPr>
            <a:r>
              <a:rPr lang="en-US" sz="1400">
                <a:solidFill>
                  <a:srgbClr val="3B4660"/>
                </a:solidFill>
                <a:latin typeface="IBM Plex Sans"/>
                <a:ea typeface="IBM Plex Sans"/>
                <a:cs typeface="IBM Plex Sans"/>
              </a:rPr>
              <a:t>RF, climate and magnet inputs</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BF8F1"/>
        </a:solidFill>
      </p:bgPr>
    </p:bg>
    <p:spTree>
      <p:nvGrpSpPr>
        <p:cNvPr id="1" name=""/>
        <p:cNvGrpSpPr/>
        <p:nvPr/>
      </p:nvGrpSpPr>
      <p:grpSpPr bwMode="auto">
        <a:xfrm>
          <a:off x="0" y="0"/>
          <a:ext cx="0" cy="0"/>
          <a:chOff x="0" y="0"/>
          <a:chExt cx="0" cy="0"/>
        </a:xfrm>
      </p:grpSpPr>
      <p:sp>
        <p:nvSpPr>
          <p:cNvPr id="2074211703" name="Shape 0"/>
          <p:cNvSpPr/>
          <p:nvPr/>
        </p:nvSpPr>
        <p:spPr bwMode="auto">
          <a:xfrm>
            <a:off x="812800" y="558800"/>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1604519887" name="Text 1"/>
          <p:cNvSpPr/>
          <p:nvPr/>
        </p:nvSpPr>
        <p:spPr bwMode="auto">
          <a:xfrm>
            <a:off x="812800" y="812800"/>
            <a:ext cx="10883392" cy="234950"/>
          </a:xfrm>
          <a:prstGeom prst="rect">
            <a:avLst/>
          </a:prstGeom>
          <a:noFill/>
          <a:ln/>
        </p:spPr>
        <p:txBody>
          <a:bodyPr wrap="square" lIns="0" tIns="0" rIns="0" bIns="0" rtlCol="0" anchor="t">
            <a:normAutofit/>
          </a:bodyPr>
          <a:lstStyle/>
          <a:p>
            <a:pPr marL="0" indent="0" algn="l">
              <a:lnSpc>
                <a:spcPts val="1680"/>
              </a:lnSpc>
              <a:buNone/>
              <a:defRPr/>
            </a:pPr>
            <a:r>
              <a:rPr lang="en-US" sz="1200" spc="150">
                <a:solidFill>
                  <a:srgbClr val="6D28D9"/>
                </a:solidFill>
                <a:latin typeface="IBM Plex Mono"/>
                <a:ea typeface="IBM Plex Mono"/>
                <a:cs typeface="IBM Plex Mono"/>
              </a:rPr>
              <a:t>SCORING</a:t>
            </a:r>
            <a:endParaRPr lang="en-US" sz="1200"/>
          </a:p>
        </p:txBody>
      </p:sp>
      <p:sp>
        <p:nvSpPr>
          <p:cNvPr id="576609320" name="Text 2"/>
          <p:cNvSpPr>
            <a:spLocks noGrp="1"/>
          </p:cNvSpPr>
          <p:nvPr>
            <p:ph type="title"/>
          </p:nvPr>
        </p:nvSpPr>
        <p:spPr bwMode="auto">
          <a:xfrm>
            <a:off x="812800" y="1123950"/>
            <a:ext cx="10883392" cy="527050"/>
          </a:xfrm>
          <a:prstGeom prst="rect">
            <a:avLst/>
          </a:prstGeom>
          <a:noFill/>
          <a:ln/>
        </p:spPr>
        <p:txBody>
          <a:bodyPr wrap="square" lIns="0" tIns="0" rIns="0" bIns="0" rtlCol="0" anchor="t">
            <a:normAutofit/>
          </a:bodyPr>
          <a:lstStyle/>
          <a:p>
            <a:pPr marL="0" indent="0" algn="l">
              <a:lnSpc>
                <a:spcPts val="3960"/>
              </a:lnSpc>
              <a:buNone/>
              <a:defRPr/>
            </a:pPr>
            <a:r>
              <a:rPr lang="en-US" sz="3600" b="1" i="0">
                <a:solidFill>
                  <a:srgbClr val="14213D"/>
                </a:solidFill>
                <a:latin typeface="Space Grotesk"/>
                <a:ea typeface="Space Grotesk"/>
                <a:cs typeface="Space Grotesk"/>
              </a:rPr>
              <a:t>Same rules</a:t>
            </a:r>
            <a:endParaRPr lang="en-US" sz="3600"/>
          </a:p>
        </p:txBody>
      </p:sp>
      <p:sp>
        <p:nvSpPr>
          <p:cNvPr id="1699083415" name="Shape 3"/>
          <p:cNvSpPr/>
          <p:nvPr/>
        </p:nvSpPr>
        <p:spPr bwMode="auto">
          <a:xfrm>
            <a:off x="815975" y="1933575"/>
            <a:ext cx="3414117" cy="1689100"/>
          </a:xfrm>
          <a:prstGeom prst="roundRect">
            <a:avLst>
              <a:gd name="adj" fmla="val 5827"/>
            </a:avLst>
          </a:prstGeom>
          <a:solidFill>
            <a:srgbClr val="FFFDF8"/>
          </a:solidFill>
          <a:ln w="6350">
            <a:solidFill>
              <a:srgbClr val="E6E0D2"/>
            </a:solidFill>
            <a:prstDash val="solid"/>
          </a:ln>
        </p:spPr>
        <p:txBody>
          <a:bodyPr/>
          <a:lstStyle/>
          <a:p>
            <a:pPr>
              <a:defRPr/>
            </a:pPr>
            <a:endParaRPr lang="en-US"/>
          </a:p>
        </p:txBody>
      </p:sp>
      <p:pic>
        <p:nvPicPr>
          <p:cNvPr id="1676554210" name="Image 0" descr="Clock"/>
          <p:cNvPicPr>
            <a:picLocks noChangeAspect="1"/>
          </p:cNvPicPr>
          <p:nvPr/>
        </p:nvPicPr>
        <p:blipFill rotWithShape="1">
          <a:blip r:embed="rId3"/>
          <a:stretch/>
        </p:blipFill>
        <p:spPr bwMode="auto">
          <a:xfrm>
            <a:off x="1022350" y="2139950"/>
            <a:ext cx="254000" cy="254000"/>
          </a:xfrm>
          <a:prstGeom prst="rect">
            <a:avLst/>
          </a:prstGeom>
        </p:spPr>
      </p:pic>
      <p:sp>
        <p:nvSpPr>
          <p:cNvPr id="1637322616" name="Text 4"/>
          <p:cNvSpPr/>
          <p:nvPr/>
        </p:nvSpPr>
        <p:spPr bwMode="auto">
          <a:xfrm>
            <a:off x="1022350" y="2470150"/>
            <a:ext cx="3091408" cy="266700"/>
          </a:xfrm>
          <a:prstGeom prst="rect">
            <a:avLst/>
          </a:prstGeom>
          <a:noFill/>
          <a:ln/>
        </p:spPr>
        <p:txBody>
          <a:bodyPr wrap="square" lIns="0" tIns="0" rIns="0" bIns="0" rtlCol="0" anchor="t">
            <a:normAutofit/>
          </a:bodyPr>
          <a:lstStyle/>
          <a:p>
            <a:pPr marL="0" indent="0" algn="l">
              <a:lnSpc>
                <a:spcPts val="1920"/>
              </a:lnSpc>
              <a:buNone/>
              <a:defRPr/>
            </a:pPr>
            <a:r>
              <a:rPr lang="en-US" sz="1600" b="1">
                <a:solidFill>
                  <a:srgbClr val="14213D"/>
                </a:solidFill>
                <a:latin typeface="Space Grotesk"/>
                <a:ea typeface="Space Grotesk"/>
                <a:cs typeface="Space Grotesk"/>
              </a:rPr>
              <a:t>Chronological split</a:t>
            </a:r>
            <a:endParaRPr lang="en-US" sz="1600"/>
          </a:p>
        </p:txBody>
      </p:sp>
      <p:sp>
        <p:nvSpPr>
          <p:cNvPr id="1704122002" name="Text 5"/>
          <p:cNvSpPr/>
          <p:nvPr/>
        </p:nvSpPr>
        <p:spPr bwMode="auto">
          <a:xfrm>
            <a:off x="1022350" y="2787650"/>
            <a:ext cx="3091408" cy="44450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3B4660"/>
                </a:solidFill>
                <a:latin typeface="IBM Plex Sans"/>
                <a:ea typeface="IBM Plex Sans"/>
                <a:cs typeface="IBM Plex Sans"/>
              </a:rPr>
              <a:t>Test on the last 10 % of each run. No shuffling; fit everything on the first 90 %.</a:t>
            </a:r>
            <a:endParaRPr lang="en-US" sz="1200"/>
          </a:p>
        </p:txBody>
      </p:sp>
      <p:sp>
        <p:nvSpPr>
          <p:cNvPr id="1488209790" name="Shape 6"/>
          <p:cNvSpPr/>
          <p:nvPr/>
        </p:nvSpPr>
        <p:spPr bwMode="auto">
          <a:xfrm>
            <a:off x="4388842" y="1933575"/>
            <a:ext cx="3414216" cy="1689100"/>
          </a:xfrm>
          <a:prstGeom prst="roundRect">
            <a:avLst>
              <a:gd name="adj" fmla="val 5827"/>
            </a:avLst>
          </a:prstGeom>
          <a:solidFill>
            <a:srgbClr val="FFFDF8"/>
          </a:solidFill>
          <a:ln w="6350">
            <a:solidFill>
              <a:srgbClr val="E6E0D2"/>
            </a:solidFill>
            <a:prstDash val="solid"/>
          </a:ln>
        </p:spPr>
        <p:txBody>
          <a:bodyPr/>
          <a:lstStyle/>
          <a:p>
            <a:pPr>
              <a:defRPr/>
            </a:pPr>
            <a:endParaRPr lang="en-US"/>
          </a:p>
        </p:txBody>
      </p:sp>
      <p:pic>
        <p:nvPicPr>
          <p:cNvPr id="918574331" name="Image 1" descr="Chart"/>
          <p:cNvPicPr>
            <a:picLocks noChangeAspect="1"/>
          </p:cNvPicPr>
          <p:nvPr/>
        </p:nvPicPr>
        <p:blipFill rotWithShape="1">
          <a:blip r:embed="rId4"/>
          <a:stretch/>
        </p:blipFill>
        <p:spPr bwMode="auto">
          <a:xfrm>
            <a:off x="4595217" y="2139950"/>
            <a:ext cx="254000" cy="254000"/>
          </a:xfrm>
          <a:prstGeom prst="rect">
            <a:avLst/>
          </a:prstGeom>
        </p:spPr>
      </p:pic>
      <p:sp>
        <p:nvSpPr>
          <p:cNvPr id="1611750439" name="Text 7"/>
          <p:cNvSpPr/>
          <p:nvPr/>
        </p:nvSpPr>
        <p:spPr bwMode="auto">
          <a:xfrm>
            <a:off x="4595217" y="2470150"/>
            <a:ext cx="3091510" cy="266700"/>
          </a:xfrm>
          <a:prstGeom prst="rect">
            <a:avLst/>
          </a:prstGeom>
          <a:noFill/>
          <a:ln/>
        </p:spPr>
        <p:txBody>
          <a:bodyPr wrap="square" lIns="0" tIns="0" rIns="0" bIns="0" rtlCol="0" anchor="t">
            <a:normAutofit/>
          </a:bodyPr>
          <a:lstStyle/>
          <a:p>
            <a:pPr marL="0" indent="0" algn="l">
              <a:lnSpc>
                <a:spcPts val="1920"/>
              </a:lnSpc>
              <a:buNone/>
              <a:defRPr/>
            </a:pPr>
            <a:r>
              <a:rPr lang="en-US" sz="1600" b="1">
                <a:solidFill>
                  <a:srgbClr val="14213D"/>
                </a:solidFill>
                <a:latin typeface="Space Grotesk"/>
                <a:ea typeface="Space Grotesk"/>
                <a:cs typeface="Space Grotesk"/>
              </a:rPr>
              <a:t>Metric in nC</a:t>
            </a:r>
            <a:endParaRPr lang="en-US" sz="1600"/>
          </a:p>
        </p:txBody>
      </p:sp>
      <p:sp>
        <p:nvSpPr>
          <p:cNvPr id="577248591" name="Text 8"/>
          <p:cNvSpPr/>
          <p:nvPr/>
        </p:nvSpPr>
        <p:spPr bwMode="auto">
          <a:xfrm>
            <a:off x="4595217" y="2787650"/>
            <a:ext cx="3091510" cy="44450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3B4660"/>
                </a:solidFill>
                <a:latin typeface="IBM Plex Sans"/>
                <a:ea typeface="IBM Plex Sans"/>
                <a:cs typeface="IBM Plex Sans"/>
              </a:rPr>
              <a:t>Try different and understand their physical meaning.</a:t>
            </a:r>
            <a:endParaRPr lang="en-US" sz="1200"/>
          </a:p>
        </p:txBody>
      </p:sp>
      <p:sp>
        <p:nvSpPr>
          <p:cNvPr id="966531000" name="Shape 9"/>
          <p:cNvSpPr/>
          <p:nvPr/>
        </p:nvSpPr>
        <p:spPr bwMode="auto">
          <a:xfrm>
            <a:off x="7961809" y="1933575"/>
            <a:ext cx="3414117" cy="1689100"/>
          </a:xfrm>
          <a:prstGeom prst="roundRect">
            <a:avLst>
              <a:gd name="adj" fmla="val 5827"/>
            </a:avLst>
          </a:prstGeom>
          <a:solidFill>
            <a:srgbClr val="FFFDF8"/>
          </a:solidFill>
          <a:ln w="6350">
            <a:solidFill>
              <a:srgbClr val="E6E0D2"/>
            </a:solidFill>
            <a:prstDash val="solid"/>
          </a:ln>
        </p:spPr>
        <p:txBody>
          <a:bodyPr/>
          <a:lstStyle/>
          <a:p>
            <a:pPr>
              <a:defRPr/>
            </a:pPr>
            <a:endParaRPr lang="en-US"/>
          </a:p>
        </p:txBody>
      </p:sp>
      <p:pic>
        <p:nvPicPr>
          <p:cNvPr id="484441927" name="Image 2" descr="Warning"/>
          <p:cNvPicPr>
            <a:picLocks noChangeAspect="1"/>
          </p:cNvPicPr>
          <p:nvPr/>
        </p:nvPicPr>
        <p:blipFill rotWithShape="1">
          <a:blip r:embed="rId5"/>
          <a:stretch/>
        </p:blipFill>
        <p:spPr bwMode="auto">
          <a:xfrm>
            <a:off x="8168184" y="2139950"/>
            <a:ext cx="254000" cy="254000"/>
          </a:xfrm>
          <a:prstGeom prst="rect">
            <a:avLst/>
          </a:prstGeom>
        </p:spPr>
      </p:pic>
      <p:sp>
        <p:nvSpPr>
          <p:cNvPr id="1343552499" name="Text 10"/>
          <p:cNvSpPr/>
          <p:nvPr/>
        </p:nvSpPr>
        <p:spPr bwMode="auto">
          <a:xfrm>
            <a:off x="8168184" y="2470150"/>
            <a:ext cx="3091408" cy="266700"/>
          </a:xfrm>
          <a:prstGeom prst="rect">
            <a:avLst/>
          </a:prstGeom>
          <a:noFill/>
          <a:ln/>
        </p:spPr>
        <p:txBody>
          <a:bodyPr wrap="square" lIns="0" tIns="0" rIns="0" bIns="0" rtlCol="0" anchor="t">
            <a:normAutofit/>
          </a:bodyPr>
          <a:lstStyle/>
          <a:p>
            <a:pPr marL="0" indent="0" algn="l">
              <a:lnSpc>
                <a:spcPts val="1920"/>
              </a:lnSpc>
              <a:buNone/>
              <a:defRPr/>
            </a:pPr>
            <a:r>
              <a:rPr lang="en-US" sz="1600" b="1">
                <a:solidFill>
                  <a:srgbClr val="14213D"/>
                </a:solidFill>
                <a:latin typeface="Space Grotesk"/>
                <a:ea typeface="Space Grotesk"/>
                <a:cs typeface="Space Grotesk"/>
              </a:rPr>
              <a:t>Dropouts not scored</a:t>
            </a:r>
            <a:endParaRPr lang="en-US" sz="1600"/>
          </a:p>
        </p:txBody>
      </p:sp>
      <p:sp>
        <p:nvSpPr>
          <p:cNvPr id="1945601685" name="Text 11"/>
          <p:cNvSpPr/>
          <p:nvPr/>
        </p:nvSpPr>
        <p:spPr bwMode="auto">
          <a:xfrm>
            <a:off x="8168184" y="2787650"/>
            <a:ext cx="3091408" cy="6540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3B4660"/>
                </a:solidFill>
                <a:latin typeface="IBM Plex Sans"/>
                <a:ea typeface="IBM Plex Sans"/>
                <a:cs typeface="IBM Plex Sans"/>
              </a:rPr>
              <a:t>Charge below 30 % of the local median. </a:t>
            </a:r>
            <a:endParaRPr lang="en-US" sz="1200"/>
          </a:p>
        </p:txBody>
      </p:sp>
      <p:sp>
        <p:nvSpPr>
          <p:cNvPr id="1112980850" name="Shape 12"/>
          <p:cNvSpPr/>
          <p:nvPr/>
        </p:nvSpPr>
        <p:spPr bwMode="auto">
          <a:xfrm>
            <a:off x="815975" y="3781425"/>
            <a:ext cx="3414117" cy="1479550"/>
          </a:xfrm>
          <a:prstGeom prst="roundRect">
            <a:avLst>
              <a:gd name="adj" fmla="val 6652"/>
            </a:avLst>
          </a:prstGeom>
          <a:solidFill>
            <a:srgbClr val="FFFDF8"/>
          </a:solidFill>
          <a:ln w="6350">
            <a:solidFill>
              <a:srgbClr val="E6E0D2"/>
            </a:solidFill>
            <a:prstDash val="solid"/>
          </a:ln>
        </p:spPr>
        <p:txBody>
          <a:bodyPr/>
          <a:lstStyle/>
          <a:p>
            <a:pPr>
              <a:defRPr/>
            </a:pPr>
            <a:endParaRPr lang="en-US"/>
          </a:p>
        </p:txBody>
      </p:sp>
      <p:pic>
        <p:nvPicPr>
          <p:cNvPr id="1759668781" name="Image 3" descr="Database"/>
          <p:cNvPicPr>
            <a:picLocks noChangeAspect="1"/>
          </p:cNvPicPr>
          <p:nvPr/>
        </p:nvPicPr>
        <p:blipFill rotWithShape="1">
          <a:blip r:embed="rId6"/>
          <a:stretch/>
        </p:blipFill>
        <p:spPr bwMode="auto">
          <a:xfrm>
            <a:off x="1022350" y="3987800"/>
            <a:ext cx="254000" cy="254000"/>
          </a:xfrm>
          <a:prstGeom prst="rect">
            <a:avLst/>
          </a:prstGeom>
        </p:spPr>
      </p:pic>
      <p:sp>
        <p:nvSpPr>
          <p:cNvPr id="365649991" name="Text 13"/>
          <p:cNvSpPr/>
          <p:nvPr/>
        </p:nvSpPr>
        <p:spPr bwMode="auto">
          <a:xfrm>
            <a:off x="1022350" y="4318000"/>
            <a:ext cx="3091408" cy="266700"/>
          </a:xfrm>
          <a:prstGeom prst="rect">
            <a:avLst/>
          </a:prstGeom>
          <a:noFill/>
          <a:ln/>
        </p:spPr>
        <p:txBody>
          <a:bodyPr wrap="square" lIns="0" tIns="0" rIns="0" bIns="0" rtlCol="0" anchor="t">
            <a:normAutofit/>
          </a:bodyPr>
          <a:lstStyle/>
          <a:p>
            <a:pPr marL="0" indent="0" algn="l">
              <a:lnSpc>
                <a:spcPts val="1920"/>
              </a:lnSpc>
              <a:buNone/>
              <a:defRPr/>
            </a:pPr>
            <a:r>
              <a:rPr lang="en-US" sz="1600" b="1">
                <a:solidFill>
                  <a:srgbClr val="14213D"/>
                </a:solidFill>
                <a:latin typeface="Space Grotesk"/>
                <a:ea typeface="Space Grotesk"/>
                <a:cs typeface="Space Grotesk"/>
              </a:rPr>
              <a:t>Decomposition</a:t>
            </a:r>
            <a:endParaRPr lang="en-US" sz="1600"/>
          </a:p>
        </p:txBody>
      </p:sp>
      <p:sp>
        <p:nvSpPr>
          <p:cNvPr id="134782742" name="Text 14"/>
          <p:cNvSpPr/>
          <p:nvPr/>
        </p:nvSpPr>
        <p:spPr bwMode="auto">
          <a:xfrm>
            <a:off x="1022350" y="4635500"/>
            <a:ext cx="3091408" cy="44450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3B4660"/>
                </a:solidFill>
                <a:latin typeface="IBM Plex Sans"/>
                <a:ea typeface="IBM Plex Sans"/>
                <a:cs typeface="IBM Plex Sans"/>
              </a:rPr>
              <a:t>Careful in the approach to be sure to be leakless</a:t>
            </a:r>
            <a:endParaRPr lang="en-US" sz="1200"/>
          </a:p>
        </p:txBody>
      </p:sp>
      <p:sp>
        <p:nvSpPr>
          <p:cNvPr id="1875601331" name="Shape 15"/>
          <p:cNvSpPr/>
          <p:nvPr/>
        </p:nvSpPr>
        <p:spPr bwMode="auto">
          <a:xfrm>
            <a:off x="4388842" y="3781425"/>
            <a:ext cx="3414216" cy="1479550"/>
          </a:xfrm>
          <a:prstGeom prst="roundRect">
            <a:avLst>
              <a:gd name="adj" fmla="val 6652"/>
            </a:avLst>
          </a:prstGeom>
          <a:solidFill>
            <a:srgbClr val="FFFDF8"/>
          </a:solidFill>
          <a:ln w="6350">
            <a:solidFill>
              <a:srgbClr val="E6E0D2"/>
            </a:solidFill>
            <a:prstDash val="solid"/>
          </a:ln>
        </p:spPr>
        <p:txBody>
          <a:bodyPr/>
          <a:lstStyle/>
          <a:p>
            <a:pPr>
              <a:defRPr/>
            </a:pPr>
            <a:endParaRPr lang="en-US"/>
          </a:p>
        </p:txBody>
      </p:sp>
      <p:pic>
        <p:nvPicPr>
          <p:cNvPr id="810776033" name="Image 4" descr="Activity"/>
          <p:cNvPicPr>
            <a:picLocks noChangeAspect="1"/>
          </p:cNvPicPr>
          <p:nvPr/>
        </p:nvPicPr>
        <p:blipFill rotWithShape="1">
          <a:blip r:embed="rId7"/>
          <a:stretch/>
        </p:blipFill>
        <p:spPr bwMode="auto">
          <a:xfrm>
            <a:off x="4595217" y="3987800"/>
            <a:ext cx="254000" cy="254000"/>
          </a:xfrm>
          <a:prstGeom prst="rect">
            <a:avLst/>
          </a:prstGeom>
        </p:spPr>
      </p:pic>
      <p:sp>
        <p:nvSpPr>
          <p:cNvPr id="57673235" name="Text 16"/>
          <p:cNvSpPr/>
          <p:nvPr/>
        </p:nvSpPr>
        <p:spPr bwMode="auto">
          <a:xfrm>
            <a:off x="4595217" y="4318000"/>
            <a:ext cx="3091510" cy="266700"/>
          </a:xfrm>
          <a:prstGeom prst="rect">
            <a:avLst/>
          </a:prstGeom>
          <a:noFill/>
          <a:ln/>
        </p:spPr>
        <p:txBody>
          <a:bodyPr wrap="square" lIns="0" tIns="0" rIns="0" bIns="0" rtlCol="0" anchor="t">
            <a:normAutofit/>
          </a:bodyPr>
          <a:lstStyle/>
          <a:p>
            <a:pPr marL="0" indent="0" algn="l">
              <a:lnSpc>
                <a:spcPts val="1920"/>
              </a:lnSpc>
              <a:buNone/>
              <a:defRPr/>
            </a:pPr>
            <a:r>
              <a:rPr lang="en-US" sz="1600" b="1">
                <a:solidFill>
                  <a:srgbClr val="14213D"/>
                </a:solidFill>
                <a:latin typeface="Space Grotesk"/>
                <a:ea typeface="Space Grotesk"/>
                <a:cs typeface="Space Grotesk"/>
              </a:rPr>
              <a:t>Forecasts</a:t>
            </a:r>
            <a:endParaRPr lang="en-US" sz="1600"/>
          </a:p>
        </p:txBody>
      </p:sp>
      <p:sp>
        <p:nvSpPr>
          <p:cNvPr id="255053743" name="Text 17"/>
          <p:cNvSpPr/>
          <p:nvPr/>
        </p:nvSpPr>
        <p:spPr bwMode="auto">
          <a:xfrm>
            <a:off x="4595217" y="4635500"/>
            <a:ext cx="3091510" cy="44450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3B4660"/>
                </a:solidFill>
                <a:latin typeface="IBM Plex Sans"/>
                <a:ea typeface="IBM Plex Sans"/>
                <a:cs typeface="IBM Plex Sans"/>
              </a:rPr>
              <a:t>Complex problem try feature engineering </a:t>
            </a:r>
            <a:endParaRPr lang="en-US" sz="1200"/>
          </a:p>
        </p:txBody>
      </p:sp>
      <p:sp>
        <p:nvSpPr>
          <p:cNvPr id="751190667" name="Shape 18"/>
          <p:cNvSpPr/>
          <p:nvPr/>
        </p:nvSpPr>
        <p:spPr bwMode="auto">
          <a:xfrm>
            <a:off x="7961809" y="3781425"/>
            <a:ext cx="3414117" cy="1479550"/>
          </a:xfrm>
          <a:prstGeom prst="roundRect">
            <a:avLst>
              <a:gd name="adj" fmla="val 6652"/>
            </a:avLst>
          </a:prstGeom>
          <a:solidFill>
            <a:srgbClr val="FFFDF8"/>
          </a:solidFill>
          <a:ln w="6350">
            <a:solidFill>
              <a:srgbClr val="E6E0D2"/>
            </a:solidFill>
            <a:prstDash val="solid"/>
          </a:ln>
        </p:spPr>
        <p:txBody>
          <a:bodyPr/>
          <a:lstStyle/>
          <a:p>
            <a:pPr>
              <a:defRPr/>
            </a:pPr>
            <a:endParaRPr lang="en-US"/>
          </a:p>
        </p:txBody>
      </p:sp>
      <p:pic>
        <p:nvPicPr>
          <p:cNvPr id="1694961153" name="Image 5" descr="Star"/>
          <p:cNvPicPr>
            <a:picLocks noChangeAspect="1"/>
          </p:cNvPicPr>
          <p:nvPr/>
        </p:nvPicPr>
        <p:blipFill rotWithShape="1">
          <a:blip r:embed="rId8"/>
          <a:stretch/>
        </p:blipFill>
        <p:spPr bwMode="auto">
          <a:xfrm>
            <a:off x="8168184" y="3987800"/>
            <a:ext cx="254000" cy="254000"/>
          </a:xfrm>
          <a:prstGeom prst="rect">
            <a:avLst/>
          </a:prstGeom>
        </p:spPr>
      </p:pic>
      <p:sp>
        <p:nvSpPr>
          <p:cNvPr id="1256960806" name="Text 19"/>
          <p:cNvSpPr/>
          <p:nvPr/>
        </p:nvSpPr>
        <p:spPr bwMode="auto">
          <a:xfrm>
            <a:off x="8168184" y="4318000"/>
            <a:ext cx="3091408" cy="266700"/>
          </a:xfrm>
          <a:prstGeom prst="rect">
            <a:avLst/>
          </a:prstGeom>
          <a:noFill/>
          <a:ln/>
        </p:spPr>
        <p:txBody>
          <a:bodyPr wrap="square" lIns="0" tIns="0" rIns="0" bIns="0" rtlCol="0" anchor="t">
            <a:normAutofit/>
          </a:bodyPr>
          <a:lstStyle/>
          <a:p>
            <a:pPr marL="0" indent="0" algn="l">
              <a:lnSpc>
                <a:spcPts val="1920"/>
              </a:lnSpc>
              <a:buNone/>
              <a:defRPr/>
            </a:pPr>
            <a:r>
              <a:rPr lang="en-US" sz="1600" b="1">
                <a:solidFill>
                  <a:srgbClr val="14213D"/>
                </a:solidFill>
                <a:latin typeface="Space Grotesk"/>
                <a:ea typeface="Space Grotesk"/>
                <a:cs typeface="Space Grotesk"/>
              </a:rPr>
              <a:t>Ranking</a:t>
            </a:r>
            <a:endParaRPr lang="en-US" sz="1600"/>
          </a:p>
        </p:txBody>
      </p:sp>
      <p:sp>
        <p:nvSpPr>
          <p:cNvPr id="116502478" name="Text 20"/>
          <p:cNvSpPr/>
          <p:nvPr/>
        </p:nvSpPr>
        <p:spPr bwMode="auto">
          <a:xfrm>
            <a:off x="8168184" y="4635500"/>
            <a:ext cx="3091408" cy="44450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3B4660"/>
                </a:solidFill>
                <a:latin typeface="IBM Plex Sans"/>
                <a:ea typeface="IBM Plex Sans"/>
                <a:cs typeface="IBM Plex Sans"/>
              </a:rPr>
              <a:t>Try different model and rank them by performance </a:t>
            </a:r>
            <a:endParaRPr lang="en-US" sz="1200"/>
          </a:p>
        </p:txBody>
      </p:sp>
      <p:sp>
        <p:nvSpPr>
          <p:cNvPr id="244950261" name="Text 22"/>
          <p:cNvSpPr/>
          <p:nvPr/>
        </p:nvSpPr>
        <p:spPr bwMode="auto">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D28D9"/>
                </a:solidFill>
                <a:latin typeface="IBM Plex Mono"/>
                <a:ea typeface="IBM Plex Mono"/>
                <a:cs typeface="IBM Plex Mono"/>
              </a:rPr>
              <a:t>39</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FBF8F1"/>
        </a:solidFill>
      </p:bgPr>
    </p:bg>
    <p:spTree>
      <p:nvGrpSpPr>
        <p:cNvPr id="1" name=""/>
        <p:cNvGrpSpPr/>
        <p:nvPr/>
      </p:nvGrpSpPr>
      <p:grpSpPr bwMode="auto">
        <a:xfrm>
          <a:off x="0" y="0"/>
          <a:ext cx="0" cy="0"/>
          <a:chOff x="0" y="0"/>
          <a:chExt cx="0" cy="0"/>
        </a:xfrm>
      </p:grpSpPr>
      <p:pic>
        <p:nvPicPr>
          <p:cNvPr id="1785394644" name="Image 0" descr="On a blue-to-pink gradient panel, the charge trace from the title slide: past shots, then a dashed forecast with its uncertainty band"/>
          <p:cNvPicPr>
            <a:picLocks noChangeAspect="1"/>
          </p:cNvPicPr>
          <p:nvPr/>
        </p:nvPicPr>
        <p:blipFill rotWithShape="1">
          <a:blip r:embed="rId3"/>
          <a:srcRect l="0" t="-10" r="0" b="-10"/>
          <a:stretch/>
        </p:blipFill>
        <p:spPr bwMode="auto">
          <a:xfrm>
            <a:off x="0" y="0"/>
            <a:ext cx="5715000" cy="6858000"/>
          </a:xfrm>
          <a:prstGeom prst="rect">
            <a:avLst/>
          </a:prstGeom>
        </p:spPr>
      </p:pic>
      <p:sp>
        <p:nvSpPr>
          <p:cNvPr id="237134646" name="Shape 0"/>
          <p:cNvSpPr/>
          <p:nvPr/>
        </p:nvSpPr>
        <p:spPr bwMode="auto">
          <a:xfrm>
            <a:off x="6527800" y="1717675"/>
            <a:ext cx="609600" cy="50800"/>
          </a:xfrm>
          <a:prstGeom prst="roundRect">
            <a:avLst>
              <a:gd name="adj" fmla="val 50000"/>
            </a:avLst>
          </a:prstGeom>
          <a:gradFill>
            <a:gsLst>
              <a:gs pos="0">
                <a:srgbClr val="1D4ED8"/>
              </a:gs>
              <a:gs pos="50000">
                <a:srgbClr val="6D28D9"/>
              </a:gs>
              <a:gs pos="100000">
                <a:srgbClr val="DB2777"/>
              </a:gs>
            </a:gsLst>
            <a:lin ang="0" scaled="0"/>
          </a:gradFill>
          <a:ln/>
        </p:spPr>
        <p:txBody>
          <a:bodyPr/>
          <a:lstStyle/>
          <a:p>
            <a:pPr>
              <a:defRPr/>
            </a:pPr>
            <a:endParaRPr lang="en-US"/>
          </a:p>
        </p:txBody>
      </p:sp>
      <p:sp>
        <p:nvSpPr>
          <p:cNvPr id="2073566443" name="Text 1"/>
          <p:cNvSpPr/>
          <p:nvPr/>
        </p:nvSpPr>
        <p:spPr bwMode="auto">
          <a:xfrm>
            <a:off x="6527800" y="1946275"/>
            <a:ext cx="4996942" cy="234950"/>
          </a:xfrm>
          <a:prstGeom prst="rect">
            <a:avLst/>
          </a:prstGeom>
          <a:noFill/>
          <a:ln/>
        </p:spPr>
        <p:txBody>
          <a:bodyPr wrap="square" lIns="0" tIns="0" rIns="0" bIns="0" rtlCol="0" anchor="t">
            <a:normAutofit/>
          </a:bodyPr>
          <a:lstStyle/>
          <a:p>
            <a:pPr marL="0" indent="0" algn="l">
              <a:lnSpc>
                <a:spcPts val="1680"/>
              </a:lnSpc>
              <a:buNone/>
              <a:defRPr/>
            </a:pPr>
            <a:r>
              <a:rPr lang="en-US" sz="1200" spc="150">
                <a:solidFill>
                  <a:srgbClr val="6D28D9"/>
                </a:solidFill>
                <a:latin typeface="IBM Plex Mono"/>
                <a:ea typeface="IBM Plex Mono"/>
                <a:cs typeface="IBM Plex Mono"/>
              </a:rPr>
              <a:t>THANK YOU</a:t>
            </a:r>
            <a:endParaRPr lang="en-US" sz="1200"/>
          </a:p>
        </p:txBody>
      </p:sp>
      <p:sp>
        <p:nvSpPr>
          <p:cNvPr id="1386025989" name="Text 2"/>
          <p:cNvSpPr>
            <a:spLocks noGrp="1"/>
          </p:cNvSpPr>
          <p:nvPr>
            <p:ph type="title"/>
          </p:nvPr>
        </p:nvSpPr>
        <p:spPr bwMode="auto">
          <a:xfrm>
            <a:off x="6527800" y="2333625"/>
            <a:ext cx="4996942" cy="129540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14213D"/>
                </a:solidFill>
                <a:latin typeface="Space Grotesk"/>
                <a:ea typeface="Space Grotesk"/>
                <a:cs typeface="Space Grotesk"/>
              </a:rPr>
              <a:t>Let's predict the </a:t>
            </a:r>
            <a:r>
              <a:rPr lang="en-US" sz="4800" b="1" i="0">
                <a:solidFill>
                  <a:srgbClr val="BE185D"/>
                </a:solidFill>
                <a:latin typeface="Space Grotesk"/>
                <a:ea typeface="Space Grotesk"/>
                <a:cs typeface="Space Grotesk"/>
              </a:rPr>
              <a:t>next shot</a:t>
            </a:r>
            <a:endParaRPr lang="en-US" sz="4800"/>
          </a:p>
        </p:txBody>
      </p:sp>
      <p:sp>
        <p:nvSpPr>
          <p:cNvPr id="1667603304" name="Text 4"/>
          <p:cNvSpPr/>
          <p:nvPr/>
        </p:nvSpPr>
        <p:spPr bwMode="auto">
          <a:xfrm>
            <a:off x="6527800" y="4238625"/>
            <a:ext cx="4996942" cy="30480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4213D"/>
                </a:solidFill>
                <a:latin typeface="IBM Plex Sans"/>
                <a:ea typeface="IBM Plex Sans"/>
                <a:cs typeface="IBM Plex Sans"/>
              </a:rPr>
              <a:t>Antonio Gilardi</a:t>
            </a:r>
            <a:endParaRPr lang="en-US" sz="1600"/>
          </a:p>
        </p:txBody>
      </p:sp>
      <p:sp>
        <p:nvSpPr>
          <p:cNvPr id="206547700" name="Text 5"/>
          <p:cNvSpPr/>
          <p:nvPr/>
        </p:nvSpPr>
        <p:spPr bwMode="auto">
          <a:xfrm>
            <a:off x="6527800" y="4543425"/>
            <a:ext cx="4996942" cy="23495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5A6478"/>
                </a:solidFill>
                <a:latin typeface="IBM Plex Mono"/>
                <a:ea typeface="IBM Plex Mono"/>
                <a:cs typeface="IBM Plex Mono"/>
              </a:rPr>
              <a:t>antonio.gilardi@cern.ch</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Forecasting the CLEAR Beam Charge">
  <a:themeElements>
    <a:clrScheme name="Forecasting the CLEAR Beam Charge">
      <a:dk1>
        <a:srgbClr val="14213D"/>
      </a:dk1>
      <a:lt1>
        <a:srgbClr val="FBF8F1"/>
      </a:lt1>
      <a:dk2>
        <a:srgbClr val="4E576A"/>
      </a:dk2>
      <a:lt2>
        <a:srgbClr val="E4E3DF"/>
      </a:lt2>
      <a:accent1>
        <a:srgbClr val="6D28D9"/>
      </a:accent1>
      <a:accent2>
        <a:srgbClr val="1D4ED8"/>
      </a:accent2>
      <a:accent3>
        <a:srgbClr val="DB2777"/>
      </a:accent3>
      <a:accent4>
        <a:srgbClr val="BE185D"/>
      </a:accent4>
      <a:accent5>
        <a:srgbClr val="0F766E"/>
      </a:accent5>
      <a:accent6>
        <a:srgbClr val="C2410C"/>
      </a:accent6>
      <a:hlink>
        <a:srgbClr val="0563C1"/>
      </a:hlink>
      <a:folHlink>
        <a:srgbClr val="954F72"/>
      </a:folHlink>
    </a:clrScheme>
    <a:fontScheme name="Forecasting the CLEAR Beam Charge">
      <a:majorFont>
        <a:latin typeface="Space Grotesk"/>
        <a:ea typeface="Arial"/>
        <a:cs typeface="Arial"/>
      </a:majorFont>
      <a:minorFont>
        <a:latin typeface="IBM Plex Mono"/>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23</Slides>
  <Notes>23</Notes>
  <HiddenSlides>0</HiddenSlides>
  <MMClips>2</MMClips>
  <ScaleCrop>0</ScaleCrop>
  <HeadingPairs>
    <vt:vector size="4" baseType="variant">
      <vt:variant>
        <vt:lpstr>Theme</vt:lpstr>
      </vt:variant>
      <vt:variant>
        <vt:i4>1</vt:i4>
      </vt:variant>
      <vt:variant>
        <vt:lpstr>Slide Titles</vt:lpstr>
      </vt:variant>
      <vt:variant>
        <vt:i4>23</vt:i4>
      </vt:variant>
    </vt:vector>
  </HeadingPairs>
  <TitlesOfParts>
    <vt:vector size="2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the CLEAR Beam Charge</dc:title>
  <dc:subject/>
  <dc:creator/>
  <cp:lastModifiedBy/>
  <cp:revision>14</cp:revision>
  <dcterms:created xsi:type="dcterms:W3CDTF">2026-10-11T10:46:20Z</dcterms:created>
  <dcterms:modified xsi:type="dcterms:W3CDTF">2026-10-15T13:15:25Z</dcterms:modified>
</cp:coreProperties>
</file>