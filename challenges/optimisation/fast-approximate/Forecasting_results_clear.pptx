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12192000"/>
  <p:notesSz cx="6858000" cy="12192000"/>
  <p:embeddedFontLst>
    <p:embeddedFont>
      <p:font typeface="IBM Plex Sans"/>
      <p:regular r:id="rId35"/>
      <p:bold r:id="rId36"/>
      <p:italic r:id="rId37"/>
      <p:boldItalic r:id="rId38"/>
    </p:embeddedFont>
    <p:embeddedFont>
      <p:font typeface="IBM Plex Mono"/>
      <p:regular r:id="rId39"/>
      <p:bold r:id="rId40"/>
      <p:italic r:id="rId41"/>
      <p:boldItalic r:id="rId42"/>
    </p:embeddedFont>
    <p:embeddedFont>
      <p:font typeface="Space Grotesk"/>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000000"/>
          </p15:clr>
        </p15:guide>
        <p15:guide id="2" orient="horz" pos="2160">
          <p15:clr>
            <a:srgbClr val="000000"/>
          </p15:clr>
        </p15:guide>
      </p15:sldGuideLst>
    </p:ext>
    <p:ext uri="GoogleSlidesCustomDataVersion2">
      <go:slidesCustomData xmlns:go="http://customooxmlschemas.google.com/" r:id="rId45" roundtripDataSignature="AMtx7mijk5Pdo3rO0EqNUyT/NWuAMFA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2CE20D-767B-464B-9DCB-EA9EB6AF2ED4}">
  <a:tblStyle styleId="{112CE20D-767B-464B-9DCB-EA9EB6AF2ED4}" styleName="Table_0">
    <a:wholeTbl>
      <a:tcTxStyle b="off" i="off">
        <a:font>
          <a:latin typeface="IBM Plex Mono"/>
          <a:ea typeface="IBM Plex Mono"/>
          <a:cs typeface="IBM Plex Mono"/>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AE7F8"/>
          </a:solidFill>
        </a:fill>
      </a:tcStyle>
    </a:wholeTbl>
    <a:band1H>
      <a:tcTxStyle/>
      <a:tcStyle>
        <a:fill>
          <a:solidFill>
            <a:srgbClr val="D3CBF1"/>
          </a:solidFill>
        </a:fill>
      </a:tcStyle>
    </a:band1H>
    <a:band2H>
      <a:tcTxStyle/>
    </a:band2H>
    <a:band1V>
      <a:tcTxStyle/>
      <a:tcStyle>
        <a:fill>
          <a:solidFill>
            <a:srgbClr val="D3CBF1"/>
          </a:solidFill>
        </a:fill>
      </a:tcStyle>
    </a:band1V>
    <a:band2V>
      <a:tcTxStyle/>
    </a:band2V>
    <a:lastCol>
      <a:tcTxStyle b="on" i="off">
        <a:font>
          <a:latin typeface="IBM Plex Mono"/>
          <a:ea typeface="IBM Plex Mono"/>
          <a:cs typeface="IBM Plex Mono"/>
        </a:font>
        <a:schemeClr val="lt1"/>
      </a:tcTxStyle>
      <a:tcStyle>
        <a:fill>
          <a:solidFill>
            <a:schemeClr val="accent1"/>
          </a:solidFill>
        </a:fill>
      </a:tcStyle>
    </a:lastCol>
    <a:firstCol>
      <a:tcTxStyle b="on" i="off">
        <a:font>
          <a:latin typeface="IBM Plex Mono"/>
          <a:ea typeface="IBM Plex Mono"/>
          <a:cs typeface="IBM Plex Mono"/>
        </a:font>
        <a:schemeClr val="lt1"/>
      </a:tcTxStyle>
      <a:tcStyle>
        <a:fill>
          <a:solidFill>
            <a:schemeClr val="accent1"/>
          </a:solidFill>
        </a:fill>
      </a:tcStyle>
    </a:firstCol>
    <a:lastRow>
      <a:tcTxStyle b="on" i="off">
        <a:font>
          <a:latin typeface="IBM Plex Mono"/>
          <a:ea typeface="IBM Plex Mono"/>
          <a:cs typeface="IBM Plex Mono"/>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IBM Plex Mono"/>
          <a:ea typeface="IBM Plex Mono"/>
          <a:cs typeface="IBM Plex Mono"/>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8D058665-8FE9-45B2-BE9A-A264AC7DD316}"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Mono-bold.fntdata"/><Relationship Id="rId20" Type="http://schemas.openxmlformats.org/officeDocument/2006/relationships/slide" Target="slides/slide14.xml"/><Relationship Id="rId42" Type="http://schemas.openxmlformats.org/officeDocument/2006/relationships/font" Target="fonts/IBMPlexMono-boldItalic.fntdata"/><Relationship Id="rId41" Type="http://schemas.openxmlformats.org/officeDocument/2006/relationships/font" Target="fonts/IBMPlexMono-italic.fntdata"/><Relationship Id="rId22" Type="http://schemas.openxmlformats.org/officeDocument/2006/relationships/slide" Target="slides/slide16.xml"/><Relationship Id="rId44" Type="http://schemas.openxmlformats.org/officeDocument/2006/relationships/font" Target="fonts/SpaceGrotesk-bold.fntdata"/><Relationship Id="rId21" Type="http://schemas.openxmlformats.org/officeDocument/2006/relationships/slide" Target="slides/slide15.xml"/><Relationship Id="rId43" Type="http://schemas.openxmlformats.org/officeDocument/2006/relationships/font" Target="fonts/SpaceGrotesk-regular.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IBMPlexSans-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IBMPlexSans-italic.fntdata"/><Relationship Id="rId14" Type="http://schemas.openxmlformats.org/officeDocument/2006/relationships/slide" Target="slides/slide8.xml"/><Relationship Id="rId36" Type="http://schemas.openxmlformats.org/officeDocument/2006/relationships/font" Target="fonts/IBMPlexSans-bold.fntdata"/><Relationship Id="rId17" Type="http://schemas.openxmlformats.org/officeDocument/2006/relationships/slide" Target="slides/slide11.xml"/><Relationship Id="rId39" Type="http://schemas.openxmlformats.org/officeDocument/2006/relationships/font" Target="fonts/IBMPlexMono-regular.fntdata"/><Relationship Id="rId16" Type="http://schemas.openxmlformats.org/officeDocument/2006/relationships/slide" Target="slides/slide10.xml"/><Relationship Id="rId38" Type="http://schemas.openxmlformats.org/officeDocument/2006/relationships/font" Target="fonts/IBMPlex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 name="Google Shape;1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Welcome. This is the forecasting part of the optimisation challenge, on real data from CLEAR at CERN. The picture is the whole story: the beam charge jitters and drifts shot by shot, sometimes drops out, and the question is whether we can see where it goes next.</a:t>
            </a:r>
            <a:endParaRPr b="0" i="0" sz="1200" u="none" cap="none" strike="noStrike">
              <a:solidFill>
                <a:schemeClr val="dk1"/>
              </a:solidFill>
              <a:latin typeface="Arial"/>
              <a:ea typeface="Arial"/>
              <a:cs typeface="Arial"/>
              <a:sym typeface="Arial"/>
            </a:endParaRPr>
          </a:p>
        </p:txBody>
      </p:sp>
      <p:sp>
        <p:nvSpPr>
          <p:cNvPr id="15" name="Google Shape;15;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 name="Google Shape;3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The parent challenge asks how to find the best settings. This one adds time: how will the beam behave next? Three steps, which are also the three tiers. First understand the data. Then a virtual diagnostic: the charge of a shot from the other signals of the same shot. Then forecasting: the charge of the next shot, or several shots ahead, from the past only. The long-term goal is to put the forecast inside a controller, which brings us back to optimisation. And if a team gets extremely promising results, we can ask for real beam time to test it on CLEAR.</a:t>
            </a:r>
            <a:endParaRPr b="0" i="0" sz="1200" u="none" cap="none" strike="noStrike">
              <a:solidFill>
                <a:schemeClr val="dk1"/>
              </a:solidFill>
              <a:latin typeface="Arial"/>
              <a:ea typeface="Arial"/>
              <a:cs typeface="Arial"/>
              <a:sym typeface="Arial"/>
            </a:endParaRPr>
          </a:p>
        </p:txBody>
      </p:sp>
      <p:sp>
        <p:nvSpPr>
          <p:cNvPr id="32" name="Google Shape;3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h6524a41718b72fa9_0_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63" name="Google Shape;63;h6524a41718b72fa9_0_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6524a41718b72fa9_0_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 name="Google Shape;70;h6524a41718b72fa9_0_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Medium is the virtual diagnostic: infer the charge of a shot from the other signals of that same shot, without using any charge. Compare at least a linear model, a tree ensemble and a neural network, and show what drives each one: does it agree with your correlation study? Then the interesting part: train on one run and test on another, across days or across regimes. How much does it degrade, and which features stop transferring?</a:t>
            </a:r>
            <a:endParaRPr b="0" i="0" sz="1200" u="none" cap="none" strike="noStrike">
              <a:solidFill>
                <a:schemeClr val="dk1"/>
              </a:solidFill>
              <a:latin typeface="Arial"/>
              <a:ea typeface="Arial"/>
              <a:cs typeface="Arial"/>
              <a:sym typeface="Arial"/>
            </a:endParaRPr>
          </a:p>
        </p:txBody>
      </p:sp>
      <p:sp>
        <p:nvSpPr>
          <p:cNvPr id="71" name="Google Shape;71;h6524a41718b72fa9_0_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87" name="Google Shape;8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01" name="Google Shape;10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17" name="Google Shape;11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29" name="Google Shape;12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44" name="Google Shape;14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58" name="Google Shape;15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Medium is the virtual diagnostic: infer the charge of a shot from the other signals of that same shot, without using any charge. Compare at least a linear model, a tree ensemble and a neural network, and show what drives each one: does it agree with your correlation study? Then the interesting part: train on one run and test on another, across days or across regimes. How much does it degrade, and which features stop transferring?</a:t>
            </a:r>
            <a:endParaRPr b="0" i="0" sz="1200" u="none" cap="none" strike="noStrike">
              <a:solidFill>
                <a:schemeClr val="dk1"/>
              </a:solidFill>
              <a:latin typeface="Arial"/>
              <a:ea typeface="Arial"/>
              <a:cs typeface="Arial"/>
              <a:sym typeface="Arial"/>
            </a:endParaRPr>
          </a:p>
        </p:txBody>
      </p:sp>
      <p:sp>
        <p:nvSpPr>
          <p:cNvPr id="172" name="Google Shape;17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88" name="Google Shape;18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6524a41718b72fa9_1_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h6524a41718b72fa9_1_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h6524a41718b72fa9_1_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h6524a41718b72fa9_1_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10" name="Google Shape;210;h6524a41718b72fa9_1_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h6524a41718b72fa9_1_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h6524a41718b72fa9_1_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22" name="Google Shape;222;h6524a41718b72fa9_1_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34" name="Google Shape;2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h6524a41718b72fa9_0_38: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h6524a41718b72fa9_0_38: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54" name="Google Shape;25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Hard is forecasting: predict the charge of future shots from everything known up to now. First beat the rolling mean, which is not trivial. Then beat the notebook's XGBoost on lag features. Go multi-step and find the horizon where your model stops beating the rolling mean. Use at least one model built for sequences. And tell us where the forecast comes from: the charge's own history, or the machine.</a:t>
            </a:r>
            <a:endParaRPr b="0" i="0" sz="1200" u="none" cap="none" strike="noStrike">
              <a:solidFill>
                <a:schemeClr val="dk1"/>
              </a:solidFill>
              <a:latin typeface="Arial"/>
              <a:ea typeface="Arial"/>
              <a:cs typeface="Arial"/>
              <a:sym typeface="Arial"/>
            </a:endParaRPr>
          </a:p>
        </p:txBody>
      </p:sp>
      <p:sp>
        <p:nvSpPr>
          <p:cNvPr id="267" name="Google Shape;267;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83" name="Google Shape;283;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h6524a41718b72fa9_1_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h6524a41718b72fa9_1_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98" name="Google Shape;298;h6524a41718b72fa9_1_4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310" name="Google Shape;310;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326" name="Google Shape;326;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h6524a41718b72fa9_1_6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h6524a41718b72fa9_1_6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337" name="Google Shape;337;h6524a41718b72fa9_1_6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That is the challenge: understand the data, infer the charge, then try to predict the next shot. Questions now, or any time during the week: find me at the Tuesday hands-on session or the Wednesday check-in.</a:t>
            </a:r>
            <a:endParaRPr b="0" i="0" sz="1200" u="none" cap="none" strike="noStrike">
              <a:solidFill>
                <a:schemeClr val="dk1"/>
              </a:solidFill>
              <a:latin typeface="Arial"/>
              <a:ea typeface="Arial"/>
              <a:cs typeface="Arial"/>
              <a:sym typeface="Arial"/>
            </a:endParaRPr>
          </a:p>
        </p:txBody>
      </p:sp>
      <p:sp>
        <p:nvSpPr>
          <p:cNvPr id="347" name="Google Shape;347;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358" name="Google Shape;35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375" name="Google Shape;375;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389" name="Google Shape;389;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BF8F1"/>
        </a:solidFill>
      </p:bgPr>
    </p:bg>
    <p:spTree>
      <p:nvGrpSpPr>
        <p:cNvPr id="8" name="Shape 8"/>
        <p:cNvGrpSpPr/>
        <p:nvPr/>
      </p:nvGrpSpPr>
      <p:grpSpPr>
        <a:xfrm>
          <a:off x="0" y="0"/>
          <a:ext cx="0" cy="0"/>
          <a:chOff x="0" y="0"/>
          <a:chExt cx="0" cy="0"/>
        </a:xfrm>
      </p:grpSpPr>
      <p:sp>
        <p:nvSpPr>
          <p:cNvPr id="9" name="Google Shape;9;p25"/>
          <p:cNvSpPr txBox="1"/>
          <p:nvPr>
            <p:ph type="title"/>
          </p:nvPr>
        </p:nvSpPr>
        <p:spPr>
          <a:xfrm>
            <a:off x="812800" y="1123950"/>
            <a:ext cx="10566400" cy="501650"/>
          </a:xfrm>
          <a:prstGeom prst="rect">
            <a:avLst/>
          </a:prstGeom>
          <a:noFill/>
          <a:ln>
            <a:noFill/>
          </a:ln>
        </p:spPr>
        <p:txBody>
          <a:bodyPr anchorCtr="0" anchor="t" bIns="0" lIns="0" spcFirstLastPara="1" rIns="0" wrap="square" tIns="0">
            <a:noAutofit/>
          </a:bodyPr>
          <a:lstStyle>
            <a:lvl1pPr lvl="0" algn="l">
              <a:lnSpc>
                <a:spcPct val="114999"/>
              </a:lnSpc>
              <a:spcBef>
                <a:spcPts val="0"/>
              </a:spcBef>
              <a:spcAft>
                <a:spcPts val="0"/>
              </a:spcAft>
              <a:buClr>
                <a:srgbClr val="14213D"/>
              </a:buClr>
              <a:buSzPts val="3600"/>
              <a:buFont typeface="Space Grotesk"/>
              <a:buNone/>
              <a:defRPr sz="3600">
                <a:solidFill>
                  <a:srgbClr val="14213D"/>
                </a:solidFill>
                <a:latin typeface="Space Grotesk"/>
                <a:ea typeface="Space Grotesk"/>
                <a:cs typeface="Space Grotesk"/>
                <a:sym typeface="Space Grotes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 name="Google Shape;10;p25"/>
          <p:cNvSpPr txBox="1"/>
          <p:nvPr>
            <p:ph idx="1" type="body"/>
          </p:nvPr>
        </p:nvSpPr>
        <p:spPr>
          <a:xfrm>
            <a:off x="812800" y="1930400"/>
            <a:ext cx="10566400" cy="41148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rgbClr val="14213D"/>
              </a:buClr>
              <a:buSzPts val="1600"/>
              <a:buNone/>
              <a:defRPr sz="1600">
                <a:solidFill>
                  <a:srgbClr val="14213D"/>
                </a:solidFill>
                <a:latin typeface="IBM Plex Mono"/>
                <a:ea typeface="IBM Plex Mono"/>
                <a:cs typeface="IBM Plex Mono"/>
                <a:sym typeface="IBM Plex Mono"/>
              </a:defRPr>
            </a:lvl1pPr>
            <a:lvl2pPr indent="-342900" lvl="1" marL="914400" algn="l">
              <a:spcBef>
                <a:spcPts val="0"/>
              </a:spcBef>
              <a:spcAft>
                <a:spcPts val="0"/>
              </a:spcAft>
              <a:buClr>
                <a:schemeClr val="dk1"/>
              </a:buClr>
              <a:buSzPts val="1800"/>
              <a:buChar char="–"/>
              <a:defRPr/>
            </a:lvl2pPr>
            <a:lvl3pPr indent="-342900" lvl="2" marL="1371600" algn="l">
              <a:spcBef>
                <a:spcPts val="0"/>
              </a:spcBef>
              <a:spcAft>
                <a:spcPts val="0"/>
              </a:spcAft>
              <a:buClr>
                <a:schemeClr val="dk1"/>
              </a:buClr>
              <a:buSzPts val="1800"/>
              <a:buChar char="•"/>
              <a:defRPr/>
            </a:lvl3pPr>
            <a:lvl4pPr indent="-342900" lvl="3" marL="1828800" algn="l">
              <a:spcBef>
                <a:spcPts val="0"/>
              </a:spcBef>
              <a:spcAft>
                <a:spcPts val="0"/>
              </a:spcAft>
              <a:buClr>
                <a:schemeClr val="dk1"/>
              </a:buClr>
              <a:buSzPts val="1800"/>
              <a:buChar char="–"/>
              <a:defRPr/>
            </a:lvl4pPr>
            <a:lvl5pPr indent="-342900" lvl="4" marL="2286000" algn="l">
              <a:spcBef>
                <a:spcPts val="0"/>
              </a:spcBef>
              <a:spcAft>
                <a:spcPts val="0"/>
              </a:spcAft>
              <a:buClr>
                <a:schemeClr val="dk1"/>
              </a:buClr>
              <a:buSzPts val="1800"/>
              <a:buChar char="»"/>
              <a:defRPr/>
            </a:lvl5pPr>
            <a:lvl6pPr indent="-342900" lvl="5" marL="2743200" algn="l">
              <a:spcBef>
                <a:spcPts val="0"/>
              </a:spcBef>
              <a:spcAft>
                <a:spcPts val="0"/>
              </a:spcAft>
              <a:buClr>
                <a:schemeClr val="dk1"/>
              </a:buClr>
              <a:buSzPts val="1800"/>
              <a:buChar char="•"/>
              <a:defRPr/>
            </a:lvl6pPr>
            <a:lvl7pPr indent="-342900" lvl="6" marL="3200400" algn="l">
              <a:spcBef>
                <a:spcPts val="0"/>
              </a:spcBef>
              <a:spcAft>
                <a:spcPts val="0"/>
              </a:spcAft>
              <a:buClr>
                <a:schemeClr val="dk1"/>
              </a:buClr>
              <a:buSzPts val="1800"/>
              <a:buChar char="•"/>
              <a:defRPr/>
            </a:lvl7pPr>
            <a:lvl8pPr indent="-342900" lvl="7" marL="3657600" algn="l">
              <a:spcBef>
                <a:spcPts val="0"/>
              </a:spcBef>
              <a:spcAft>
                <a:spcPts val="0"/>
              </a:spcAft>
              <a:buClr>
                <a:schemeClr val="dk1"/>
              </a:buClr>
              <a:buSzPts val="1800"/>
              <a:buChar char="•"/>
              <a:defRPr/>
            </a:lvl8pPr>
            <a:lvl9pPr indent="-342900" lvl="8" marL="4114800" algn="l">
              <a:spcBef>
                <a:spcPts val="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812800" y="1123950"/>
            <a:ext cx="10566400" cy="501650"/>
          </a:xfrm>
          <a:prstGeom prst="rect">
            <a:avLst/>
          </a:prstGeom>
          <a:noFill/>
          <a:ln>
            <a:noFill/>
          </a:ln>
        </p:spPr>
        <p:txBody>
          <a:bodyPr anchorCtr="0" anchor="t" bIns="0" lIns="0" spcFirstLastPara="1" rIns="0" wrap="square" tIns="0">
            <a:noAutofit/>
          </a:bodyPr>
          <a:lstStyle>
            <a:lvl1pPr lvl="0" marR="0" rtl="0" algn="l">
              <a:lnSpc>
                <a:spcPct val="114999"/>
              </a:lnSpc>
              <a:spcBef>
                <a:spcPts val="0"/>
              </a:spcBef>
              <a:spcAft>
                <a:spcPts val="0"/>
              </a:spcAft>
              <a:buClr>
                <a:srgbClr val="14213D"/>
              </a:buClr>
              <a:buSzPts val="3600"/>
              <a:buFont typeface="Space Grotesk"/>
              <a:buNone/>
              <a:defRPr b="0" i="0" sz="3600" u="none" cap="none" strike="noStrike">
                <a:solidFill>
                  <a:srgbClr val="14213D"/>
                </a:solidFill>
                <a:latin typeface="Space Grotesk"/>
                <a:ea typeface="Space Grotesk"/>
                <a:cs typeface="Space Grotesk"/>
                <a:sym typeface="Space Grotes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4"/>
          <p:cNvSpPr txBox="1"/>
          <p:nvPr>
            <p:ph idx="1" type="body"/>
          </p:nvPr>
        </p:nvSpPr>
        <p:spPr>
          <a:xfrm>
            <a:off x="812800" y="1930400"/>
            <a:ext cx="10566400" cy="411480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0"/>
              </a:spcBef>
              <a:spcAft>
                <a:spcPts val="0"/>
              </a:spcAft>
              <a:buClr>
                <a:srgbClr val="14213D"/>
              </a:buClr>
              <a:buSzPts val="1600"/>
              <a:buFont typeface="Arial"/>
              <a:buNone/>
              <a:defRPr b="0" i="0" sz="1600" u="none" cap="none" strike="noStrike">
                <a:solidFill>
                  <a:srgbClr val="14213D"/>
                </a:solidFill>
                <a:latin typeface="IBM Plex Mono"/>
                <a:ea typeface="IBM Plex Mono"/>
                <a:cs typeface="IBM Plex Mono"/>
                <a:sym typeface="IBM Plex Mono"/>
              </a:defRPr>
            </a:lvl1pPr>
            <a:lvl2pPr indent="-406400" lvl="1" marL="914400" marR="0" rtl="0" algn="l">
              <a:spcBef>
                <a:spcPts val="0"/>
              </a:spcBef>
              <a:spcAft>
                <a:spcPts val="0"/>
              </a:spcAft>
              <a:buClr>
                <a:schemeClr val="dk1"/>
              </a:buClr>
              <a:buSzPts val="2800"/>
              <a:buFont typeface="Arial"/>
              <a:buChar char="–"/>
              <a:defRPr b="0" i="0" sz="2800" u="none" cap="none" strike="noStrike">
                <a:solidFill>
                  <a:schemeClr val="dk1"/>
                </a:solidFill>
                <a:latin typeface="IBM Plex Mono"/>
                <a:ea typeface="IBM Plex Mono"/>
                <a:cs typeface="IBM Plex Mono"/>
                <a:sym typeface="IBM Plex Mono"/>
              </a:defRPr>
            </a:lvl2pPr>
            <a:lvl3pPr indent="-381000" lvl="2" marL="1371600" marR="0" rtl="0" algn="l">
              <a:spcBef>
                <a:spcPts val="0"/>
              </a:spcBef>
              <a:spcAft>
                <a:spcPts val="0"/>
              </a:spcAft>
              <a:buClr>
                <a:schemeClr val="dk1"/>
              </a:buClr>
              <a:buSzPts val="2400"/>
              <a:buFont typeface="Arial"/>
              <a:buChar char="•"/>
              <a:defRPr b="0" i="0" sz="2400" u="none" cap="none" strike="noStrike">
                <a:solidFill>
                  <a:schemeClr val="dk1"/>
                </a:solidFill>
                <a:latin typeface="IBM Plex Mono"/>
                <a:ea typeface="IBM Plex Mono"/>
                <a:cs typeface="IBM Plex Mono"/>
                <a:sym typeface="IBM Plex Mono"/>
              </a:defRPr>
            </a:lvl3pPr>
            <a:lvl4pPr indent="-355600" lvl="3" marL="1828800" marR="0" rtl="0" algn="l">
              <a:spcBef>
                <a:spcPts val="0"/>
              </a:spcBef>
              <a:spcAft>
                <a:spcPts val="0"/>
              </a:spcAft>
              <a:buClr>
                <a:schemeClr val="dk1"/>
              </a:buClr>
              <a:buSzPts val="2000"/>
              <a:buFont typeface="Arial"/>
              <a:buChar char="–"/>
              <a:defRPr b="0" i="0" sz="2000" u="none" cap="none" strike="noStrike">
                <a:solidFill>
                  <a:schemeClr val="dk1"/>
                </a:solidFill>
                <a:latin typeface="IBM Plex Mono"/>
                <a:ea typeface="IBM Plex Mono"/>
                <a:cs typeface="IBM Plex Mono"/>
                <a:sym typeface="IBM Plex Mono"/>
              </a:defRPr>
            </a:lvl4pPr>
            <a:lvl5pPr indent="-355600" lvl="4" marL="2286000" marR="0" rtl="0" algn="l">
              <a:spcBef>
                <a:spcPts val="0"/>
              </a:spcBef>
              <a:spcAft>
                <a:spcPts val="0"/>
              </a:spcAft>
              <a:buClr>
                <a:schemeClr val="dk1"/>
              </a:buClr>
              <a:buSzPts val="2000"/>
              <a:buFont typeface="Arial"/>
              <a:buChar char="»"/>
              <a:defRPr b="0" i="0" sz="2000" u="none" cap="none" strike="noStrike">
                <a:solidFill>
                  <a:schemeClr val="dk1"/>
                </a:solidFill>
                <a:latin typeface="IBM Plex Mono"/>
                <a:ea typeface="IBM Plex Mono"/>
                <a:cs typeface="IBM Plex Mono"/>
                <a:sym typeface="IBM Plex Mono"/>
              </a:defRPr>
            </a:lvl5pPr>
            <a:lvl6pPr indent="-355600" lvl="5" marL="2743200" marR="0" rtl="0" algn="l">
              <a:spcBef>
                <a:spcPts val="0"/>
              </a:spcBef>
              <a:spcAft>
                <a:spcPts val="0"/>
              </a:spcAft>
              <a:buClr>
                <a:schemeClr val="dk1"/>
              </a:buClr>
              <a:buSzPts val="2000"/>
              <a:buFont typeface="Arial"/>
              <a:buChar char="•"/>
              <a:defRPr b="0" i="0" sz="2000" u="none" cap="none" strike="noStrike">
                <a:solidFill>
                  <a:schemeClr val="dk1"/>
                </a:solidFill>
                <a:latin typeface="IBM Plex Mono"/>
                <a:ea typeface="IBM Plex Mono"/>
                <a:cs typeface="IBM Plex Mono"/>
                <a:sym typeface="IBM Plex Mono"/>
              </a:defRPr>
            </a:lvl6pPr>
            <a:lvl7pPr indent="-355600" lvl="6" marL="3200400" marR="0" rtl="0" algn="l">
              <a:spcBef>
                <a:spcPts val="0"/>
              </a:spcBef>
              <a:spcAft>
                <a:spcPts val="0"/>
              </a:spcAft>
              <a:buClr>
                <a:schemeClr val="dk1"/>
              </a:buClr>
              <a:buSzPts val="2000"/>
              <a:buFont typeface="Arial"/>
              <a:buChar char="•"/>
              <a:defRPr b="0" i="0" sz="2000" u="none" cap="none" strike="noStrike">
                <a:solidFill>
                  <a:schemeClr val="dk1"/>
                </a:solidFill>
                <a:latin typeface="IBM Plex Mono"/>
                <a:ea typeface="IBM Plex Mono"/>
                <a:cs typeface="IBM Plex Mono"/>
                <a:sym typeface="IBM Plex Mono"/>
              </a:defRPr>
            </a:lvl7pPr>
            <a:lvl8pPr indent="-355600" lvl="7" marL="3657600" marR="0" rtl="0" algn="l">
              <a:spcBef>
                <a:spcPts val="0"/>
              </a:spcBef>
              <a:spcAft>
                <a:spcPts val="0"/>
              </a:spcAft>
              <a:buClr>
                <a:schemeClr val="dk1"/>
              </a:buClr>
              <a:buSzPts val="2000"/>
              <a:buFont typeface="Arial"/>
              <a:buChar char="•"/>
              <a:defRPr b="0" i="0" sz="2000" u="none" cap="none" strike="noStrike">
                <a:solidFill>
                  <a:schemeClr val="dk1"/>
                </a:solidFill>
                <a:latin typeface="IBM Plex Mono"/>
                <a:ea typeface="IBM Plex Mono"/>
                <a:cs typeface="IBM Plex Mono"/>
                <a:sym typeface="IBM Plex Mono"/>
              </a:defRPr>
            </a:lvl8pPr>
            <a:lvl9pPr indent="-355600" lvl="8" marL="4114800" marR="0" rtl="0" algn="l">
              <a:spcBef>
                <a:spcPts val="0"/>
              </a:spcBef>
              <a:spcAft>
                <a:spcPts val="0"/>
              </a:spcAft>
              <a:buClr>
                <a:schemeClr val="dk1"/>
              </a:buClr>
              <a:buSzPts val="2000"/>
              <a:buFont typeface="Arial"/>
              <a:buChar char="•"/>
              <a:defRPr b="0" i="0" sz="2000" u="none" cap="none" strike="noStrike">
                <a:solidFill>
                  <a:schemeClr val="dk1"/>
                </a:solidFill>
                <a:latin typeface="IBM Plex Mono"/>
                <a:ea typeface="IBM Plex Mono"/>
                <a:cs typeface="IBM Plex Mono"/>
                <a:sym typeface="IBM Plex Mon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1"/>
        </a:solidFill>
      </p:bgPr>
    </p:bg>
    <p:spTree>
      <p:nvGrpSpPr>
        <p:cNvPr id="16" name="Shape 16"/>
        <p:cNvGrpSpPr/>
        <p:nvPr/>
      </p:nvGrpSpPr>
      <p:grpSpPr>
        <a:xfrm>
          <a:off x="0" y="0"/>
          <a:ext cx="0" cy="0"/>
          <a:chOff x="0" y="0"/>
          <a:chExt cx="0" cy="0"/>
        </a:xfrm>
      </p:grpSpPr>
      <p:pic>
        <p:nvPicPr>
          <p:cNvPr descr="On a blue-to-pink gradient panel: a jittering, drifting charge trace over past shots, with one dropout, then a dashed forecast with a widening uncertainty band after the present shot" id="17" name="Google Shape;17;p1"/>
          <p:cNvPicPr preferRelativeResize="0"/>
          <p:nvPr/>
        </p:nvPicPr>
        <p:blipFill rotWithShape="1">
          <a:blip r:embed="rId3">
            <a:alphaModFix/>
          </a:blip>
          <a:srcRect b="-10" l="0" r="0" t="-10"/>
          <a:stretch/>
        </p:blipFill>
        <p:spPr>
          <a:xfrm>
            <a:off x="6477000" y="0"/>
            <a:ext cx="5715000" cy="6858000"/>
          </a:xfrm>
          <a:prstGeom prst="rect">
            <a:avLst/>
          </a:prstGeom>
          <a:noFill/>
          <a:ln>
            <a:noFill/>
          </a:ln>
        </p:spPr>
      </p:pic>
      <p:sp>
        <p:nvSpPr>
          <p:cNvPr id="18" name="Google Shape;18;p1"/>
          <p:cNvSpPr/>
          <p:nvPr/>
        </p:nvSpPr>
        <p:spPr>
          <a:xfrm>
            <a:off x="812800" y="812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9" name="Google Shape;19;p1"/>
          <p:cNvSpPr/>
          <p:nvPr/>
        </p:nvSpPr>
        <p:spPr>
          <a:xfrm>
            <a:off x="812800" y="939800"/>
            <a:ext cx="5415534" cy="4826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D28D9"/>
              </a:buClr>
              <a:buSzPts val="1200"/>
              <a:buFont typeface="IBM Plex Mono"/>
              <a:buNone/>
            </a:pPr>
            <a:r>
              <a:rPr b="0" i="0" lang="en-US" sz="1200" u="none" cap="none" strike="noStrike">
                <a:solidFill>
                  <a:srgbClr val="6D28D9"/>
                </a:solidFill>
                <a:latin typeface="IBM Plex Mono"/>
                <a:ea typeface="IBM Plex Mono"/>
                <a:cs typeface="IBM Plex Mono"/>
                <a:sym typeface="IBM Plex Mono"/>
              </a:rPr>
              <a:t>AISSAI ACCELERATOR HACKATHON 2026</a:t>
            </a:r>
            <a:endParaRPr b="0" i="0" sz="1200" u="none" cap="none" strike="noStrike">
              <a:solidFill>
                <a:schemeClr val="dk1"/>
              </a:solidFill>
              <a:latin typeface="IBM Plex Mono"/>
              <a:ea typeface="IBM Plex Mono"/>
              <a:cs typeface="IBM Plex Mono"/>
              <a:sym typeface="IBM Plex Mono"/>
            </a:endParaRPr>
          </a:p>
          <a:p>
            <a:pPr indent="0" lvl="0" marL="0" marR="0" rtl="0" algn="l">
              <a:lnSpc>
                <a:spcPct val="150000"/>
              </a:lnSpc>
              <a:spcBef>
                <a:spcPts val="0"/>
              </a:spcBef>
              <a:spcAft>
                <a:spcPts val="0"/>
              </a:spcAft>
              <a:buClr>
                <a:srgbClr val="6D28D9"/>
              </a:buClr>
              <a:buSzPts val="1200"/>
              <a:buFont typeface="IBM Plex Mono"/>
              <a:buNone/>
            </a:pPr>
            <a:r>
              <a:rPr b="0" i="0" lang="en-US" sz="1200" u="none" cap="none" strike="noStrike">
                <a:solidFill>
                  <a:srgbClr val="6D28D9"/>
                </a:solidFill>
                <a:latin typeface="IBM Plex Mono"/>
                <a:ea typeface="IBM Plex Mono"/>
                <a:cs typeface="IBM Plex Mono"/>
                <a:sym typeface="IBM Plex Mono"/>
              </a:rPr>
              <a:t>OPTIMISATION CHALLENGE</a:t>
            </a:r>
            <a:endParaRPr b="0" i="0" sz="1200" u="none" cap="none" strike="noStrike">
              <a:solidFill>
                <a:schemeClr val="dk1"/>
              </a:solidFill>
              <a:latin typeface="IBM Plex Mono"/>
              <a:ea typeface="IBM Plex Mono"/>
              <a:cs typeface="IBM Plex Mono"/>
              <a:sym typeface="IBM Plex Mono"/>
            </a:endParaRPr>
          </a:p>
        </p:txBody>
      </p:sp>
      <p:sp>
        <p:nvSpPr>
          <p:cNvPr id="20" name="Google Shape;20;p1"/>
          <p:cNvSpPr txBox="1"/>
          <p:nvPr>
            <p:ph type="title"/>
          </p:nvPr>
        </p:nvSpPr>
        <p:spPr>
          <a:xfrm>
            <a:off x="812800" y="2143125"/>
            <a:ext cx="5715000" cy="1930500"/>
          </a:xfrm>
          <a:prstGeom prst="rect">
            <a:avLst/>
          </a:prstGeom>
          <a:noFill/>
          <a:ln>
            <a:noFill/>
          </a:ln>
        </p:spPr>
        <p:txBody>
          <a:bodyPr anchorCtr="0" anchor="t" bIns="0" lIns="0" spcFirstLastPara="1" rIns="0" wrap="square" tIns="0">
            <a:normAutofit fontScale="90000"/>
          </a:bodyPr>
          <a:lstStyle/>
          <a:p>
            <a:pPr indent="0" lvl="0" marL="0" rtl="0" algn="l">
              <a:lnSpc>
                <a:spcPct val="104999"/>
              </a:lnSpc>
              <a:spcBef>
                <a:spcPts val="0"/>
              </a:spcBef>
              <a:spcAft>
                <a:spcPts val="0"/>
              </a:spcAft>
              <a:buClr>
                <a:srgbClr val="14213D"/>
              </a:buClr>
              <a:buSzPct val="100000"/>
              <a:buFont typeface="Space Grotesk"/>
              <a:buNone/>
            </a:pPr>
            <a:r>
              <a:rPr b="1" i="0" lang="en-US" sz="4800">
                <a:solidFill>
                  <a:srgbClr val="14213D"/>
                </a:solidFill>
                <a:latin typeface="Space Grotesk"/>
                <a:ea typeface="Space Grotesk"/>
                <a:cs typeface="Space Grotesk"/>
                <a:sym typeface="Space Grotesk"/>
              </a:rPr>
              <a:t>Forecasting the </a:t>
            </a:r>
            <a:r>
              <a:rPr b="1" i="0" lang="en-US" sz="4800">
                <a:solidFill>
                  <a:srgbClr val="6D28D9"/>
                </a:solidFill>
                <a:latin typeface="Space Grotesk"/>
                <a:ea typeface="Space Grotesk"/>
                <a:cs typeface="Space Grotesk"/>
                <a:sym typeface="Space Grotesk"/>
              </a:rPr>
              <a:t>CLEAR</a:t>
            </a:r>
            <a:r>
              <a:rPr b="1" i="0" lang="en-US" sz="4800">
                <a:solidFill>
                  <a:srgbClr val="14213D"/>
                </a:solidFill>
                <a:latin typeface="Space Grotesk"/>
                <a:ea typeface="Space Grotesk"/>
                <a:cs typeface="Space Grotesk"/>
                <a:sym typeface="Space Grotesk"/>
              </a:rPr>
              <a:t> beam charge</a:t>
            </a:r>
            <a:endParaRPr sz="4800"/>
          </a:p>
        </p:txBody>
      </p:sp>
      <p:sp>
        <p:nvSpPr>
          <p:cNvPr id="21" name="Google Shape;21;p1"/>
          <p:cNvSpPr/>
          <p:nvPr/>
        </p:nvSpPr>
        <p:spPr>
          <a:xfrm>
            <a:off x="812800" y="4225925"/>
            <a:ext cx="5415534" cy="584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660"/>
              </a:buClr>
              <a:buSzPts val="1600"/>
              <a:buFont typeface="IBM Plex Sans"/>
              <a:buNone/>
            </a:pPr>
            <a:r>
              <a:rPr b="0" i="0" lang="en-US" sz="1600" u="none" cap="none" strike="noStrike">
                <a:solidFill>
                  <a:srgbClr val="3B4660"/>
                </a:solidFill>
                <a:latin typeface="IBM Plex Sans"/>
                <a:ea typeface="IBM Plex Sans"/>
                <a:cs typeface="IBM Plex Sans"/>
                <a:sym typeface="IBM Plex Sans"/>
              </a:rPr>
              <a:t>How will the beam behave next, and can we see it coming?</a:t>
            </a:r>
            <a:endParaRPr b="0" i="0" sz="1600" u="none" cap="none" strike="noStrike">
              <a:solidFill>
                <a:schemeClr val="dk1"/>
              </a:solidFill>
              <a:latin typeface="IBM Plex Mono"/>
              <a:ea typeface="IBM Plex Mono"/>
              <a:cs typeface="IBM Plex Mono"/>
              <a:sym typeface="IBM Plex Mono"/>
            </a:endParaRPr>
          </a:p>
        </p:txBody>
      </p:sp>
      <p:sp>
        <p:nvSpPr>
          <p:cNvPr id="22" name="Google Shape;22;p1"/>
          <p:cNvSpPr/>
          <p:nvPr/>
        </p:nvSpPr>
        <p:spPr>
          <a:xfrm>
            <a:off x="812799" y="4892674"/>
            <a:ext cx="5415534" cy="304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Antonio Gilardi (Team Leader &amp; Case Holder)</a:t>
            </a:r>
            <a:endParaRPr b="0" i="0" sz="1600" u="none" cap="none" strike="noStrike">
              <a:solidFill>
                <a:schemeClr val="dk1"/>
              </a:solidFill>
              <a:latin typeface="IBM Plex Mono"/>
              <a:ea typeface="IBM Plex Mono"/>
              <a:cs typeface="IBM Plex Mono"/>
              <a:sym typeface="IBM Plex Mono"/>
            </a:endParaRPr>
          </a:p>
        </p:txBody>
      </p:sp>
      <p:sp>
        <p:nvSpPr>
          <p:cNvPr id="23" name="Google Shape;23;p1"/>
          <p:cNvSpPr/>
          <p:nvPr/>
        </p:nvSpPr>
        <p:spPr>
          <a:xfrm>
            <a:off x="812799" y="5197474"/>
            <a:ext cx="5415534"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478"/>
              </a:buClr>
              <a:buSzPts val="1200"/>
              <a:buFont typeface="IBM Plex Mono"/>
              <a:buNone/>
            </a:pPr>
            <a:r>
              <a:rPr b="0" i="0" lang="en-US" sz="1200" u="none" cap="none" strike="noStrike">
                <a:solidFill>
                  <a:srgbClr val="5A6478"/>
                </a:solidFill>
                <a:latin typeface="IBM Plex Mono"/>
                <a:ea typeface="IBM Plex Mono"/>
                <a:cs typeface="IBM Plex Mono"/>
                <a:sym typeface="IBM Plex Mono"/>
              </a:rPr>
              <a:t>CERN · CLEAR · antonio.gilardi@cern.ch</a:t>
            </a:r>
            <a:endParaRPr b="0" i="0" sz="1200" u="none" cap="none" strike="noStrike">
              <a:solidFill>
                <a:schemeClr val="dk1"/>
              </a:solidFill>
              <a:latin typeface="IBM Plex Mono"/>
              <a:ea typeface="IBM Plex Mono"/>
              <a:cs typeface="IBM Plex Mono"/>
              <a:sym typeface="IBM Plex Mono"/>
            </a:endParaRPr>
          </a:p>
        </p:txBody>
      </p:sp>
      <p:sp>
        <p:nvSpPr>
          <p:cNvPr id="24" name="Google Shape;24;p1"/>
          <p:cNvSpPr/>
          <p:nvPr/>
        </p:nvSpPr>
        <p:spPr>
          <a:xfrm>
            <a:off x="6921500" y="5080000"/>
            <a:ext cx="196215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past shots</a:t>
            </a:r>
            <a:endParaRPr b="0" i="0" sz="1200" u="none" cap="none" strike="noStrike">
              <a:solidFill>
                <a:schemeClr val="dk1"/>
              </a:solidFill>
              <a:latin typeface="IBM Plex Mono"/>
              <a:ea typeface="IBM Plex Mono"/>
              <a:cs typeface="IBM Plex Mono"/>
              <a:sym typeface="IBM Plex Mono"/>
            </a:endParaRPr>
          </a:p>
        </p:txBody>
      </p:sp>
      <p:sp>
        <p:nvSpPr>
          <p:cNvPr id="25" name="Google Shape;25;p1"/>
          <p:cNvSpPr/>
          <p:nvPr/>
        </p:nvSpPr>
        <p:spPr>
          <a:xfrm>
            <a:off x="8953500" y="4667250"/>
            <a:ext cx="100330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dropout</a:t>
            </a:r>
            <a:endParaRPr b="0" i="0" sz="1200" u="none" cap="none" strike="noStrike">
              <a:solidFill>
                <a:schemeClr val="dk1"/>
              </a:solidFill>
              <a:latin typeface="IBM Plex Mono"/>
              <a:ea typeface="IBM Plex Mono"/>
              <a:cs typeface="IBM Plex Mono"/>
              <a:sym typeface="IBM Plex Mono"/>
            </a:endParaRPr>
          </a:p>
        </p:txBody>
      </p:sp>
      <p:sp>
        <p:nvSpPr>
          <p:cNvPr id="26" name="Google Shape;26;p1"/>
          <p:cNvSpPr/>
          <p:nvPr/>
        </p:nvSpPr>
        <p:spPr>
          <a:xfrm>
            <a:off x="10071100" y="2476500"/>
            <a:ext cx="558800" cy="23495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now</a:t>
            </a:r>
            <a:endParaRPr b="0" i="0" sz="1200" u="none" cap="none" strike="noStrike">
              <a:solidFill>
                <a:schemeClr val="dk1"/>
              </a:solidFill>
              <a:latin typeface="IBM Plex Mono"/>
              <a:ea typeface="IBM Plex Mono"/>
              <a:cs typeface="IBM Plex Mono"/>
              <a:sym typeface="IBM Plex Mono"/>
            </a:endParaRPr>
          </a:p>
        </p:txBody>
      </p:sp>
      <p:sp>
        <p:nvSpPr>
          <p:cNvPr id="27" name="Google Shape;27;p1"/>
          <p:cNvSpPr/>
          <p:nvPr/>
        </p:nvSpPr>
        <p:spPr>
          <a:xfrm>
            <a:off x="10477500" y="2870200"/>
            <a:ext cx="106680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forecast</a:t>
            </a:r>
            <a:endParaRPr b="0" i="0" sz="1200" u="none" cap="none" strike="noStrike">
              <a:solidFill>
                <a:schemeClr val="dk1"/>
              </a:solidFill>
              <a:latin typeface="IBM Plex Mono"/>
              <a:ea typeface="IBM Plex Mono"/>
              <a:cs typeface="IBM Plex Mono"/>
              <a:sym typeface="IBM Plex Mono"/>
            </a:endParaRPr>
          </a:p>
        </p:txBody>
      </p:sp>
      <p:sp>
        <p:nvSpPr>
          <p:cNvPr id="28" name="Google Shape;28;p1"/>
          <p:cNvSpPr/>
          <p:nvPr/>
        </p:nvSpPr>
        <p:spPr>
          <a:xfrm>
            <a:off x="812799" y="5559256"/>
            <a:ext cx="5415534" cy="1298743"/>
          </a:xfrm>
          <a:prstGeom prst="rect">
            <a:avLst/>
          </a:prstGeom>
          <a:noFill/>
          <a:ln>
            <a:noFill/>
          </a:ln>
        </p:spPr>
        <p:txBody>
          <a:bodyPr anchorCtr="0" anchor="t" bIns="0" lIns="0" spcFirstLastPara="1" rIns="0" wrap="square" tIns="0">
            <a:normAutofit/>
          </a:bodyPr>
          <a:lstStyle/>
          <a:p>
            <a:pPr indent="0" lvl="0" marL="0" marR="0" rtl="0" algn="l">
              <a:lnSpc>
                <a:spcPct val="139937"/>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Jan Jug</a:t>
            </a:r>
            <a:endParaRPr b="1" i="0" sz="1600" u="none" cap="none" strike="noStrike">
              <a:solidFill>
                <a:srgbClr val="14213D"/>
              </a:solidFill>
              <a:latin typeface="IBM Plex Sans"/>
              <a:ea typeface="IBM Plex Sans"/>
              <a:cs typeface="IBM Plex Sans"/>
              <a:sym typeface="IBM Plex Sans"/>
            </a:endParaRPr>
          </a:p>
          <a:p>
            <a:pPr indent="0" lvl="0" marL="0" marR="0" rtl="0" algn="l">
              <a:lnSpc>
                <a:spcPct val="139937"/>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Quentin Bruant</a:t>
            </a:r>
            <a:endParaRPr b="1" i="0" sz="1600" u="none" cap="none" strike="noStrike">
              <a:solidFill>
                <a:srgbClr val="14213D"/>
              </a:solidFill>
              <a:latin typeface="IBM Plex Sans"/>
              <a:ea typeface="IBM Plex Sans"/>
              <a:cs typeface="IBM Plex Sans"/>
              <a:sym typeface="IBM Plex Sans"/>
            </a:endParaRPr>
          </a:p>
          <a:p>
            <a:pPr indent="0" lvl="0" marL="0" marR="0" rtl="0" algn="l">
              <a:lnSpc>
                <a:spcPct val="139937"/>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Alex Brynes</a:t>
            </a:r>
            <a:endParaRPr b="0" i="0" sz="1600" u="none" cap="none" strike="noStrike">
              <a:solidFill>
                <a:schemeClr val="dk1"/>
              </a:solidFill>
              <a:latin typeface="IBM Plex Mono"/>
              <a:ea typeface="IBM Plex Mono"/>
              <a:cs typeface="IBM Plex Mono"/>
              <a:sym typeface="IBM Plex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1"/>
        </a:solidFill>
      </p:bgPr>
    </p:bg>
    <p:spTree>
      <p:nvGrpSpPr>
        <p:cNvPr id="33" name="Shape 33"/>
        <p:cNvGrpSpPr/>
        <p:nvPr/>
      </p:nvGrpSpPr>
      <p:grpSpPr>
        <a:xfrm>
          <a:off x="0" y="0"/>
          <a:ext cx="0" cy="0"/>
          <a:chOff x="0" y="0"/>
          <a:chExt cx="0" cy="0"/>
        </a:xfrm>
      </p:grpSpPr>
      <p:sp>
        <p:nvSpPr>
          <p:cNvPr id="34" name="Google Shape;34;p2"/>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5" name="Google Shape;35;p2"/>
          <p:cNvSpPr/>
          <p:nvPr/>
        </p:nvSpPr>
        <p:spPr>
          <a:xfrm>
            <a:off x="812800" y="812800"/>
            <a:ext cx="1088339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D28D9"/>
              </a:buClr>
              <a:buSzPts val="1200"/>
              <a:buFont typeface="IBM Plex Mono"/>
              <a:buNone/>
            </a:pPr>
            <a:r>
              <a:rPr b="0" i="0" lang="en-US" sz="1200" u="none" cap="none" strike="noStrike">
                <a:solidFill>
                  <a:srgbClr val="6D28D9"/>
                </a:solidFill>
                <a:latin typeface="IBM Plex Mono"/>
                <a:ea typeface="IBM Plex Mono"/>
                <a:cs typeface="IBM Plex Mono"/>
                <a:sym typeface="IBM Plex Mono"/>
              </a:rPr>
              <a:t>THE CHALLENGE</a:t>
            </a:r>
            <a:endParaRPr b="0" i="0" sz="1200" u="none" cap="none" strike="noStrike">
              <a:solidFill>
                <a:schemeClr val="dk1"/>
              </a:solidFill>
              <a:latin typeface="IBM Plex Mono"/>
              <a:ea typeface="IBM Plex Mono"/>
              <a:cs typeface="IBM Plex Mono"/>
              <a:sym typeface="IBM Plex Mono"/>
            </a:endParaRPr>
          </a:p>
        </p:txBody>
      </p:sp>
      <p:sp>
        <p:nvSpPr>
          <p:cNvPr id="36" name="Google Shape;36;p2"/>
          <p:cNvSpPr txBox="1"/>
          <p:nvPr>
            <p:ph type="title"/>
          </p:nvPr>
        </p:nvSpPr>
        <p:spPr>
          <a:xfrm>
            <a:off x="812800" y="1123950"/>
            <a:ext cx="10883392" cy="5270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600"/>
              <a:buFont typeface="Space Grotesk"/>
              <a:buNone/>
            </a:pPr>
            <a:r>
              <a:rPr b="1" i="0" lang="en-US" sz="3600">
                <a:solidFill>
                  <a:srgbClr val="14213D"/>
                </a:solidFill>
                <a:latin typeface="Space Grotesk"/>
                <a:ea typeface="Space Grotesk"/>
                <a:cs typeface="Space Grotesk"/>
                <a:sym typeface="Space Grotesk"/>
              </a:rPr>
              <a:t>Three steps, one question</a:t>
            </a:r>
            <a:endParaRPr sz="3600"/>
          </a:p>
        </p:txBody>
      </p:sp>
      <p:sp>
        <p:nvSpPr>
          <p:cNvPr id="37" name="Google Shape;37;p2"/>
          <p:cNvSpPr/>
          <p:nvPr/>
        </p:nvSpPr>
        <p:spPr>
          <a:xfrm>
            <a:off x="812800" y="1930400"/>
            <a:ext cx="3386634" cy="2159000"/>
          </a:xfrm>
          <a:prstGeom prst="roundRect">
            <a:avLst>
              <a:gd fmla="val 4706" name="adj"/>
            </a:avLst>
          </a:prstGeom>
          <a:solidFill>
            <a:srgbClr val="D5F3E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8" name="Google Shape;38;p2"/>
          <p:cNvSpPr/>
          <p:nvPr/>
        </p:nvSpPr>
        <p:spPr>
          <a:xfrm>
            <a:off x="812800" y="1930400"/>
            <a:ext cx="3386634" cy="2159000"/>
          </a:xfrm>
          <a:custGeom>
            <a:rect b="b" l="l" r="r" t="t"/>
            <a:pathLst>
              <a:path extrusionOk="0" h="2159000" w="3386634">
                <a:moveTo>
                  <a:pt x="0" y="101600"/>
                </a:moveTo>
                <a:lnTo>
                  <a:pt x="0" y="101600"/>
                </a:lnTo>
                <a:cubicBezTo>
                  <a:pt x="0" y="45488"/>
                  <a:pt x="45488" y="0"/>
                  <a:pt x="101600" y="0"/>
                </a:cubicBezTo>
                <a:lnTo>
                  <a:pt x="3285034" y="0"/>
                </a:lnTo>
                <a:cubicBezTo>
                  <a:pt x="3311980" y="0"/>
                  <a:pt x="3337822" y="10704"/>
                  <a:pt x="3356876" y="29758"/>
                </a:cubicBezTo>
                <a:cubicBezTo>
                  <a:pt x="3375930" y="48812"/>
                  <a:pt x="3386634" y="74654"/>
                  <a:pt x="3386634" y="101600"/>
                </a:cubicBezTo>
                <a:lnTo>
                  <a:pt x="3386634" y="101600"/>
                </a:lnTo>
                <a:cubicBezTo>
                  <a:pt x="3386634" y="73544"/>
                  <a:pt x="3341146" y="50800"/>
                  <a:pt x="3285034" y="50800"/>
                </a:cubicBezTo>
                <a:lnTo>
                  <a:pt x="101600" y="50800"/>
                </a:lnTo>
                <a:cubicBezTo>
                  <a:pt x="45488" y="50800"/>
                  <a:pt x="0" y="73544"/>
                  <a:pt x="0" y="101600"/>
                </a:cubicBezTo>
                <a:close/>
              </a:path>
            </a:pathLst>
          </a:custGeom>
          <a:solidFill>
            <a:srgbClr val="0F76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9" name="Google Shape;39;p2"/>
          <p:cNvSpPr/>
          <p:nvPr/>
        </p:nvSpPr>
        <p:spPr>
          <a:xfrm>
            <a:off x="1016000" y="2184400"/>
            <a:ext cx="3069641"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766E"/>
              </a:buClr>
              <a:buSzPts val="1200"/>
              <a:buFont typeface="IBM Plex Mono"/>
              <a:buNone/>
            </a:pPr>
            <a:r>
              <a:rPr b="0" i="0" lang="en-US" sz="1200" u="none" cap="none" strike="noStrike">
                <a:solidFill>
                  <a:srgbClr val="0F766E"/>
                </a:solidFill>
                <a:latin typeface="IBM Plex Mono"/>
                <a:ea typeface="IBM Plex Mono"/>
                <a:cs typeface="IBM Plex Mono"/>
                <a:sym typeface="IBM Plex Mono"/>
              </a:rPr>
              <a:t>STEP 1 · EASY</a:t>
            </a:r>
            <a:endParaRPr b="0" i="0" sz="1200" u="none" cap="none" strike="noStrike">
              <a:solidFill>
                <a:schemeClr val="dk1"/>
              </a:solidFill>
              <a:latin typeface="IBM Plex Mono"/>
              <a:ea typeface="IBM Plex Mono"/>
              <a:cs typeface="IBM Plex Mono"/>
              <a:sym typeface="IBM Plex Mono"/>
            </a:endParaRPr>
          </a:p>
        </p:txBody>
      </p:sp>
      <p:sp>
        <p:nvSpPr>
          <p:cNvPr id="40" name="Google Shape;40;p2"/>
          <p:cNvSpPr/>
          <p:nvPr/>
        </p:nvSpPr>
        <p:spPr>
          <a:xfrm>
            <a:off x="1016000" y="2495550"/>
            <a:ext cx="3069641" cy="34290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4213D"/>
              </a:buClr>
              <a:buSzPts val="2200"/>
              <a:buFont typeface="Space Grotesk"/>
              <a:buNone/>
            </a:pPr>
            <a:r>
              <a:rPr b="1" i="0" lang="en-US" sz="2200" u="none" cap="none" strike="noStrike">
                <a:solidFill>
                  <a:srgbClr val="14213D"/>
                </a:solidFill>
                <a:latin typeface="Space Grotesk"/>
                <a:ea typeface="Space Grotesk"/>
                <a:cs typeface="Space Grotesk"/>
                <a:sym typeface="Space Grotesk"/>
              </a:rPr>
              <a:t>Understand</a:t>
            </a:r>
            <a:endParaRPr b="0" i="0" sz="2200" u="none" cap="none" strike="noStrike">
              <a:solidFill>
                <a:schemeClr val="dk1"/>
              </a:solidFill>
              <a:latin typeface="IBM Plex Mono"/>
              <a:ea typeface="IBM Plex Mono"/>
              <a:cs typeface="IBM Plex Mono"/>
              <a:sym typeface="IBM Plex Mono"/>
            </a:endParaRPr>
          </a:p>
        </p:txBody>
      </p:sp>
      <p:sp>
        <p:nvSpPr>
          <p:cNvPr id="41" name="Google Shape;41;p2"/>
          <p:cNvSpPr/>
          <p:nvPr/>
        </p:nvSpPr>
        <p:spPr>
          <a:xfrm>
            <a:off x="1016000" y="2914650"/>
            <a:ext cx="2123480" cy="311150"/>
          </a:xfrm>
          <a:prstGeom prst="roundRect">
            <a:avLst>
              <a:gd fmla="val 16327" name="adj"/>
            </a:avLst>
          </a:prstGeom>
          <a:solidFill>
            <a:srgbClr val="FFF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42" name="Google Shape;42;p2"/>
          <p:cNvSpPr/>
          <p:nvPr/>
        </p:nvSpPr>
        <p:spPr>
          <a:xfrm>
            <a:off x="1117600" y="2965450"/>
            <a:ext cx="1977888"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200"/>
              <a:buFont typeface="IBM Plex Mono"/>
              <a:buNone/>
            </a:pPr>
            <a:r>
              <a:rPr b="0" i="0" lang="en-US" sz="1200" u="none" cap="none" strike="noStrike">
                <a:solidFill>
                  <a:srgbClr val="14213D"/>
                </a:solidFill>
                <a:latin typeface="IBM Plex Mono"/>
                <a:ea typeface="IBM Plex Mono"/>
                <a:cs typeface="IBM Plex Mono"/>
                <a:sym typeface="IBM Plex Mono"/>
              </a:rPr>
              <a:t>raw run → clean table</a:t>
            </a:r>
            <a:endParaRPr b="0" i="0" sz="1200" u="none" cap="none" strike="noStrike">
              <a:solidFill>
                <a:schemeClr val="dk1"/>
              </a:solidFill>
              <a:latin typeface="IBM Plex Mono"/>
              <a:ea typeface="IBM Plex Mono"/>
              <a:cs typeface="IBM Plex Mono"/>
              <a:sym typeface="IBM Plex Mono"/>
            </a:endParaRPr>
          </a:p>
        </p:txBody>
      </p:sp>
      <p:sp>
        <p:nvSpPr>
          <p:cNvPr id="43" name="Google Shape;43;p2"/>
          <p:cNvSpPr/>
          <p:nvPr/>
        </p:nvSpPr>
        <p:spPr>
          <a:xfrm>
            <a:off x="1016000" y="3327400"/>
            <a:ext cx="3069641" cy="584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660"/>
              </a:buClr>
              <a:buSzPts val="1600"/>
              <a:buFont typeface="IBM Plex Sans"/>
              <a:buNone/>
            </a:pPr>
            <a:r>
              <a:rPr b="0" i="0" lang="en-US" sz="1600" u="none" cap="none" strike="noStrike">
                <a:solidFill>
                  <a:srgbClr val="3B4660"/>
                </a:solidFill>
                <a:latin typeface="IBM Plex Sans"/>
                <a:ea typeface="IBM Plex Sans"/>
                <a:cs typeface="IBM Plex Sans"/>
                <a:sym typeface="IBM Plex Sans"/>
              </a:rPr>
              <a:t>Clean, synchronise, rank every signal.</a:t>
            </a:r>
            <a:endParaRPr b="0" i="0" sz="1600" u="none" cap="none" strike="noStrike">
              <a:solidFill>
                <a:schemeClr val="dk1"/>
              </a:solidFill>
              <a:latin typeface="IBM Plex Mono"/>
              <a:ea typeface="IBM Plex Mono"/>
              <a:cs typeface="IBM Plex Mono"/>
              <a:sym typeface="IBM Plex Mono"/>
            </a:endParaRPr>
          </a:p>
        </p:txBody>
      </p:sp>
      <p:sp>
        <p:nvSpPr>
          <p:cNvPr id="44" name="Google Shape;44;p2"/>
          <p:cNvSpPr/>
          <p:nvPr/>
        </p:nvSpPr>
        <p:spPr>
          <a:xfrm>
            <a:off x="4402634" y="1930400"/>
            <a:ext cx="3386634" cy="2159000"/>
          </a:xfrm>
          <a:prstGeom prst="roundRect">
            <a:avLst>
              <a:gd fmla="val 4706" name="adj"/>
            </a:avLst>
          </a:prstGeom>
          <a:solidFill>
            <a:srgbClr val="DBE7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45" name="Google Shape;45;p2"/>
          <p:cNvSpPr/>
          <p:nvPr/>
        </p:nvSpPr>
        <p:spPr>
          <a:xfrm>
            <a:off x="4402634" y="1930400"/>
            <a:ext cx="3386634" cy="2159000"/>
          </a:xfrm>
          <a:custGeom>
            <a:rect b="b" l="l" r="r" t="t"/>
            <a:pathLst>
              <a:path extrusionOk="0" h="2159000" w="3386634">
                <a:moveTo>
                  <a:pt x="0" y="101600"/>
                </a:moveTo>
                <a:lnTo>
                  <a:pt x="0" y="101600"/>
                </a:lnTo>
                <a:cubicBezTo>
                  <a:pt x="0" y="45488"/>
                  <a:pt x="45488" y="0"/>
                  <a:pt x="101600" y="0"/>
                </a:cubicBezTo>
                <a:lnTo>
                  <a:pt x="3285034" y="0"/>
                </a:lnTo>
                <a:cubicBezTo>
                  <a:pt x="3311980" y="0"/>
                  <a:pt x="3337822" y="10704"/>
                  <a:pt x="3356876" y="29758"/>
                </a:cubicBezTo>
                <a:cubicBezTo>
                  <a:pt x="3375930" y="48812"/>
                  <a:pt x="3386634" y="74654"/>
                  <a:pt x="3386634" y="101600"/>
                </a:cubicBezTo>
                <a:lnTo>
                  <a:pt x="3386634" y="101600"/>
                </a:lnTo>
                <a:cubicBezTo>
                  <a:pt x="3386634" y="73544"/>
                  <a:pt x="3341146" y="50800"/>
                  <a:pt x="3285034" y="50800"/>
                </a:cubicBezTo>
                <a:lnTo>
                  <a:pt x="101600" y="50800"/>
                </a:lnTo>
                <a:cubicBezTo>
                  <a:pt x="45488" y="50800"/>
                  <a:pt x="0" y="73544"/>
                  <a:pt x="0" y="101600"/>
                </a:cubicBezTo>
                <a:close/>
              </a:path>
            </a:pathLst>
          </a:custGeom>
          <a:solidFill>
            <a:srgbClr val="1D4E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46" name="Google Shape;46;p2"/>
          <p:cNvSpPr/>
          <p:nvPr/>
        </p:nvSpPr>
        <p:spPr>
          <a:xfrm>
            <a:off x="4605834" y="2184400"/>
            <a:ext cx="3069641"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D4ED8"/>
              </a:buClr>
              <a:buSzPts val="1200"/>
              <a:buFont typeface="IBM Plex Mono"/>
              <a:buNone/>
            </a:pPr>
            <a:r>
              <a:rPr b="0" i="0" lang="en-US" sz="1200" u="none" cap="none" strike="noStrike">
                <a:solidFill>
                  <a:srgbClr val="1D4ED8"/>
                </a:solidFill>
                <a:latin typeface="IBM Plex Mono"/>
                <a:ea typeface="IBM Plex Mono"/>
                <a:cs typeface="IBM Plex Mono"/>
                <a:sym typeface="IBM Plex Mono"/>
              </a:rPr>
              <a:t>STEP 2 · MEDIUM</a:t>
            </a:r>
            <a:endParaRPr b="0" i="0" sz="1200" u="none" cap="none" strike="noStrike">
              <a:solidFill>
                <a:schemeClr val="dk1"/>
              </a:solidFill>
              <a:latin typeface="IBM Plex Mono"/>
              <a:ea typeface="IBM Plex Mono"/>
              <a:cs typeface="IBM Plex Mono"/>
              <a:sym typeface="IBM Plex Mono"/>
            </a:endParaRPr>
          </a:p>
        </p:txBody>
      </p:sp>
      <p:sp>
        <p:nvSpPr>
          <p:cNvPr id="47" name="Google Shape;47;p2"/>
          <p:cNvSpPr/>
          <p:nvPr/>
        </p:nvSpPr>
        <p:spPr>
          <a:xfrm>
            <a:off x="4605834" y="2495550"/>
            <a:ext cx="3069641" cy="34290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4213D"/>
              </a:buClr>
              <a:buSzPts val="2200"/>
              <a:buFont typeface="Space Grotesk"/>
              <a:buNone/>
            </a:pPr>
            <a:r>
              <a:rPr b="1" i="0" lang="en-US" sz="2200" u="none" cap="none" strike="noStrike">
                <a:solidFill>
                  <a:srgbClr val="14213D"/>
                </a:solidFill>
                <a:latin typeface="Space Grotesk"/>
                <a:ea typeface="Space Grotesk"/>
                <a:cs typeface="Space Grotesk"/>
                <a:sym typeface="Space Grotesk"/>
              </a:rPr>
              <a:t>Virtual diagnostic</a:t>
            </a:r>
            <a:endParaRPr b="0" i="0" sz="2200" u="none" cap="none" strike="noStrike">
              <a:solidFill>
                <a:schemeClr val="dk1"/>
              </a:solidFill>
              <a:latin typeface="IBM Plex Mono"/>
              <a:ea typeface="IBM Plex Mono"/>
              <a:cs typeface="IBM Plex Mono"/>
              <a:sym typeface="IBM Plex Mono"/>
            </a:endParaRPr>
          </a:p>
        </p:txBody>
      </p:sp>
      <p:sp>
        <p:nvSpPr>
          <p:cNvPr id="48" name="Google Shape;48;p2"/>
          <p:cNvSpPr/>
          <p:nvPr/>
        </p:nvSpPr>
        <p:spPr>
          <a:xfrm>
            <a:off x="4605834" y="2914650"/>
            <a:ext cx="1483420" cy="311150"/>
          </a:xfrm>
          <a:prstGeom prst="roundRect">
            <a:avLst>
              <a:gd fmla="val 16327" name="adj"/>
            </a:avLst>
          </a:prstGeom>
          <a:solidFill>
            <a:srgbClr val="FFF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49" name="Google Shape;49;p2"/>
          <p:cNvSpPr/>
          <p:nvPr/>
        </p:nvSpPr>
        <p:spPr>
          <a:xfrm>
            <a:off x="4707434" y="2965450"/>
            <a:ext cx="133102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200"/>
              <a:buFont typeface="IBM Plex Mono"/>
              <a:buNone/>
            </a:pPr>
            <a:r>
              <a:rPr b="0" i="0" lang="en-US" sz="1200" u="none" cap="none" strike="noStrike">
                <a:solidFill>
                  <a:srgbClr val="14213D"/>
                </a:solidFill>
                <a:latin typeface="IBM Plex Mono"/>
                <a:ea typeface="IBM Plex Mono"/>
                <a:cs typeface="IBM Plex Mono"/>
                <a:sym typeface="IBM Plex Mono"/>
              </a:rPr>
              <a:t>Q[t] = f(X[t])</a:t>
            </a:r>
            <a:endParaRPr b="0" i="0" sz="1200" u="none" cap="none" strike="noStrike">
              <a:solidFill>
                <a:schemeClr val="dk1"/>
              </a:solidFill>
              <a:latin typeface="IBM Plex Mono"/>
              <a:ea typeface="IBM Plex Mono"/>
              <a:cs typeface="IBM Plex Mono"/>
              <a:sym typeface="IBM Plex Mono"/>
            </a:endParaRPr>
          </a:p>
        </p:txBody>
      </p:sp>
      <p:sp>
        <p:nvSpPr>
          <p:cNvPr id="50" name="Google Shape;50;p2"/>
          <p:cNvSpPr/>
          <p:nvPr/>
        </p:nvSpPr>
        <p:spPr>
          <a:xfrm>
            <a:off x="4605834" y="3327400"/>
            <a:ext cx="3069641" cy="584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660"/>
              </a:buClr>
              <a:buSzPts val="1600"/>
              <a:buFont typeface="IBM Plex Sans"/>
              <a:buNone/>
            </a:pPr>
            <a:r>
              <a:rPr b="0" i="0" lang="en-US" sz="1600" u="none" cap="none" strike="noStrike">
                <a:solidFill>
                  <a:srgbClr val="3B4660"/>
                </a:solidFill>
                <a:latin typeface="IBM Plex Sans"/>
                <a:ea typeface="IBM Plex Sans"/>
                <a:cs typeface="IBM Plex Sans"/>
                <a:sym typeface="IBM Plex Sans"/>
              </a:rPr>
              <a:t>This shot's charge from this shot's signals.</a:t>
            </a:r>
            <a:endParaRPr b="0" i="0" sz="1600" u="none" cap="none" strike="noStrike">
              <a:solidFill>
                <a:schemeClr val="dk1"/>
              </a:solidFill>
              <a:latin typeface="IBM Plex Mono"/>
              <a:ea typeface="IBM Plex Mono"/>
              <a:cs typeface="IBM Plex Mono"/>
              <a:sym typeface="IBM Plex Mono"/>
            </a:endParaRPr>
          </a:p>
        </p:txBody>
      </p:sp>
      <p:sp>
        <p:nvSpPr>
          <p:cNvPr id="51" name="Google Shape;51;p2"/>
          <p:cNvSpPr/>
          <p:nvPr/>
        </p:nvSpPr>
        <p:spPr>
          <a:xfrm>
            <a:off x="7992467" y="1930400"/>
            <a:ext cx="3386634" cy="2159000"/>
          </a:xfrm>
          <a:prstGeom prst="roundRect">
            <a:avLst>
              <a:gd fmla="val 4706" name="adj"/>
            </a:avLst>
          </a:prstGeom>
          <a:solidFill>
            <a:srgbClr val="FDE2E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52" name="Google Shape;52;p2"/>
          <p:cNvSpPr/>
          <p:nvPr/>
        </p:nvSpPr>
        <p:spPr>
          <a:xfrm>
            <a:off x="7992467" y="1930400"/>
            <a:ext cx="3386634" cy="2159000"/>
          </a:xfrm>
          <a:custGeom>
            <a:rect b="b" l="l" r="r" t="t"/>
            <a:pathLst>
              <a:path extrusionOk="0" h="2159000" w="3386634">
                <a:moveTo>
                  <a:pt x="0" y="101600"/>
                </a:moveTo>
                <a:lnTo>
                  <a:pt x="0" y="101600"/>
                </a:lnTo>
                <a:cubicBezTo>
                  <a:pt x="0" y="45488"/>
                  <a:pt x="45488" y="0"/>
                  <a:pt x="101600" y="0"/>
                </a:cubicBezTo>
                <a:lnTo>
                  <a:pt x="3285034" y="0"/>
                </a:lnTo>
                <a:cubicBezTo>
                  <a:pt x="3311980" y="0"/>
                  <a:pt x="3337822" y="10704"/>
                  <a:pt x="3356876" y="29758"/>
                </a:cubicBezTo>
                <a:cubicBezTo>
                  <a:pt x="3375930" y="48812"/>
                  <a:pt x="3386634" y="74654"/>
                  <a:pt x="3386634" y="101600"/>
                </a:cubicBezTo>
                <a:lnTo>
                  <a:pt x="3386634" y="101600"/>
                </a:lnTo>
                <a:cubicBezTo>
                  <a:pt x="3386634" y="73544"/>
                  <a:pt x="3341146" y="50800"/>
                  <a:pt x="3285034" y="50800"/>
                </a:cubicBezTo>
                <a:lnTo>
                  <a:pt x="101600" y="50800"/>
                </a:lnTo>
                <a:cubicBezTo>
                  <a:pt x="45488" y="50800"/>
                  <a:pt x="0" y="73544"/>
                  <a:pt x="0" y="101600"/>
                </a:cubicBezTo>
                <a:close/>
              </a:path>
            </a:pathLst>
          </a:custGeom>
          <a:solidFill>
            <a:srgbClr val="BE18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53" name="Google Shape;53;p2"/>
          <p:cNvSpPr/>
          <p:nvPr/>
        </p:nvSpPr>
        <p:spPr>
          <a:xfrm>
            <a:off x="8195667" y="2184400"/>
            <a:ext cx="3069641"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E185D"/>
              </a:buClr>
              <a:buSzPts val="1200"/>
              <a:buFont typeface="IBM Plex Mono"/>
              <a:buNone/>
            </a:pPr>
            <a:r>
              <a:rPr b="0" i="0" lang="en-US" sz="1200" u="none" cap="none" strike="noStrike">
                <a:solidFill>
                  <a:srgbClr val="BE185D"/>
                </a:solidFill>
                <a:latin typeface="IBM Plex Mono"/>
                <a:ea typeface="IBM Plex Mono"/>
                <a:cs typeface="IBM Plex Mono"/>
                <a:sym typeface="IBM Plex Mono"/>
              </a:rPr>
              <a:t>STEP 3 · HARD</a:t>
            </a:r>
            <a:endParaRPr b="0" i="0" sz="1200" u="none" cap="none" strike="noStrike">
              <a:solidFill>
                <a:schemeClr val="dk1"/>
              </a:solidFill>
              <a:latin typeface="IBM Plex Mono"/>
              <a:ea typeface="IBM Plex Mono"/>
              <a:cs typeface="IBM Plex Mono"/>
              <a:sym typeface="IBM Plex Mono"/>
            </a:endParaRPr>
          </a:p>
        </p:txBody>
      </p:sp>
      <p:sp>
        <p:nvSpPr>
          <p:cNvPr id="54" name="Google Shape;54;p2"/>
          <p:cNvSpPr/>
          <p:nvPr/>
        </p:nvSpPr>
        <p:spPr>
          <a:xfrm>
            <a:off x="8195667" y="2495550"/>
            <a:ext cx="3069641" cy="34290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4213D"/>
              </a:buClr>
              <a:buSzPts val="2200"/>
              <a:buFont typeface="Space Grotesk"/>
              <a:buNone/>
            </a:pPr>
            <a:r>
              <a:rPr b="1" i="0" lang="en-US" sz="2200" u="none" cap="none" strike="noStrike">
                <a:solidFill>
                  <a:srgbClr val="14213D"/>
                </a:solidFill>
                <a:latin typeface="Space Grotesk"/>
                <a:ea typeface="Space Grotesk"/>
                <a:cs typeface="Space Grotesk"/>
                <a:sym typeface="Space Grotesk"/>
              </a:rPr>
              <a:t>Forecast</a:t>
            </a:r>
            <a:endParaRPr b="0" i="0" sz="2200" u="none" cap="none" strike="noStrike">
              <a:solidFill>
                <a:schemeClr val="dk1"/>
              </a:solidFill>
              <a:latin typeface="IBM Plex Mono"/>
              <a:ea typeface="IBM Plex Mono"/>
              <a:cs typeface="IBM Plex Mono"/>
              <a:sym typeface="IBM Plex Mono"/>
            </a:endParaRPr>
          </a:p>
        </p:txBody>
      </p:sp>
      <p:sp>
        <p:nvSpPr>
          <p:cNvPr id="55" name="Google Shape;55;p2"/>
          <p:cNvSpPr/>
          <p:nvPr/>
        </p:nvSpPr>
        <p:spPr>
          <a:xfrm>
            <a:off x="8195667" y="2914650"/>
            <a:ext cx="2763639" cy="311150"/>
          </a:xfrm>
          <a:prstGeom prst="roundRect">
            <a:avLst>
              <a:gd fmla="val 16327" name="adj"/>
            </a:avLst>
          </a:prstGeom>
          <a:solidFill>
            <a:srgbClr val="FFF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56" name="Google Shape;56;p2"/>
          <p:cNvSpPr/>
          <p:nvPr/>
        </p:nvSpPr>
        <p:spPr>
          <a:xfrm>
            <a:off x="8297267" y="2965450"/>
            <a:ext cx="263725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200"/>
              <a:buFont typeface="IBM Plex Mono"/>
              <a:buNone/>
            </a:pPr>
            <a:r>
              <a:rPr b="0" i="0" lang="en-US" sz="1200" u="none" cap="none" strike="noStrike">
                <a:solidFill>
                  <a:srgbClr val="14213D"/>
                </a:solidFill>
                <a:latin typeface="IBM Plex Mono"/>
                <a:ea typeface="IBM Plex Mono"/>
                <a:cs typeface="IBM Plex Mono"/>
                <a:sym typeface="IBM Plex Mono"/>
              </a:rPr>
              <a:t>Q[t+1…t+H] = f(X[≤t], Q[≤t])</a:t>
            </a:r>
            <a:endParaRPr b="0" i="0" sz="1200" u="none" cap="none" strike="noStrike">
              <a:solidFill>
                <a:schemeClr val="dk1"/>
              </a:solidFill>
              <a:latin typeface="IBM Plex Mono"/>
              <a:ea typeface="IBM Plex Mono"/>
              <a:cs typeface="IBM Plex Mono"/>
              <a:sym typeface="IBM Plex Mono"/>
            </a:endParaRPr>
          </a:p>
        </p:txBody>
      </p:sp>
      <p:sp>
        <p:nvSpPr>
          <p:cNvPr id="57" name="Google Shape;57;p2"/>
          <p:cNvSpPr/>
          <p:nvPr/>
        </p:nvSpPr>
        <p:spPr>
          <a:xfrm>
            <a:off x="8195667" y="3327400"/>
            <a:ext cx="3069641" cy="584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660"/>
              </a:buClr>
              <a:buSzPts val="1600"/>
              <a:buFont typeface="IBM Plex Sans"/>
              <a:buNone/>
            </a:pPr>
            <a:r>
              <a:rPr b="0" i="0" lang="en-US" sz="1600" u="none" cap="none" strike="noStrike">
                <a:solidFill>
                  <a:srgbClr val="3B4660"/>
                </a:solidFill>
                <a:latin typeface="IBM Plex Sans"/>
                <a:ea typeface="IBM Plex Sans"/>
                <a:cs typeface="IBM Plex Sans"/>
                <a:sym typeface="IBM Plex Sans"/>
              </a:rPr>
              <a:t>The next shots' charge, from the past.</a:t>
            </a:r>
            <a:endParaRPr b="0" i="0" sz="1600" u="none" cap="none" strike="noStrike">
              <a:solidFill>
                <a:schemeClr val="dk1"/>
              </a:solidFill>
              <a:latin typeface="IBM Plex Mono"/>
              <a:ea typeface="IBM Plex Mono"/>
              <a:cs typeface="IBM Plex Mono"/>
              <a:sym typeface="IBM Plex Mono"/>
            </a:endParaRPr>
          </a:p>
        </p:txBody>
      </p:sp>
      <p:sp>
        <p:nvSpPr>
          <p:cNvPr id="58" name="Google Shape;58;p2"/>
          <p:cNvSpPr/>
          <p:nvPr/>
        </p:nvSpPr>
        <p:spPr>
          <a:xfrm>
            <a:off x="812800" y="4394200"/>
            <a:ext cx="10566400" cy="965200"/>
          </a:xfrm>
          <a:prstGeom prst="roundRect">
            <a:avLst>
              <a:gd fmla="val 10526" name="adj"/>
            </a:avLst>
          </a:prstGeom>
          <a:gradFill>
            <a:gsLst>
              <a:gs pos="0">
                <a:srgbClr val="1D4ED8"/>
              </a:gs>
              <a:gs pos="55000">
                <a:srgbClr val="6D28D9"/>
              </a:gs>
              <a:gs pos="100000">
                <a:srgbClr val="BE185D"/>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59" name="Google Shape;59;p2"/>
          <p:cNvSpPr/>
          <p:nvPr/>
        </p:nvSpPr>
        <p:spPr>
          <a:xfrm>
            <a:off x="1066800" y="4772025"/>
            <a:ext cx="166122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DE68A"/>
              </a:buClr>
              <a:buSzPts val="1200"/>
              <a:buFont typeface="IBM Plex Mono"/>
              <a:buNone/>
            </a:pPr>
            <a:r>
              <a:rPr b="0" i="0" lang="en-US" sz="1200" u="none" cap="none" strike="noStrike">
                <a:solidFill>
                  <a:srgbClr val="FDE68A"/>
                </a:solidFill>
                <a:latin typeface="IBM Plex Mono"/>
                <a:ea typeface="IBM Plex Mono"/>
                <a:cs typeface="IBM Plex Mono"/>
                <a:sym typeface="IBM Plex Mono"/>
              </a:rPr>
              <a:t>THEN, OPTIONAL</a:t>
            </a:r>
            <a:endParaRPr b="0" i="0" sz="1200" u="none" cap="none" strike="noStrike">
              <a:solidFill>
                <a:schemeClr val="dk1"/>
              </a:solidFill>
              <a:latin typeface="IBM Plex Mono"/>
              <a:ea typeface="IBM Plex Mono"/>
              <a:cs typeface="IBM Plex Mono"/>
              <a:sym typeface="IBM Plex Mono"/>
            </a:endParaRPr>
          </a:p>
        </p:txBody>
      </p:sp>
      <p:sp>
        <p:nvSpPr>
          <p:cNvPr id="60" name="Google Shape;60;p2"/>
          <p:cNvSpPr/>
          <p:nvPr/>
        </p:nvSpPr>
        <p:spPr>
          <a:xfrm>
            <a:off x="2728020" y="4597400"/>
            <a:ext cx="8649096" cy="584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600"/>
              <a:buFont typeface="IBM Plex Sans"/>
              <a:buNone/>
            </a:pPr>
            <a:r>
              <a:rPr b="0" i="0" lang="en-US" sz="1600" u="none" cap="none" strike="noStrike">
                <a:solidFill>
                  <a:srgbClr val="FFFDF7"/>
                </a:solidFill>
                <a:latin typeface="IBM Plex Sans"/>
                <a:ea typeface="IBM Plex Sans"/>
                <a:cs typeface="IBM Plex Sans"/>
                <a:sym typeface="IBM Plex Sans"/>
              </a:rPr>
              <a:t>Close the loop with a controller g(x) on laser power or RF phase. </a:t>
            </a:r>
            <a:r>
              <a:rPr b="1" i="0" lang="en-US" sz="1600" u="none" cap="none" strike="noStrike">
                <a:solidFill>
                  <a:srgbClr val="FFFDF7"/>
                </a:solidFill>
                <a:latin typeface="IBM Plex Sans"/>
                <a:ea typeface="IBM Plex Sans"/>
                <a:cs typeface="IBM Plex Sans"/>
                <a:sym typeface="IBM Plex Sans"/>
              </a:rPr>
              <a:t>Extremely promising results can earn real beam time on CLEAR.</a:t>
            </a:r>
            <a:endParaRPr b="0" i="0" sz="1600" u="none" cap="none" strike="noStrike">
              <a:solidFill>
                <a:schemeClr val="dk1"/>
              </a:solidFill>
              <a:latin typeface="IBM Plex Mono"/>
              <a:ea typeface="IBM Plex Mono"/>
              <a:cs typeface="IBM Plex Mono"/>
              <a:sym typeface="IBM Plex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h6524a41718b72fa9_0_0"/>
          <p:cNvSpPr txBox="1"/>
          <p:nvPr>
            <p:ph type="title"/>
          </p:nvPr>
        </p:nvSpPr>
        <p:spPr>
          <a:xfrm>
            <a:off x="812800" y="1123950"/>
            <a:ext cx="10566300" cy="50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US"/>
              <a:t>Outline</a:t>
            </a:r>
            <a:endParaRPr b="1"/>
          </a:p>
        </p:txBody>
      </p:sp>
      <p:sp>
        <p:nvSpPr>
          <p:cNvPr id="66" name="Google Shape;66;h6524a41718b72fa9_0_0"/>
          <p:cNvSpPr txBox="1"/>
          <p:nvPr>
            <p:ph idx="1" type="body"/>
          </p:nvPr>
        </p:nvSpPr>
        <p:spPr>
          <a:xfrm>
            <a:off x="812800" y="1930400"/>
            <a:ext cx="5283300" cy="4114800"/>
          </a:xfrm>
          <a:prstGeom prst="rect">
            <a:avLst/>
          </a:prstGeom>
        </p:spPr>
        <p:txBody>
          <a:bodyPr anchorCtr="0" anchor="t" bIns="0" lIns="0" spcFirstLastPara="1" rIns="0" wrap="square" tIns="0">
            <a:noAutofit/>
          </a:bodyPr>
          <a:lstStyle/>
          <a:p>
            <a:pPr indent="-235268" lvl="0" marL="228600" rtl="0" algn="l">
              <a:lnSpc>
                <a:spcPct val="90000"/>
              </a:lnSpc>
              <a:spcBef>
                <a:spcPts val="1000"/>
              </a:spcBef>
              <a:spcAft>
                <a:spcPts val="0"/>
              </a:spcAft>
              <a:buClr>
                <a:srgbClr val="000000"/>
              </a:buClr>
              <a:buSzPts val="1400"/>
              <a:buFont typeface="Space Grotesk"/>
              <a:buChar char="•"/>
            </a:pPr>
            <a:r>
              <a:rPr b="1" lang="en-US" sz="1400">
                <a:solidFill>
                  <a:srgbClr val="000000"/>
                </a:solidFill>
                <a:latin typeface="Space Grotesk"/>
                <a:ea typeface="Space Grotesk"/>
                <a:cs typeface="Space Grotesk"/>
                <a:sym typeface="Space Grotesk"/>
              </a:rPr>
              <a:t>First step</a:t>
            </a:r>
            <a:r>
              <a:rPr b="1" lang="en-US" sz="1400">
                <a:solidFill>
                  <a:srgbClr val="000000"/>
                </a:solidFill>
                <a:latin typeface="Space Grotesk"/>
                <a:ea typeface="Space Grotesk"/>
                <a:cs typeface="Space Grotesk"/>
                <a:sym typeface="Space Grotesk"/>
              </a:rPr>
              <a:t>:</a:t>
            </a:r>
            <a:endParaRPr b="1" sz="2800">
              <a:solidFill>
                <a:srgbClr val="000000"/>
              </a:solidFill>
              <a:latin typeface="Space Grotesk"/>
              <a:ea typeface="Space Grotesk"/>
              <a:cs typeface="Space Grotesk"/>
              <a:sym typeface="Space Grotesk"/>
            </a:endParaRPr>
          </a:p>
          <a:p>
            <a:pPr indent="-234315" lvl="1" marL="685800" rtl="0" algn="l">
              <a:lnSpc>
                <a:spcPct val="90000"/>
              </a:lnSpc>
              <a:spcBef>
                <a:spcPts val="500"/>
              </a:spcBef>
              <a:spcAft>
                <a:spcPts val="0"/>
              </a:spcAft>
              <a:buClr>
                <a:srgbClr val="FF0000"/>
              </a:buClr>
              <a:buSzPts val="1200"/>
              <a:buFont typeface="Space Grotesk"/>
              <a:buChar char="•"/>
            </a:pPr>
            <a:r>
              <a:rPr b="1" lang="en-US" sz="1200">
                <a:solidFill>
                  <a:srgbClr val="FF0000"/>
                </a:solidFill>
                <a:latin typeface="Space Grotesk"/>
                <a:ea typeface="Space Grotesk"/>
                <a:cs typeface="Space Grotesk"/>
                <a:sym typeface="Space Grotesk"/>
              </a:rPr>
              <a:t>Problem description</a:t>
            </a:r>
            <a:endParaRPr b="1" sz="2400">
              <a:solidFill>
                <a:srgbClr val="000000"/>
              </a:solidFill>
              <a:latin typeface="Space Grotesk"/>
              <a:ea typeface="Space Grotesk"/>
              <a:cs typeface="Space Grotesk"/>
              <a:sym typeface="Space Grotesk"/>
            </a:endParaRPr>
          </a:p>
          <a:p>
            <a:pPr indent="-234315" lvl="1" marL="685800" rtl="0" algn="l">
              <a:lnSpc>
                <a:spcPct val="90000"/>
              </a:lnSpc>
              <a:spcBef>
                <a:spcPts val="500"/>
              </a:spcBef>
              <a:spcAft>
                <a:spcPts val="0"/>
              </a:spcAft>
              <a:buClr>
                <a:srgbClr val="000000"/>
              </a:buClr>
              <a:buSzPts val="1200"/>
              <a:buFont typeface="Space Grotesk"/>
              <a:buChar char="•"/>
            </a:pPr>
            <a:r>
              <a:rPr b="1" lang="en-US" sz="1200">
                <a:solidFill>
                  <a:srgbClr val="000000"/>
                </a:solidFill>
                <a:latin typeface="Space Grotesk"/>
                <a:ea typeface="Space Grotesk"/>
                <a:cs typeface="Space Grotesk"/>
                <a:sym typeface="Space Grotesk"/>
              </a:rPr>
              <a:t>Data handling</a:t>
            </a:r>
            <a:endParaRPr b="1" sz="2400">
              <a:solidFill>
                <a:srgbClr val="000000"/>
              </a:solidFill>
              <a:latin typeface="Space Grotesk"/>
              <a:ea typeface="Space Grotesk"/>
              <a:cs typeface="Space Grotesk"/>
              <a:sym typeface="Space Grotesk"/>
            </a:endParaRPr>
          </a:p>
          <a:p>
            <a:pPr indent="-234315" lvl="1" marL="685800" rtl="0" algn="l">
              <a:lnSpc>
                <a:spcPct val="90000"/>
              </a:lnSpc>
              <a:spcBef>
                <a:spcPts val="500"/>
              </a:spcBef>
              <a:spcAft>
                <a:spcPts val="0"/>
              </a:spcAft>
              <a:buClr>
                <a:srgbClr val="000000"/>
              </a:buClr>
              <a:buSzPts val="1200"/>
              <a:buFont typeface="Space Grotesk"/>
              <a:buChar char="•"/>
            </a:pPr>
            <a:r>
              <a:rPr b="1" lang="en-US" sz="1200">
                <a:solidFill>
                  <a:srgbClr val="000000"/>
                </a:solidFill>
                <a:latin typeface="Space Grotesk"/>
                <a:ea typeface="Space Grotesk"/>
                <a:cs typeface="Space Grotesk"/>
                <a:sym typeface="Space Grotesk"/>
              </a:rPr>
              <a:t>Data cleaning </a:t>
            </a:r>
            <a:endParaRPr b="1" sz="2400">
              <a:solidFill>
                <a:srgbClr val="000000"/>
              </a:solidFill>
              <a:latin typeface="Space Grotesk"/>
              <a:ea typeface="Space Grotesk"/>
              <a:cs typeface="Space Grotesk"/>
              <a:sym typeface="Space Grotesk"/>
            </a:endParaRPr>
          </a:p>
          <a:p>
            <a:pPr indent="-234315" lvl="1" marL="685800" rtl="0" algn="l">
              <a:lnSpc>
                <a:spcPct val="90000"/>
              </a:lnSpc>
              <a:spcBef>
                <a:spcPts val="500"/>
              </a:spcBef>
              <a:spcAft>
                <a:spcPts val="0"/>
              </a:spcAft>
              <a:buClr>
                <a:srgbClr val="000000"/>
              </a:buClr>
              <a:buSzPts val="1200"/>
              <a:buFont typeface="Space Grotesk"/>
              <a:buChar char="•"/>
            </a:pPr>
            <a:r>
              <a:rPr b="1" lang="en-US" sz="1200">
                <a:solidFill>
                  <a:srgbClr val="000000"/>
                </a:solidFill>
                <a:latin typeface="Space Grotesk"/>
                <a:ea typeface="Space Grotesk"/>
                <a:cs typeface="Space Grotesk"/>
                <a:sym typeface="Space Grotesk"/>
              </a:rPr>
              <a:t>Main challenges</a:t>
            </a:r>
            <a:endParaRPr b="1" sz="2400">
              <a:solidFill>
                <a:srgbClr val="000000"/>
              </a:solidFill>
              <a:latin typeface="Space Grotesk"/>
              <a:ea typeface="Space Grotesk"/>
              <a:cs typeface="Space Grotesk"/>
              <a:sym typeface="Space Grotesk"/>
            </a:endParaRPr>
          </a:p>
          <a:p>
            <a:pPr indent="-235268" lvl="0" marL="228600" rtl="0" algn="l">
              <a:lnSpc>
                <a:spcPct val="90000"/>
              </a:lnSpc>
              <a:spcBef>
                <a:spcPts val="1000"/>
              </a:spcBef>
              <a:spcAft>
                <a:spcPts val="0"/>
              </a:spcAft>
              <a:buClr>
                <a:srgbClr val="000000"/>
              </a:buClr>
              <a:buSzPts val="1400"/>
              <a:buFont typeface="Space Grotesk"/>
              <a:buChar char="•"/>
            </a:pPr>
            <a:r>
              <a:rPr b="1" lang="en-US" sz="1400">
                <a:solidFill>
                  <a:srgbClr val="000000"/>
                </a:solidFill>
                <a:latin typeface="Space Grotesk"/>
                <a:ea typeface="Space Grotesk"/>
                <a:cs typeface="Space Grotesk"/>
                <a:sym typeface="Space Grotesk"/>
              </a:rPr>
              <a:t>Can we diagnose?	</a:t>
            </a:r>
            <a:endParaRPr b="1" sz="2800">
              <a:solidFill>
                <a:srgbClr val="000000"/>
              </a:solidFill>
              <a:latin typeface="Space Grotesk"/>
              <a:ea typeface="Space Grotesk"/>
              <a:cs typeface="Space Grotesk"/>
              <a:sym typeface="Space Grotesk"/>
            </a:endParaRPr>
          </a:p>
          <a:p>
            <a:pPr indent="-234315" lvl="1" marL="685800" rtl="0" algn="l">
              <a:lnSpc>
                <a:spcPct val="90000"/>
              </a:lnSpc>
              <a:spcBef>
                <a:spcPts val="500"/>
              </a:spcBef>
              <a:spcAft>
                <a:spcPts val="0"/>
              </a:spcAft>
              <a:buClr>
                <a:srgbClr val="FF0000"/>
              </a:buClr>
              <a:buSzPts val="1200"/>
              <a:buFont typeface="Space Grotesk"/>
              <a:buChar char="•"/>
            </a:pPr>
            <a:r>
              <a:rPr b="1" lang="en-US" sz="1200">
                <a:solidFill>
                  <a:srgbClr val="FF0000"/>
                </a:solidFill>
                <a:latin typeface="Space Grotesk"/>
                <a:ea typeface="Space Grotesk"/>
                <a:cs typeface="Space Grotesk"/>
                <a:sym typeface="Space Grotesk"/>
              </a:rPr>
              <a:t>Problem description</a:t>
            </a:r>
            <a:endParaRPr b="1" sz="2400">
              <a:solidFill>
                <a:srgbClr val="000000"/>
              </a:solidFill>
              <a:latin typeface="Space Grotesk"/>
              <a:ea typeface="Space Grotesk"/>
              <a:cs typeface="Space Grotesk"/>
              <a:sym typeface="Space Grotesk"/>
            </a:endParaRPr>
          </a:p>
          <a:p>
            <a:pPr indent="-234315" lvl="1" marL="685800" rtl="0" algn="l">
              <a:lnSpc>
                <a:spcPct val="90000"/>
              </a:lnSpc>
              <a:spcBef>
                <a:spcPts val="500"/>
              </a:spcBef>
              <a:spcAft>
                <a:spcPts val="0"/>
              </a:spcAft>
              <a:buClr>
                <a:srgbClr val="000000"/>
              </a:buClr>
              <a:buSzPts val="1200"/>
              <a:buFont typeface="Space Grotesk"/>
              <a:buChar char="•"/>
            </a:pPr>
            <a:r>
              <a:rPr b="1" lang="en-US" sz="1200">
                <a:solidFill>
                  <a:srgbClr val="000000"/>
                </a:solidFill>
                <a:latin typeface="Space Grotesk"/>
                <a:ea typeface="Space Grotesk"/>
                <a:cs typeface="Space Grotesk"/>
                <a:sym typeface="Space Grotesk"/>
              </a:rPr>
              <a:t>Approach used</a:t>
            </a:r>
            <a:endParaRPr b="1" sz="2400">
              <a:solidFill>
                <a:srgbClr val="000000"/>
              </a:solidFill>
              <a:latin typeface="Space Grotesk"/>
              <a:ea typeface="Space Grotesk"/>
              <a:cs typeface="Space Grotesk"/>
              <a:sym typeface="Space Grotesk"/>
            </a:endParaRPr>
          </a:p>
          <a:p>
            <a:pPr indent="-234315" lvl="1" marL="685800" rtl="0" algn="l">
              <a:lnSpc>
                <a:spcPct val="90000"/>
              </a:lnSpc>
              <a:spcBef>
                <a:spcPts val="500"/>
              </a:spcBef>
              <a:spcAft>
                <a:spcPts val="0"/>
              </a:spcAft>
              <a:buClr>
                <a:srgbClr val="000000"/>
              </a:buClr>
              <a:buSzPts val="1200"/>
              <a:buFont typeface="Space Grotesk"/>
              <a:buChar char="•"/>
            </a:pPr>
            <a:r>
              <a:rPr b="1" lang="en-US" sz="1200">
                <a:solidFill>
                  <a:srgbClr val="000000"/>
                </a:solidFill>
                <a:latin typeface="Space Grotesk"/>
                <a:ea typeface="Space Grotesk"/>
                <a:cs typeface="Space Grotesk"/>
                <a:sym typeface="Space Grotesk"/>
              </a:rPr>
              <a:t>Model results</a:t>
            </a:r>
            <a:endParaRPr b="1" sz="2400">
              <a:solidFill>
                <a:srgbClr val="000000"/>
              </a:solidFill>
              <a:latin typeface="Space Grotesk"/>
              <a:ea typeface="Space Grotesk"/>
              <a:cs typeface="Space Grotesk"/>
              <a:sym typeface="Space Grotesk"/>
            </a:endParaRPr>
          </a:p>
          <a:p>
            <a:pPr indent="-234315" lvl="1" marL="685800" rtl="0" algn="l">
              <a:lnSpc>
                <a:spcPct val="90000"/>
              </a:lnSpc>
              <a:spcBef>
                <a:spcPts val="500"/>
              </a:spcBef>
              <a:spcAft>
                <a:spcPts val="0"/>
              </a:spcAft>
              <a:buClr>
                <a:srgbClr val="000000"/>
              </a:buClr>
              <a:buSzPts val="1200"/>
              <a:buFont typeface="Space Grotesk"/>
              <a:buChar char="•"/>
            </a:pPr>
            <a:r>
              <a:rPr b="1" lang="en-US" sz="1200">
                <a:solidFill>
                  <a:srgbClr val="000000"/>
                </a:solidFill>
                <a:latin typeface="Space Grotesk"/>
                <a:ea typeface="Space Grotesk"/>
                <a:cs typeface="Space Grotesk"/>
                <a:sym typeface="Space Grotesk"/>
              </a:rPr>
              <a:t>Main and open challenges</a:t>
            </a:r>
            <a:endParaRPr b="1" sz="2400">
              <a:solidFill>
                <a:srgbClr val="000000"/>
              </a:solidFill>
              <a:latin typeface="Space Grotesk"/>
              <a:ea typeface="Space Grotesk"/>
              <a:cs typeface="Space Grotesk"/>
              <a:sym typeface="Space Grotesk"/>
            </a:endParaRPr>
          </a:p>
          <a:p>
            <a:pPr indent="-235268" lvl="0" marL="228600" rtl="0" algn="l">
              <a:lnSpc>
                <a:spcPct val="90000"/>
              </a:lnSpc>
              <a:spcBef>
                <a:spcPts val="1000"/>
              </a:spcBef>
              <a:spcAft>
                <a:spcPts val="0"/>
              </a:spcAft>
              <a:buClr>
                <a:srgbClr val="000000"/>
              </a:buClr>
              <a:buSzPts val="1400"/>
              <a:buFont typeface="Space Grotesk"/>
              <a:buChar char="•"/>
            </a:pPr>
            <a:r>
              <a:rPr b="1" lang="en-US" sz="1400">
                <a:solidFill>
                  <a:srgbClr val="000000"/>
                </a:solidFill>
                <a:latin typeface="Space Grotesk"/>
                <a:ea typeface="Space Grotesk"/>
                <a:cs typeface="Space Grotesk"/>
                <a:sym typeface="Space Grotesk"/>
              </a:rPr>
              <a:t>Let’s try to go further!	</a:t>
            </a:r>
            <a:endParaRPr b="1" sz="2800">
              <a:solidFill>
                <a:srgbClr val="000000"/>
              </a:solidFill>
              <a:latin typeface="Space Grotesk"/>
              <a:ea typeface="Space Grotesk"/>
              <a:cs typeface="Space Grotesk"/>
              <a:sym typeface="Space Grotesk"/>
            </a:endParaRPr>
          </a:p>
          <a:p>
            <a:pPr indent="-234315" lvl="1" marL="685800" rtl="0" algn="l">
              <a:lnSpc>
                <a:spcPct val="90000"/>
              </a:lnSpc>
              <a:spcBef>
                <a:spcPts val="500"/>
              </a:spcBef>
              <a:spcAft>
                <a:spcPts val="0"/>
              </a:spcAft>
              <a:buClr>
                <a:srgbClr val="FF0000"/>
              </a:buClr>
              <a:buSzPts val="1200"/>
              <a:buFont typeface="Space Grotesk"/>
              <a:buChar char="•"/>
            </a:pPr>
            <a:r>
              <a:rPr b="1" lang="en-US" sz="1200">
                <a:solidFill>
                  <a:srgbClr val="FF0000"/>
                </a:solidFill>
                <a:latin typeface="Space Grotesk"/>
                <a:ea typeface="Space Grotesk"/>
                <a:cs typeface="Space Grotesk"/>
                <a:sym typeface="Space Grotesk"/>
              </a:rPr>
              <a:t>Problem description</a:t>
            </a:r>
            <a:endParaRPr b="1" sz="2400">
              <a:solidFill>
                <a:srgbClr val="000000"/>
              </a:solidFill>
              <a:latin typeface="Space Grotesk"/>
              <a:ea typeface="Space Grotesk"/>
              <a:cs typeface="Space Grotesk"/>
              <a:sym typeface="Space Grotesk"/>
            </a:endParaRPr>
          </a:p>
          <a:p>
            <a:pPr indent="-234315" lvl="1" marL="685800" rtl="0" algn="l">
              <a:lnSpc>
                <a:spcPct val="90000"/>
              </a:lnSpc>
              <a:spcBef>
                <a:spcPts val="500"/>
              </a:spcBef>
              <a:spcAft>
                <a:spcPts val="0"/>
              </a:spcAft>
              <a:buClr>
                <a:srgbClr val="000000"/>
              </a:buClr>
              <a:buSzPts val="1200"/>
              <a:buFont typeface="Space Grotesk"/>
              <a:buChar char="•"/>
            </a:pPr>
            <a:r>
              <a:rPr b="1" lang="en-US" sz="1200">
                <a:solidFill>
                  <a:srgbClr val="000000"/>
                </a:solidFill>
                <a:latin typeface="Space Grotesk"/>
                <a:ea typeface="Space Grotesk"/>
                <a:cs typeface="Space Grotesk"/>
                <a:sym typeface="Space Grotesk"/>
              </a:rPr>
              <a:t>Approach used</a:t>
            </a:r>
            <a:endParaRPr b="1" sz="2400">
              <a:solidFill>
                <a:srgbClr val="000000"/>
              </a:solidFill>
              <a:latin typeface="Space Grotesk"/>
              <a:ea typeface="Space Grotesk"/>
              <a:cs typeface="Space Grotesk"/>
              <a:sym typeface="Space Grotesk"/>
            </a:endParaRPr>
          </a:p>
          <a:p>
            <a:pPr indent="-234315" lvl="1" marL="685800" rtl="0" algn="l">
              <a:lnSpc>
                <a:spcPct val="90000"/>
              </a:lnSpc>
              <a:spcBef>
                <a:spcPts val="500"/>
              </a:spcBef>
              <a:spcAft>
                <a:spcPts val="0"/>
              </a:spcAft>
              <a:buClr>
                <a:srgbClr val="000000"/>
              </a:buClr>
              <a:buSzPts val="1200"/>
              <a:buFont typeface="Space Grotesk"/>
              <a:buChar char="•"/>
            </a:pPr>
            <a:r>
              <a:rPr b="1" lang="en-US" sz="1200">
                <a:solidFill>
                  <a:srgbClr val="000000"/>
                </a:solidFill>
                <a:latin typeface="Space Grotesk"/>
                <a:ea typeface="Space Grotesk"/>
                <a:cs typeface="Space Grotesk"/>
                <a:sym typeface="Space Grotesk"/>
              </a:rPr>
              <a:t>Model results</a:t>
            </a:r>
            <a:endParaRPr b="1" sz="2400">
              <a:solidFill>
                <a:srgbClr val="000000"/>
              </a:solidFill>
              <a:latin typeface="Space Grotesk"/>
              <a:ea typeface="Space Grotesk"/>
              <a:cs typeface="Space Grotesk"/>
              <a:sym typeface="Space Grotesk"/>
            </a:endParaRPr>
          </a:p>
          <a:p>
            <a:pPr indent="-234315" lvl="1" marL="685800" rtl="0" algn="l">
              <a:lnSpc>
                <a:spcPct val="90000"/>
              </a:lnSpc>
              <a:spcBef>
                <a:spcPts val="500"/>
              </a:spcBef>
              <a:spcAft>
                <a:spcPts val="0"/>
              </a:spcAft>
              <a:buClr>
                <a:srgbClr val="000000"/>
              </a:buClr>
              <a:buSzPts val="1200"/>
              <a:buFont typeface="Space Grotesk"/>
              <a:buChar char="•"/>
            </a:pPr>
            <a:r>
              <a:rPr b="1" lang="en-US" sz="1200">
                <a:solidFill>
                  <a:srgbClr val="000000"/>
                </a:solidFill>
                <a:latin typeface="Space Grotesk"/>
                <a:ea typeface="Space Grotesk"/>
                <a:cs typeface="Space Grotesk"/>
                <a:sym typeface="Space Grotesk"/>
              </a:rPr>
              <a:t>Main and open challenges</a:t>
            </a:r>
            <a:endParaRPr b="1" sz="2400">
              <a:solidFill>
                <a:srgbClr val="000000"/>
              </a:solidFill>
              <a:latin typeface="Space Grotesk"/>
              <a:ea typeface="Space Grotesk"/>
              <a:cs typeface="Space Grotesk"/>
              <a:sym typeface="Space Grotesk"/>
            </a:endParaRPr>
          </a:p>
          <a:p>
            <a:pPr indent="0" lvl="0" marL="0" rtl="0" algn="l">
              <a:lnSpc>
                <a:spcPct val="90000"/>
              </a:lnSpc>
              <a:spcBef>
                <a:spcPts val="1000"/>
              </a:spcBef>
              <a:spcAft>
                <a:spcPts val="0"/>
              </a:spcAft>
              <a:buNone/>
            </a:pPr>
            <a:r>
              <a:t/>
            </a:r>
            <a:endParaRPr sz="20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67" name="Google Shape;67;h6524a41718b72fa9_0_0"/>
          <p:cNvSpPr txBox="1"/>
          <p:nvPr>
            <p:ph idx="1" type="body"/>
          </p:nvPr>
        </p:nvSpPr>
        <p:spPr>
          <a:xfrm>
            <a:off x="6096000" y="1930400"/>
            <a:ext cx="5283300" cy="4114800"/>
          </a:xfrm>
          <a:prstGeom prst="rect">
            <a:avLst/>
          </a:prstGeom>
        </p:spPr>
        <p:txBody>
          <a:bodyPr anchorCtr="0" anchor="t" bIns="0" lIns="0" spcFirstLastPara="1" rIns="0" wrap="square" tIns="0">
            <a:noAutofit/>
          </a:bodyPr>
          <a:lstStyle/>
          <a:p>
            <a:pPr indent="-203200" lvl="0" marL="228600" rtl="0" algn="l">
              <a:lnSpc>
                <a:spcPct val="90000"/>
              </a:lnSpc>
              <a:spcBef>
                <a:spcPts val="1000"/>
              </a:spcBef>
              <a:spcAft>
                <a:spcPts val="0"/>
              </a:spcAft>
              <a:buClr>
                <a:srgbClr val="000000"/>
              </a:buClr>
              <a:buSzPts val="1400"/>
              <a:buFont typeface="Space Grotesk"/>
              <a:buChar char="•"/>
            </a:pPr>
            <a:r>
              <a:rPr b="1" lang="en-US" sz="1400">
                <a:solidFill>
                  <a:srgbClr val="000000"/>
                </a:solidFill>
                <a:latin typeface="Space Grotesk"/>
                <a:ea typeface="Space Grotesk"/>
                <a:cs typeface="Space Grotesk"/>
                <a:sym typeface="Space Grotesk"/>
              </a:rPr>
              <a:t>Conclusion &amp; Outlook	</a:t>
            </a:r>
            <a:endParaRPr b="1" sz="2800">
              <a:solidFill>
                <a:srgbClr val="000000"/>
              </a:solidFill>
              <a:latin typeface="Space Grotesk"/>
              <a:ea typeface="Space Grotesk"/>
              <a:cs typeface="Space Grotesk"/>
              <a:sym typeface="Space Grotesk"/>
            </a:endParaRPr>
          </a:p>
          <a:p>
            <a:pPr indent="-190500" lvl="1" marL="685800" rtl="0" algn="l">
              <a:lnSpc>
                <a:spcPct val="90000"/>
              </a:lnSpc>
              <a:spcBef>
                <a:spcPts val="500"/>
              </a:spcBef>
              <a:spcAft>
                <a:spcPts val="0"/>
              </a:spcAft>
              <a:buClr>
                <a:srgbClr val="000000"/>
              </a:buClr>
              <a:buSzPts val="1200"/>
              <a:buFont typeface="Space Grotesk"/>
              <a:buChar char="•"/>
            </a:pPr>
            <a:r>
              <a:rPr b="1" lang="en-US" sz="1200">
                <a:solidFill>
                  <a:srgbClr val="000000"/>
                </a:solidFill>
                <a:latin typeface="Space Grotesk"/>
                <a:ea typeface="Space Grotesk"/>
                <a:cs typeface="Space Grotesk"/>
                <a:sym typeface="Space Grotesk"/>
              </a:rPr>
              <a:t>Where we are</a:t>
            </a:r>
            <a:endParaRPr b="1" sz="2400">
              <a:solidFill>
                <a:srgbClr val="000000"/>
              </a:solidFill>
              <a:latin typeface="Space Grotesk"/>
              <a:ea typeface="Space Grotesk"/>
              <a:cs typeface="Space Grotesk"/>
              <a:sym typeface="Space Grotesk"/>
            </a:endParaRPr>
          </a:p>
          <a:p>
            <a:pPr indent="-184150" lvl="2" marL="1143000" rtl="0" algn="l">
              <a:lnSpc>
                <a:spcPct val="90000"/>
              </a:lnSpc>
              <a:spcBef>
                <a:spcPts val="500"/>
              </a:spcBef>
              <a:spcAft>
                <a:spcPts val="0"/>
              </a:spcAft>
              <a:buClr>
                <a:srgbClr val="000000"/>
              </a:buClr>
              <a:buSzPts val="1100"/>
              <a:buFont typeface="Space Grotesk"/>
              <a:buChar char="•"/>
            </a:pPr>
            <a:r>
              <a:rPr b="1" lang="en-US" sz="1100">
                <a:solidFill>
                  <a:srgbClr val="000000"/>
                </a:solidFill>
                <a:latin typeface="Space Grotesk"/>
                <a:ea typeface="Space Grotesk"/>
                <a:cs typeface="Space Grotesk"/>
                <a:sym typeface="Space Grotesk"/>
              </a:rPr>
              <a:t>What was done, what were the main challenges </a:t>
            </a:r>
            <a:endParaRPr b="1" sz="2000">
              <a:solidFill>
                <a:srgbClr val="000000"/>
              </a:solidFill>
              <a:latin typeface="Space Grotesk"/>
              <a:ea typeface="Space Grotesk"/>
              <a:cs typeface="Space Grotesk"/>
              <a:sym typeface="Space Grotesk"/>
            </a:endParaRPr>
          </a:p>
          <a:p>
            <a:pPr indent="-184150" lvl="2" marL="1143000" rtl="0" algn="l">
              <a:lnSpc>
                <a:spcPct val="90000"/>
              </a:lnSpc>
              <a:spcBef>
                <a:spcPts val="500"/>
              </a:spcBef>
              <a:spcAft>
                <a:spcPts val="0"/>
              </a:spcAft>
              <a:buClr>
                <a:srgbClr val="000000"/>
              </a:buClr>
              <a:buSzPts val="1100"/>
              <a:buFont typeface="Space Grotesk"/>
              <a:buChar char="•"/>
            </a:pPr>
            <a:r>
              <a:rPr b="1" lang="en-US" sz="1100">
                <a:solidFill>
                  <a:srgbClr val="000000"/>
                </a:solidFill>
                <a:latin typeface="Space Grotesk"/>
                <a:ea typeface="Space Grotesk"/>
                <a:cs typeface="Space Grotesk"/>
                <a:sym typeface="Space Grotesk"/>
              </a:rPr>
              <a:t>Colorful solution</a:t>
            </a:r>
            <a:endParaRPr b="1" sz="2000">
              <a:solidFill>
                <a:srgbClr val="000000"/>
              </a:solidFill>
              <a:latin typeface="Space Grotesk"/>
              <a:ea typeface="Space Grotesk"/>
              <a:cs typeface="Space Grotesk"/>
              <a:sym typeface="Space Grotesk"/>
            </a:endParaRPr>
          </a:p>
          <a:p>
            <a:pPr indent="-184150" lvl="2" marL="1143000" rtl="0" algn="l">
              <a:lnSpc>
                <a:spcPct val="90000"/>
              </a:lnSpc>
              <a:spcBef>
                <a:spcPts val="500"/>
              </a:spcBef>
              <a:spcAft>
                <a:spcPts val="0"/>
              </a:spcAft>
              <a:buClr>
                <a:srgbClr val="000000"/>
              </a:buClr>
              <a:buSzPts val="1100"/>
              <a:buFont typeface="Space Grotesk"/>
              <a:buChar char="•"/>
            </a:pPr>
            <a:r>
              <a:rPr b="1" lang="en-US" sz="1100">
                <a:solidFill>
                  <a:srgbClr val="000000"/>
                </a:solidFill>
                <a:latin typeface="Space Grotesk"/>
                <a:ea typeface="Space Grotesk"/>
                <a:cs typeface="Space Grotesk"/>
                <a:sym typeface="Space Grotesk"/>
              </a:rPr>
              <a:t>Highlights of the results</a:t>
            </a:r>
            <a:endParaRPr b="1" sz="2000">
              <a:solidFill>
                <a:srgbClr val="000000"/>
              </a:solidFill>
              <a:latin typeface="Space Grotesk"/>
              <a:ea typeface="Space Grotesk"/>
              <a:cs typeface="Space Grotesk"/>
              <a:sym typeface="Space Grotesk"/>
            </a:endParaRPr>
          </a:p>
          <a:p>
            <a:pPr indent="-190500" lvl="1" marL="685800" rtl="0" algn="l">
              <a:lnSpc>
                <a:spcPct val="90000"/>
              </a:lnSpc>
              <a:spcBef>
                <a:spcPts val="500"/>
              </a:spcBef>
              <a:spcAft>
                <a:spcPts val="0"/>
              </a:spcAft>
              <a:buClr>
                <a:srgbClr val="000000"/>
              </a:buClr>
              <a:buSzPts val="1200"/>
              <a:buFont typeface="Space Grotesk"/>
              <a:buChar char="•"/>
            </a:pPr>
            <a:r>
              <a:rPr b="1" lang="en-US" sz="1200">
                <a:solidFill>
                  <a:srgbClr val="000000"/>
                </a:solidFill>
                <a:latin typeface="Space Grotesk"/>
                <a:ea typeface="Space Grotesk"/>
                <a:cs typeface="Space Grotesk"/>
                <a:sym typeface="Space Grotesk"/>
              </a:rPr>
              <a:t>What we plan</a:t>
            </a:r>
            <a:endParaRPr b="1" sz="2400">
              <a:solidFill>
                <a:srgbClr val="000000"/>
              </a:solidFill>
              <a:latin typeface="Space Grotesk"/>
              <a:ea typeface="Space Grotesk"/>
              <a:cs typeface="Space Grotesk"/>
              <a:sym typeface="Space Grotesk"/>
            </a:endParaRPr>
          </a:p>
          <a:p>
            <a:pPr indent="-184150" lvl="2" marL="1143000" rtl="0" algn="l">
              <a:lnSpc>
                <a:spcPct val="90000"/>
              </a:lnSpc>
              <a:spcBef>
                <a:spcPts val="500"/>
              </a:spcBef>
              <a:spcAft>
                <a:spcPts val="0"/>
              </a:spcAft>
              <a:buClr>
                <a:srgbClr val="000000"/>
              </a:buClr>
              <a:buSzPts val="1100"/>
              <a:buFont typeface="Space Grotesk"/>
              <a:buChar char="•"/>
            </a:pPr>
            <a:r>
              <a:rPr b="1" lang="en-US" sz="1100">
                <a:solidFill>
                  <a:srgbClr val="000000"/>
                </a:solidFill>
                <a:latin typeface="Space Grotesk"/>
                <a:ea typeface="Space Grotesk"/>
                <a:cs typeface="Space Grotesk"/>
                <a:sym typeface="Space Grotesk"/>
              </a:rPr>
              <a:t>Challenge identified</a:t>
            </a:r>
            <a:endParaRPr b="1" sz="2000">
              <a:solidFill>
                <a:srgbClr val="000000"/>
              </a:solidFill>
              <a:latin typeface="Space Grotesk"/>
              <a:ea typeface="Space Grotesk"/>
              <a:cs typeface="Space Grotesk"/>
              <a:sym typeface="Space Grotesk"/>
            </a:endParaRPr>
          </a:p>
          <a:p>
            <a:pPr indent="-184150" lvl="2" marL="1143000" rtl="0" algn="l">
              <a:lnSpc>
                <a:spcPct val="90000"/>
              </a:lnSpc>
              <a:spcBef>
                <a:spcPts val="500"/>
              </a:spcBef>
              <a:spcAft>
                <a:spcPts val="0"/>
              </a:spcAft>
              <a:buClr>
                <a:srgbClr val="000000"/>
              </a:buClr>
              <a:buSzPts val="1100"/>
              <a:buFont typeface="Space Grotesk"/>
              <a:buChar char="•"/>
            </a:pPr>
            <a:r>
              <a:rPr b="1" lang="en-US" sz="1100">
                <a:solidFill>
                  <a:srgbClr val="000000"/>
                </a:solidFill>
                <a:latin typeface="Space Grotesk"/>
                <a:ea typeface="Space Grotesk"/>
                <a:cs typeface="Space Grotesk"/>
                <a:sym typeface="Space Grotesk"/>
              </a:rPr>
              <a:t>Future scheduling work</a:t>
            </a:r>
            <a:endParaRPr b="1" sz="1400">
              <a:solidFill>
                <a:srgbClr val="000000"/>
              </a:solidFill>
              <a:latin typeface="Space Grotesk"/>
              <a:ea typeface="Space Grotesk"/>
              <a:cs typeface="Space Grotesk"/>
              <a:sym typeface="Space Grotesk"/>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1"/>
        </a:solidFill>
      </p:bgPr>
    </p:bg>
    <p:spTree>
      <p:nvGrpSpPr>
        <p:cNvPr id="72" name="Shape 72"/>
        <p:cNvGrpSpPr/>
        <p:nvPr/>
      </p:nvGrpSpPr>
      <p:grpSpPr>
        <a:xfrm>
          <a:off x="0" y="0"/>
          <a:ext cx="0" cy="0"/>
          <a:chOff x="0" y="0"/>
          <a:chExt cx="0" cy="0"/>
        </a:xfrm>
      </p:grpSpPr>
      <p:sp>
        <p:nvSpPr>
          <p:cNvPr id="73" name="Google Shape;73;h6524a41718b72fa9_0_20"/>
          <p:cNvSpPr/>
          <p:nvPr/>
        </p:nvSpPr>
        <p:spPr>
          <a:xfrm>
            <a:off x="812800" y="558800"/>
            <a:ext cx="609600" cy="507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74" name="Google Shape;74;h6524a41718b72fa9_0_20"/>
          <p:cNvSpPr txBox="1"/>
          <p:nvPr>
            <p:ph type="title"/>
          </p:nvPr>
        </p:nvSpPr>
        <p:spPr>
          <a:xfrm>
            <a:off x="812800" y="1200150"/>
            <a:ext cx="10883400" cy="5271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lang="en-US"/>
              <a:t>Let’s try to understand</a:t>
            </a:r>
            <a:endParaRPr sz="3600"/>
          </a:p>
        </p:txBody>
      </p:sp>
      <p:sp>
        <p:nvSpPr>
          <p:cNvPr id="75" name="Google Shape;75;h6524a41718b72fa9_0_20"/>
          <p:cNvSpPr/>
          <p:nvPr/>
        </p:nvSpPr>
        <p:spPr>
          <a:xfrm>
            <a:off x="815975" y="2295525"/>
            <a:ext cx="5506500" cy="717600"/>
          </a:xfrm>
          <a:prstGeom prst="roundRect">
            <a:avLst>
              <a:gd fmla="val 10177" name="adj"/>
            </a:avLst>
          </a:prstGeom>
          <a:solidFill>
            <a:srgbClr val="FFFDF8"/>
          </a:solidFill>
          <a:ln cap="flat" cmpd="sng" w="9525">
            <a:solidFill>
              <a:srgbClr val="E6E0D2"/>
            </a:solidFill>
            <a:prstDash val="solid"/>
            <a:round/>
            <a:headEnd len="sm" w="sm" type="none"/>
            <a:tailEnd len="sm" w="sm" type="none"/>
          </a:ln>
        </p:spPr>
        <p:txBody>
          <a:bodyPr anchorCtr="0" anchor="t" bIns="83375" lIns="134175" spcFirstLastPara="1" rIns="0" wrap="square" tIns="108775">
            <a:noAutofit/>
          </a:bodyPr>
          <a:lstStyle/>
          <a:p>
            <a:pPr indent="0" lvl="0" marL="0" marR="0" rtl="0" algn="l">
              <a:lnSpc>
                <a:spcPct val="150000"/>
              </a:lnSpc>
              <a:spcBef>
                <a:spcPts val="0"/>
              </a:spcBef>
              <a:spcAft>
                <a:spcPts val="0"/>
              </a:spcAft>
              <a:buClr>
                <a:srgbClr val="14213D"/>
              </a:buClr>
              <a:buSzPts val="1200"/>
              <a:buFont typeface="IBM Plex Mono"/>
              <a:buNone/>
            </a:pPr>
            <a:r>
              <a:rPr lang="en-US" sz="1200">
                <a:solidFill>
                  <a:srgbClr val="14213D"/>
                </a:solidFill>
                <a:latin typeface="IBM Plex Mono"/>
                <a:ea typeface="IBM Plex Mono"/>
                <a:cs typeface="IBM Plex Mono"/>
                <a:sym typeface="IBM Plex Mono"/>
              </a:rPr>
              <a:t>Process our raw material to extract the meaningful, quintessential piece of information</a:t>
            </a:r>
            <a:endParaRPr b="0" i="0" sz="1200" u="none" cap="none" strike="noStrike">
              <a:solidFill>
                <a:schemeClr val="dk1"/>
              </a:solidFill>
              <a:latin typeface="IBM Plex Mono"/>
              <a:ea typeface="IBM Plex Mono"/>
              <a:cs typeface="IBM Plex Mono"/>
              <a:sym typeface="IBM Plex Mono"/>
            </a:endParaRPr>
          </a:p>
        </p:txBody>
      </p:sp>
      <p:sp>
        <p:nvSpPr>
          <p:cNvPr id="76" name="Google Shape;76;h6524a41718b72fa9_0_20"/>
          <p:cNvSpPr/>
          <p:nvPr/>
        </p:nvSpPr>
        <p:spPr>
          <a:xfrm>
            <a:off x="6630491" y="2006600"/>
            <a:ext cx="4748700" cy="3448200"/>
          </a:xfrm>
          <a:prstGeom prst="roundRect">
            <a:avLst>
              <a:gd fmla="val 2947" name="adj"/>
            </a:avLst>
          </a:prstGeom>
          <a:solidFill>
            <a:srgbClr val="DBE7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77" name="Google Shape;77;h6524a41718b72fa9_0_20"/>
          <p:cNvSpPr/>
          <p:nvPr/>
        </p:nvSpPr>
        <p:spPr>
          <a:xfrm>
            <a:off x="6630491" y="2006600"/>
            <a:ext cx="4748709" cy="3448050"/>
          </a:xfrm>
          <a:custGeom>
            <a:rect b="b" l="l" r="r" t="t"/>
            <a:pathLst>
              <a:path extrusionOk="0" h="3448050" w="4748709">
                <a:moveTo>
                  <a:pt x="0" y="101600"/>
                </a:moveTo>
                <a:lnTo>
                  <a:pt x="0" y="101600"/>
                </a:lnTo>
                <a:cubicBezTo>
                  <a:pt x="0" y="45488"/>
                  <a:pt x="45488" y="0"/>
                  <a:pt x="101600" y="0"/>
                </a:cubicBezTo>
                <a:lnTo>
                  <a:pt x="4647109" y="0"/>
                </a:lnTo>
                <a:cubicBezTo>
                  <a:pt x="4674055" y="0"/>
                  <a:pt x="4699897" y="10704"/>
                  <a:pt x="4718951" y="29758"/>
                </a:cubicBezTo>
                <a:cubicBezTo>
                  <a:pt x="4738005" y="48812"/>
                  <a:pt x="4748709" y="74654"/>
                  <a:pt x="4748709" y="101600"/>
                </a:cubicBezTo>
                <a:lnTo>
                  <a:pt x="4748709" y="101600"/>
                </a:lnTo>
                <a:cubicBezTo>
                  <a:pt x="4748709" y="73544"/>
                  <a:pt x="4703221" y="50800"/>
                  <a:pt x="4647109" y="50800"/>
                </a:cubicBezTo>
                <a:lnTo>
                  <a:pt x="101600" y="50800"/>
                </a:lnTo>
                <a:cubicBezTo>
                  <a:pt x="45488" y="50800"/>
                  <a:pt x="0" y="73544"/>
                  <a:pt x="0" y="101600"/>
                </a:cubicBezTo>
                <a:close/>
              </a:path>
            </a:pathLst>
          </a:custGeom>
          <a:solidFill>
            <a:srgbClr val="1D4E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78" name="Google Shape;78;h6524a41718b72fa9_0_20"/>
          <p:cNvSpPr/>
          <p:nvPr/>
        </p:nvSpPr>
        <p:spPr>
          <a:xfrm>
            <a:off x="6884491" y="2311399"/>
            <a:ext cx="4368000" cy="234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4ED8"/>
              </a:buClr>
              <a:buSzPts val="1200"/>
              <a:buFont typeface="IBM Plex Mono"/>
              <a:buNone/>
            </a:pPr>
            <a:r>
              <a:rPr b="0" i="0" lang="en-US" sz="1200" u="none" cap="none" strike="noStrike">
                <a:solidFill>
                  <a:srgbClr val="1D4ED8"/>
                </a:solidFill>
                <a:latin typeface="IBM Plex Mono"/>
                <a:ea typeface="IBM Plex Mono"/>
                <a:cs typeface="IBM Plex Mono"/>
                <a:sym typeface="IBM Plex Mono"/>
              </a:rPr>
              <a:t>THE GOAL</a:t>
            </a:r>
            <a:endParaRPr b="0" i="0" sz="1200" u="none" cap="none" strike="noStrike">
              <a:solidFill>
                <a:schemeClr val="dk1"/>
              </a:solidFill>
              <a:latin typeface="IBM Plex Mono"/>
              <a:ea typeface="IBM Plex Mono"/>
              <a:cs typeface="IBM Plex Mono"/>
              <a:sym typeface="IBM Plex Mono"/>
            </a:endParaRPr>
          </a:p>
        </p:txBody>
      </p:sp>
      <p:sp>
        <p:nvSpPr>
          <p:cNvPr id="79" name="Google Shape;79;h6524a41718b72fa9_0_20"/>
          <p:cNvSpPr/>
          <p:nvPr/>
        </p:nvSpPr>
        <p:spPr>
          <a:xfrm>
            <a:off x="6884491" y="2647949"/>
            <a:ext cx="4368000" cy="1914000"/>
          </a:xfrm>
          <a:prstGeom prst="rect">
            <a:avLst/>
          </a:prstGeom>
          <a:noFill/>
          <a:ln>
            <a:noFill/>
          </a:ln>
        </p:spPr>
        <p:txBody>
          <a:bodyPr anchorCtr="0" anchor="t" bIns="0" lIns="0" spcFirstLastPara="1" rIns="0" wrap="square" tIns="0">
            <a:noAutofit/>
          </a:bodyPr>
          <a:lstStyle/>
          <a:p>
            <a:pPr indent="-342900" lvl="0" marL="342900" marR="0" rtl="0" algn="l">
              <a:lnSpc>
                <a:spcPct val="140000"/>
              </a:lnSpc>
              <a:spcBef>
                <a:spcPts val="0"/>
              </a:spcBef>
              <a:spcAft>
                <a:spcPts val="0"/>
              </a:spcAft>
              <a:buClr>
                <a:srgbClr val="14213D"/>
              </a:buClr>
              <a:buSzPts val="1600"/>
              <a:buFont typeface="IBM Plex Mono"/>
              <a:buAutoNum type="arabicPeriod"/>
            </a:pPr>
            <a:r>
              <a:rPr b="1" lang="en-US" sz="1600">
                <a:solidFill>
                  <a:srgbClr val="14213D"/>
                </a:solidFill>
                <a:latin typeface="IBM Plex Mono"/>
                <a:ea typeface="IBM Plex Mono"/>
                <a:cs typeface="IBM Plex Mono"/>
                <a:sym typeface="IBM Plex Mono"/>
              </a:rPr>
              <a:t>Clean</a:t>
            </a:r>
            <a:r>
              <a:rPr lang="en-US" sz="1600">
                <a:solidFill>
                  <a:srgbClr val="14213D"/>
                </a:solidFill>
                <a:latin typeface="IBM Plex Mono"/>
                <a:ea typeface="IBM Plex Mono"/>
                <a:cs typeface="IBM Plex Mono"/>
                <a:sym typeface="IBM Plex Mono"/>
              </a:rPr>
              <a:t> the raw datasets</a:t>
            </a:r>
            <a:endParaRPr i="0" sz="1800" u="none" cap="none" strike="noStrike">
              <a:solidFill>
                <a:schemeClr val="dk1"/>
              </a:solidFill>
              <a:latin typeface="IBM Plex Mono"/>
              <a:ea typeface="IBM Plex Mono"/>
              <a:cs typeface="IBM Plex Mono"/>
              <a:sym typeface="IBM Plex Mono"/>
            </a:endParaRPr>
          </a:p>
          <a:p>
            <a:pPr indent="-342900" lvl="0" marL="342900" marR="0" rtl="0" algn="l">
              <a:lnSpc>
                <a:spcPct val="140000"/>
              </a:lnSpc>
              <a:spcBef>
                <a:spcPts val="0"/>
              </a:spcBef>
              <a:spcAft>
                <a:spcPts val="0"/>
              </a:spcAft>
              <a:buClr>
                <a:srgbClr val="14213D"/>
              </a:buClr>
              <a:buSzPts val="1600"/>
              <a:buFont typeface="IBM Plex Mono"/>
              <a:buAutoNum type="arabicPeriod"/>
            </a:pPr>
            <a:r>
              <a:rPr b="1" lang="en-US" sz="1600">
                <a:solidFill>
                  <a:srgbClr val="14213D"/>
                </a:solidFill>
                <a:latin typeface="IBM Plex Mono"/>
                <a:ea typeface="IBM Plex Mono"/>
                <a:cs typeface="IBM Plex Mono"/>
                <a:sym typeface="IBM Plex Mono"/>
              </a:rPr>
              <a:t>Understand</a:t>
            </a:r>
            <a:r>
              <a:rPr lang="en-US" sz="1600">
                <a:solidFill>
                  <a:srgbClr val="14213D"/>
                </a:solidFill>
                <a:latin typeface="IBM Plex Mono"/>
                <a:ea typeface="IBM Plex Mono"/>
                <a:cs typeface="IBM Plex Mono"/>
                <a:sym typeface="IBM Plex Mono"/>
              </a:rPr>
              <a:t> the weight of each variables in the output charge of CLEAR beam</a:t>
            </a:r>
            <a:endParaRPr i="0" sz="1600" u="none" cap="none" strike="noStrike">
              <a:solidFill>
                <a:schemeClr val="dk1"/>
              </a:solidFill>
              <a:latin typeface="IBM Plex Mono"/>
              <a:ea typeface="IBM Plex Mono"/>
              <a:cs typeface="IBM Plex Mono"/>
              <a:sym typeface="IBM Plex Mono"/>
            </a:endParaRPr>
          </a:p>
        </p:txBody>
      </p:sp>
      <p:sp>
        <p:nvSpPr>
          <p:cNvPr id="80" name="Google Shape;80;h6524a41718b72fa9_0_20"/>
          <p:cNvSpPr/>
          <p:nvPr/>
        </p:nvSpPr>
        <p:spPr>
          <a:xfrm>
            <a:off x="815975" y="3748350"/>
            <a:ext cx="5613000" cy="813600"/>
          </a:xfrm>
          <a:prstGeom prst="rect">
            <a:avLst/>
          </a:prstGeom>
          <a:noFill/>
          <a:ln>
            <a:noFill/>
          </a:ln>
        </p:spPr>
        <p:txBody>
          <a:bodyPr anchorCtr="0" anchor="t" bIns="0" lIns="0" spcFirstLastPara="1" rIns="0" wrap="square" tIns="0">
            <a:noAutofit/>
          </a:bodyPr>
          <a:lstStyle/>
          <a:p>
            <a:pPr indent="-330200" lvl="0" marL="457200" marR="0" rtl="0" algn="l">
              <a:lnSpc>
                <a:spcPct val="140000"/>
              </a:lnSpc>
              <a:spcBef>
                <a:spcPts val="0"/>
              </a:spcBef>
              <a:spcAft>
                <a:spcPts val="0"/>
              </a:spcAft>
              <a:buClr>
                <a:srgbClr val="14213D"/>
              </a:buClr>
              <a:buSzPts val="1600"/>
              <a:buFont typeface="IBM Plex Mono"/>
              <a:buChar char="➢"/>
            </a:pPr>
            <a:r>
              <a:rPr lang="en-US" sz="1600">
                <a:solidFill>
                  <a:srgbClr val="14213D"/>
                </a:solidFill>
                <a:latin typeface="IBM Plex Mono"/>
                <a:ea typeface="IBM Plex Mono"/>
                <a:cs typeface="IBM Plex Mono"/>
                <a:sym typeface="IBM Plex Mono"/>
              </a:rPr>
              <a:t>In this part, we talk about cutting, stashing, synchronizing and correlating</a:t>
            </a:r>
            <a:endParaRPr sz="1600">
              <a:solidFill>
                <a:srgbClr val="14213D"/>
              </a:solidFill>
              <a:latin typeface="IBM Plex Mono"/>
              <a:ea typeface="IBM Plex Mono"/>
              <a:cs typeface="IBM Plex Mono"/>
              <a:sym typeface="IBM Plex Mono"/>
            </a:endParaRPr>
          </a:p>
          <a:p>
            <a:pPr indent="0" lvl="0" marL="0" marR="0" rtl="0" algn="l">
              <a:lnSpc>
                <a:spcPct val="140000"/>
              </a:lnSpc>
              <a:spcBef>
                <a:spcPts val="0"/>
              </a:spcBef>
              <a:spcAft>
                <a:spcPts val="0"/>
              </a:spcAft>
              <a:buNone/>
            </a:pPr>
            <a:r>
              <a:t/>
            </a:r>
            <a:endParaRPr sz="1600">
              <a:solidFill>
                <a:srgbClr val="14213D"/>
              </a:solidFill>
              <a:latin typeface="IBM Plex Sans"/>
              <a:ea typeface="IBM Plex Sans"/>
              <a:cs typeface="IBM Plex Sans"/>
              <a:sym typeface="IBM Plex Sans"/>
            </a:endParaRPr>
          </a:p>
        </p:txBody>
      </p:sp>
      <p:sp>
        <p:nvSpPr>
          <p:cNvPr id="81" name="Google Shape;81;h6524a41718b72fa9_0_20"/>
          <p:cNvSpPr/>
          <p:nvPr/>
        </p:nvSpPr>
        <p:spPr>
          <a:xfrm>
            <a:off x="812799" y="6242049"/>
            <a:ext cx="7848600" cy="234900"/>
          </a:xfrm>
          <a:prstGeom prst="rect">
            <a:avLst/>
          </a:prstGeom>
          <a:noFill/>
          <a:ln>
            <a:noFill/>
          </a:ln>
        </p:spPr>
        <p:txBody>
          <a:bodyPr anchorCtr="0" anchor="t" bIns="0" lIns="0" spcFirstLastPara="1" rIns="0" wrap="square" tIns="0">
            <a:noAutofit/>
          </a:bodyPr>
          <a:lstStyle/>
          <a:p>
            <a:pPr indent="0" lvl="0" marL="0" marR="0" rtl="0" algn="l">
              <a:lnSpc>
                <a:spcPct val="139916"/>
              </a:lnSpc>
              <a:spcBef>
                <a:spcPts val="0"/>
              </a:spcBef>
              <a:spcAft>
                <a:spcPts val="0"/>
              </a:spcAft>
              <a:buClr>
                <a:srgbClr val="5A6478"/>
              </a:buClr>
              <a:buSzPts val="1200"/>
              <a:buFont typeface="IBM Plex Mono"/>
              <a:buNone/>
            </a:pPr>
            <a:r>
              <a:rPr b="0" i="0" lang="en-US" sz="1200" u="none" cap="none" strike="noStrike">
                <a:solidFill>
                  <a:srgbClr val="5A6478"/>
                </a:solidFill>
                <a:latin typeface="IBM Plex Mono"/>
                <a:ea typeface="IBM Plex Mono"/>
                <a:cs typeface="IBM Plex Mono"/>
                <a:sym typeface="IBM Plex Mono"/>
              </a:rPr>
              <a:t>Forecasting the CLEAR beam charge</a:t>
            </a:r>
            <a:endParaRPr b="0" i="0" sz="1200" u="none" cap="none" strike="noStrike">
              <a:solidFill>
                <a:schemeClr val="dk1"/>
              </a:solidFill>
              <a:latin typeface="IBM Plex Mono"/>
              <a:ea typeface="IBM Plex Mono"/>
              <a:cs typeface="IBM Plex Mono"/>
              <a:sym typeface="IBM Plex Mono"/>
            </a:endParaRPr>
          </a:p>
        </p:txBody>
      </p:sp>
      <p:sp>
        <p:nvSpPr>
          <p:cNvPr id="82" name="Google Shape;82;h6524a41718b72fa9_0_20"/>
          <p:cNvSpPr/>
          <p:nvPr/>
        </p:nvSpPr>
        <p:spPr>
          <a:xfrm>
            <a:off x="813816" y="813816"/>
            <a:ext cx="2834700" cy="283500"/>
          </a:xfrm>
          <a:prstGeom prst="roundRect">
            <a:avLst>
              <a:gd fmla="val 17778" name="adj"/>
            </a:avLst>
          </a:prstGeom>
          <a:solidFill>
            <a:srgbClr val="0F76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83" name="Google Shape;83;h6524a41718b72fa9_0_20"/>
          <p:cNvSpPr/>
          <p:nvPr/>
        </p:nvSpPr>
        <p:spPr>
          <a:xfrm>
            <a:off x="914400" y="850392"/>
            <a:ext cx="27432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1 · EASY · RESULTS</a:t>
            </a:r>
            <a:endParaRPr b="0" i="0" sz="1200" u="none" cap="none" strike="noStrike">
              <a:solidFill>
                <a:schemeClr val="dk1"/>
              </a:solidFill>
              <a:latin typeface="IBM Plex Mono"/>
              <a:ea typeface="IBM Plex Mono"/>
              <a:cs typeface="IBM Plex Mono"/>
              <a:sym typeface="IBM Plex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
          <p:cNvSpPr/>
          <p:nvPr/>
        </p:nvSpPr>
        <p:spPr>
          <a:xfrm>
            <a:off x="523250" y="2007635"/>
            <a:ext cx="5894100" cy="3629700"/>
          </a:xfrm>
          <a:prstGeom prst="rect">
            <a:avLst/>
          </a:prstGeom>
          <a:noFill/>
          <a:ln>
            <a:noFill/>
          </a:ln>
        </p:spPr>
        <p:txBody>
          <a:bodyPr anchorCtr="0" anchor="t" bIns="0" lIns="0" spcFirstLastPara="1" rIns="0" wrap="square" tIns="0">
            <a:noAutofit/>
          </a:bodyPr>
          <a:lstStyle/>
          <a:p>
            <a:pPr indent="-330200" lvl="0" marL="457200" marR="0" rtl="0" algn="l">
              <a:lnSpc>
                <a:spcPct val="150000"/>
              </a:lnSpc>
              <a:spcBef>
                <a:spcPts val="1000"/>
              </a:spcBef>
              <a:spcAft>
                <a:spcPts val="0"/>
              </a:spcAft>
              <a:buClr>
                <a:srgbClr val="3B4660"/>
              </a:buClr>
              <a:buSzPts val="1600"/>
              <a:buFont typeface="IBM Plex Mono"/>
              <a:buChar char="➢"/>
            </a:pPr>
            <a:r>
              <a:rPr lang="en-US" sz="1600">
                <a:solidFill>
                  <a:srgbClr val="3B4660"/>
                </a:solidFill>
                <a:latin typeface="IBM Plex Mono"/>
                <a:ea typeface="IBM Plex Mono"/>
                <a:cs typeface="IBM Plex Mono"/>
                <a:sym typeface="IBM Plex Mono"/>
              </a:rPr>
              <a:t>Every run on a different situation</a:t>
            </a:r>
            <a:endParaRPr sz="1600">
              <a:solidFill>
                <a:srgbClr val="3B4660"/>
              </a:solidFill>
              <a:latin typeface="IBM Plex Mono"/>
              <a:ea typeface="IBM Plex Mono"/>
              <a:cs typeface="IBM Plex Mono"/>
              <a:sym typeface="IBM Plex Mono"/>
            </a:endParaRPr>
          </a:p>
          <a:p>
            <a:pPr indent="-330200" lvl="0" marL="457200" marR="0" rtl="0" algn="l">
              <a:lnSpc>
                <a:spcPct val="150000"/>
              </a:lnSpc>
              <a:spcBef>
                <a:spcPts val="100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Plateaus at </a:t>
            </a:r>
            <a:r>
              <a:rPr b="1" i="0" lang="en-US" sz="1600" u="none" cap="none" strike="noStrike">
                <a:solidFill>
                  <a:srgbClr val="3B4660"/>
                </a:solidFill>
                <a:latin typeface="IBM Plex Mono"/>
                <a:ea typeface="IBM Plex Mono"/>
                <a:cs typeface="IBM Plex Mono"/>
                <a:sym typeface="IBM Plex Mono"/>
              </a:rPr>
              <a:t>0.1, 0.22, 4.8, 5.5 and 10 nC</a:t>
            </a:r>
            <a:r>
              <a:rPr i="0" lang="en-US" sz="1600" u="none" cap="none" strike="noStrike">
                <a:solidFill>
                  <a:srgbClr val="3B4660"/>
                </a:solidFill>
                <a:latin typeface="IBM Plex Mono"/>
                <a:ea typeface="IBM Plex Mono"/>
                <a:cs typeface="IBM Plex Mono"/>
                <a:sym typeface="IBM Plex Mono"/>
              </a:rPr>
              <a:t>, laser scans, and a bunch charge monitor </a:t>
            </a:r>
            <a:r>
              <a:rPr lang="en-US" sz="1600">
                <a:solidFill>
                  <a:srgbClr val="3B4660"/>
                </a:solidFill>
                <a:latin typeface="IBM Plex Mono"/>
                <a:ea typeface="IBM Plex Mono"/>
                <a:cs typeface="IBM Plex Mono"/>
                <a:sym typeface="IBM Plex Mono"/>
              </a:rPr>
              <a:t>(</a:t>
            </a:r>
            <a:r>
              <a:rPr i="0" lang="en-US" sz="1600" u="none" cap="none" strike="noStrike">
                <a:solidFill>
                  <a:srgbClr val="3B4660"/>
                </a:solidFill>
                <a:latin typeface="IBM Plex Mono"/>
                <a:ea typeface="IBM Plex Mono"/>
                <a:cs typeface="IBM Plex Mono"/>
                <a:sym typeface="IBM Plex Mono"/>
              </a:rPr>
              <a:t>BCM) stuck at a 1.67 nC ceiling</a:t>
            </a:r>
            <a:endParaRPr i="0" sz="1600" u="none" cap="none" strike="noStrike">
              <a:solidFill>
                <a:schemeClr val="dk1"/>
              </a:solidFill>
              <a:latin typeface="IBM Plex Mono"/>
              <a:ea typeface="IBM Plex Mono"/>
              <a:cs typeface="IBM Plex Mono"/>
              <a:sym typeface="IBM Plex Mono"/>
            </a:endParaRPr>
          </a:p>
          <a:p>
            <a:pPr indent="-330200" lvl="0" marL="457200" marR="0" rtl="0" algn="l">
              <a:lnSpc>
                <a:spcPct val="150000"/>
              </a:lnSpc>
              <a:spcBef>
                <a:spcPts val="100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Clean cuts by inspection: 634 chunks, 63,327 shots, 8 contiguous segments in </a:t>
            </a:r>
            <a:r>
              <a:rPr b="1" i="0" lang="en-US" sz="1600" u="none" cap="none" strike="noStrike">
                <a:solidFill>
                  <a:srgbClr val="3B4660"/>
                </a:solidFill>
                <a:latin typeface="IBM Plex Mono"/>
                <a:ea typeface="IBM Plex Mono"/>
                <a:cs typeface="IBM Plex Mono"/>
                <a:sym typeface="IBM Plex Mono"/>
              </a:rPr>
              <a:t>3 regimes</a:t>
            </a:r>
            <a:r>
              <a:rPr i="0" lang="en-US" sz="1600" u="none" cap="none" strike="noStrike">
                <a:solidFill>
                  <a:srgbClr val="3B4660"/>
                </a:solidFill>
                <a:latin typeface="IBM Plex Mono"/>
                <a:ea typeface="IBM Plex Mono"/>
                <a:cs typeface="IBM Plex Mono"/>
                <a:sym typeface="IBM Plex Mono"/>
              </a:rPr>
              <a:t>:</a:t>
            </a:r>
            <a:endParaRPr i="0" sz="1600" u="none" cap="none" strike="noStrike">
              <a:solidFill>
                <a:srgbClr val="3B4660"/>
              </a:solidFill>
              <a:latin typeface="IBM Plex Mono"/>
              <a:ea typeface="IBM Plex Mono"/>
              <a:cs typeface="IBM Plex Mono"/>
              <a:sym typeface="IBM Plex Mono"/>
            </a:endParaRPr>
          </a:p>
          <a:p>
            <a:pPr indent="-330200" lvl="1" marL="914400" marR="0" rtl="0" algn="l">
              <a:lnSpc>
                <a:spcPct val="150000"/>
              </a:lnSpc>
              <a:spcBef>
                <a:spcPts val="1000"/>
              </a:spcBef>
              <a:spcAft>
                <a:spcPts val="0"/>
              </a:spcAft>
              <a:buClr>
                <a:srgbClr val="3B4660"/>
              </a:buClr>
              <a:buSzPts val="1600"/>
              <a:buFont typeface="IBM Plex Mono"/>
              <a:buChar char="○"/>
            </a:pPr>
            <a:r>
              <a:rPr b="1" i="0" lang="en-US" sz="1600" u="none" cap="none" strike="noStrike">
                <a:solidFill>
                  <a:srgbClr val="3B4660"/>
                </a:solidFill>
                <a:latin typeface="IBM Plex Mono"/>
                <a:ea typeface="IBM Plex Mono"/>
                <a:cs typeface="IBM Plex Mono"/>
                <a:sym typeface="IBM Plex Mono"/>
              </a:rPr>
              <a:t>Low charge (0.1 - 0.5 nC)</a:t>
            </a:r>
            <a:endParaRPr b="1" i="0" sz="1600" u="none" cap="none" strike="noStrike">
              <a:solidFill>
                <a:srgbClr val="3B4660"/>
              </a:solidFill>
              <a:latin typeface="IBM Plex Mono"/>
              <a:ea typeface="IBM Plex Mono"/>
              <a:cs typeface="IBM Plex Mono"/>
              <a:sym typeface="IBM Plex Mono"/>
            </a:endParaRPr>
          </a:p>
          <a:p>
            <a:pPr indent="-330200" lvl="1" marL="914400" marR="0" rtl="0" algn="l">
              <a:lnSpc>
                <a:spcPct val="150000"/>
              </a:lnSpc>
              <a:spcBef>
                <a:spcPts val="1000"/>
              </a:spcBef>
              <a:spcAft>
                <a:spcPts val="0"/>
              </a:spcAft>
              <a:buClr>
                <a:srgbClr val="3B4660"/>
              </a:buClr>
              <a:buSzPts val="1600"/>
              <a:buFont typeface="IBM Plex Mono"/>
              <a:buChar char="○"/>
            </a:pPr>
            <a:r>
              <a:rPr b="1" i="0" lang="en-US" sz="1600" u="none" cap="none" strike="noStrike">
                <a:solidFill>
                  <a:srgbClr val="3B4660"/>
                </a:solidFill>
                <a:latin typeface="IBM Plex Mono"/>
                <a:ea typeface="IBM Plex Mono"/>
                <a:cs typeface="IBM Plex Mono"/>
                <a:sym typeface="IBM Plex Mono"/>
              </a:rPr>
              <a:t>High charge (5 - 20 nC), relatively stable</a:t>
            </a:r>
            <a:endParaRPr b="1" i="0" sz="1600" u="none" cap="none" strike="noStrike">
              <a:solidFill>
                <a:srgbClr val="3B4660"/>
              </a:solidFill>
              <a:latin typeface="IBM Plex Mono"/>
              <a:ea typeface="IBM Plex Mono"/>
              <a:cs typeface="IBM Plex Mono"/>
              <a:sym typeface="IBM Plex Mono"/>
            </a:endParaRPr>
          </a:p>
          <a:p>
            <a:pPr indent="-330200" lvl="1" marL="914400" marR="0" rtl="0" algn="l">
              <a:lnSpc>
                <a:spcPct val="150000"/>
              </a:lnSpc>
              <a:spcBef>
                <a:spcPts val="1000"/>
              </a:spcBef>
              <a:spcAft>
                <a:spcPts val="0"/>
              </a:spcAft>
              <a:buClr>
                <a:srgbClr val="3B4660"/>
              </a:buClr>
              <a:buSzPts val="1600"/>
              <a:buFont typeface="IBM Plex Mono"/>
              <a:buChar char="○"/>
            </a:pPr>
            <a:r>
              <a:rPr b="1" i="0" lang="en-US" sz="1600" u="none" cap="none" strike="noStrike">
                <a:solidFill>
                  <a:srgbClr val="3B4660"/>
                </a:solidFill>
                <a:latin typeface="IBM Plex Mono"/>
                <a:ea typeface="IBM Plex Mono"/>
                <a:cs typeface="IBM Plex Mono"/>
                <a:sym typeface="IBM Plex Mono"/>
              </a:rPr>
              <a:t>High charge (5 - 20 nC), periodic drifts</a:t>
            </a:r>
            <a:endParaRPr b="1" i="0" sz="1600" u="none" cap="none" strike="noStrike">
              <a:solidFill>
                <a:schemeClr val="dk1"/>
              </a:solidFill>
              <a:latin typeface="IBM Plex Mono"/>
              <a:ea typeface="IBM Plex Mono"/>
              <a:cs typeface="IBM Plex Mono"/>
              <a:sym typeface="IBM Plex Mono"/>
            </a:endParaRPr>
          </a:p>
          <a:p>
            <a:pPr indent="0" lvl="0" marL="0" marR="0" rtl="0" algn="l">
              <a:lnSpc>
                <a:spcPct val="140000"/>
              </a:lnSpc>
              <a:spcBef>
                <a:spcPts val="0"/>
              </a:spcBef>
              <a:spcAft>
                <a:spcPts val="0"/>
              </a:spcAft>
              <a:buNone/>
            </a:pPr>
            <a:r>
              <a:t/>
            </a:r>
            <a:endParaRPr i="0" sz="1600" u="none" cap="none" strike="noStrike">
              <a:solidFill>
                <a:schemeClr val="dk1"/>
              </a:solidFill>
              <a:latin typeface="IBM Plex Mono"/>
              <a:ea typeface="IBM Plex Mono"/>
              <a:cs typeface="IBM Plex Mono"/>
              <a:sym typeface="IBM Plex Mono"/>
            </a:endParaRPr>
          </a:p>
        </p:txBody>
      </p:sp>
      <p:sp>
        <p:nvSpPr>
          <p:cNvPr id="90" name="Google Shape;90;p4"/>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91" name="Google Shape;91;p4"/>
          <p:cNvSpPr/>
          <p:nvPr/>
        </p:nvSpPr>
        <p:spPr>
          <a:xfrm>
            <a:off x="813816" y="813816"/>
            <a:ext cx="2834640" cy="283464"/>
          </a:xfrm>
          <a:prstGeom prst="roundRect">
            <a:avLst>
              <a:gd fmla="val 17778" name="adj"/>
            </a:avLst>
          </a:prstGeom>
          <a:solidFill>
            <a:srgbClr val="0F76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92" name="Google Shape;92;p4"/>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1 · EASY · RESULTS</a:t>
            </a:r>
            <a:endParaRPr b="0" i="0" sz="1200" u="none" cap="none" strike="noStrike">
              <a:solidFill>
                <a:schemeClr val="dk1"/>
              </a:solidFill>
              <a:latin typeface="IBM Plex Mono"/>
              <a:ea typeface="IBM Plex Mono"/>
              <a:cs typeface="IBM Plex Mono"/>
              <a:sym typeface="IBM Plex Mono"/>
            </a:endParaRPr>
          </a:p>
        </p:txBody>
      </p:sp>
      <p:sp>
        <p:nvSpPr>
          <p:cNvPr id="93" name="Google Shape;93;p4"/>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600"/>
              <a:buFont typeface="Space Grotesk"/>
              <a:buNone/>
            </a:pPr>
            <a:r>
              <a:rPr b="1" i="0" lang="en-US" sz="3600">
                <a:solidFill>
                  <a:srgbClr val="14213D"/>
                </a:solidFill>
                <a:latin typeface="Space Grotesk"/>
                <a:ea typeface="Space Grotesk"/>
                <a:cs typeface="Space Grotesk"/>
                <a:sym typeface="Space Grotesk"/>
              </a:rPr>
              <a:t>Run regimes, clean cuts and bad shots</a:t>
            </a:r>
            <a:endParaRPr sz="3600"/>
          </a:p>
        </p:txBody>
      </p:sp>
      <p:sp>
        <p:nvSpPr>
          <p:cNvPr id="94" name="Google Shape;94;p4"/>
          <p:cNvSpPr/>
          <p:nvPr/>
        </p:nvSpPr>
        <p:spPr>
          <a:xfrm>
            <a:off x="10058400" y="6242050"/>
            <a:ext cx="1320800" cy="23495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D28D9"/>
              </a:buClr>
              <a:buSzPts val="1200"/>
              <a:buFont typeface="IBM Plex Mono"/>
              <a:buNone/>
            </a:pPr>
            <a:r>
              <a:rPr b="0" i="0" lang="en-US" sz="1200" u="none" cap="none" strike="noStrike">
                <a:solidFill>
                  <a:srgbClr val="6D28D9"/>
                </a:solidFill>
                <a:latin typeface="IBM Plex Mono"/>
                <a:ea typeface="IBM Plex Mono"/>
                <a:cs typeface="IBM Plex Mono"/>
                <a:sym typeface="IBM Plex Mono"/>
              </a:rPr>
              <a:t>21</a:t>
            </a:r>
            <a:endParaRPr b="0" i="0" sz="1200" u="none" cap="none" strike="noStrike">
              <a:solidFill>
                <a:schemeClr val="dk1"/>
              </a:solidFill>
              <a:latin typeface="IBM Plex Mono"/>
              <a:ea typeface="IBM Plex Mono"/>
              <a:cs typeface="IBM Plex Mono"/>
              <a:sym typeface="IBM Plex Mono"/>
            </a:endParaRPr>
          </a:p>
        </p:txBody>
      </p:sp>
      <p:pic>
        <p:nvPicPr>
          <p:cNvPr descr="bcm_runs.png" id="95" name="Google Shape;95;p4"/>
          <p:cNvPicPr preferRelativeResize="0"/>
          <p:nvPr/>
        </p:nvPicPr>
        <p:blipFill rotWithShape="1">
          <a:blip r:embed="rId3">
            <a:alphaModFix/>
          </a:blip>
          <a:srcRect b="0" l="0" r="0" t="0"/>
          <a:stretch/>
        </p:blipFill>
        <p:spPr>
          <a:xfrm>
            <a:off x="6482213" y="1743856"/>
            <a:ext cx="5369814" cy="3370301"/>
          </a:xfrm>
          <a:prstGeom prst="rect">
            <a:avLst/>
          </a:prstGeom>
          <a:noFill/>
          <a:ln>
            <a:noFill/>
          </a:ln>
        </p:spPr>
      </p:pic>
      <p:pic>
        <p:nvPicPr>
          <p:cNvPr descr="stitched_bcm.png" id="96" name="Google Shape;96;p4"/>
          <p:cNvPicPr preferRelativeResize="0"/>
          <p:nvPr/>
        </p:nvPicPr>
        <p:blipFill rotWithShape="1">
          <a:blip r:embed="rId4">
            <a:alphaModFix/>
          </a:blip>
          <a:srcRect b="0" l="0" r="0" t="0"/>
          <a:stretch/>
        </p:blipFill>
        <p:spPr>
          <a:xfrm>
            <a:off x="6595900" y="5114156"/>
            <a:ext cx="5142429" cy="1631875"/>
          </a:xfrm>
          <a:prstGeom prst="rect">
            <a:avLst/>
          </a:prstGeom>
          <a:noFill/>
          <a:ln>
            <a:noFill/>
          </a:ln>
        </p:spPr>
      </p:pic>
      <p:sp>
        <p:nvSpPr>
          <p:cNvPr id="97" name="Google Shape;97;p4"/>
          <p:cNvSpPr/>
          <p:nvPr/>
        </p:nvSpPr>
        <p:spPr>
          <a:xfrm>
            <a:off x="9889189" y="1530622"/>
            <a:ext cx="1704600" cy="274200"/>
          </a:xfrm>
          <a:prstGeom prst="rect">
            <a:avLst/>
          </a:prstGeom>
          <a:noFill/>
          <a:ln>
            <a:noFill/>
          </a:ln>
        </p:spPr>
        <p:txBody>
          <a:bodyPr anchorCtr="0" anchor="t" bIns="0" lIns="0" spcFirstLastPara="1" rIns="0" wrap="square" tIns="0">
            <a:normAutofit/>
          </a:bodyPr>
          <a:lstStyle/>
          <a:p>
            <a:pPr indent="0" lvl="0" marL="0" marR="0" rtl="0" algn="l">
              <a:lnSpc>
                <a:spcPct val="199857"/>
              </a:lnSpc>
              <a:spcBef>
                <a:spcPts val="0"/>
              </a:spcBef>
              <a:spcAft>
                <a:spcPts val="0"/>
              </a:spcAft>
              <a:buClr>
                <a:srgbClr val="14213D"/>
              </a:buClr>
              <a:buSzPts val="700"/>
              <a:buFont typeface="IBM Plex Sans"/>
              <a:buNone/>
            </a:pPr>
            <a:r>
              <a:rPr b="1" i="0" lang="en-US" sz="700" u="none" cap="none" strike="noStrike">
                <a:solidFill>
                  <a:srgbClr val="14213D"/>
                </a:solidFill>
                <a:latin typeface="IBM Plex Sans"/>
                <a:ea typeface="IBM Plex Sans"/>
                <a:cs typeface="IBM Plex Sans"/>
                <a:sym typeface="IBM Plex Sans"/>
              </a:rPr>
              <a:t>All useful datasets stitched together</a:t>
            </a:r>
            <a:endParaRPr b="1" i="0" sz="700" u="none" cap="none" strike="noStrike">
              <a:solidFill>
                <a:schemeClr val="dk1"/>
              </a:solidFill>
              <a:latin typeface="IBM Plex Mono"/>
              <a:ea typeface="IBM Plex Mono"/>
              <a:cs typeface="IBM Plex Mono"/>
              <a:sym typeface="IBM Plex Mon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5"/>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04" name="Google Shape;104;p5"/>
          <p:cNvSpPr/>
          <p:nvPr/>
        </p:nvSpPr>
        <p:spPr>
          <a:xfrm>
            <a:off x="813816" y="813816"/>
            <a:ext cx="2834640" cy="283464"/>
          </a:xfrm>
          <a:prstGeom prst="roundRect">
            <a:avLst>
              <a:gd fmla="val 17778" name="adj"/>
            </a:avLst>
          </a:prstGeom>
          <a:solidFill>
            <a:srgbClr val="0F76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05" name="Google Shape;105;p5"/>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1 · EASY · RESULTS</a:t>
            </a:r>
            <a:endParaRPr b="0" i="0" sz="1200" u="none" cap="none" strike="noStrike">
              <a:solidFill>
                <a:schemeClr val="dk1"/>
              </a:solidFill>
              <a:latin typeface="IBM Plex Mono"/>
              <a:ea typeface="IBM Plex Mono"/>
              <a:cs typeface="IBM Plex Mono"/>
              <a:sym typeface="IBM Plex Mono"/>
            </a:endParaRPr>
          </a:p>
        </p:txBody>
      </p:sp>
      <p:sp>
        <p:nvSpPr>
          <p:cNvPr id="106" name="Google Shape;106;p5"/>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i="0" lang="en-US" sz="3600">
                <a:solidFill>
                  <a:srgbClr val="14213D"/>
                </a:solidFill>
                <a:latin typeface="Space Grotesk"/>
                <a:ea typeface="Space Grotesk"/>
                <a:cs typeface="Space Grotesk"/>
                <a:sym typeface="Space Grotesk"/>
              </a:rPr>
              <a:t>Synchronisation on the Beam pulse</a:t>
            </a:r>
            <a:endParaRPr sz="3600"/>
          </a:p>
        </p:txBody>
      </p:sp>
      <p:sp>
        <p:nvSpPr>
          <p:cNvPr id="107" name="Google Shape;107;p5"/>
          <p:cNvSpPr/>
          <p:nvPr/>
        </p:nvSpPr>
        <p:spPr>
          <a:xfrm>
            <a:off x="10058400" y="6242050"/>
            <a:ext cx="1320800" cy="23495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D28D9"/>
              </a:buClr>
              <a:buSzPts val="1200"/>
              <a:buFont typeface="IBM Plex Mono"/>
              <a:buNone/>
            </a:pPr>
            <a:r>
              <a:rPr b="0" i="0" lang="en-US" sz="1200" u="none" cap="none" strike="noStrike">
                <a:solidFill>
                  <a:srgbClr val="6D28D9"/>
                </a:solidFill>
                <a:latin typeface="IBM Plex Mono"/>
                <a:ea typeface="IBM Plex Mono"/>
                <a:cs typeface="IBM Plex Mono"/>
                <a:sym typeface="IBM Plex Mono"/>
              </a:rPr>
              <a:t>22</a:t>
            </a:r>
            <a:endParaRPr b="0" i="0" sz="1200" u="none" cap="none" strike="noStrike">
              <a:solidFill>
                <a:schemeClr val="dk1"/>
              </a:solidFill>
              <a:latin typeface="IBM Plex Mono"/>
              <a:ea typeface="IBM Plex Mono"/>
              <a:cs typeface="IBM Plex Mono"/>
              <a:sym typeface="IBM Plex Mono"/>
            </a:endParaRPr>
          </a:p>
        </p:txBody>
      </p:sp>
      <p:sp>
        <p:nvSpPr>
          <p:cNvPr id="108" name="Google Shape;108;p5"/>
          <p:cNvSpPr/>
          <p:nvPr/>
        </p:nvSpPr>
        <p:spPr>
          <a:xfrm>
            <a:off x="813816" y="1783080"/>
            <a:ext cx="10881360" cy="3200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1" lang="en-US" sz="1800">
                <a:solidFill>
                  <a:srgbClr val="14213D"/>
                </a:solidFill>
                <a:latin typeface="Space Grotesk"/>
                <a:ea typeface="Space Grotesk"/>
                <a:cs typeface="Space Grotesk"/>
                <a:sym typeface="Space Grotesk"/>
              </a:rPr>
              <a:t>Each variable has its own timestamp so we need to match them</a:t>
            </a:r>
            <a:endParaRPr b="1" i="0" sz="1800" u="none" cap="none" strike="noStrike">
              <a:solidFill>
                <a:schemeClr val="dk1"/>
              </a:solidFill>
              <a:latin typeface="Space Grotesk"/>
              <a:ea typeface="Space Grotesk"/>
              <a:cs typeface="Space Grotesk"/>
              <a:sym typeface="Space Grotesk"/>
            </a:endParaRPr>
          </a:p>
        </p:txBody>
      </p:sp>
      <p:sp>
        <p:nvSpPr>
          <p:cNvPr id="109" name="Google Shape;109;p5"/>
          <p:cNvSpPr/>
          <p:nvPr/>
        </p:nvSpPr>
        <p:spPr>
          <a:xfrm>
            <a:off x="7596850" y="4279525"/>
            <a:ext cx="4010400" cy="4893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000"/>
              <a:buFont typeface="IBM Plex Sans"/>
              <a:buNone/>
            </a:pPr>
            <a:r>
              <a:rPr i="0" lang="en-US" sz="1200" u="none" cap="none" strike="noStrike">
                <a:solidFill>
                  <a:srgbClr val="14213D"/>
                </a:solidFill>
                <a:latin typeface="IBM Plex Mono"/>
                <a:ea typeface="IBM Plex Mono"/>
                <a:cs typeface="IBM Plex Mono"/>
                <a:sym typeface="IBM Plex Mono"/>
              </a:rPr>
              <a:t>Laser vs charge over a run, scatter, and the lag scan peaking at +1 row</a:t>
            </a:r>
            <a:endParaRPr i="0" sz="1200" u="none" cap="none" strike="noStrike">
              <a:solidFill>
                <a:schemeClr val="dk1"/>
              </a:solidFill>
              <a:latin typeface="IBM Plex Mono"/>
              <a:ea typeface="IBM Plex Mono"/>
              <a:cs typeface="IBM Plex Mono"/>
              <a:sym typeface="IBM Plex Mono"/>
            </a:endParaRPr>
          </a:p>
        </p:txBody>
      </p:sp>
      <p:pic>
        <p:nvPicPr>
          <p:cNvPr descr="03_laser_scope_cell10.png" id="110" name="Google Shape;110;p5"/>
          <p:cNvPicPr preferRelativeResize="0"/>
          <p:nvPr/>
        </p:nvPicPr>
        <p:blipFill rotWithShape="1">
          <a:blip r:embed="rId3">
            <a:alphaModFix/>
          </a:blip>
          <a:srcRect b="0" l="0" r="0" t="0"/>
          <a:stretch/>
        </p:blipFill>
        <p:spPr>
          <a:xfrm>
            <a:off x="5079979" y="4817352"/>
            <a:ext cx="6873626" cy="1902125"/>
          </a:xfrm>
          <a:prstGeom prst="rect">
            <a:avLst/>
          </a:prstGeom>
          <a:noFill/>
          <a:ln>
            <a:noFill/>
          </a:ln>
        </p:spPr>
      </p:pic>
      <p:graphicFrame>
        <p:nvGraphicFramePr>
          <p:cNvPr id="111" name="Google Shape;111;p5"/>
          <p:cNvGraphicFramePr/>
          <p:nvPr/>
        </p:nvGraphicFramePr>
        <p:xfrm>
          <a:off x="6902188" y="2365719"/>
          <a:ext cx="3000000" cy="3000000"/>
        </p:xfrm>
        <a:graphic>
          <a:graphicData uri="http://schemas.openxmlformats.org/drawingml/2006/table">
            <a:tbl>
              <a:tblPr bandRow="1" firstRow="1">
                <a:noFill/>
                <a:tableStyleId>{112CE20D-767B-464B-9DCB-EA9EB6AF2ED4}</a:tableStyleId>
              </a:tblPr>
              <a:tblGrid>
                <a:gridCol w="1843425"/>
                <a:gridCol w="655450"/>
                <a:gridCol w="655450"/>
                <a:gridCol w="655450"/>
                <a:gridCol w="655450"/>
                <a:gridCol w="655450"/>
              </a:tblGrid>
              <a:tr h="274325">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ridge test R² (common rows)</a:t>
                      </a:r>
                      <a:endParaRPr u="none" cap="none" strike="noStrike">
                        <a:latin typeface="Arial"/>
                        <a:ea typeface="Arial"/>
                        <a:cs typeface="Arial"/>
                        <a:sym typeface="Arial"/>
                      </a:endParaRPr>
                    </a:p>
                  </a:txBody>
                  <a:tcPr marT="18300" marB="18300" marR="45725" marL="45725">
                    <a:solidFill>
                      <a:srgbClr val="E6E0D2"/>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seg 3</a:t>
                      </a:r>
                      <a:endParaRPr u="none" cap="none" strike="noStrike">
                        <a:latin typeface="Arial"/>
                        <a:ea typeface="Arial"/>
                        <a:cs typeface="Arial"/>
                        <a:sym typeface="Arial"/>
                      </a:endParaRPr>
                    </a:p>
                  </a:txBody>
                  <a:tcPr marT="18300" marB="18300" marR="45725" marL="45725">
                    <a:solidFill>
                      <a:srgbClr val="E6E0D2"/>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seg 4</a:t>
                      </a:r>
                      <a:endParaRPr u="none" cap="none" strike="noStrike">
                        <a:latin typeface="Arial"/>
                        <a:ea typeface="Arial"/>
                        <a:cs typeface="Arial"/>
                        <a:sym typeface="Arial"/>
                      </a:endParaRPr>
                    </a:p>
                  </a:txBody>
                  <a:tcPr marT="18300" marB="18300" marR="45725" marL="45725">
                    <a:solidFill>
                      <a:srgbClr val="E6E0D2"/>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seg 5</a:t>
                      </a:r>
                      <a:endParaRPr u="none" cap="none" strike="noStrike">
                        <a:latin typeface="Arial"/>
                        <a:ea typeface="Arial"/>
                        <a:cs typeface="Arial"/>
                        <a:sym typeface="Arial"/>
                      </a:endParaRPr>
                    </a:p>
                  </a:txBody>
                  <a:tcPr marT="18300" marB="18300" marR="45725" marL="45725">
                    <a:solidFill>
                      <a:srgbClr val="E6E0D2"/>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seg 1</a:t>
                      </a:r>
                      <a:endParaRPr u="none" cap="none" strike="noStrike">
                        <a:latin typeface="Arial"/>
                        <a:ea typeface="Arial"/>
                        <a:cs typeface="Arial"/>
                        <a:sym typeface="Arial"/>
                      </a:endParaRPr>
                    </a:p>
                  </a:txBody>
                  <a:tcPr marT="18300" marB="18300" marR="45725" marL="45725">
                    <a:solidFill>
                      <a:srgbClr val="E6E0D2"/>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seg 7</a:t>
                      </a:r>
                      <a:endParaRPr u="none" cap="none" strike="noStrike">
                        <a:latin typeface="Arial"/>
                        <a:ea typeface="Arial"/>
                        <a:cs typeface="Arial"/>
                        <a:sym typeface="Arial"/>
                      </a:endParaRPr>
                    </a:p>
                  </a:txBody>
                  <a:tcPr marT="18300" marB="18300" marR="45725" marL="45725">
                    <a:solidFill>
                      <a:srgbClr val="E6E0D2"/>
                    </a:solidFill>
                  </a:tcPr>
                </a:tc>
              </a:tr>
              <a:tr h="274325">
                <a:tc>
                  <a:txBody>
                    <a:bodyPr/>
                    <a:lstStyle/>
                    <a:p>
                      <a:pPr indent="0" lvl="0" marL="0" marR="0" rtl="0" algn="l">
                        <a:spcBef>
                          <a:spcPts val="0"/>
                        </a:spcBef>
                        <a:spcAft>
                          <a:spcPts val="0"/>
                        </a:spcAft>
                        <a:buNone/>
                      </a:pPr>
                      <a:r>
                        <a:rPr b="1" lang="en-US" u="none" cap="none" strike="noStrike">
                          <a:solidFill>
                            <a:srgbClr val="14213D"/>
                          </a:solidFill>
                          <a:latin typeface="Arial"/>
                          <a:ea typeface="Arial"/>
                          <a:cs typeface="Arial"/>
                          <a:sym typeface="Arial"/>
                        </a:rPr>
                        <a:t>row-shifted datasets</a:t>
                      </a:r>
                      <a:endParaRPr u="none" cap="none" strike="noStrike">
                        <a:latin typeface="Arial"/>
                        <a:ea typeface="Arial"/>
                        <a:cs typeface="Arial"/>
                        <a:sym typeface="Arial"/>
                      </a:endParaRPr>
                    </a:p>
                  </a:txBody>
                  <a:tcPr marT="18300" marB="18300" marR="45725" marL="45725">
                    <a:solidFill>
                      <a:srgbClr val="FFFDF8"/>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0.19</a:t>
                      </a:r>
                      <a:endParaRPr u="none" cap="none" strike="noStrike">
                        <a:latin typeface="Arial"/>
                        <a:ea typeface="Arial"/>
                        <a:cs typeface="Arial"/>
                        <a:sym typeface="Arial"/>
                      </a:endParaRPr>
                    </a:p>
                  </a:txBody>
                  <a:tcPr marT="18300" marB="18300" marR="45725" marL="45725">
                    <a:solidFill>
                      <a:srgbClr val="FFFDF8"/>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0.54</a:t>
                      </a:r>
                      <a:endParaRPr u="none" cap="none" strike="noStrike">
                        <a:latin typeface="Arial"/>
                        <a:ea typeface="Arial"/>
                        <a:cs typeface="Arial"/>
                        <a:sym typeface="Arial"/>
                      </a:endParaRPr>
                    </a:p>
                  </a:txBody>
                  <a:tcPr marT="18300" marB="18300" marR="45725" marL="45725">
                    <a:solidFill>
                      <a:srgbClr val="FFFDF8"/>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0.65</a:t>
                      </a:r>
                      <a:endParaRPr u="none" cap="none" strike="noStrike">
                        <a:latin typeface="Arial"/>
                        <a:ea typeface="Arial"/>
                        <a:cs typeface="Arial"/>
                        <a:sym typeface="Arial"/>
                      </a:endParaRPr>
                    </a:p>
                  </a:txBody>
                  <a:tcPr marT="18300" marB="18300" marR="45725" marL="45725">
                    <a:solidFill>
                      <a:srgbClr val="FFFDF8"/>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0.44</a:t>
                      </a:r>
                      <a:endParaRPr u="none" cap="none" strike="noStrike">
                        <a:latin typeface="Arial"/>
                        <a:ea typeface="Arial"/>
                        <a:cs typeface="Arial"/>
                        <a:sym typeface="Arial"/>
                      </a:endParaRPr>
                    </a:p>
                  </a:txBody>
                  <a:tcPr marT="18300" marB="18300" marR="45725" marL="45725">
                    <a:solidFill>
                      <a:srgbClr val="FFFDF8"/>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0.38</a:t>
                      </a:r>
                      <a:endParaRPr u="none" cap="none" strike="noStrike">
                        <a:latin typeface="Arial"/>
                        <a:ea typeface="Arial"/>
                        <a:cs typeface="Arial"/>
                        <a:sym typeface="Arial"/>
                      </a:endParaRPr>
                    </a:p>
                  </a:txBody>
                  <a:tcPr marT="18300" marB="18300" marR="45725" marL="45725">
                    <a:solidFill>
                      <a:srgbClr val="FFFDF8"/>
                    </a:solidFill>
                  </a:tcPr>
                </a:tc>
              </a:tr>
              <a:tr h="274325">
                <a:tc>
                  <a:txBody>
                    <a:bodyPr/>
                    <a:lstStyle/>
                    <a:p>
                      <a:pPr indent="0" lvl="0" marL="0" marR="0" rtl="0" algn="l">
                        <a:spcBef>
                          <a:spcPts val="0"/>
                        </a:spcBef>
                        <a:spcAft>
                          <a:spcPts val="0"/>
                        </a:spcAft>
                        <a:buNone/>
                      </a:pPr>
                      <a:r>
                        <a:rPr b="1" lang="en-US" u="none" cap="none" strike="noStrike">
                          <a:solidFill>
                            <a:srgbClr val="14213D"/>
                          </a:solidFill>
                          <a:latin typeface="Arial"/>
                          <a:ea typeface="Arial"/>
                          <a:cs typeface="Arial"/>
                          <a:sym typeface="Arial"/>
                        </a:rPr>
                        <a:t>pulse-aligned datasets</a:t>
                      </a:r>
                      <a:endParaRPr u="none" cap="none" strike="noStrike">
                        <a:latin typeface="Arial"/>
                        <a:ea typeface="Arial"/>
                        <a:cs typeface="Arial"/>
                        <a:sym typeface="Arial"/>
                      </a:endParaRPr>
                    </a:p>
                  </a:txBody>
                  <a:tcPr marT="18300" marB="18300" marR="45725" marL="45725">
                    <a:solidFill>
                      <a:srgbClr val="FFFDF8"/>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0.25</a:t>
                      </a:r>
                      <a:endParaRPr u="none" cap="none" strike="noStrike">
                        <a:latin typeface="Arial"/>
                        <a:ea typeface="Arial"/>
                        <a:cs typeface="Arial"/>
                        <a:sym typeface="Arial"/>
                      </a:endParaRPr>
                    </a:p>
                  </a:txBody>
                  <a:tcPr marT="18300" marB="18300" marR="45725" marL="45725">
                    <a:solidFill>
                      <a:srgbClr val="FFFDF8"/>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0.41</a:t>
                      </a:r>
                      <a:endParaRPr u="none" cap="none" strike="noStrike">
                        <a:latin typeface="Arial"/>
                        <a:ea typeface="Arial"/>
                        <a:cs typeface="Arial"/>
                        <a:sym typeface="Arial"/>
                      </a:endParaRPr>
                    </a:p>
                  </a:txBody>
                  <a:tcPr marT="18300" marB="18300" marR="45725" marL="45725">
                    <a:solidFill>
                      <a:srgbClr val="FFFDF8"/>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0.89</a:t>
                      </a:r>
                      <a:endParaRPr u="none" cap="none" strike="noStrike">
                        <a:latin typeface="Arial"/>
                        <a:ea typeface="Arial"/>
                        <a:cs typeface="Arial"/>
                        <a:sym typeface="Arial"/>
                      </a:endParaRPr>
                    </a:p>
                  </a:txBody>
                  <a:tcPr marT="18300" marB="18300" marR="45725" marL="45725">
                    <a:solidFill>
                      <a:srgbClr val="FFFDF8"/>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0.38</a:t>
                      </a:r>
                      <a:endParaRPr u="none" cap="none" strike="noStrike">
                        <a:latin typeface="Arial"/>
                        <a:ea typeface="Arial"/>
                        <a:cs typeface="Arial"/>
                        <a:sym typeface="Arial"/>
                      </a:endParaRPr>
                    </a:p>
                  </a:txBody>
                  <a:tcPr marT="18300" marB="18300" marR="45725" marL="45725">
                    <a:solidFill>
                      <a:srgbClr val="FFFDF8"/>
                    </a:solidFill>
                  </a:tcPr>
                </a:tc>
                <a:tc>
                  <a:txBody>
                    <a:bodyPr/>
                    <a:lstStyle/>
                    <a:p>
                      <a:pPr indent="0" lvl="0" marL="0" marR="0" rtl="0" algn="l">
                        <a:spcBef>
                          <a:spcPts val="0"/>
                        </a:spcBef>
                        <a:spcAft>
                          <a:spcPts val="0"/>
                        </a:spcAft>
                        <a:buNone/>
                      </a:pPr>
                      <a:r>
                        <a:rPr lang="en-US" u="none" cap="none" strike="noStrike">
                          <a:solidFill>
                            <a:srgbClr val="14213D"/>
                          </a:solidFill>
                          <a:latin typeface="Arial"/>
                          <a:ea typeface="Arial"/>
                          <a:cs typeface="Arial"/>
                          <a:sym typeface="Arial"/>
                        </a:rPr>
                        <a:t>0.76</a:t>
                      </a:r>
                      <a:endParaRPr u="none" cap="none" strike="noStrike">
                        <a:latin typeface="Arial"/>
                        <a:ea typeface="Arial"/>
                        <a:cs typeface="Arial"/>
                        <a:sym typeface="Arial"/>
                      </a:endParaRPr>
                    </a:p>
                  </a:txBody>
                  <a:tcPr marT="18300" marB="18300" marR="45725" marL="45725">
                    <a:solidFill>
                      <a:srgbClr val="FFFDF8"/>
                    </a:solidFill>
                  </a:tcPr>
                </a:tc>
              </a:tr>
            </a:tbl>
          </a:graphicData>
        </a:graphic>
      </p:graphicFrame>
      <p:sp>
        <p:nvSpPr>
          <p:cNvPr id="112" name="Google Shape;112;p5"/>
          <p:cNvSpPr/>
          <p:nvPr/>
        </p:nvSpPr>
        <p:spPr>
          <a:xfrm>
            <a:off x="337575" y="2317750"/>
            <a:ext cx="6330000" cy="2851800"/>
          </a:xfrm>
          <a:prstGeom prst="rect">
            <a:avLst/>
          </a:prstGeom>
          <a:noFill/>
          <a:ln>
            <a:noFill/>
          </a:ln>
        </p:spPr>
        <p:txBody>
          <a:bodyPr anchorCtr="0" anchor="t" bIns="0" lIns="0" spcFirstLastPara="1" rIns="0" wrap="square" tIns="0">
            <a:normAutofit/>
          </a:bodyPr>
          <a:lstStyle/>
          <a:p>
            <a:pPr indent="-215392" lvl="0" marL="196342"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Lag scans: </a:t>
            </a:r>
            <a:r>
              <a:rPr b="1" i="0" lang="en-US" sz="1600" u="none" cap="none" strike="noStrike">
                <a:solidFill>
                  <a:srgbClr val="3B4660"/>
                </a:solidFill>
                <a:latin typeface="IBM Plex Mono"/>
                <a:ea typeface="IBM Plex Mono"/>
                <a:cs typeface="IBM Plex Mono"/>
                <a:sym typeface="IBM Plex Mono"/>
              </a:rPr>
              <a:t>lab laser vs charge</a:t>
            </a:r>
            <a:r>
              <a:rPr i="0" lang="en-US" sz="1600" u="none" cap="none" strike="noStrike">
                <a:solidFill>
                  <a:srgbClr val="3B4660"/>
                </a:solidFill>
                <a:latin typeface="IBM Plex Mono"/>
                <a:ea typeface="IBM Plex Mono"/>
                <a:cs typeface="IBM Plex Mono"/>
                <a:sym typeface="IBM Plex Mono"/>
              </a:rPr>
              <a:t>:</a:t>
            </a:r>
            <a:endParaRPr i="0" sz="1600" u="none" cap="none" strike="noStrike">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lang="en-US">
                <a:solidFill>
                  <a:srgbClr val="3B4660"/>
                </a:solidFill>
                <a:latin typeface="IBM Plex Mono"/>
                <a:ea typeface="IBM Plex Mono"/>
                <a:cs typeface="IBM Plex Mono"/>
                <a:sym typeface="IBM Plex Mono"/>
              </a:rPr>
              <a:t>at </a:t>
            </a:r>
            <a:r>
              <a:rPr b="1" lang="en-US">
                <a:solidFill>
                  <a:srgbClr val="3B4660"/>
                </a:solidFill>
                <a:latin typeface="IBM Plex Mono"/>
                <a:ea typeface="IBM Plex Mono"/>
                <a:cs typeface="IBM Plex Mono"/>
                <a:sym typeface="IBM Plex Mono"/>
              </a:rPr>
              <a:t>lag = 0: R</a:t>
            </a:r>
            <a:r>
              <a:rPr b="1" i="0" lang="en-US" u="none" cap="none" strike="noStrike">
                <a:solidFill>
                  <a:srgbClr val="3B4660"/>
                </a:solidFill>
                <a:latin typeface="IBM Plex Mono"/>
                <a:ea typeface="IBM Plex Mono"/>
                <a:cs typeface="IBM Plex Mono"/>
                <a:sym typeface="IBM Plex Mono"/>
              </a:rPr>
              <a:t> = 0.17</a:t>
            </a:r>
            <a:endParaRPr b="1">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lang="en-US">
                <a:solidFill>
                  <a:srgbClr val="3B4660"/>
                </a:solidFill>
                <a:latin typeface="IBM Plex Mono"/>
                <a:ea typeface="IBM Plex Mono"/>
                <a:cs typeface="IBM Plex Mono"/>
                <a:sym typeface="IBM Plex Mono"/>
              </a:rPr>
              <a:t>at </a:t>
            </a:r>
            <a:r>
              <a:rPr b="1" lang="en-US">
                <a:solidFill>
                  <a:srgbClr val="3B4660"/>
                </a:solidFill>
                <a:latin typeface="IBM Plex Mono"/>
                <a:ea typeface="IBM Plex Mono"/>
                <a:cs typeface="IBM Plex Mono"/>
                <a:sym typeface="IBM Plex Mono"/>
              </a:rPr>
              <a:t>lag = +1: R =</a:t>
            </a:r>
            <a:r>
              <a:rPr b="1" i="0" lang="en-US" u="none" cap="none" strike="noStrike">
                <a:solidFill>
                  <a:srgbClr val="3B4660"/>
                </a:solidFill>
                <a:latin typeface="IBM Plex Mono"/>
                <a:ea typeface="IBM Plex Mono"/>
                <a:cs typeface="IBM Plex Mono"/>
                <a:sym typeface="IBM Plex Mono"/>
              </a:rPr>
              <a:t> 0.83</a:t>
            </a:r>
            <a:r>
              <a:rPr i="0" lang="en-US" u="none" cap="none" strike="noStrike">
                <a:solidFill>
                  <a:srgbClr val="3B4660"/>
                </a:solidFill>
                <a:latin typeface="IBM Plex Mono"/>
                <a:ea typeface="IBM Plex Mono"/>
                <a:cs typeface="IBM Plex Mono"/>
                <a:sym typeface="IBM Plex Mono"/>
              </a:rPr>
              <a:t> </a:t>
            </a:r>
            <a:endParaRPr i="0" u="none" cap="none" strike="noStrike">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i="0" lang="en-US" u="none" cap="none" strike="noStrike">
                <a:solidFill>
                  <a:srgbClr val="3B4660"/>
                </a:solidFill>
                <a:latin typeface="IBM Plex Mono"/>
                <a:ea typeface="IBM Plex Mono"/>
                <a:cs typeface="IBM Plex Mono"/>
                <a:sym typeface="IBM Plex Mono"/>
              </a:rPr>
              <a:t>camera peaks at lag 0</a:t>
            </a:r>
            <a:endParaRPr i="0" u="none" cap="none" strike="noStrike">
              <a:solidFill>
                <a:schemeClr val="dk1"/>
              </a:solidFill>
              <a:latin typeface="IBM Plex Mono"/>
              <a:ea typeface="IBM Plex Mono"/>
              <a:cs typeface="IBM Plex Mono"/>
              <a:sym typeface="IBM Plex Mono"/>
            </a:endParaRPr>
          </a:p>
          <a:p>
            <a:pPr indent="-215392" lvl="0" marL="196342" marR="0" rtl="0" algn="l">
              <a:lnSpc>
                <a:spcPct val="140000"/>
              </a:lnSpc>
              <a:spcBef>
                <a:spcPts val="0"/>
              </a:spcBef>
              <a:spcAft>
                <a:spcPts val="0"/>
              </a:spcAft>
              <a:buClr>
                <a:srgbClr val="3B4660"/>
              </a:buClr>
              <a:buSzPts val="1600"/>
              <a:buFont typeface="IBM Plex Mono"/>
              <a:buChar char="➢"/>
            </a:pPr>
            <a:r>
              <a:rPr lang="en-US" sz="1600">
                <a:solidFill>
                  <a:srgbClr val="3B4660"/>
                </a:solidFill>
                <a:latin typeface="IBM Plex Mono"/>
                <a:ea typeface="IBM Plex Mono"/>
                <a:cs typeface="IBM Plex Mono"/>
                <a:sym typeface="IBM Plex Mono"/>
              </a:rPr>
              <a:t>Laser diode sensor repeat</a:t>
            </a:r>
            <a:r>
              <a:rPr i="0" lang="en-US" sz="1600" u="none" cap="none" strike="noStrike">
                <a:solidFill>
                  <a:srgbClr val="3B4660"/>
                </a:solidFill>
                <a:latin typeface="IBM Plex Mono"/>
                <a:ea typeface="IBM Plex Mono"/>
                <a:cs typeface="IBM Plex Mono"/>
                <a:sym typeface="IBM Plex Mono"/>
              </a:rPr>
              <a:t> the previous pulse when read </a:t>
            </a:r>
            <a:r>
              <a:rPr lang="en-US" sz="1600">
                <a:solidFill>
                  <a:srgbClr val="3B4660"/>
                </a:solidFill>
                <a:latin typeface="IBM Plex Mono"/>
                <a:ea typeface="IBM Plex Mono"/>
                <a:cs typeface="IBM Plex Mono"/>
                <a:sym typeface="IBM Plex Mono"/>
              </a:rPr>
              <a:t>before</a:t>
            </a:r>
            <a:r>
              <a:rPr i="0" lang="en-US" sz="1600" u="none" cap="none" strike="noStrike">
                <a:solidFill>
                  <a:srgbClr val="3B4660"/>
                </a:solidFill>
                <a:latin typeface="IBM Plex Mono"/>
                <a:ea typeface="IBM Plex Mono"/>
                <a:cs typeface="IBM Plex Mono"/>
                <a:sym typeface="IBM Plex Mono"/>
              </a:rPr>
              <a:t> 2.2 s after the trigger</a:t>
            </a:r>
            <a:endParaRPr i="0" sz="1600" u="none" cap="none" strike="noStrike">
              <a:solidFill>
                <a:schemeClr val="dk1"/>
              </a:solidFill>
              <a:latin typeface="IBM Plex Mono"/>
              <a:ea typeface="IBM Plex Mono"/>
              <a:cs typeface="IBM Plex Mono"/>
              <a:sym typeface="IBM Plex Mono"/>
            </a:endParaRPr>
          </a:p>
          <a:p>
            <a:pPr indent="-215392" lvl="0" marL="196342"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RF traces</a:t>
            </a:r>
            <a:r>
              <a:rPr lang="en-US" sz="1600">
                <a:solidFill>
                  <a:srgbClr val="3B4660"/>
                </a:solidFill>
                <a:latin typeface="IBM Plex Mono"/>
                <a:ea typeface="IBM Plex Mono"/>
                <a:cs typeface="IBM Plex Mono"/>
                <a:sym typeface="IBM Plex Mono"/>
              </a:rPr>
              <a:t> displays a +1 lag compared to their respective stamp</a:t>
            </a:r>
            <a:r>
              <a:rPr i="0" lang="en-US" sz="1600" u="none" cap="none" strike="noStrike">
                <a:solidFill>
                  <a:srgbClr val="3B4660"/>
                </a:solidFill>
                <a:latin typeface="IBM Plex Mono"/>
                <a:ea typeface="IBM Plex Mono"/>
                <a:cs typeface="IBM Plex Mono"/>
                <a:sym typeface="IBM Plex Mono"/>
              </a:rPr>
              <a:t>; the camera stamp is one pulse late on 15 % of shots</a:t>
            </a:r>
            <a:endParaRPr i="0" sz="1300" u="none" cap="none" strike="noStrike">
              <a:solidFill>
                <a:schemeClr val="dk1"/>
              </a:solidFill>
              <a:latin typeface="IBM Plex Mono"/>
              <a:ea typeface="IBM Plex Mono"/>
              <a:cs typeface="IBM Plex Mono"/>
              <a:sym typeface="IBM Plex Mono"/>
            </a:endParaRPr>
          </a:p>
        </p:txBody>
      </p:sp>
      <p:sp>
        <p:nvSpPr>
          <p:cNvPr id="113" name="Google Shape;113;p5"/>
          <p:cNvSpPr txBox="1"/>
          <p:nvPr/>
        </p:nvSpPr>
        <p:spPr>
          <a:xfrm>
            <a:off x="138550" y="5481200"/>
            <a:ext cx="4941300" cy="1116900"/>
          </a:xfrm>
          <a:prstGeom prst="rect">
            <a:avLst/>
          </a:prstGeom>
          <a:noFill/>
          <a:ln>
            <a:noFill/>
          </a:ln>
        </p:spPr>
        <p:txBody>
          <a:bodyPr anchorCtr="0" anchor="t" bIns="91425" lIns="91425" spcFirstLastPara="1" rIns="91425" wrap="square" tIns="91425">
            <a:noAutofit/>
          </a:bodyPr>
          <a:lstStyle/>
          <a:p>
            <a:pPr indent="-215392" lvl="0" marL="196342" rtl="0" algn="l">
              <a:lnSpc>
                <a:spcPct val="140000"/>
              </a:lnSpc>
              <a:spcBef>
                <a:spcPts val="0"/>
              </a:spcBef>
              <a:spcAft>
                <a:spcPts val="0"/>
              </a:spcAft>
              <a:buClr>
                <a:srgbClr val="3B4660"/>
              </a:buClr>
              <a:buSzPts val="1600"/>
              <a:buFont typeface="Space Grotesk"/>
              <a:buChar char="➔"/>
            </a:pPr>
            <a:r>
              <a:rPr b="1" lang="en-US" sz="1600">
                <a:solidFill>
                  <a:srgbClr val="3B4660"/>
                </a:solidFill>
                <a:latin typeface="Space Grotesk"/>
                <a:ea typeface="Space Grotesk"/>
                <a:cs typeface="Space Grotesk"/>
                <a:sym typeface="Space Grotesk"/>
              </a:rPr>
              <a:t>Building of synchronized</a:t>
            </a:r>
            <a:r>
              <a:rPr b="1" lang="en-US" sz="1600">
                <a:solidFill>
                  <a:srgbClr val="3B4660"/>
                </a:solidFill>
                <a:latin typeface="Space Grotesk"/>
                <a:ea typeface="Space Grotesk"/>
                <a:cs typeface="Space Grotesk"/>
                <a:sym typeface="Space Grotesk"/>
              </a:rPr>
              <a:t> datasets : readings of unrecorded pulses become NaN instead of a neighbour's value</a:t>
            </a:r>
            <a:endParaRPr b="1" sz="1900">
              <a:solidFill>
                <a:srgbClr val="14213D"/>
              </a:solidFill>
              <a:latin typeface="Space Grotesk"/>
              <a:ea typeface="Space Grotesk"/>
              <a:cs typeface="Space Grotesk"/>
              <a:sym typeface="Space Grotesk"/>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p:nvPr/>
        </p:nvSpPr>
        <p:spPr>
          <a:xfrm>
            <a:off x="812800" y="558800"/>
            <a:ext cx="609600" cy="507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20" name="Google Shape;120;p3"/>
          <p:cNvSpPr/>
          <p:nvPr/>
        </p:nvSpPr>
        <p:spPr>
          <a:xfrm>
            <a:off x="813816" y="813816"/>
            <a:ext cx="2834700" cy="283500"/>
          </a:xfrm>
          <a:prstGeom prst="roundRect">
            <a:avLst>
              <a:gd fmla="val 17778" name="adj"/>
            </a:avLst>
          </a:prstGeom>
          <a:solidFill>
            <a:srgbClr val="0F76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21" name="Google Shape;121;p3"/>
          <p:cNvSpPr/>
          <p:nvPr/>
        </p:nvSpPr>
        <p:spPr>
          <a:xfrm>
            <a:off x="914400" y="850392"/>
            <a:ext cx="2743200" cy="2376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1 · EASY · RESULTS</a:t>
            </a:r>
            <a:endParaRPr b="0" i="0" sz="1200" u="none" cap="none" strike="noStrike">
              <a:solidFill>
                <a:schemeClr val="dk1"/>
              </a:solidFill>
              <a:latin typeface="IBM Plex Mono"/>
              <a:ea typeface="IBM Plex Mono"/>
              <a:cs typeface="IBM Plex Mono"/>
              <a:sym typeface="IBM Plex Mono"/>
            </a:endParaRPr>
          </a:p>
        </p:txBody>
      </p:sp>
      <p:sp>
        <p:nvSpPr>
          <p:cNvPr id="122" name="Google Shape;122;p3"/>
          <p:cNvSpPr txBox="1"/>
          <p:nvPr>
            <p:ph type="title"/>
          </p:nvPr>
        </p:nvSpPr>
        <p:spPr>
          <a:xfrm>
            <a:off x="812800" y="1200150"/>
            <a:ext cx="10883400" cy="5271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lang="en-US"/>
              <a:t>The first step</a:t>
            </a:r>
            <a:endParaRPr sz="3600"/>
          </a:p>
        </p:txBody>
      </p:sp>
      <p:sp>
        <p:nvSpPr>
          <p:cNvPr id="123" name="Google Shape;123;p3"/>
          <p:cNvSpPr/>
          <p:nvPr/>
        </p:nvSpPr>
        <p:spPr>
          <a:xfrm>
            <a:off x="813825" y="2298550"/>
            <a:ext cx="5997600" cy="2272800"/>
          </a:xfrm>
          <a:prstGeom prst="rect">
            <a:avLst/>
          </a:prstGeom>
          <a:noFill/>
          <a:ln>
            <a:noFill/>
          </a:ln>
        </p:spPr>
        <p:txBody>
          <a:bodyPr anchorCtr="0" anchor="t" bIns="0" lIns="0" spcFirstLastPara="1" rIns="0" wrap="square" tIns="0">
            <a:normAutofit/>
          </a:bodyPr>
          <a:lstStyle/>
          <a:p>
            <a:pPr indent="-342900" lvl="0" marL="457200" marR="0" rtl="0" algn="l">
              <a:lnSpc>
                <a:spcPct val="150000"/>
              </a:lnSpc>
              <a:spcBef>
                <a:spcPts val="1000"/>
              </a:spcBef>
              <a:spcAft>
                <a:spcPts val="0"/>
              </a:spcAft>
              <a:buClr>
                <a:schemeClr val="dk1"/>
              </a:buClr>
              <a:buSzPts val="1800"/>
              <a:buFont typeface="IBM Plex Mono"/>
              <a:buChar char="➢"/>
            </a:pPr>
            <a:r>
              <a:rPr lang="en-US" sz="1800">
                <a:solidFill>
                  <a:schemeClr val="dk1"/>
                </a:solidFill>
                <a:latin typeface="IBM Plex Mono"/>
                <a:ea typeface="IBM Plex Mono"/>
                <a:cs typeface="IBM Plex Mono"/>
                <a:sym typeface="IBM Plex Mono"/>
              </a:rPr>
              <a:t>~120 k shots, stored in 100 shot chunks </a:t>
            </a:r>
            <a:endParaRPr sz="1800">
              <a:solidFill>
                <a:schemeClr val="dk1"/>
              </a:solidFill>
              <a:latin typeface="IBM Plex Mono"/>
              <a:ea typeface="IBM Plex Mono"/>
              <a:cs typeface="IBM Plex Mono"/>
              <a:sym typeface="IBM Plex Mono"/>
            </a:endParaRPr>
          </a:p>
          <a:p>
            <a:pPr indent="-342900" lvl="0" marL="457200" marR="0" rtl="0" algn="l">
              <a:lnSpc>
                <a:spcPct val="150000"/>
              </a:lnSpc>
              <a:spcBef>
                <a:spcPts val="1000"/>
              </a:spcBef>
              <a:spcAft>
                <a:spcPts val="0"/>
              </a:spcAft>
              <a:buClr>
                <a:schemeClr val="dk1"/>
              </a:buClr>
              <a:buSzPts val="1800"/>
              <a:buFont typeface="IBM Plex Mono"/>
              <a:buChar char="➢"/>
            </a:pPr>
            <a:r>
              <a:rPr lang="en-US" sz="1800">
                <a:solidFill>
                  <a:schemeClr val="dk1"/>
                </a:solidFill>
                <a:latin typeface="IBM Plex Mono"/>
                <a:ea typeface="IBM Plex Mono"/>
                <a:cs typeface="IBM Plex Mono"/>
                <a:sym typeface="IBM Plex Mono"/>
              </a:rPr>
              <a:t>Very heterogeneous datasets:</a:t>
            </a:r>
            <a:endParaRPr sz="1800">
              <a:solidFill>
                <a:schemeClr val="dk1"/>
              </a:solidFill>
              <a:latin typeface="IBM Plex Mono"/>
              <a:ea typeface="IBM Plex Mono"/>
              <a:cs typeface="IBM Plex Mono"/>
              <a:sym typeface="IBM Plex Mono"/>
            </a:endParaRPr>
          </a:p>
          <a:p>
            <a:pPr indent="-330200" lvl="1" marL="914400" marR="0" rtl="0" algn="l">
              <a:lnSpc>
                <a:spcPct val="150000"/>
              </a:lnSpc>
              <a:spcBef>
                <a:spcPts val="1000"/>
              </a:spcBef>
              <a:spcAft>
                <a:spcPts val="0"/>
              </a:spcAft>
              <a:buClr>
                <a:schemeClr val="dk1"/>
              </a:buClr>
              <a:buSzPts val="1600"/>
              <a:buFont typeface="IBM Plex Mono"/>
              <a:buChar char="○"/>
            </a:pPr>
            <a:r>
              <a:rPr lang="en-US" sz="1600">
                <a:solidFill>
                  <a:schemeClr val="dk1"/>
                </a:solidFill>
                <a:latin typeface="IBM Plex Mono"/>
                <a:ea typeface="IBM Plex Mono"/>
                <a:cs typeface="IBM Plex Mono"/>
                <a:sym typeface="IBM Plex Mono"/>
              </a:rPr>
              <a:t>1 series of image (BTV)</a:t>
            </a:r>
            <a:endParaRPr sz="1600">
              <a:solidFill>
                <a:schemeClr val="dk1"/>
              </a:solidFill>
              <a:latin typeface="IBM Plex Mono"/>
              <a:ea typeface="IBM Plex Mono"/>
              <a:cs typeface="IBM Plex Mono"/>
              <a:sym typeface="IBM Plex Mono"/>
            </a:endParaRPr>
          </a:p>
          <a:p>
            <a:pPr indent="-330200" lvl="1" marL="914400" marR="0" rtl="0" algn="l">
              <a:lnSpc>
                <a:spcPct val="150000"/>
              </a:lnSpc>
              <a:spcBef>
                <a:spcPts val="1000"/>
              </a:spcBef>
              <a:spcAft>
                <a:spcPts val="0"/>
              </a:spcAft>
              <a:buClr>
                <a:schemeClr val="dk1"/>
              </a:buClr>
              <a:buSzPts val="1600"/>
              <a:buFont typeface="IBM Plex Mono"/>
              <a:buChar char="○"/>
            </a:pPr>
            <a:r>
              <a:rPr lang="en-US" sz="1600">
                <a:solidFill>
                  <a:schemeClr val="dk1"/>
                </a:solidFill>
                <a:latin typeface="IBM Plex Mono"/>
                <a:ea typeface="IBM Plex Mono"/>
                <a:cs typeface="IBM Plex Mono"/>
                <a:sym typeface="IBM Plex Mono"/>
              </a:rPr>
              <a:t>72 series of scalars</a:t>
            </a:r>
            <a:endParaRPr sz="1600">
              <a:solidFill>
                <a:schemeClr val="dk1"/>
              </a:solidFill>
              <a:latin typeface="IBM Plex Mono"/>
              <a:ea typeface="IBM Plex Mono"/>
              <a:cs typeface="IBM Plex Mono"/>
              <a:sym typeface="IBM Plex Mono"/>
            </a:endParaRPr>
          </a:p>
          <a:p>
            <a:pPr indent="-330200" lvl="1" marL="914400" marR="0" rtl="0" algn="l">
              <a:lnSpc>
                <a:spcPct val="150000"/>
              </a:lnSpc>
              <a:spcBef>
                <a:spcPts val="1000"/>
              </a:spcBef>
              <a:spcAft>
                <a:spcPts val="0"/>
              </a:spcAft>
              <a:buClr>
                <a:schemeClr val="dk1"/>
              </a:buClr>
              <a:buSzPts val="1600"/>
              <a:buFont typeface="IBM Plex Mono"/>
              <a:buChar char="○"/>
            </a:pPr>
            <a:r>
              <a:rPr lang="en-US" sz="1600">
                <a:solidFill>
                  <a:schemeClr val="dk1"/>
                </a:solidFill>
                <a:latin typeface="IBM Plex Mono"/>
                <a:ea typeface="IBM Plex Mono"/>
                <a:cs typeface="IBM Plex Mono"/>
                <a:sym typeface="IBM Plex Mono"/>
              </a:rPr>
              <a:t>19 series of waveforms</a:t>
            </a:r>
            <a:endParaRPr sz="1600">
              <a:solidFill>
                <a:schemeClr val="dk1"/>
              </a:solidFill>
              <a:latin typeface="IBM Plex Mono"/>
              <a:ea typeface="IBM Plex Mono"/>
              <a:cs typeface="IBM Plex Mono"/>
              <a:sym typeface="IBM Plex Mono"/>
            </a:endParaRPr>
          </a:p>
          <a:p>
            <a:pPr indent="-342900" lvl="0" marL="457200" marR="0" rtl="0" algn="l">
              <a:lnSpc>
                <a:spcPct val="150000"/>
              </a:lnSpc>
              <a:spcBef>
                <a:spcPts val="1000"/>
              </a:spcBef>
              <a:spcAft>
                <a:spcPts val="0"/>
              </a:spcAft>
              <a:buClr>
                <a:schemeClr val="dk1"/>
              </a:buClr>
              <a:buSzPts val="1800"/>
              <a:buFont typeface="IBM Plex Mono"/>
              <a:buChar char="➢"/>
            </a:pPr>
            <a:r>
              <a:rPr lang="en-US" sz="1800">
                <a:solidFill>
                  <a:schemeClr val="dk1"/>
                </a:solidFill>
                <a:latin typeface="IBM Plex Mono"/>
                <a:ea typeface="IBM Plex Mono"/>
                <a:cs typeface="IBM Plex Mono"/>
                <a:sym typeface="IBM Plex Mono"/>
              </a:rPr>
              <a:t>Unequal</a:t>
            </a:r>
            <a:r>
              <a:rPr lang="en-US" sz="1800">
                <a:solidFill>
                  <a:schemeClr val="dk1"/>
                </a:solidFill>
                <a:latin typeface="IBM Plex Mono"/>
                <a:ea typeface="IBM Plex Mono"/>
                <a:cs typeface="IBM Plex Mono"/>
                <a:sym typeface="IBM Plex Mono"/>
              </a:rPr>
              <a:t> quality of the measurements</a:t>
            </a:r>
            <a:endParaRPr sz="1800">
              <a:solidFill>
                <a:schemeClr val="dk1"/>
              </a:solidFill>
              <a:latin typeface="IBM Plex Mono"/>
              <a:ea typeface="IBM Plex Mono"/>
              <a:cs typeface="IBM Plex Mono"/>
              <a:sym typeface="IBM Plex Mono"/>
            </a:endParaRPr>
          </a:p>
        </p:txBody>
      </p:sp>
      <p:pic>
        <p:nvPicPr>
          <p:cNvPr descr="04_btv0125_cell5.png" id="124" name="Google Shape;124;p3"/>
          <p:cNvPicPr preferRelativeResize="0"/>
          <p:nvPr/>
        </p:nvPicPr>
        <p:blipFill rotWithShape="1">
          <a:blip r:embed="rId3">
            <a:alphaModFix/>
          </a:blip>
          <a:srcRect b="0" l="0" r="49597" t="4680"/>
          <a:stretch/>
        </p:blipFill>
        <p:spPr>
          <a:xfrm>
            <a:off x="6897525" y="278908"/>
            <a:ext cx="3703574" cy="3061500"/>
          </a:xfrm>
          <a:prstGeom prst="rect">
            <a:avLst/>
          </a:prstGeom>
          <a:noFill/>
          <a:ln>
            <a:noFill/>
          </a:ln>
        </p:spPr>
      </p:pic>
      <p:sp>
        <p:nvSpPr>
          <p:cNvPr id="125" name="Google Shape;125;p3"/>
          <p:cNvSpPr txBox="1"/>
          <p:nvPr/>
        </p:nvSpPr>
        <p:spPr>
          <a:xfrm>
            <a:off x="2142275" y="5744275"/>
            <a:ext cx="8154300" cy="416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14213D"/>
              </a:buClr>
              <a:buSzPts val="2000"/>
              <a:buFont typeface="Space Grotesk"/>
              <a:buChar char="➔"/>
            </a:pPr>
            <a:r>
              <a:rPr b="1" lang="en-US" sz="2000">
                <a:solidFill>
                  <a:srgbClr val="14213D"/>
                </a:solidFill>
                <a:latin typeface="Space Grotesk"/>
                <a:ea typeface="Space Grotesk"/>
                <a:cs typeface="Space Grotesk"/>
                <a:sym typeface="Space Grotesk"/>
              </a:rPr>
              <a:t>Need for a selection of representative situations to work on</a:t>
            </a:r>
            <a:endParaRPr b="1" sz="2000">
              <a:solidFill>
                <a:srgbClr val="14213D"/>
              </a:solidFill>
              <a:latin typeface="Space Grotesk"/>
              <a:ea typeface="Space Grotesk"/>
              <a:cs typeface="Space Grotesk"/>
              <a:sym typeface="Space Grotes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32" name="Google Shape;132;p6"/>
          <p:cNvSpPr/>
          <p:nvPr/>
        </p:nvSpPr>
        <p:spPr>
          <a:xfrm>
            <a:off x="813816" y="813816"/>
            <a:ext cx="2834640" cy="283464"/>
          </a:xfrm>
          <a:prstGeom prst="roundRect">
            <a:avLst>
              <a:gd fmla="val 17778" name="adj"/>
            </a:avLst>
          </a:prstGeom>
          <a:solidFill>
            <a:srgbClr val="0F76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33" name="Google Shape;133;p6"/>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1 · EASY · RESULTS</a:t>
            </a:r>
            <a:endParaRPr b="0" i="0" sz="1200" u="none" cap="none" strike="noStrike">
              <a:solidFill>
                <a:schemeClr val="dk1"/>
              </a:solidFill>
              <a:latin typeface="IBM Plex Mono"/>
              <a:ea typeface="IBM Plex Mono"/>
              <a:cs typeface="IBM Plex Mono"/>
              <a:sym typeface="IBM Plex Mono"/>
            </a:endParaRPr>
          </a:p>
        </p:txBody>
      </p:sp>
      <p:sp>
        <p:nvSpPr>
          <p:cNvPr id="134" name="Google Shape;134;p6"/>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lang="en-US"/>
              <a:t>Independent</a:t>
            </a:r>
            <a:r>
              <a:rPr b="1" lang="en-US"/>
              <a:t> variables?</a:t>
            </a:r>
            <a:endParaRPr sz="3600"/>
          </a:p>
        </p:txBody>
      </p:sp>
      <p:sp>
        <p:nvSpPr>
          <p:cNvPr id="135" name="Google Shape;135;p6"/>
          <p:cNvSpPr/>
          <p:nvPr/>
        </p:nvSpPr>
        <p:spPr>
          <a:xfrm>
            <a:off x="813816" y="1783080"/>
            <a:ext cx="10881360" cy="3200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1" i="0" lang="en-US" sz="1600" u="none" cap="none" strike="noStrike">
                <a:solidFill>
                  <a:srgbClr val="14213D"/>
                </a:solidFill>
                <a:latin typeface="Space Grotesk"/>
                <a:ea typeface="Space Grotesk"/>
                <a:cs typeface="Space Grotesk"/>
                <a:sym typeface="Space Grotesk"/>
              </a:rPr>
              <a:t>Pearson</a:t>
            </a:r>
            <a:r>
              <a:rPr b="1" lang="en-US" sz="1600">
                <a:solidFill>
                  <a:srgbClr val="14213D"/>
                </a:solidFill>
                <a:latin typeface="Space Grotesk"/>
                <a:ea typeface="Space Grotesk"/>
                <a:cs typeface="Space Grotesk"/>
                <a:sym typeface="Space Grotesk"/>
              </a:rPr>
              <a:t> Cross Correlation </a:t>
            </a:r>
            <a:r>
              <a:rPr b="1" lang="en-US" sz="1600">
                <a:solidFill>
                  <a:srgbClr val="14213D"/>
                </a:solidFill>
                <a:latin typeface="Space Grotesk"/>
                <a:ea typeface="Space Grotesk"/>
                <a:cs typeface="Space Grotesk"/>
                <a:sym typeface="Space Grotesk"/>
              </a:rPr>
              <a:t>(R)</a:t>
            </a:r>
            <a:r>
              <a:rPr b="1" lang="en-US" sz="1600">
                <a:solidFill>
                  <a:srgbClr val="14213D"/>
                </a:solidFill>
                <a:latin typeface="Space Grotesk"/>
                <a:ea typeface="Space Grotesk"/>
                <a:cs typeface="Space Grotesk"/>
                <a:sym typeface="Space Grotesk"/>
              </a:rPr>
              <a:t> enters </a:t>
            </a:r>
            <a:endParaRPr b="1" i="0" sz="1600" u="none" cap="none" strike="noStrike">
              <a:solidFill>
                <a:schemeClr val="dk1"/>
              </a:solidFill>
              <a:latin typeface="Space Grotesk"/>
              <a:ea typeface="Space Grotesk"/>
              <a:cs typeface="Space Grotesk"/>
              <a:sym typeface="Space Grotesk"/>
            </a:endParaRPr>
          </a:p>
        </p:txBody>
      </p:sp>
      <p:sp>
        <p:nvSpPr>
          <p:cNvPr id="136" name="Google Shape;136;p6"/>
          <p:cNvSpPr/>
          <p:nvPr/>
        </p:nvSpPr>
        <p:spPr>
          <a:xfrm>
            <a:off x="710050" y="2159000"/>
            <a:ext cx="5810400" cy="2412900"/>
          </a:xfrm>
          <a:prstGeom prst="rect">
            <a:avLst/>
          </a:prstGeom>
          <a:noFill/>
          <a:ln>
            <a:noFill/>
          </a:ln>
        </p:spPr>
        <p:txBody>
          <a:bodyPr anchorCtr="0" anchor="t" bIns="0" lIns="0" spcFirstLastPara="1" rIns="0" wrap="square" tIns="0">
            <a:normAutofit/>
          </a:bodyPr>
          <a:lstStyle/>
          <a:p>
            <a:pPr indent="-317500" lvl="0" marL="457200" marR="0" rtl="0" algn="l">
              <a:lnSpc>
                <a:spcPct val="140000"/>
              </a:lnSpc>
              <a:spcBef>
                <a:spcPts val="0"/>
              </a:spcBef>
              <a:spcAft>
                <a:spcPts val="0"/>
              </a:spcAft>
              <a:buClr>
                <a:srgbClr val="3B4660"/>
              </a:buClr>
              <a:buSzPts val="1400"/>
              <a:buFont typeface="IBM Plex Mono"/>
              <a:buChar char="➢"/>
            </a:pPr>
            <a:r>
              <a:rPr b="1" i="0" lang="en-US" u="none" cap="none" strike="noStrike">
                <a:solidFill>
                  <a:srgbClr val="3B4660"/>
                </a:solidFill>
                <a:latin typeface="IBM Plex Mono"/>
                <a:ea typeface="IBM Plex Mono"/>
                <a:cs typeface="IBM Plex Mono"/>
                <a:sym typeface="IBM Plex Mono"/>
              </a:rPr>
              <a:t>Strongest</a:t>
            </a:r>
            <a:r>
              <a:rPr i="0" lang="en-US" u="none" cap="none" strike="noStrike">
                <a:solidFill>
                  <a:srgbClr val="3B4660"/>
                </a:solidFill>
                <a:latin typeface="IBM Plex Mono"/>
                <a:ea typeface="IBM Plex Mono"/>
                <a:cs typeface="IBM Plex Mono"/>
                <a:sym typeface="IBM Plex Mono"/>
              </a:rPr>
              <a:t>: lab </a:t>
            </a:r>
            <a:r>
              <a:rPr b="1" i="0" lang="en-US" u="none" cap="none" strike="noStrike">
                <a:solidFill>
                  <a:srgbClr val="3B4660"/>
                </a:solidFill>
                <a:latin typeface="IBM Plex Mono"/>
                <a:ea typeface="IBM Plex Mono"/>
                <a:cs typeface="IBM Plex Mono"/>
                <a:sym typeface="IBM Plex Mono"/>
              </a:rPr>
              <a:t>laser power, camera intensity (0.79), PCA PC3, laser scope amplitude</a:t>
            </a:r>
            <a:endParaRPr b="1" i="0" u="none" cap="none" strike="noStrike">
              <a:solidFill>
                <a:schemeClr val="dk1"/>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Mono"/>
              <a:buChar char="➢"/>
            </a:pPr>
            <a:r>
              <a:rPr i="0" lang="en-US" u="none" cap="none" strike="noStrike">
                <a:solidFill>
                  <a:srgbClr val="3B4660"/>
                </a:solidFill>
                <a:latin typeface="IBM Plex Mono"/>
                <a:ea typeface="IBM Plex Mono"/>
                <a:cs typeface="IBM Plex Mono"/>
                <a:sym typeface="IBM Plex Mono"/>
              </a:rPr>
              <a:t>Klystron, magnets and climate: </a:t>
            </a:r>
            <a:r>
              <a:rPr b="1" i="0" lang="en-US" u="none" cap="none" strike="noStrike">
                <a:solidFill>
                  <a:srgbClr val="3B4660"/>
                </a:solidFill>
                <a:latin typeface="IBM Plex Mono"/>
                <a:ea typeface="IBM Plex Mono"/>
                <a:cs typeface="IBM Plex Mono"/>
                <a:sym typeface="IBM Plex Mono"/>
              </a:rPr>
              <a:t>|</a:t>
            </a:r>
            <a:r>
              <a:rPr b="1" lang="en-US">
                <a:solidFill>
                  <a:srgbClr val="3B4660"/>
                </a:solidFill>
                <a:latin typeface="IBM Plex Mono"/>
                <a:ea typeface="IBM Plex Mono"/>
                <a:cs typeface="IBM Plex Mono"/>
                <a:sym typeface="IBM Plex Mono"/>
              </a:rPr>
              <a:t>R</a:t>
            </a:r>
            <a:r>
              <a:rPr b="1" i="0" lang="en-US" u="none" cap="none" strike="noStrike">
                <a:solidFill>
                  <a:srgbClr val="3B4660"/>
                </a:solidFill>
                <a:latin typeface="IBM Plex Mono"/>
                <a:ea typeface="IBM Plex Mono"/>
                <a:cs typeface="IBM Plex Mono"/>
                <a:sym typeface="IBM Plex Mono"/>
              </a:rPr>
              <a:t>| &lt; 0.1</a:t>
            </a:r>
            <a:r>
              <a:rPr i="0" lang="en-US" u="none" cap="none" strike="noStrike">
                <a:solidFill>
                  <a:srgbClr val="3B4660"/>
                </a:solidFill>
                <a:latin typeface="IBM Plex Mono"/>
                <a:ea typeface="IBM Plex Mono"/>
                <a:cs typeface="IBM Plex Mono"/>
                <a:sym typeface="IBM Plex Mono"/>
              </a:rPr>
              <a:t>; </a:t>
            </a:r>
            <a:r>
              <a:rPr b="1" i="0" lang="en-US" u="none" cap="none" strike="noStrike">
                <a:solidFill>
                  <a:srgbClr val="3B4660"/>
                </a:solidFill>
                <a:latin typeface="IBM Plex Mono"/>
                <a:ea typeface="IBM Plex Mono"/>
                <a:cs typeface="IBM Plex Mono"/>
                <a:sym typeface="IBM Plex Mono"/>
              </a:rPr>
              <a:t>ridge</a:t>
            </a:r>
            <a:r>
              <a:rPr i="0" lang="en-US" u="none" cap="none" strike="noStrike">
                <a:solidFill>
                  <a:srgbClr val="3B4660"/>
                </a:solidFill>
                <a:latin typeface="IBM Plex Mono"/>
                <a:ea typeface="IBM Plex Mono"/>
                <a:cs typeface="IBM Plex Mono"/>
                <a:sym typeface="IBM Plex Mono"/>
              </a:rPr>
              <a:t> on all </a:t>
            </a:r>
            <a:r>
              <a:rPr b="1" i="0" lang="en-US" u="none" cap="none" strike="noStrike">
                <a:solidFill>
                  <a:srgbClr val="3B4660"/>
                </a:solidFill>
                <a:latin typeface="IBM Plex Mono"/>
                <a:ea typeface="IBM Plex Mono"/>
                <a:cs typeface="IBM Plex Mono"/>
                <a:sym typeface="IBM Plex Mono"/>
              </a:rPr>
              <a:t>klystron samples has CV R² ≈ 0</a:t>
            </a:r>
            <a:endParaRPr b="1" i="0" u="none" cap="none" strike="noStrike">
              <a:solidFill>
                <a:schemeClr val="dk1"/>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Mono"/>
              <a:buChar char="➢"/>
            </a:pPr>
            <a:r>
              <a:rPr b="1" lang="en-US">
                <a:solidFill>
                  <a:srgbClr val="3B4660"/>
                </a:solidFill>
                <a:latin typeface="IBM Plex Mono"/>
                <a:ea typeface="IBM Plex Mono"/>
                <a:cs typeface="IBM Plex Mono"/>
                <a:sym typeface="IBM Plex Mono"/>
              </a:rPr>
              <a:t>RF</a:t>
            </a:r>
            <a:r>
              <a:rPr b="1" i="0" lang="en-US" u="none" cap="none" strike="noStrike">
                <a:solidFill>
                  <a:srgbClr val="3B4660"/>
                </a:solidFill>
                <a:latin typeface="IBM Plex Mono"/>
                <a:ea typeface="IBM Plex Mono"/>
                <a:cs typeface="IBM Plex Mono"/>
                <a:sym typeface="IBM Plex Mono"/>
              </a:rPr>
              <a:t> beam-loading dip</a:t>
            </a:r>
            <a:r>
              <a:rPr i="0" lang="en-US" u="none" cap="none" strike="noStrike">
                <a:solidFill>
                  <a:srgbClr val="3B4660"/>
                </a:solidFill>
                <a:latin typeface="IBM Plex Mono"/>
                <a:ea typeface="IBM Plex Mono"/>
                <a:cs typeface="IBM Plex Mono"/>
                <a:sym typeface="IBM Plex Mono"/>
              </a:rPr>
              <a:t> (~7 mV, samples 631→636) is </a:t>
            </a:r>
            <a:r>
              <a:rPr b="1" i="0" lang="en-US" u="none" cap="none" strike="noStrike">
                <a:solidFill>
                  <a:srgbClr val="3B4660"/>
                </a:solidFill>
                <a:latin typeface="IBM Plex Mono"/>
                <a:ea typeface="IBM Plex Mono"/>
                <a:cs typeface="IBM Plex Mono"/>
                <a:sym typeface="IBM Plex Mono"/>
              </a:rPr>
              <a:t>linear in charge 0.3–10.4 nC</a:t>
            </a:r>
            <a:r>
              <a:rPr i="0" lang="en-US" u="none" cap="none" strike="noStrike">
                <a:solidFill>
                  <a:srgbClr val="3B4660"/>
                </a:solidFill>
                <a:latin typeface="IBM Plex Mono"/>
                <a:ea typeface="IBM Plex Mono"/>
                <a:cs typeface="IBM Plex Mono"/>
                <a:sym typeface="IBM Plex Mono"/>
              </a:rPr>
              <a:t>: a second charge monitor</a:t>
            </a:r>
            <a:endParaRPr i="0" u="none" cap="none" strike="noStrike">
              <a:solidFill>
                <a:schemeClr val="dk1"/>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Mono"/>
              <a:buChar char="➢"/>
            </a:pPr>
            <a:r>
              <a:rPr b="1" i="0" lang="en-US" u="none" cap="none" strike="noStrike">
                <a:solidFill>
                  <a:srgbClr val="3B4660"/>
                </a:solidFill>
                <a:latin typeface="IBM Plex Mono"/>
                <a:ea typeface="IBM Plex Mono"/>
                <a:cs typeface="IBM Plex Mono"/>
                <a:sym typeface="IBM Plex Mono"/>
              </a:rPr>
              <a:t>Charge is very persistent</a:t>
            </a:r>
            <a:r>
              <a:rPr i="0" lang="en-US" u="none" cap="none" strike="noStrike">
                <a:solidFill>
                  <a:srgbClr val="3B4660"/>
                </a:solidFill>
                <a:latin typeface="IBM Plex Mono"/>
                <a:ea typeface="IBM Plex Mono"/>
                <a:cs typeface="IBM Plex Mono"/>
                <a:sym typeface="IBM Plex Mono"/>
              </a:rPr>
              <a:t>: "same as previous shot" R² = 0.96; shot-to-shot autocorrelation</a:t>
            </a:r>
            <a:r>
              <a:rPr b="1" i="0" lang="en-US" u="none" cap="none" strike="noStrike">
                <a:solidFill>
                  <a:srgbClr val="3B4660"/>
                </a:solidFill>
                <a:latin typeface="IBM Plex Mono"/>
                <a:ea typeface="IBM Plex Mono"/>
                <a:cs typeface="IBM Plex Mono"/>
                <a:sym typeface="IBM Plex Mono"/>
              </a:rPr>
              <a:t> 0.67 </a:t>
            </a:r>
            <a:r>
              <a:rPr i="0" lang="en-US" u="none" cap="none" strike="noStrike">
                <a:solidFill>
                  <a:srgbClr val="3B4660"/>
                </a:solidFill>
                <a:latin typeface="IBM Plex Mono"/>
                <a:ea typeface="IBM Plex Mono"/>
                <a:cs typeface="IBM Plex Mono"/>
                <a:sym typeface="IBM Plex Mono"/>
              </a:rPr>
              <a:t>at lag 1</a:t>
            </a:r>
            <a:r>
              <a:rPr b="1" i="0" lang="en-US" u="none" cap="none" strike="noStrike">
                <a:solidFill>
                  <a:srgbClr val="3B4660"/>
                </a:solidFill>
                <a:latin typeface="IBM Plex Mono"/>
                <a:ea typeface="IBM Plex Mono"/>
                <a:cs typeface="IBM Plex Mono"/>
                <a:sym typeface="IBM Plex Mono"/>
              </a:rPr>
              <a:t>, 0 </a:t>
            </a:r>
            <a:r>
              <a:rPr i="0" lang="en-US" u="none" cap="none" strike="noStrike">
                <a:solidFill>
                  <a:srgbClr val="3B4660"/>
                </a:solidFill>
                <a:latin typeface="IBM Plex Mono"/>
                <a:ea typeface="IBM Plex Mono"/>
                <a:cs typeface="IBM Plex Mono"/>
                <a:sym typeface="IBM Plex Mono"/>
              </a:rPr>
              <a:t>by lag 10</a:t>
            </a:r>
            <a:endParaRPr i="0" u="none" cap="none" strike="noStrike">
              <a:solidFill>
                <a:schemeClr val="dk1"/>
              </a:solidFill>
              <a:latin typeface="IBM Plex Mono"/>
              <a:ea typeface="IBM Plex Mono"/>
              <a:cs typeface="IBM Plex Mono"/>
              <a:sym typeface="IBM Plex Mono"/>
            </a:endParaRPr>
          </a:p>
        </p:txBody>
      </p:sp>
      <p:pic>
        <p:nvPicPr>
          <p:cNvPr descr="02_extract_waveforms_cell5.png" id="137" name="Google Shape;137;p6"/>
          <p:cNvPicPr preferRelativeResize="0"/>
          <p:nvPr/>
        </p:nvPicPr>
        <p:blipFill rotWithShape="1">
          <a:blip r:embed="rId3">
            <a:alphaModFix/>
          </a:blip>
          <a:srcRect b="0" l="0" r="0" t="0"/>
          <a:stretch/>
        </p:blipFill>
        <p:spPr>
          <a:xfrm>
            <a:off x="336150" y="5284698"/>
            <a:ext cx="4705591" cy="1489525"/>
          </a:xfrm>
          <a:prstGeom prst="rect">
            <a:avLst/>
          </a:prstGeom>
          <a:noFill/>
          <a:ln>
            <a:noFill/>
          </a:ln>
        </p:spPr>
      </p:pic>
      <p:pic>
        <p:nvPicPr>
          <p:cNvPr id="138" name="Google Shape;138;p6"/>
          <p:cNvPicPr preferRelativeResize="0"/>
          <p:nvPr/>
        </p:nvPicPr>
        <p:blipFill rotWithShape="1">
          <a:blip r:embed="rId4">
            <a:alphaModFix/>
          </a:blip>
          <a:srcRect b="0" l="0" r="0" t="0"/>
          <a:stretch/>
        </p:blipFill>
        <p:spPr>
          <a:xfrm>
            <a:off x="6730451" y="813826"/>
            <a:ext cx="5303525" cy="4470869"/>
          </a:xfrm>
          <a:prstGeom prst="rect">
            <a:avLst/>
          </a:prstGeom>
          <a:noFill/>
          <a:ln>
            <a:noFill/>
          </a:ln>
        </p:spPr>
      </p:pic>
      <p:sp>
        <p:nvSpPr>
          <p:cNvPr id="139" name="Google Shape;139;p6"/>
          <p:cNvSpPr/>
          <p:nvPr/>
        </p:nvSpPr>
        <p:spPr>
          <a:xfrm>
            <a:off x="5169475" y="5512113"/>
            <a:ext cx="1653900" cy="1034700"/>
          </a:xfrm>
          <a:prstGeom prst="rect">
            <a:avLst/>
          </a:prstGeom>
          <a:noFill/>
          <a:ln>
            <a:noFill/>
          </a:ln>
        </p:spPr>
        <p:txBody>
          <a:bodyPr anchorCtr="0" anchor="t" bIns="0" lIns="0" spcFirstLastPara="1" rIns="0" wrap="square" tIns="0">
            <a:normAutofit/>
          </a:bodyPr>
          <a:lstStyle/>
          <a:p>
            <a:pPr indent="0" lvl="0" marL="0" marR="0" rtl="0" algn="l">
              <a:lnSpc>
                <a:spcPct val="139900"/>
              </a:lnSpc>
              <a:spcBef>
                <a:spcPts val="0"/>
              </a:spcBef>
              <a:spcAft>
                <a:spcPts val="0"/>
              </a:spcAft>
              <a:buClr>
                <a:srgbClr val="14213D"/>
              </a:buClr>
              <a:buSzPts val="1000"/>
              <a:buFont typeface="IBM Plex Sans"/>
              <a:buNone/>
            </a:pPr>
            <a:r>
              <a:rPr b="1" i="0" lang="en-US" sz="1000" u="none" cap="none" strike="noStrike">
                <a:solidFill>
                  <a:srgbClr val="14213D"/>
                </a:solidFill>
                <a:latin typeface="IBM Plex Sans"/>
                <a:ea typeface="IBM Plex Sans"/>
                <a:cs typeface="IBM Plex Sans"/>
                <a:sym typeface="IBM Plex Sans"/>
              </a:rPr>
              <a:t>RF forward power. Left: full trace; Right: beam loading (peak-to-peak) could be used as proxy for bunch charge.</a:t>
            </a:r>
            <a:endParaRPr b="1" i="0" sz="1000" u="none" cap="none" strike="noStrike">
              <a:solidFill>
                <a:schemeClr val="dk1"/>
              </a:solidFill>
              <a:latin typeface="IBM Plex Mono"/>
              <a:ea typeface="IBM Plex Mono"/>
              <a:cs typeface="IBM Plex Mono"/>
              <a:sym typeface="IBM Plex Mono"/>
            </a:endParaRPr>
          </a:p>
        </p:txBody>
      </p:sp>
      <p:sp>
        <p:nvSpPr>
          <p:cNvPr id="140" name="Google Shape;140;p6"/>
          <p:cNvSpPr/>
          <p:nvPr/>
        </p:nvSpPr>
        <p:spPr>
          <a:xfrm>
            <a:off x="7563976" y="5412213"/>
            <a:ext cx="4374600" cy="702300"/>
          </a:xfrm>
          <a:prstGeom prst="rect">
            <a:avLst/>
          </a:prstGeom>
          <a:noFill/>
          <a:ln>
            <a:noFill/>
          </a:ln>
        </p:spPr>
        <p:txBody>
          <a:bodyPr anchorCtr="0" anchor="t" bIns="0" lIns="0" spcFirstLastPara="1" rIns="0" wrap="square" tIns="0">
            <a:normAutofit/>
          </a:bodyPr>
          <a:lstStyle/>
          <a:p>
            <a:pPr indent="0" lvl="0" marL="0" marR="0" rtl="0" algn="l">
              <a:lnSpc>
                <a:spcPct val="139900"/>
              </a:lnSpc>
              <a:spcBef>
                <a:spcPts val="0"/>
              </a:spcBef>
              <a:spcAft>
                <a:spcPts val="0"/>
              </a:spcAft>
              <a:buClr>
                <a:srgbClr val="14213D"/>
              </a:buClr>
              <a:buSzPts val="1000"/>
              <a:buFont typeface="IBM Plex Sans"/>
              <a:buNone/>
            </a:pPr>
            <a:r>
              <a:rPr b="1" i="0" lang="en-US" sz="1000" u="none" cap="none" strike="noStrike">
                <a:solidFill>
                  <a:srgbClr val="14213D"/>
                </a:solidFill>
                <a:latin typeface="IBM Plex Sans"/>
                <a:ea typeface="IBM Plex Sans"/>
                <a:cs typeface="IBM Plex Sans"/>
                <a:sym typeface="IBM Plex Sans"/>
              </a:rPr>
              <a:t>Pearson R between all variables in the dataset: BCM_GUN (leftmost column) is the target</a:t>
            </a:r>
            <a:endParaRPr b="1" i="0" sz="1000" u="none" cap="none" strike="noStrike">
              <a:solidFill>
                <a:schemeClr val="dk1"/>
              </a:solidFill>
              <a:latin typeface="IBM Plex Mono"/>
              <a:ea typeface="IBM Plex Mono"/>
              <a:cs typeface="IBM Plex Mono"/>
              <a:sym typeface="IBM Plex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47" name="Google Shape;147;p7"/>
          <p:cNvSpPr/>
          <p:nvPr/>
        </p:nvSpPr>
        <p:spPr>
          <a:xfrm>
            <a:off x="813816" y="813816"/>
            <a:ext cx="2834640" cy="283464"/>
          </a:xfrm>
          <a:prstGeom prst="roundRect">
            <a:avLst>
              <a:gd fmla="val 17778" name="adj"/>
            </a:avLst>
          </a:prstGeom>
          <a:solidFill>
            <a:srgbClr val="0F76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48" name="Google Shape;148;p7"/>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1 · EASY · RESULTS</a:t>
            </a:r>
            <a:endParaRPr b="0" i="0" sz="1200" u="none" cap="none" strike="noStrike">
              <a:solidFill>
                <a:schemeClr val="dk1"/>
              </a:solidFill>
              <a:latin typeface="IBM Plex Mono"/>
              <a:ea typeface="IBM Plex Mono"/>
              <a:cs typeface="IBM Plex Mono"/>
              <a:sym typeface="IBM Plex Mono"/>
            </a:endParaRPr>
          </a:p>
        </p:txBody>
      </p:sp>
      <p:sp>
        <p:nvSpPr>
          <p:cNvPr id="149" name="Google Shape;149;p7"/>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lang="en-US"/>
              <a:t>Camera input: PCA, SVD, AE?</a:t>
            </a:r>
            <a:endParaRPr b="1"/>
          </a:p>
        </p:txBody>
      </p:sp>
      <p:sp>
        <p:nvSpPr>
          <p:cNvPr id="150" name="Google Shape;150;p7"/>
          <p:cNvSpPr/>
          <p:nvPr/>
        </p:nvSpPr>
        <p:spPr>
          <a:xfrm>
            <a:off x="813816" y="1783080"/>
            <a:ext cx="10881360" cy="3200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Beyond peak and integral: what i</a:t>
            </a:r>
            <a:r>
              <a:rPr b="1" lang="en-US" sz="1600">
                <a:solidFill>
                  <a:srgbClr val="14213D"/>
                </a:solidFill>
                <a:latin typeface="IBM Plex Sans"/>
                <a:ea typeface="IBM Plex Sans"/>
                <a:cs typeface="IBM Plex Sans"/>
                <a:sym typeface="IBM Plex Sans"/>
              </a:rPr>
              <a:t>nformation drive the output charge?</a:t>
            </a:r>
            <a:endParaRPr b="1" i="0" sz="1600" u="none" cap="none" strike="noStrike">
              <a:solidFill>
                <a:schemeClr val="dk1"/>
              </a:solidFill>
              <a:latin typeface="IBM Plex Mono"/>
              <a:ea typeface="IBM Plex Mono"/>
              <a:cs typeface="IBM Plex Mono"/>
              <a:sym typeface="IBM Plex Mono"/>
            </a:endParaRPr>
          </a:p>
        </p:txBody>
      </p:sp>
      <p:sp>
        <p:nvSpPr>
          <p:cNvPr id="151" name="Google Shape;151;p7"/>
          <p:cNvSpPr/>
          <p:nvPr/>
        </p:nvSpPr>
        <p:spPr>
          <a:xfrm>
            <a:off x="493575" y="3183051"/>
            <a:ext cx="6961800" cy="3424200"/>
          </a:xfrm>
          <a:prstGeom prst="rect">
            <a:avLst/>
          </a:prstGeom>
          <a:noFill/>
          <a:ln>
            <a:noFill/>
          </a:ln>
        </p:spPr>
        <p:txBody>
          <a:bodyPr anchorCtr="0" anchor="t" bIns="0" lIns="0" spcFirstLastPara="1" rIns="0" wrap="square" tIns="0">
            <a:normAutofit/>
          </a:bodyPr>
          <a:lstStyle/>
          <a:p>
            <a:pPr indent="-330200" lvl="0" marL="457200"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Classic moments after ROI, background and median filter: intensity, centroid, sizes, tilt</a:t>
            </a:r>
            <a:endParaRPr i="0" sz="160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PCA over all shots: PC1 81.5 %, 6 PCs 97.5 % of variance </a:t>
            </a:r>
            <a:r>
              <a:rPr lang="en-US" sz="1600">
                <a:solidFill>
                  <a:srgbClr val="3B4660"/>
                </a:solidFill>
                <a:latin typeface="IBM Plex Mono"/>
                <a:ea typeface="IBM Plex Mono"/>
                <a:cs typeface="IBM Plex Mono"/>
                <a:sym typeface="IBM Plex Mono"/>
              </a:rPr>
              <a:t>explainability:</a:t>
            </a:r>
            <a:endParaRPr sz="1600">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i="0" lang="en-US" u="none" cap="none" strike="noStrike">
                <a:solidFill>
                  <a:srgbClr val="3B4660"/>
                </a:solidFill>
                <a:latin typeface="IBM Plex Mono"/>
                <a:ea typeface="IBM Plex Mono"/>
                <a:cs typeface="IBM Plex Mono"/>
                <a:sym typeface="IBM Plex Mono"/>
              </a:rPr>
              <a:t>PC1–2 = centroid motion,</a:t>
            </a:r>
            <a:endParaRPr i="0" u="none" cap="none" strike="noStrike">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i="0" lang="en-US" u="none" cap="none" strike="noStrike">
                <a:solidFill>
                  <a:srgbClr val="3B4660"/>
                </a:solidFill>
                <a:latin typeface="IBM Plex Mono"/>
                <a:ea typeface="IBM Plex Mono"/>
                <a:cs typeface="IBM Plex Mono"/>
                <a:sym typeface="IBM Plex Mono"/>
              </a:rPr>
              <a:t>PC3–4 = brightness and size</a:t>
            </a:r>
            <a:endParaRPr i="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Per-image SVD: </a:t>
            </a:r>
            <a:endParaRPr i="0" sz="1600" u="none" cap="none" strike="noStrike">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i="0" lang="en-US" u="none" cap="none" strike="noStrike">
                <a:solidFill>
                  <a:srgbClr val="3B4660"/>
                </a:solidFill>
                <a:latin typeface="IBM Plex Mono"/>
                <a:ea typeface="IBM Plex Mono"/>
                <a:cs typeface="IBM Plex Mono"/>
                <a:sym typeface="IBM Plex Mono"/>
              </a:rPr>
              <a:t>s1 ≈ brightness (r = 0.98 with intensity)</a:t>
            </a:r>
            <a:endParaRPr>
              <a:solidFill>
                <a:srgbClr val="3B4660"/>
              </a:solidFill>
              <a:latin typeface="IBM Plex Mono"/>
              <a:ea typeface="IBM Plex Mono"/>
              <a:cs typeface="IBM Plex Mono"/>
              <a:sym typeface="IBM Plex Mono"/>
            </a:endParaRPr>
          </a:p>
          <a:p>
            <a:pPr indent="-304800" lvl="2" marL="1371600" marR="0" rtl="0" algn="l">
              <a:lnSpc>
                <a:spcPct val="140000"/>
              </a:lnSpc>
              <a:spcBef>
                <a:spcPts val="0"/>
              </a:spcBef>
              <a:spcAft>
                <a:spcPts val="0"/>
              </a:spcAft>
              <a:buClr>
                <a:srgbClr val="3B4660"/>
              </a:buClr>
              <a:buSzPts val="1200"/>
              <a:buFont typeface="IBM Plex Mono"/>
              <a:buChar char="■"/>
            </a:pPr>
            <a:r>
              <a:rPr i="0" lang="en-US" sz="1200" u="none" cap="none" strike="noStrike">
                <a:solidFill>
                  <a:srgbClr val="3B4660"/>
                </a:solidFill>
                <a:latin typeface="IBM Plex Mono"/>
                <a:ea typeface="IBM Plex Mono"/>
                <a:cs typeface="IBM Plex Mono"/>
                <a:sym typeface="IBM Plex Mono"/>
              </a:rPr>
              <a:t>no basis fitted across shots, so no leakage</a:t>
            </a:r>
            <a:endParaRPr i="0" sz="1200" u="none" cap="none" strike="noStrike">
              <a:solidFill>
                <a:schemeClr val="dk1"/>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i="0" lang="en-US" u="none" cap="none" strike="noStrike">
                <a:solidFill>
                  <a:srgbClr val="3B4660"/>
                </a:solidFill>
                <a:latin typeface="IBM Plex Mono"/>
                <a:ea typeface="IBM Plex Mono"/>
                <a:cs typeface="IBM Plex Mono"/>
                <a:sym typeface="IBM Plex Mono"/>
              </a:rPr>
              <a:t>Greedy selection keeps 10 features: </a:t>
            </a:r>
            <a:endParaRPr i="0" u="none" cap="none" strike="noStrike">
              <a:solidFill>
                <a:srgbClr val="3B4660"/>
              </a:solidFill>
              <a:latin typeface="IBM Plex Mono"/>
              <a:ea typeface="IBM Plex Mono"/>
              <a:cs typeface="IBM Plex Mono"/>
              <a:sym typeface="IBM Plex Mono"/>
            </a:endParaRPr>
          </a:p>
          <a:p>
            <a:pPr indent="-304800" lvl="2" marL="1371600" marR="0" rtl="0" algn="l">
              <a:lnSpc>
                <a:spcPct val="140000"/>
              </a:lnSpc>
              <a:spcBef>
                <a:spcPts val="0"/>
              </a:spcBef>
              <a:spcAft>
                <a:spcPts val="0"/>
              </a:spcAft>
              <a:buClr>
                <a:srgbClr val="3B4660"/>
              </a:buClr>
              <a:buSzPts val="1200"/>
              <a:buFont typeface="IBM Plex Mono"/>
              <a:buChar char="■"/>
            </a:pPr>
            <a:r>
              <a:rPr i="0" lang="en-US" sz="1200" u="none" cap="none" strike="noStrike">
                <a:solidFill>
                  <a:srgbClr val="3B4660"/>
                </a:solidFill>
                <a:latin typeface="IBM Plex Mono"/>
                <a:ea typeface="IBM Plex Mono"/>
                <a:cs typeface="IBM Plex Mono"/>
                <a:sym typeface="IBM Plex Mono"/>
              </a:rPr>
              <a:t>lab laser, </a:t>
            </a:r>
            <a:r>
              <a:rPr lang="en-US" sz="1200">
                <a:solidFill>
                  <a:srgbClr val="3B4660"/>
                </a:solidFill>
                <a:latin typeface="IBM Plex Mono"/>
                <a:ea typeface="IBM Plex Mono"/>
                <a:cs typeface="IBM Plex Mono"/>
                <a:sym typeface="IBM Plex Mono"/>
              </a:rPr>
              <a:t>RF beam loading</a:t>
            </a:r>
            <a:r>
              <a:rPr i="0" lang="en-US" sz="1200" u="none" cap="none" strike="noStrike">
                <a:solidFill>
                  <a:srgbClr val="3B4660"/>
                </a:solidFill>
                <a:latin typeface="IBM Plex Mono"/>
                <a:ea typeface="IBM Plex Mono"/>
                <a:cs typeface="IBM Plex Mono"/>
                <a:sym typeface="IBM Plex Mono"/>
              </a:rPr>
              <a:t>, SVD s1/s4–s6, camera intensity, </a:t>
            </a:r>
            <a:r>
              <a:rPr lang="en-US" sz="1200">
                <a:solidFill>
                  <a:srgbClr val="3B4660"/>
                </a:solidFill>
                <a:latin typeface="IBM Plex Mono"/>
                <a:ea typeface="IBM Plex Mono"/>
                <a:cs typeface="IBM Plex Mono"/>
                <a:sym typeface="IBM Plex Mono"/>
              </a:rPr>
              <a:t>Klystron power delivery</a:t>
            </a:r>
            <a:r>
              <a:rPr i="0" lang="en-US" sz="1200" u="none" cap="none" strike="noStrike">
                <a:solidFill>
                  <a:srgbClr val="3B4660"/>
                </a:solidFill>
                <a:latin typeface="IBM Plex Mono"/>
                <a:ea typeface="IBM Plex Mono"/>
                <a:cs typeface="IBM Plex Mono"/>
                <a:sym typeface="IBM Plex Mono"/>
              </a:rPr>
              <a:t>, tilt, x</a:t>
            </a:r>
            <a:endParaRPr i="0" sz="1200" u="none" cap="none" strike="noStrike">
              <a:solidFill>
                <a:schemeClr val="dk1"/>
              </a:solidFill>
              <a:latin typeface="IBM Plex Mono"/>
              <a:ea typeface="IBM Plex Mono"/>
              <a:cs typeface="IBM Plex Mono"/>
              <a:sym typeface="IBM Plex Mono"/>
            </a:endParaRPr>
          </a:p>
        </p:txBody>
      </p:sp>
      <p:pic>
        <p:nvPicPr>
          <p:cNvPr descr="04_1_btv0125_pca_cell7.png" id="152" name="Google Shape;152;p7"/>
          <p:cNvPicPr preferRelativeResize="0"/>
          <p:nvPr/>
        </p:nvPicPr>
        <p:blipFill rotWithShape="1">
          <a:blip r:embed="rId3">
            <a:alphaModFix/>
          </a:blip>
          <a:srcRect b="0" l="0" r="0" t="0"/>
          <a:stretch/>
        </p:blipFill>
        <p:spPr>
          <a:xfrm>
            <a:off x="822960" y="2048907"/>
            <a:ext cx="10698482" cy="1100117"/>
          </a:xfrm>
          <a:prstGeom prst="rect">
            <a:avLst/>
          </a:prstGeom>
          <a:noFill/>
          <a:ln>
            <a:noFill/>
          </a:ln>
        </p:spPr>
      </p:pic>
      <p:pic>
        <p:nvPicPr>
          <p:cNvPr descr="shape_svd_vs_classic.png" id="153" name="Google Shape;153;p7"/>
          <p:cNvPicPr preferRelativeResize="0"/>
          <p:nvPr/>
        </p:nvPicPr>
        <p:blipFill rotWithShape="1">
          <a:blip r:embed="rId4">
            <a:alphaModFix/>
          </a:blip>
          <a:srcRect b="0" l="0" r="0" t="0"/>
          <a:stretch/>
        </p:blipFill>
        <p:spPr>
          <a:xfrm>
            <a:off x="6970575" y="3429000"/>
            <a:ext cx="5162251" cy="1900438"/>
          </a:xfrm>
          <a:prstGeom prst="rect">
            <a:avLst/>
          </a:prstGeom>
          <a:noFill/>
          <a:ln>
            <a:noFill/>
          </a:ln>
        </p:spPr>
      </p:pic>
      <p:sp>
        <p:nvSpPr>
          <p:cNvPr id="154" name="Google Shape;154;p7"/>
          <p:cNvSpPr txBox="1"/>
          <p:nvPr/>
        </p:nvSpPr>
        <p:spPr>
          <a:xfrm>
            <a:off x="6892643" y="5455236"/>
            <a:ext cx="4675800" cy="630900"/>
          </a:xfrm>
          <a:prstGeom prst="rect">
            <a:avLst/>
          </a:prstGeom>
          <a:noFill/>
          <a:ln>
            <a:noFill/>
          </a:ln>
        </p:spPr>
        <p:txBody>
          <a:bodyPr anchorCtr="0" anchor="t" bIns="91425" lIns="91425" spcFirstLastPara="1" rIns="91425" wrap="square" tIns="91425">
            <a:noAutofit/>
          </a:bodyPr>
          <a:lstStyle/>
          <a:p>
            <a:pPr indent="-330200" lvl="0" marL="457200" rtl="0" algn="l">
              <a:lnSpc>
                <a:spcPct val="140000"/>
              </a:lnSpc>
              <a:spcBef>
                <a:spcPts val="0"/>
              </a:spcBef>
              <a:spcAft>
                <a:spcPts val="0"/>
              </a:spcAft>
              <a:buClr>
                <a:srgbClr val="3B4660"/>
              </a:buClr>
              <a:buSzPts val="1600"/>
              <a:buFont typeface="IBM Plex Mono"/>
              <a:buChar char="➢"/>
            </a:pPr>
            <a:r>
              <a:rPr lang="en-US" sz="1600">
                <a:solidFill>
                  <a:srgbClr val="3B4660"/>
                </a:solidFill>
                <a:latin typeface="IBM Plex Mono"/>
                <a:ea typeface="IBM Plex Mono"/>
                <a:cs typeface="IBM Plex Mono"/>
                <a:sym typeface="IBM Plex Mono"/>
              </a:rPr>
              <a:t>CNN autoencoder (16-d latent) + LSTM on the latent sequence: prototype, no charge result yet</a:t>
            </a:r>
            <a:endParaRPr sz="1800">
              <a:solidFill>
                <a:srgbClr val="14213D"/>
              </a:solidFill>
              <a:latin typeface="IBM Plex Mono"/>
              <a:ea typeface="IBM Plex Mono"/>
              <a:cs typeface="IBM Plex Mono"/>
              <a:sym typeface="IBM Plex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61" name="Google Shape;161;p8"/>
          <p:cNvSpPr/>
          <p:nvPr/>
        </p:nvSpPr>
        <p:spPr>
          <a:xfrm>
            <a:off x="813816" y="813816"/>
            <a:ext cx="2834640" cy="283464"/>
          </a:xfrm>
          <a:prstGeom prst="roundRect">
            <a:avLst>
              <a:gd fmla="val 17778" name="adj"/>
            </a:avLst>
          </a:prstGeom>
          <a:solidFill>
            <a:srgbClr val="0F76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62" name="Google Shape;162;p8"/>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1 · EASY · RESULTS</a:t>
            </a:r>
            <a:endParaRPr b="0" i="0" sz="1200" u="none" cap="none" strike="noStrike">
              <a:solidFill>
                <a:schemeClr val="dk1"/>
              </a:solidFill>
              <a:latin typeface="IBM Plex Mono"/>
              <a:ea typeface="IBM Plex Mono"/>
              <a:cs typeface="IBM Plex Mono"/>
              <a:sym typeface="IBM Plex Mono"/>
            </a:endParaRPr>
          </a:p>
        </p:txBody>
      </p:sp>
      <p:sp>
        <p:nvSpPr>
          <p:cNvPr id="163" name="Google Shape;163;p8"/>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600"/>
              <a:buFont typeface="Space Grotesk"/>
              <a:buNone/>
            </a:pPr>
            <a:r>
              <a:rPr b="1" i="0" lang="en-US" sz="3600">
                <a:solidFill>
                  <a:srgbClr val="14213D"/>
                </a:solidFill>
                <a:latin typeface="Space Grotesk"/>
                <a:ea typeface="Space Grotesk"/>
                <a:cs typeface="Space Grotesk"/>
                <a:sym typeface="Space Grotesk"/>
              </a:rPr>
              <a:t>Structure across runs: t-SNE of the 16 features</a:t>
            </a:r>
            <a:endParaRPr sz="3600"/>
          </a:p>
        </p:txBody>
      </p:sp>
      <p:sp>
        <p:nvSpPr>
          <p:cNvPr id="164" name="Google Shape;164;p8"/>
          <p:cNvSpPr/>
          <p:nvPr/>
        </p:nvSpPr>
        <p:spPr>
          <a:xfrm>
            <a:off x="813816" y="1783080"/>
            <a:ext cx="10881360" cy="3200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1" i="0" lang="en-US" sz="1600" u="none" cap="none" strike="noStrike">
                <a:solidFill>
                  <a:srgbClr val="14213D"/>
                </a:solidFill>
                <a:latin typeface="Space Grotesk"/>
                <a:ea typeface="Space Grotesk"/>
                <a:cs typeface="Space Grotesk"/>
                <a:sym typeface="Space Grotesk"/>
              </a:rPr>
              <a:t>Shots cluster by run and charge level; the features themselves carry little memory.</a:t>
            </a:r>
            <a:endParaRPr b="1" i="0" sz="1600" u="none" cap="none" strike="noStrike">
              <a:solidFill>
                <a:schemeClr val="dk1"/>
              </a:solidFill>
              <a:latin typeface="Space Grotesk"/>
              <a:ea typeface="Space Grotesk"/>
              <a:cs typeface="Space Grotesk"/>
              <a:sym typeface="Space Grotesk"/>
            </a:endParaRPr>
          </a:p>
        </p:txBody>
      </p:sp>
      <p:sp>
        <p:nvSpPr>
          <p:cNvPr id="165" name="Google Shape;165;p8"/>
          <p:cNvSpPr/>
          <p:nvPr/>
        </p:nvSpPr>
        <p:spPr>
          <a:xfrm>
            <a:off x="868675" y="5224152"/>
            <a:ext cx="10607100" cy="1017900"/>
          </a:xfrm>
          <a:prstGeom prst="rect">
            <a:avLst/>
          </a:prstGeom>
          <a:noFill/>
          <a:ln>
            <a:noFill/>
          </a:ln>
        </p:spPr>
        <p:txBody>
          <a:bodyPr anchorCtr="0" anchor="t" bIns="0" lIns="0" spcFirstLastPara="1" rIns="0" wrap="square" tIns="0">
            <a:normAutofit/>
          </a:bodyPr>
          <a:lstStyle/>
          <a:p>
            <a:pPr indent="-330200" lvl="0" marL="457200" marR="0" rtl="0" algn="l">
              <a:lnSpc>
                <a:spcPct val="140000"/>
              </a:lnSpc>
              <a:spcBef>
                <a:spcPts val="0"/>
              </a:spcBef>
              <a:spcAft>
                <a:spcPts val="0"/>
              </a:spcAft>
              <a:buClr>
                <a:srgbClr val="3B4660"/>
              </a:buClr>
              <a:buSzPts val="1600"/>
              <a:buFont typeface="IBM Plex Mono"/>
              <a:buChar char="➢"/>
            </a:pPr>
            <a:r>
              <a:rPr b="1" i="0" lang="en-US" sz="1600" u="none" cap="none" strike="noStrike">
                <a:solidFill>
                  <a:srgbClr val="3B4660"/>
                </a:solidFill>
                <a:latin typeface="IBM Plex Mono"/>
                <a:ea typeface="IBM Plex Mono"/>
                <a:cs typeface="IBM Plex Mono"/>
                <a:sym typeface="IBM Plex Mono"/>
              </a:rPr>
              <a:t>Segments 5 and 6 (both ~5.5 nC) overlap, segment 7 (10 nC) sits apart, the low-charge segments merge</a:t>
            </a:r>
            <a:endParaRPr b="1" i="0" sz="160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Predicting a feature from its previous shot: </a:t>
            </a:r>
            <a:r>
              <a:rPr b="1" i="0" lang="en-US" sz="1600" u="none" cap="none" strike="noStrike">
                <a:solidFill>
                  <a:srgbClr val="3B4660"/>
                </a:solidFill>
                <a:latin typeface="IBM Plex Mono"/>
                <a:ea typeface="IBM Plex Mono"/>
                <a:cs typeface="IBM Plex Mono"/>
                <a:sym typeface="IBM Plex Mono"/>
              </a:rPr>
              <a:t>R² between −0.15 and 0.18</a:t>
            </a:r>
            <a:r>
              <a:rPr i="0" lang="en-US" sz="1600" u="none" cap="none" strike="noStrike">
                <a:solidFill>
                  <a:srgbClr val="3B4660"/>
                </a:solidFill>
                <a:latin typeface="IBM Plex Mono"/>
                <a:ea typeface="IBM Plex Mono"/>
                <a:cs typeface="IBM Plex Mono"/>
                <a:sym typeface="IBM Plex Mono"/>
              </a:rPr>
              <a:t>, </a:t>
            </a:r>
            <a:endParaRPr sz="1600">
              <a:solidFill>
                <a:srgbClr val="3B4660"/>
              </a:solidFill>
              <a:latin typeface="IBM Plex Mono"/>
              <a:ea typeface="IBM Plex Mono"/>
              <a:cs typeface="IBM Plex Mono"/>
              <a:sym typeface="IBM Plex Mono"/>
            </a:endParaRPr>
          </a:p>
          <a:p>
            <a:pPr indent="0" lvl="0" marL="0" marR="0" rtl="0" algn="l">
              <a:lnSpc>
                <a:spcPct val="140000"/>
              </a:lnSpc>
              <a:spcBef>
                <a:spcPts val="0"/>
              </a:spcBef>
              <a:spcAft>
                <a:spcPts val="0"/>
              </a:spcAft>
              <a:buNone/>
            </a:pPr>
            <a:r>
              <a:t/>
            </a:r>
            <a:endParaRPr i="0" sz="1600" u="none" cap="none" strike="noStrike">
              <a:solidFill>
                <a:schemeClr val="dk1"/>
              </a:solidFill>
              <a:latin typeface="IBM Plex Mono"/>
              <a:ea typeface="IBM Plex Mono"/>
              <a:cs typeface="IBM Plex Mono"/>
              <a:sym typeface="IBM Plex Mono"/>
            </a:endParaRPr>
          </a:p>
        </p:txBody>
      </p:sp>
      <p:sp>
        <p:nvSpPr>
          <p:cNvPr id="166" name="Google Shape;166;p8"/>
          <p:cNvSpPr/>
          <p:nvPr/>
        </p:nvSpPr>
        <p:spPr>
          <a:xfrm>
            <a:off x="4160556" y="2159000"/>
            <a:ext cx="3870900" cy="274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000"/>
              <a:buFont typeface="IBM Plex Sans"/>
              <a:buNone/>
            </a:pPr>
            <a:r>
              <a:rPr b="0" i="0" lang="en-US" sz="1000" u="none" cap="none" strike="noStrike">
                <a:solidFill>
                  <a:srgbClr val="14213D"/>
                </a:solidFill>
                <a:latin typeface="IBM Plex Sans"/>
                <a:ea typeface="IBM Plex Sans"/>
                <a:cs typeface="IBM Plex Sans"/>
                <a:sym typeface="IBM Plex Sans"/>
              </a:rPr>
              <a:t>10,500 shots, coloured by segment, by time and by charge.</a:t>
            </a:r>
            <a:endParaRPr b="0" i="0" sz="1000" u="none" cap="none" strike="noStrike">
              <a:solidFill>
                <a:schemeClr val="dk1"/>
              </a:solidFill>
              <a:latin typeface="IBM Plex Mono"/>
              <a:ea typeface="IBM Plex Mono"/>
              <a:cs typeface="IBM Plex Mono"/>
              <a:sym typeface="IBM Plex Mono"/>
            </a:endParaRPr>
          </a:p>
        </p:txBody>
      </p:sp>
      <p:pic>
        <p:nvPicPr>
          <p:cNvPr descr="tsne_all_segments.png" id="167" name="Google Shape;167;p8"/>
          <p:cNvPicPr preferRelativeResize="0"/>
          <p:nvPr/>
        </p:nvPicPr>
        <p:blipFill rotWithShape="1">
          <a:blip r:embed="rId3">
            <a:alphaModFix/>
          </a:blip>
          <a:srcRect b="0" l="0" r="0" t="0"/>
          <a:stretch/>
        </p:blipFill>
        <p:spPr>
          <a:xfrm>
            <a:off x="2017176" y="2418576"/>
            <a:ext cx="8157648" cy="2611899"/>
          </a:xfrm>
          <a:prstGeom prst="rect">
            <a:avLst/>
          </a:prstGeom>
          <a:noFill/>
          <a:ln>
            <a:noFill/>
          </a:ln>
        </p:spPr>
      </p:pic>
      <p:sp>
        <p:nvSpPr>
          <p:cNvPr id="168" name="Google Shape;168;p8"/>
          <p:cNvSpPr txBox="1"/>
          <p:nvPr/>
        </p:nvSpPr>
        <p:spPr>
          <a:xfrm>
            <a:off x="2866075" y="6199475"/>
            <a:ext cx="8083500" cy="320100"/>
          </a:xfrm>
          <a:prstGeom prst="rect">
            <a:avLst/>
          </a:prstGeom>
          <a:noFill/>
          <a:ln>
            <a:noFill/>
          </a:ln>
        </p:spPr>
        <p:txBody>
          <a:bodyPr anchorCtr="0" anchor="t" bIns="91425" lIns="91425" spcFirstLastPara="1" rIns="91425" wrap="square" tIns="91425">
            <a:noAutofit/>
          </a:bodyPr>
          <a:lstStyle/>
          <a:p>
            <a:pPr indent="-330200" lvl="0" marL="457200" rtl="0" algn="l">
              <a:lnSpc>
                <a:spcPct val="140000"/>
              </a:lnSpc>
              <a:spcBef>
                <a:spcPts val="0"/>
              </a:spcBef>
              <a:spcAft>
                <a:spcPts val="0"/>
              </a:spcAft>
              <a:buClr>
                <a:srgbClr val="3B4660"/>
              </a:buClr>
              <a:buSzPts val="1600"/>
              <a:buFont typeface="IBM Plex Mono"/>
              <a:buChar char="➔"/>
            </a:pPr>
            <a:r>
              <a:rPr b="1" lang="en-US" sz="1600">
                <a:solidFill>
                  <a:srgbClr val="3B4660"/>
                </a:solidFill>
                <a:latin typeface="IBM Plex Mono"/>
                <a:ea typeface="IBM Plex Mono"/>
                <a:cs typeface="IBM Plex Mono"/>
                <a:sym typeface="IBM Plex Mono"/>
              </a:rPr>
              <a:t>T</a:t>
            </a:r>
            <a:r>
              <a:rPr b="1" lang="en-US" sz="1600">
                <a:solidFill>
                  <a:srgbClr val="3B4660"/>
                </a:solidFill>
                <a:latin typeface="IBM Plex Mono"/>
                <a:ea typeface="IBM Plex Mono"/>
                <a:cs typeface="IBM Plex Mono"/>
                <a:sym typeface="IBM Plex Mono"/>
              </a:rPr>
              <a:t>he past adds little beyond the charge history</a:t>
            </a:r>
            <a:endParaRPr b="1" sz="1600">
              <a:solidFill>
                <a:schemeClr val="dk1"/>
              </a:solidFill>
              <a:latin typeface="IBM Plex Mono"/>
              <a:ea typeface="IBM Plex Mono"/>
              <a:cs typeface="IBM Plex Mono"/>
              <a:sym typeface="IBM Plex Mono"/>
            </a:endParaRPr>
          </a:p>
          <a:p>
            <a:pPr indent="0" lvl="0" marL="0" rtl="0" algn="l">
              <a:spcBef>
                <a:spcPts val="0"/>
              </a:spcBef>
              <a:spcAft>
                <a:spcPts val="0"/>
              </a:spcAft>
              <a:buNone/>
            </a:pPr>
            <a:r>
              <a:t/>
            </a:r>
            <a:endParaRPr sz="1600">
              <a:solidFill>
                <a:srgbClr val="14213D"/>
              </a:solidFill>
              <a:latin typeface="IBM Plex Mono"/>
              <a:ea typeface="IBM Plex Mono"/>
              <a:cs typeface="IBM Plex Mono"/>
              <a:sym typeface="IBM Plex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1"/>
        </a:solidFill>
      </p:bgPr>
    </p:bg>
    <p:spTree>
      <p:nvGrpSpPr>
        <p:cNvPr id="173" name="Shape 173"/>
        <p:cNvGrpSpPr/>
        <p:nvPr/>
      </p:nvGrpSpPr>
      <p:grpSpPr>
        <a:xfrm>
          <a:off x="0" y="0"/>
          <a:ext cx="0" cy="0"/>
          <a:chOff x="0" y="0"/>
          <a:chExt cx="0" cy="0"/>
        </a:xfrm>
      </p:grpSpPr>
      <p:sp>
        <p:nvSpPr>
          <p:cNvPr id="174" name="Google Shape;174;p9"/>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75" name="Google Shape;175;p9"/>
          <p:cNvSpPr/>
          <p:nvPr/>
        </p:nvSpPr>
        <p:spPr>
          <a:xfrm>
            <a:off x="812800" y="812800"/>
            <a:ext cx="1765300" cy="285750"/>
          </a:xfrm>
          <a:prstGeom prst="roundRect">
            <a:avLst>
              <a:gd fmla="val 17778" name="adj"/>
            </a:avLst>
          </a:prstGeom>
          <a:solidFill>
            <a:srgbClr val="1D4E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76" name="Google Shape;176;p9"/>
          <p:cNvSpPr/>
          <p:nvPr/>
        </p:nvSpPr>
        <p:spPr>
          <a:xfrm>
            <a:off x="914400" y="850900"/>
            <a:ext cx="161290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2 · MEDIUM</a:t>
            </a:r>
            <a:endParaRPr b="0" i="0" sz="1200" u="none" cap="none" strike="noStrike">
              <a:solidFill>
                <a:schemeClr val="dk1"/>
              </a:solidFill>
              <a:latin typeface="IBM Plex Mono"/>
              <a:ea typeface="IBM Plex Mono"/>
              <a:cs typeface="IBM Plex Mono"/>
              <a:sym typeface="IBM Plex Mono"/>
            </a:endParaRPr>
          </a:p>
        </p:txBody>
      </p:sp>
      <p:sp>
        <p:nvSpPr>
          <p:cNvPr id="177" name="Google Shape;177;p9"/>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lang="en-US"/>
              <a:t>Can we diagnose?</a:t>
            </a:r>
            <a:endParaRPr sz="3600"/>
          </a:p>
        </p:txBody>
      </p:sp>
      <p:sp>
        <p:nvSpPr>
          <p:cNvPr id="178" name="Google Shape;178;p9"/>
          <p:cNvSpPr/>
          <p:nvPr/>
        </p:nvSpPr>
        <p:spPr>
          <a:xfrm>
            <a:off x="815975" y="2295525"/>
            <a:ext cx="5506541" cy="717550"/>
          </a:xfrm>
          <a:prstGeom prst="roundRect">
            <a:avLst>
              <a:gd fmla="val 10177" name="adj"/>
            </a:avLst>
          </a:prstGeom>
          <a:solidFill>
            <a:srgbClr val="FFFDF8"/>
          </a:solidFill>
          <a:ln cap="flat" cmpd="sng" w="9525">
            <a:solidFill>
              <a:srgbClr val="E6E0D2"/>
            </a:solidFill>
            <a:prstDash val="solid"/>
            <a:round/>
            <a:headEnd len="sm" w="sm" type="none"/>
            <a:tailEnd len="sm" w="sm" type="none"/>
          </a:ln>
        </p:spPr>
        <p:txBody>
          <a:bodyPr anchorCtr="0" anchor="t" bIns="83375" lIns="134175" spcFirstLastPara="1" rIns="0" wrap="square" tIns="108775">
            <a:normAutofit/>
          </a:bodyPr>
          <a:lstStyle/>
          <a:p>
            <a:pPr indent="0" lvl="0" marL="0" marR="0" rtl="0" algn="l">
              <a:lnSpc>
                <a:spcPct val="150000"/>
              </a:lnSpc>
              <a:spcBef>
                <a:spcPts val="0"/>
              </a:spcBef>
              <a:spcAft>
                <a:spcPts val="0"/>
              </a:spcAft>
              <a:buClr>
                <a:srgbClr val="14213D"/>
              </a:buClr>
              <a:buSzPts val="1200"/>
              <a:buFont typeface="IBM Plex Mono"/>
              <a:buNone/>
            </a:pPr>
            <a:r>
              <a:rPr b="0" i="0" lang="en-US" sz="1200" u="none" cap="none" strike="noStrike">
                <a:solidFill>
                  <a:srgbClr val="14213D"/>
                </a:solidFill>
                <a:latin typeface="IBM Plex Mono"/>
                <a:ea typeface="IBM Plex Mono"/>
                <a:cs typeface="IBM Plex Mono"/>
                <a:sym typeface="IBM Plex Mono"/>
              </a:rPr>
              <a:t>Examine the performance of various models and try with and without BCM_GUN in the loop </a:t>
            </a:r>
            <a:endParaRPr b="0" i="0" sz="1200" u="none" cap="none" strike="noStrike">
              <a:solidFill>
                <a:schemeClr val="dk1"/>
              </a:solidFill>
              <a:latin typeface="IBM Plex Mono"/>
              <a:ea typeface="IBM Plex Mono"/>
              <a:cs typeface="IBM Plex Mono"/>
              <a:sym typeface="IBM Plex Mono"/>
            </a:endParaRPr>
          </a:p>
        </p:txBody>
      </p:sp>
      <p:sp>
        <p:nvSpPr>
          <p:cNvPr id="179" name="Google Shape;179;p9"/>
          <p:cNvSpPr/>
          <p:nvPr/>
        </p:nvSpPr>
        <p:spPr>
          <a:xfrm>
            <a:off x="6630491" y="2006600"/>
            <a:ext cx="4748709" cy="3448050"/>
          </a:xfrm>
          <a:prstGeom prst="roundRect">
            <a:avLst>
              <a:gd fmla="val 2947" name="adj"/>
            </a:avLst>
          </a:prstGeom>
          <a:solidFill>
            <a:srgbClr val="DBE7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80" name="Google Shape;180;p9"/>
          <p:cNvSpPr/>
          <p:nvPr/>
        </p:nvSpPr>
        <p:spPr>
          <a:xfrm>
            <a:off x="6630491" y="2006600"/>
            <a:ext cx="4748709" cy="3448050"/>
          </a:xfrm>
          <a:custGeom>
            <a:rect b="b" l="l" r="r" t="t"/>
            <a:pathLst>
              <a:path extrusionOk="0" h="3448050" w="4748709">
                <a:moveTo>
                  <a:pt x="0" y="101600"/>
                </a:moveTo>
                <a:lnTo>
                  <a:pt x="0" y="101600"/>
                </a:lnTo>
                <a:cubicBezTo>
                  <a:pt x="0" y="45488"/>
                  <a:pt x="45488" y="0"/>
                  <a:pt x="101600" y="0"/>
                </a:cubicBezTo>
                <a:lnTo>
                  <a:pt x="4647109" y="0"/>
                </a:lnTo>
                <a:cubicBezTo>
                  <a:pt x="4674055" y="0"/>
                  <a:pt x="4699897" y="10704"/>
                  <a:pt x="4718951" y="29758"/>
                </a:cubicBezTo>
                <a:cubicBezTo>
                  <a:pt x="4738005" y="48812"/>
                  <a:pt x="4748709" y="74654"/>
                  <a:pt x="4748709" y="101600"/>
                </a:cubicBezTo>
                <a:lnTo>
                  <a:pt x="4748709" y="101600"/>
                </a:lnTo>
                <a:cubicBezTo>
                  <a:pt x="4748709" y="73544"/>
                  <a:pt x="4703221" y="50800"/>
                  <a:pt x="4647109" y="50800"/>
                </a:cubicBezTo>
                <a:lnTo>
                  <a:pt x="101600" y="50800"/>
                </a:lnTo>
                <a:cubicBezTo>
                  <a:pt x="45488" y="50800"/>
                  <a:pt x="0" y="73544"/>
                  <a:pt x="0" y="101600"/>
                </a:cubicBezTo>
                <a:close/>
              </a:path>
            </a:pathLst>
          </a:custGeom>
          <a:solidFill>
            <a:srgbClr val="1D4E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81" name="Google Shape;181;p9"/>
          <p:cNvSpPr/>
          <p:nvPr/>
        </p:nvSpPr>
        <p:spPr>
          <a:xfrm>
            <a:off x="6884491" y="2311399"/>
            <a:ext cx="436793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D4ED8"/>
              </a:buClr>
              <a:buSzPts val="1200"/>
              <a:buFont typeface="IBM Plex Mono"/>
              <a:buNone/>
            </a:pPr>
            <a:r>
              <a:rPr b="0" i="0" lang="en-US" sz="1200" u="none" cap="none" strike="noStrike">
                <a:solidFill>
                  <a:srgbClr val="1D4ED8"/>
                </a:solidFill>
                <a:latin typeface="IBM Plex Mono"/>
                <a:ea typeface="IBM Plex Mono"/>
                <a:cs typeface="IBM Plex Mono"/>
                <a:sym typeface="IBM Plex Mono"/>
              </a:rPr>
              <a:t>THE GOAL</a:t>
            </a:r>
            <a:endParaRPr b="0" i="0" sz="1200" u="none" cap="none" strike="noStrike">
              <a:solidFill>
                <a:schemeClr val="dk1"/>
              </a:solidFill>
              <a:latin typeface="IBM Plex Mono"/>
              <a:ea typeface="IBM Plex Mono"/>
              <a:cs typeface="IBM Plex Mono"/>
              <a:sym typeface="IBM Plex Mono"/>
            </a:endParaRPr>
          </a:p>
        </p:txBody>
      </p:sp>
      <p:sp>
        <p:nvSpPr>
          <p:cNvPr id="182" name="Google Shape;182;p9"/>
          <p:cNvSpPr/>
          <p:nvPr/>
        </p:nvSpPr>
        <p:spPr>
          <a:xfrm>
            <a:off x="6884491" y="2647949"/>
            <a:ext cx="4367930" cy="1913890"/>
          </a:xfrm>
          <a:prstGeom prst="rect">
            <a:avLst/>
          </a:prstGeom>
          <a:noFill/>
          <a:ln>
            <a:noFill/>
          </a:ln>
        </p:spPr>
        <p:txBody>
          <a:bodyPr anchorCtr="0" anchor="t" bIns="0" lIns="0" spcFirstLastPara="1" rIns="0" wrap="square" tIns="0">
            <a:normAutofit/>
          </a:bodyPr>
          <a:lstStyle/>
          <a:p>
            <a:pPr indent="-342900" lvl="0" marL="342900" marR="0" rtl="0" algn="l">
              <a:lnSpc>
                <a:spcPct val="140000"/>
              </a:lnSpc>
              <a:spcBef>
                <a:spcPts val="0"/>
              </a:spcBef>
              <a:spcAft>
                <a:spcPts val="0"/>
              </a:spcAft>
              <a:buClr>
                <a:srgbClr val="14213D"/>
              </a:buClr>
              <a:buSzPts val="1600"/>
              <a:buFont typeface="IBM Plex Mono"/>
              <a:buAutoNum type="arabicPeriod"/>
            </a:pPr>
            <a:r>
              <a:rPr b="1" i="0" lang="en-US" sz="1600" u="none" cap="none" strike="noStrike">
                <a:solidFill>
                  <a:srgbClr val="14213D"/>
                </a:solidFill>
                <a:latin typeface="IBM Plex Mono"/>
                <a:ea typeface="IBM Plex Mono"/>
                <a:cs typeface="IBM Plex Mono"/>
                <a:sym typeface="IBM Plex Mono"/>
              </a:rPr>
              <a:t>Obtain good performance</a:t>
            </a:r>
            <a:r>
              <a:rPr i="0" lang="en-US" sz="1600" u="none" cap="none" strike="noStrike">
                <a:solidFill>
                  <a:srgbClr val="14213D"/>
                </a:solidFill>
                <a:latin typeface="IBM Plex Mono"/>
                <a:ea typeface="IBM Plex Mono"/>
                <a:cs typeface="IBM Plex Mono"/>
                <a:sym typeface="IBM Plex Mono"/>
              </a:rPr>
              <a:t> in the virtual diagnostic fashion.</a:t>
            </a:r>
            <a:endParaRPr i="0" sz="1800" u="none" cap="none" strike="noStrike">
              <a:solidFill>
                <a:schemeClr val="dk1"/>
              </a:solidFill>
              <a:latin typeface="IBM Plex Mono"/>
              <a:ea typeface="IBM Plex Mono"/>
              <a:cs typeface="IBM Plex Mono"/>
              <a:sym typeface="IBM Plex Mono"/>
            </a:endParaRPr>
          </a:p>
          <a:p>
            <a:pPr indent="-342900" lvl="0" marL="342900" marR="0" rtl="0" algn="l">
              <a:lnSpc>
                <a:spcPct val="140000"/>
              </a:lnSpc>
              <a:spcBef>
                <a:spcPts val="0"/>
              </a:spcBef>
              <a:spcAft>
                <a:spcPts val="0"/>
              </a:spcAft>
              <a:buClr>
                <a:srgbClr val="14213D"/>
              </a:buClr>
              <a:buSzPts val="1600"/>
              <a:buFont typeface="IBM Plex Mono"/>
              <a:buAutoNum type="arabicPeriod"/>
            </a:pPr>
            <a:r>
              <a:rPr b="1" i="0" lang="en-US" sz="1600" u="none" cap="none" strike="noStrike">
                <a:solidFill>
                  <a:srgbClr val="14213D"/>
                </a:solidFill>
                <a:latin typeface="IBM Plex Mono"/>
                <a:ea typeface="IBM Plex Mono"/>
                <a:cs typeface="IBM Plex Mono"/>
                <a:sym typeface="IBM Plex Mono"/>
              </a:rPr>
              <a:t>Identify the right metric</a:t>
            </a:r>
            <a:r>
              <a:rPr i="0" lang="en-US" sz="1600" u="none" cap="none" strike="noStrike">
                <a:solidFill>
                  <a:srgbClr val="14213D"/>
                </a:solidFill>
                <a:latin typeface="IBM Plex Mono"/>
                <a:ea typeface="IBM Plex Mono"/>
                <a:cs typeface="IBM Plex Mono"/>
                <a:sym typeface="IBM Plex Mono"/>
              </a:rPr>
              <a:t> and </a:t>
            </a:r>
            <a:r>
              <a:rPr b="1" i="0" lang="en-US" sz="1600" u="none" cap="none" strike="noStrike">
                <a:solidFill>
                  <a:srgbClr val="14213D"/>
                </a:solidFill>
                <a:latin typeface="IBM Plex Mono"/>
                <a:ea typeface="IBM Plex Mono"/>
                <a:cs typeface="IBM Plex Mono"/>
                <a:sym typeface="IBM Plex Mono"/>
              </a:rPr>
              <a:t>try some basic model</a:t>
            </a:r>
            <a:r>
              <a:rPr i="0" lang="en-US" sz="1600" u="none" cap="none" strike="noStrike">
                <a:solidFill>
                  <a:srgbClr val="14213D"/>
                </a:solidFill>
                <a:latin typeface="IBM Plex Mono"/>
                <a:ea typeface="IBM Plex Mono"/>
                <a:cs typeface="IBM Plex Mono"/>
                <a:sym typeface="IBM Plex Mono"/>
              </a:rPr>
              <a:t> (</a:t>
            </a:r>
            <a:r>
              <a:rPr lang="en-US" sz="1600">
                <a:solidFill>
                  <a:srgbClr val="14213D"/>
                </a:solidFill>
                <a:latin typeface="IBM Plex Mono"/>
                <a:ea typeface="IBM Plex Mono"/>
                <a:cs typeface="IBM Plex Mono"/>
                <a:sym typeface="IBM Plex Mono"/>
              </a:rPr>
              <a:t>Linear Regression</a:t>
            </a:r>
            <a:r>
              <a:rPr i="0" lang="en-US" sz="1600" u="none" cap="none" strike="noStrike">
                <a:solidFill>
                  <a:srgbClr val="14213D"/>
                </a:solidFill>
                <a:latin typeface="IBM Plex Mono"/>
                <a:ea typeface="IBM Plex Mono"/>
                <a:cs typeface="IBM Plex Mono"/>
                <a:sym typeface="IBM Plex Mono"/>
              </a:rPr>
              <a:t>, Random Forest, XGBoost and MLP).</a:t>
            </a:r>
            <a:endParaRPr i="0" sz="1600" u="none" cap="none" strike="noStrike">
              <a:solidFill>
                <a:schemeClr val="dk1"/>
              </a:solidFill>
              <a:latin typeface="IBM Plex Mono"/>
              <a:ea typeface="IBM Plex Mono"/>
              <a:cs typeface="IBM Plex Mono"/>
              <a:sym typeface="IBM Plex Mono"/>
            </a:endParaRPr>
          </a:p>
        </p:txBody>
      </p:sp>
      <p:sp>
        <p:nvSpPr>
          <p:cNvPr id="183" name="Google Shape;183;p9"/>
          <p:cNvSpPr/>
          <p:nvPr/>
        </p:nvSpPr>
        <p:spPr>
          <a:xfrm>
            <a:off x="870450" y="3219450"/>
            <a:ext cx="5613000" cy="2679300"/>
          </a:xfrm>
          <a:prstGeom prst="rect">
            <a:avLst/>
          </a:prstGeom>
          <a:noFill/>
          <a:ln>
            <a:noFill/>
          </a:ln>
        </p:spPr>
        <p:txBody>
          <a:bodyPr anchorCtr="0" anchor="t" bIns="0" lIns="0" spcFirstLastPara="1" rIns="0" wrap="square" tIns="0">
            <a:normAutofit/>
          </a:bodyPr>
          <a:lstStyle/>
          <a:p>
            <a:pPr indent="-330200" lvl="0" marL="457200" marR="0" rtl="0" algn="l">
              <a:lnSpc>
                <a:spcPct val="140000"/>
              </a:lnSpc>
              <a:spcBef>
                <a:spcPts val="0"/>
              </a:spcBef>
              <a:spcAft>
                <a:spcPts val="0"/>
              </a:spcAft>
              <a:buClr>
                <a:schemeClr val="dk1"/>
              </a:buClr>
              <a:buSzPts val="1600"/>
              <a:buFont typeface="IBM Plex Mono"/>
              <a:buChar char="➢"/>
            </a:pPr>
            <a:r>
              <a:rPr lang="en-US" sz="1600">
                <a:solidFill>
                  <a:srgbClr val="14213D"/>
                </a:solidFill>
                <a:latin typeface="IBM Plex Mono"/>
                <a:ea typeface="IBM Plex Mono"/>
                <a:cs typeface="IBM Plex Mono"/>
                <a:sym typeface="IBM Plex Mono"/>
              </a:rPr>
              <a:t>Models tried: </a:t>
            </a:r>
            <a:endParaRPr sz="1600">
              <a:solidFill>
                <a:srgbClr val="14213D"/>
              </a:solidFill>
              <a:latin typeface="IBM Plex Mono"/>
              <a:ea typeface="IBM Plex Mono"/>
              <a:cs typeface="IBM Plex Mono"/>
              <a:sym typeface="IBM Plex Mono"/>
            </a:endParaRPr>
          </a:p>
          <a:p>
            <a:pPr indent="-330200" lvl="1" marL="914400" marR="0" rtl="0" algn="l">
              <a:lnSpc>
                <a:spcPct val="140000"/>
              </a:lnSpc>
              <a:spcBef>
                <a:spcPts val="0"/>
              </a:spcBef>
              <a:spcAft>
                <a:spcPts val="0"/>
              </a:spcAft>
              <a:buClr>
                <a:srgbClr val="14213D"/>
              </a:buClr>
              <a:buSzPts val="1600"/>
              <a:buFont typeface="IBM Plex Mono"/>
              <a:buChar char="○"/>
            </a:pPr>
            <a:r>
              <a:rPr lang="en-US" sz="1600">
                <a:solidFill>
                  <a:srgbClr val="14213D"/>
                </a:solidFill>
                <a:latin typeface="IBM Plex Mono"/>
                <a:ea typeface="IBM Plex Mono"/>
                <a:cs typeface="IBM Plex Mono"/>
                <a:sym typeface="IBM Plex Mono"/>
              </a:rPr>
              <a:t>linear regression</a:t>
            </a:r>
            <a:endParaRPr sz="1600">
              <a:solidFill>
                <a:srgbClr val="14213D"/>
              </a:solidFill>
              <a:latin typeface="IBM Plex Mono"/>
              <a:ea typeface="IBM Plex Mono"/>
              <a:cs typeface="IBM Plex Mono"/>
              <a:sym typeface="IBM Plex Mono"/>
            </a:endParaRPr>
          </a:p>
          <a:p>
            <a:pPr indent="-330200" lvl="1" marL="914400" marR="0" rtl="0" algn="l">
              <a:lnSpc>
                <a:spcPct val="140000"/>
              </a:lnSpc>
              <a:spcBef>
                <a:spcPts val="0"/>
              </a:spcBef>
              <a:spcAft>
                <a:spcPts val="0"/>
              </a:spcAft>
              <a:buClr>
                <a:srgbClr val="14213D"/>
              </a:buClr>
              <a:buSzPts val="1600"/>
              <a:buFont typeface="IBM Plex Mono"/>
              <a:buChar char="○"/>
            </a:pPr>
            <a:r>
              <a:rPr lang="en-US" sz="1600">
                <a:solidFill>
                  <a:srgbClr val="14213D"/>
                </a:solidFill>
                <a:latin typeface="IBM Plex Mono"/>
                <a:ea typeface="IBM Plex Mono"/>
                <a:cs typeface="IBM Plex Mono"/>
                <a:sym typeface="IBM Plex Mono"/>
              </a:rPr>
              <a:t>random forest + xgboost</a:t>
            </a:r>
            <a:endParaRPr sz="1600">
              <a:solidFill>
                <a:srgbClr val="14213D"/>
              </a:solidFill>
              <a:latin typeface="IBM Plex Mono"/>
              <a:ea typeface="IBM Plex Mono"/>
              <a:cs typeface="IBM Plex Mono"/>
              <a:sym typeface="IBM Plex Mono"/>
            </a:endParaRPr>
          </a:p>
          <a:p>
            <a:pPr indent="-330200" lvl="1" marL="914400" marR="0" rtl="0" algn="l">
              <a:lnSpc>
                <a:spcPct val="140000"/>
              </a:lnSpc>
              <a:spcBef>
                <a:spcPts val="0"/>
              </a:spcBef>
              <a:spcAft>
                <a:spcPts val="0"/>
              </a:spcAft>
              <a:buClr>
                <a:srgbClr val="14213D"/>
              </a:buClr>
              <a:buSzPts val="1600"/>
              <a:buFont typeface="IBM Plex Mono"/>
              <a:buChar char="○"/>
            </a:pPr>
            <a:r>
              <a:rPr lang="en-US" sz="1600">
                <a:solidFill>
                  <a:srgbClr val="14213D"/>
                </a:solidFill>
                <a:latin typeface="IBM Plex Mono"/>
                <a:ea typeface="IBM Plex Mono"/>
                <a:cs typeface="IBM Plex Mono"/>
                <a:sym typeface="IBM Plex Mono"/>
              </a:rPr>
              <a:t>mlp</a:t>
            </a:r>
            <a:endParaRPr sz="1600">
              <a:solidFill>
                <a:srgbClr val="14213D"/>
              </a:solidFill>
              <a:latin typeface="IBM Plex Mono"/>
              <a:ea typeface="IBM Plex Mono"/>
              <a:cs typeface="IBM Plex Mono"/>
              <a:sym typeface="IBM Plex Mono"/>
            </a:endParaRPr>
          </a:p>
          <a:p>
            <a:pPr indent="-330200" lvl="1" marL="914400" marR="0" rtl="0" algn="l">
              <a:lnSpc>
                <a:spcPct val="140000"/>
              </a:lnSpc>
              <a:spcBef>
                <a:spcPts val="0"/>
              </a:spcBef>
              <a:spcAft>
                <a:spcPts val="0"/>
              </a:spcAft>
              <a:buClr>
                <a:srgbClr val="14213D"/>
              </a:buClr>
              <a:buSzPts val="1600"/>
              <a:buFont typeface="IBM Plex Mono"/>
              <a:buChar char="○"/>
            </a:pPr>
            <a:r>
              <a:rPr lang="en-US" sz="1600">
                <a:solidFill>
                  <a:srgbClr val="14213D"/>
                </a:solidFill>
                <a:latin typeface="IBM Plex Mono"/>
                <a:ea typeface="IBM Plex Mono"/>
                <a:cs typeface="IBM Plex Mono"/>
                <a:sym typeface="IBM Plex Mono"/>
              </a:rPr>
              <a:t>CNN: AE for images and temporal for history</a:t>
            </a:r>
            <a:endParaRPr sz="1600">
              <a:solidFill>
                <a:srgbClr val="14213D"/>
              </a:solidFill>
              <a:latin typeface="IBM Plex Mono"/>
              <a:ea typeface="IBM Plex Mono"/>
              <a:cs typeface="IBM Plex Mono"/>
              <a:sym typeface="IBM Plex Mono"/>
            </a:endParaRPr>
          </a:p>
          <a:p>
            <a:pPr indent="-330200" lvl="1" marL="914400" marR="0" rtl="0" algn="l">
              <a:lnSpc>
                <a:spcPct val="140000"/>
              </a:lnSpc>
              <a:spcBef>
                <a:spcPts val="0"/>
              </a:spcBef>
              <a:spcAft>
                <a:spcPts val="0"/>
              </a:spcAft>
              <a:buClr>
                <a:srgbClr val="14213D"/>
              </a:buClr>
              <a:buSzPts val="1600"/>
              <a:buFont typeface="IBM Plex Mono"/>
              <a:buChar char="○"/>
            </a:pPr>
            <a:r>
              <a:rPr lang="en-US" sz="1600">
                <a:solidFill>
                  <a:srgbClr val="14213D"/>
                </a:solidFill>
                <a:latin typeface="IBM Plex Mono"/>
                <a:ea typeface="IBM Plex Mono"/>
                <a:cs typeface="IBM Plex Mono"/>
                <a:sym typeface="IBM Plex Mono"/>
              </a:rPr>
              <a:t>RNNs: LSTMs, GRUs</a:t>
            </a:r>
            <a:endParaRPr sz="1600">
              <a:solidFill>
                <a:srgbClr val="14213D"/>
              </a:solidFill>
              <a:latin typeface="IBM Plex Mono"/>
              <a:ea typeface="IBM Plex Mono"/>
              <a:cs typeface="IBM Plex Mono"/>
              <a:sym typeface="IBM Plex Mono"/>
            </a:endParaRPr>
          </a:p>
          <a:p>
            <a:pPr indent="0" lvl="0" marL="914400" marR="0" rtl="0" algn="l">
              <a:lnSpc>
                <a:spcPct val="140000"/>
              </a:lnSpc>
              <a:spcBef>
                <a:spcPts val="0"/>
              </a:spcBef>
              <a:spcAft>
                <a:spcPts val="0"/>
              </a:spcAft>
              <a:buNone/>
            </a:pPr>
            <a:r>
              <a:t/>
            </a:r>
            <a:endParaRPr sz="1600">
              <a:solidFill>
                <a:srgbClr val="14213D"/>
              </a:solidFill>
              <a:latin typeface="IBM Plex Sans"/>
              <a:ea typeface="IBM Plex Sans"/>
              <a:cs typeface="IBM Plex Sans"/>
              <a:sym typeface="IBM Plex Sans"/>
            </a:endParaRPr>
          </a:p>
        </p:txBody>
      </p:sp>
      <p:sp>
        <p:nvSpPr>
          <p:cNvPr id="184" name="Google Shape;184;p9"/>
          <p:cNvSpPr/>
          <p:nvPr/>
        </p:nvSpPr>
        <p:spPr>
          <a:xfrm>
            <a:off x="812799" y="6242049"/>
            <a:ext cx="7848599" cy="234949"/>
          </a:xfrm>
          <a:prstGeom prst="rect">
            <a:avLst/>
          </a:prstGeom>
          <a:noFill/>
          <a:ln>
            <a:noFill/>
          </a:ln>
        </p:spPr>
        <p:txBody>
          <a:bodyPr anchorCtr="0" anchor="t" bIns="0" lIns="0" spcFirstLastPara="1" rIns="0" wrap="square" tIns="0">
            <a:normAutofit/>
          </a:bodyPr>
          <a:lstStyle/>
          <a:p>
            <a:pPr indent="0" lvl="0" marL="0" marR="0" rtl="0" algn="l">
              <a:lnSpc>
                <a:spcPct val="139916"/>
              </a:lnSpc>
              <a:spcBef>
                <a:spcPts val="0"/>
              </a:spcBef>
              <a:spcAft>
                <a:spcPts val="0"/>
              </a:spcAft>
              <a:buClr>
                <a:srgbClr val="5A6478"/>
              </a:buClr>
              <a:buSzPts val="1200"/>
              <a:buFont typeface="IBM Plex Mono"/>
              <a:buNone/>
            </a:pPr>
            <a:r>
              <a:rPr b="0" i="0" lang="en-US" sz="1200" u="none" cap="none" strike="noStrike">
                <a:solidFill>
                  <a:srgbClr val="5A6478"/>
                </a:solidFill>
                <a:latin typeface="IBM Plex Mono"/>
                <a:ea typeface="IBM Plex Mono"/>
                <a:cs typeface="IBM Plex Mono"/>
                <a:sym typeface="IBM Plex Mono"/>
              </a:rPr>
              <a:t>Forecasting the CLEAR beam charge</a:t>
            </a:r>
            <a:endParaRPr b="0" i="0" sz="1200" u="none" cap="none" strike="noStrike">
              <a:solidFill>
                <a:schemeClr val="dk1"/>
              </a:solidFill>
              <a:latin typeface="IBM Plex Mono"/>
              <a:ea typeface="IBM Plex Mono"/>
              <a:cs typeface="IBM Plex Mono"/>
              <a:sym typeface="IBM Plex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91" name="Google Shape;191;p10"/>
          <p:cNvSpPr/>
          <p:nvPr/>
        </p:nvSpPr>
        <p:spPr>
          <a:xfrm>
            <a:off x="813816" y="813816"/>
            <a:ext cx="2834640" cy="283464"/>
          </a:xfrm>
          <a:prstGeom prst="roundRect">
            <a:avLst>
              <a:gd fmla="val 17778" name="adj"/>
            </a:avLst>
          </a:prstGeom>
          <a:solidFill>
            <a:srgbClr val="1D4E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192" name="Google Shape;192;p10"/>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2 · MEDIUM · RESULTS</a:t>
            </a:r>
            <a:endParaRPr b="0" i="0" sz="1200" u="none" cap="none" strike="noStrike">
              <a:solidFill>
                <a:schemeClr val="dk1"/>
              </a:solidFill>
              <a:latin typeface="IBM Plex Mono"/>
              <a:ea typeface="IBM Plex Mono"/>
              <a:cs typeface="IBM Plex Mono"/>
              <a:sym typeface="IBM Plex Mono"/>
            </a:endParaRPr>
          </a:p>
        </p:txBody>
      </p:sp>
      <p:sp>
        <p:nvSpPr>
          <p:cNvPr id="193" name="Google Shape;193;p10"/>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lang="en-US"/>
              <a:t>Vanilla models</a:t>
            </a:r>
            <a:endParaRPr sz="3600"/>
          </a:p>
        </p:txBody>
      </p:sp>
      <p:sp>
        <p:nvSpPr>
          <p:cNvPr id="194" name="Google Shape;194;p10"/>
          <p:cNvSpPr/>
          <p:nvPr/>
        </p:nvSpPr>
        <p:spPr>
          <a:xfrm>
            <a:off x="812800" y="6242050"/>
            <a:ext cx="784860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478"/>
              </a:buClr>
              <a:buSzPts val="1200"/>
              <a:buFont typeface="IBM Plex Mono"/>
              <a:buNone/>
            </a:pPr>
            <a:r>
              <a:rPr b="0" i="0" lang="en-US" sz="1200" u="none" cap="none" strike="noStrike">
                <a:solidFill>
                  <a:srgbClr val="5A6478"/>
                </a:solidFill>
                <a:latin typeface="IBM Plex Mono"/>
                <a:ea typeface="IBM Plex Mono"/>
                <a:cs typeface="IBM Plex Mono"/>
                <a:sym typeface="IBM Plex Mono"/>
              </a:rPr>
              <a:t>Forecasting the CLEAR beam charge </a:t>
            </a:r>
            <a:endParaRPr b="0" i="0" sz="1200" u="none" cap="none" strike="noStrike">
              <a:solidFill>
                <a:schemeClr val="dk1"/>
              </a:solidFill>
              <a:latin typeface="IBM Plex Mono"/>
              <a:ea typeface="IBM Plex Mono"/>
              <a:cs typeface="IBM Plex Mono"/>
              <a:sym typeface="IBM Plex Mono"/>
            </a:endParaRPr>
          </a:p>
        </p:txBody>
      </p:sp>
      <p:sp>
        <p:nvSpPr>
          <p:cNvPr id="195" name="Google Shape;195;p10"/>
          <p:cNvSpPr/>
          <p:nvPr/>
        </p:nvSpPr>
        <p:spPr>
          <a:xfrm>
            <a:off x="813816" y="1783080"/>
            <a:ext cx="10881360" cy="3200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1" lang="en-US" sz="1600">
                <a:solidFill>
                  <a:srgbClr val="14213D"/>
                </a:solidFill>
                <a:latin typeface="Space Grotesk"/>
                <a:ea typeface="Space Grotesk"/>
                <a:cs typeface="Space Grotesk"/>
                <a:sym typeface="Space Grotesk"/>
              </a:rPr>
              <a:t>How the different models behave on our data?</a:t>
            </a:r>
            <a:endParaRPr b="1" i="0" sz="1600" u="none" cap="none" strike="noStrike">
              <a:solidFill>
                <a:schemeClr val="dk1"/>
              </a:solidFill>
              <a:latin typeface="Space Grotesk"/>
              <a:ea typeface="Space Grotesk"/>
              <a:cs typeface="Space Grotesk"/>
              <a:sym typeface="Space Grotesk"/>
            </a:endParaRPr>
          </a:p>
        </p:txBody>
      </p:sp>
      <p:graphicFrame>
        <p:nvGraphicFramePr>
          <p:cNvPr id="196" name="Google Shape;196;p10"/>
          <p:cNvGraphicFramePr/>
          <p:nvPr/>
        </p:nvGraphicFramePr>
        <p:xfrm>
          <a:off x="813825" y="2317738"/>
          <a:ext cx="3000000" cy="3000000"/>
        </p:xfrm>
        <a:graphic>
          <a:graphicData uri="http://schemas.openxmlformats.org/drawingml/2006/table">
            <a:tbl>
              <a:tblPr>
                <a:noFill/>
                <a:tableStyleId>{8D058665-8FE9-45B2-BE9A-A264AC7DD316}</a:tableStyleId>
              </a:tblPr>
              <a:tblGrid>
                <a:gridCol w="806250"/>
                <a:gridCol w="2331150"/>
                <a:gridCol w="1174325"/>
                <a:gridCol w="1174325"/>
                <a:gridCol w="1261975"/>
                <a:gridCol w="1332075"/>
                <a:gridCol w="1367125"/>
                <a:gridCol w="1297050"/>
              </a:tblGrid>
              <a:tr h="659050">
                <a:tc>
                  <a:txBody>
                    <a:bodyPr/>
                    <a:lstStyle/>
                    <a:p>
                      <a:pPr indent="0" lvl="0" marL="0" rtl="0" algn="ctr">
                        <a:lnSpc>
                          <a:spcPct val="115000"/>
                        </a:lnSpc>
                        <a:spcBef>
                          <a:spcPts val="0"/>
                        </a:spcBef>
                        <a:spcAft>
                          <a:spcPts val="0"/>
                        </a:spcAft>
                        <a:buNone/>
                      </a:pPr>
                      <a:r>
                        <a:rPr b="1" lang="en-US">
                          <a:solidFill>
                            <a:srgbClr val="14213D"/>
                          </a:solidFill>
                        </a:rPr>
                        <a:t>seg</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regime</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BCM mean pC</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BCM std pC</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linear</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random forest</a:t>
                      </a:r>
                      <a:endParaRPr b="1">
                        <a:solidFill>
                          <a:srgbClr val="14213D"/>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XGBoost</a:t>
                      </a:r>
                      <a:endParaRPr b="1">
                        <a:solidFill>
                          <a:srgbClr val="14213D"/>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MLP (32-16)</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chemeClr val="lt2"/>
                    </a:solidFill>
                  </a:tcPr>
                </a:tc>
              </a:tr>
              <a:tr h="436400">
                <a:tc>
                  <a:txBody>
                    <a:bodyPr/>
                    <a:lstStyle/>
                    <a:p>
                      <a:pPr indent="0" lvl="0" marL="0" rtl="0" algn="ctr">
                        <a:lnSpc>
                          <a:spcPct val="115000"/>
                        </a:lnSpc>
                        <a:spcBef>
                          <a:spcPts val="0"/>
                        </a:spcBef>
                        <a:spcAft>
                          <a:spcPts val="0"/>
                        </a:spcAft>
                        <a:buNone/>
                      </a:pPr>
                      <a:r>
                        <a:rPr b="1" lang="en-US">
                          <a:solidFill>
                            <a:srgbClr val="14213D"/>
                          </a:solidFill>
                        </a:rPr>
                        <a:t>0</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low charge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251</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23.3</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13.4</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12.0</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rPr>
                        <a:t>16.8</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rPr>
                        <a:t>11.2</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436400">
                <a:tc>
                  <a:txBody>
                    <a:bodyPr/>
                    <a:lstStyle/>
                    <a:p>
                      <a:pPr indent="0" lvl="0" marL="0" rtl="0" algn="ctr">
                        <a:lnSpc>
                          <a:spcPct val="115000"/>
                        </a:lnSpc>
                        <a:spcBef>
                          <a:spcPts val="0"/>
                        </a:spcBef>
                        <a:spcAft>
                          <a:spcPts val="0"/>
                        </a:spcAft>
                        <a:buNone/>
                      </a:pPr>
                      <a:r>
                        <a:rPr b="1" lang="en-US">
                          <a:solidFill>
                            <a:srgbClr val="14213D"/>
                          </a:solidFill>
                        </a:rPr>
                        <a:t>3</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low charge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126</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20.6</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11.0</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10.1</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rPr>
                        <a:t>10.7</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rPr>
                        <a:t>9.9</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436400">
                <a:tc>
                  <a:txBody>
                    <a:bodyPr/>
                    <a:lstStyle/>
                    <a:p>
                      <a:pPr indent="0" lvl="0" marL="0" rtl="0" algn="ctr">
                        <a:lnSpc>
                          <a:spcPct val="115000"/>
                        </a:lnSpc>
                        <a:spcBef>
                          <a:spcPts val="0"/>
                        </a:spcBef>
                        <a:spcAft>
                          <a:spcPts val="0"/>
                        </a:spcAft>
                        <a:buNone/>
                      </a:pPr>
                      <a:r>
                        <a:rPr b="1" lang="en-US">
                          <a:solidFill>
                            <a:srgbClr val="14213D"/>
                          </a:solidFill>
                        </a:rPr>
                        <a:t>4</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low charge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107</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21.2</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9.5</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9.3</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rPr>
                        <a:t>9.2</a:t>
                      </a:r>
                      <a:endParaRPr b="1">
                        <a:solidFill>
                          <a:srgbClr val="14213D"/>
                        </a:solidFill>
                      </a:endParaRPr>
                    </a:p>
                  </a:txBody>
                  <a:tcPr marT="91425" marB="91425" marR="91425" marL="91425">
                    <a:solidFill>
                      <a:srgbClr val="93C47D"/>
                    </a:solidFill>
                  </a:tcPr>
                </a:tc>
                <a:tc>
                  <a:txBody>
                    <a:bodyPr/>
                    <a:lstStyle/>
                    <a:p>
                      <a:pPr indent="0" lvl="0" marL="0" rtl="0" algn="ctr">
                        <a:lnSpc>
                          <a:spcPct val="115000"/>
                        </a:lnSpc>
                        <a:spcBef>
                          <a:spcPts val="0"/>
                        </a:spcBef>
                        <a:spcAft>
                          <a:spcPts val="0"/>
                        </a:spcAft>
                        <a:buNone/>
                      </a:pPr>
                      <a:r>
                        <a:rPr lang="en-US">
                          <a:solidFill>
                            <a:srgbClr val="14213D"/>
                          </a:solidFill>
                        </a:rPr>
                        <a:t>9.6</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r>
              <a:tr h="436400">
                <a:tc>
                  <a:txBody>
                    <a:bodyPr/>
                    <a:lstStyle/>
                    <a:p>
                      <a:pPr indent="0" lvl="0" marL="0" rtl="0" algn="ctr">
                        <a:lnSpc>
                          <a:spcPct val="115000"/>
                        </a:lnSpc>
                        <a:spcBef>
                          <a:spcPts val="0"/>
                        </a:spcBef>
                        <a:spcAft>
                          <a:spcPts val="0"/>
                        </a:spcAft>
                        <a:buNone/>
                      </a:pPr>
                      <a:r>
                        <a:rPr b="1" lang="en-US">
                          <a:solidFill>
                            <a:srgbClr val="14213D"/>
                          </a:solidFill>
                        </a:rPr>
                        <a:t>5</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high, repetitive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5583</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427</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143</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96.1</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rPr>
                        <a:t>90.7</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rPr>
                        <a:t>85.7</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436400">
                <a:tc>
                  <a:txBody>
                    <a:bodyPr/>
                    <a:lstStyle/>
                    <a:p>
                      <a:pPr indent="0" lvl="0" marL="0" rtl="0" algn="ctr">
                        <a:lnSpc>
                          <a:spcPct val="115000"/>
                        </a:lnSpc>
                        <a:spcBef>
                          <a:spcPts val="0"/>
                        </a:spcBef>
                        <a:spcAft>
                          <a:spcPts val="0"/>
                        </a:spcAft>
                        <a:buNone/>
                      </a:pPr>
                      <a:r>
                        <a:rPr b="1" lang="en-US">
                          <a:solidFill>
                            <a:srgbClr val="14213D"/>
                          </a:solidFill>
                        </a:rPr>
                        <a:t>1</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high, non-repetitive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4862</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376</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166</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b="1" lang="en-US">
                          <a:solidFill>
                            <a:srgbClr val="14213D"/>
                          </a:solidFill>
                        </a:rPr>
                        <a:t>134</a:t>
                      </a:r>
                      <a:endParaRPr b="1">
                        <a:solidFill>
                          <a:srgbClr val="14213D"/>
                        </a:solidFill>
                      </a:endParaRPr>
                    </a:p>
                  </a:txBody>
                  <a:tcPr marT="91425" marB="91425" marR="91425" marL="91425">
                    <a:solidFill>
                      <a:srgbClr val="93C47D"/>
                    </a:solidFill>
                  </a:tcPr>
                </a:tc>
                <a:tc>
                  <a:txBody>
                    <a:bodyPr/>
                    <a:lstStyle/>
                    <a:p>
                      <a:pPr indent="0" lvl="0" marL="0" rtl="0" algn="ctr">
                        <a:lnSpc>
                          <a:spcPct val="115000"/>
                        </a:lnSpc>
                        <a:spcBef>
                          <a:spcPts val="0"/>
                        </a:spcBef>
                        <a:spcAft>
                          <a:spcPts val="0"/>
                        </a:spcAft>
                        <a:buNone/>
                      </a:pPr>
                      <a:r>
                        <a:rPr lang="en-US">
                          <a:solidFill>
                            <a:srgbClr val="14213D"/>
                          </a:solidFill>
                        </a:rPr>
                        <a:t>185</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rPr>
                        <a:t>141</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r>
              <a:tr h="436400">
                <a:tc>
                  <a:txBody>
                    <a:bodyPr/>
                    <a:lstStyle/>
                    <a:p>
                      <a:pPr indent="0" lvl="0" marL="0" rtl="0" algn="ctr">
                        <a:lnSpc>
                          <a:spcPct val="115000"/>
                        </a:lnSpc>
                        <a:spcBef>
                          <a:spcPts val="0"/>
                        </a:spcBef>
                        <a:spcAft>
                          <a:spcPts val="0"/>
                        </a:spcAft>
                        <a:buNone/>
                      </a:pPr>
                      <a:r>
                        <a:rPr b="1" lang="en-US">
                          <a:solidFill>
                            <a:srgbClr val="14213D"/>
                          </a:solidFill>
                        </a:rPr>
                        <a:t>6</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high, non-repetitive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5571</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191</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US">
                          <a:solidFill>
                            <a:srgbClr val="14213D"/>
                          </a:solidFill>
                        </a:rPr>
                        <a:t>47.8</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rgbClr val="93C47D"/>
                    </a:solidFill>
                  </a:tcPr>
                </a:tc>
                <a:tc>
                  <a:txBody>
                    <a:bodyPr/>
                    <a:lstStyle/>
                    <a:p>
                      <a:pPr indent="0" lvl="0" marL="0" rtl="0" algn="ctr">
                        <a:lnSpc>
                          <a:spcPct val="115000"/>
                        </a:lnSpc>
                        <a:spcBef>
                          <a:spcPts val="0"/>
                        </a:spcBef>
                        <a:spcAft>
                          <a:spcPts val="0"/>
                        </a:spcAft>
                        <a:buNone/>
                      </a:pPr>
                      <a:r>
                        <a:rPr lang="en-US">
                          <a:solidFill>
                            <a:srgbClr val="14213D"/>
                          </a:solidFill>
                        </a:rPr>
                        <a:t>63.8</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rPr>
                        <a:t>57.2</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rPr>
                        <a:t>50.4</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r>
              <a:tr h="436400">
                <a:tc>
                  <a:txBody>
                    <a:bodyPr/>
                    <a:lstStyle/>
                    <a:p>
                      <a:pPr indent="0" lvl="0" marL="0" rtl="0" algn="ctr">
                        <a:lnSpc>
                          <a:spcPct val="115000"/>
                        </a:lnSpc>
                        <a:spcBef>
                          <a:spcPts val="0"/>
                        </a:spcBef>
                        <a:spcAft>
                          <a:spcPts val="0"/>
                        </a:spcAft>
                        <a:buNone/>
                      </a:pPr>
                      <a:r>
                        <a:rPr b="1" lang="en-US">
                          <a:solidFill>
                            <a:srgbClr val="14213D"/>
                          </a:solidFill>
                        </a:rPr>
                        <a:t>7</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high, non-repetitive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10106</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1024</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278</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265</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rPr>
                        <a:t>247</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rPr>
                        <a:t>211</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h6524a41718b72fa9_1_5"/>
          <p:cNvPicPr preferRelativeResize="0"/>
          <p:nvPr/>
        </p:nvPicPr>
        <p:blipFill>
          <a:blip r:embed="rId3">
            <a:alphaModFix/>
          </a:blip>
          <a:stretch>
            <a:fillRect/>
          </a:stretch>
        </p:blipFill>
        <p:spPr>
          <a:xfrm>
            <a:off x="596704" y="1727250"/>
            <a:ext cx="7501844" cy="4934101"/>
          </a:xfrm>
          <a:prstGeom prst="rect">
            <a:avLst/>
          </a:prstGeom>
          <a:noFill/>
          <a:ln>
            <a:noFill/>
          </a:ln>
        </p:spPr>
      </p:pic>
      <p:sp>
        <p:nvSpPr>
          <p:cNvPr id="202" name="Google Shape;202;h6524a41718b72fa9_1_5"/>
          <p:cNvSpPr/>
          <p:nvPr/>
        </p:nvSpPr>
        <p:spPr>
          <a:xfrm>
            <a:off x="8314500" y="1639525"/>
            <a:ext cx="3436500" cy="4934100"/>
          </a:xfrm>
          <a:prstGeom prst="rect">
            <a:avLst/>
          </a:prstGeom>
          <a:noFill/>
          <a:ln>
            <a:noFill/>
          </a:ln>
        </p:spPr>
        <p:txBody>
          <a:bodyPr anchorCtr="0" anchor="t" bIns="0" lIns="0" spcFirstLastPara="1" rIns="0" wrap="square" tIns="0">
            <a:noAutofit/>
          </a:bodyPr>
          <a:lstStyle/>
          <a:p>
            <a:pPr indent="-330200" lvl="0" marL="457200" marR="0" rtl="0" algn="l">
              <a:lnSpc>
                <a:spcPct val="140000"/>
              </a:lnSpc>
              <a:spcBef>
                <a:spcPts val="0"/>
              </a:spcBef>
              <a:spcAft>
                <a:spcPts val="0"/>
              </a:spcAft>
              <a:buClr>
                <a:srgbClr val="3B4660"/>
              </a:buClr>
              <a:buSzPts val="1600"/>
              <a:buFont typeface="IBM Plex Mono"/>
              <a:buChar char="➢"/>
            </a:pPr>
            <a:r>
              <a:rPr lang="en-US" sz="1600">
                <a:solidFill>
                  <a:srgbClr val="3B4660"/>
                </a:solidFill>
                <a:latin typeface="IBM Plex Mono"/>
                <a:ea typeface="IBM Plex Mono"/>
                <a:cs typeface="IBM Plex Mono"/>
                <a:sym typeface="IBM Plex Mono"/>
              </a:rPr>
              <a:t>Visual inspection shows that the </a:t>
            </a:r>
            <a:r>
              <a:rPr b="1" lang="en-US" sz="1600">
                <a:solidFill>
                  <a:srgbClr val="3B4660"/>
                </a:solidFill>
                <a:latin typeface="IBM Plex Mono"/>
                <a:ea typeface="IBM Plex Mono"/>
                <a:cs typeface="IBM Plex Mono"/>
                <a:sym typeface="IBM Plex Mono"/>
              </a:rPr>
              <a:t>models have learned to predict the BCM from the features</a:t>
            </a:r>
            <a:endParaRPr b="1" sz="1600">
              <a:solidFill>
                <a:srgbClr val="3B4660"/>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b="1" lang="en-US" sz="1600">
                <a:solidFill>
                  <a:srgbClr val="3B4660"/>
                </a:solidFill>
                <a:latin typeface="IBM Plex Mono"/>
                <a:ea typeface="IBM Plex Mono"/>
                <a:cs typeface="IBM Plex Mono"/>
                <a:sym typeface="IBM Plex Mono"/>
              </a:rPr>
              <a:t>Outliers</a:t>
            </a:r>
            <a:r>
              <a:rPr lang="en-US" sz="1600">
                <a:solidFill>
                  <a:srgbClr val="3B4660"/>
                </a:solidFill>
                <a:latin typeface="IBM Plex Mono"/>
                <a:ea typeface="IBM Plex Mono"/>
                <a:cs typeface="IBM Plex Mono"/>
                <a:sym typeface="IBM Plex Mono"/>
              </a:rPr>
              <a:t> still </a:t>
            </a:r>
            <a:r>
              <a:rPr b="1" lang="en-US" sz="1600">
                <a:solidFill>
                  <a:srgbClr val="3B4660"/>
                </a:solidFill>
                <a:latin typeface="IBM Plex Mono"/>
                <a:ea typeface="IBM Plex Mono"/>
                <a:cs typeface="IBM Plex Mono"/>
                <a:sym typeface="IBM Plex Mono"/>
              </a:rPr>
              <a:t>penalize</a:t>
            </a:r>
            <a:r>
              <a:rPr lang="en-US" sz="1600">
                <a:solidFill>
                  <a:srgbClr val="3B4660"/>
                </a:solidFill>
                <a:latin typeface="IBM Plex Mono"/>
                <a:ea typeface="IBM Plex Mono"/>
                <a:cs typeface="IBM Plex Mono"/>
                <a:sym typeface="IBM Plex Mono"/>
              </a:rPr>
              <a:t> a lot the models </a:t>
            </a:r>
            <a:r>
              <a:rPr b="1" lang="en-US" sz="1600">
                <a:solidFill>
                  <a:srgbClr val="3B4660"/>
                </a:solidFill>
                <a:latin typeface="IBM Plex Mono"/>
                <a:ea typeface="IBM Plex Mono"/>
                <a:cs typeface="IBM Plex Mono"/>
                <a:sym typeface="IBM Plex Mono"/>
              </a:rPr>
              <a:t>performances</a:t>
            </a:r>
            <a:r>
              <a:rPr lang="en-US" sz="1600">
                <a:solidFill>
                  <a:srgbClr val="3B4660"/>
                </a:solidFill>
                <a:latin typeface="IBM Plex Mono"/>
                <a:ea typeface="IBM Plex Mono"/>
                <a:cs typeface="IBM Plex Mono"/>
                <a:sym typeface="IBM Plex Mono"/>
              </a:rPr>
              <a:t> as seen on the correlation plot</a:t>
            </a:r>
            <a:endParaRPr sz="1600">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lang="en-US">
                <a:solidFill>
                  <a:srgbClr val="3B4660"/>
                </a:solidFill>
                <a:latin typeface="IBM Plex Mono"/>
                <a:ea typeface="IBM Plex Mono"/>
                <a:cs typeface="IBM Plex Mono"/>
                <a:sym typeface="IBM Plex Mono"/>
              </a:rPr>
              <a:t>The trend is well matched </a:t>
            </a:r>
            <a:endParaRPr>
              <a:solidFill>
                <a:srgbClr val="3B4660"/>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b="1" lang="en-US" sz="1600">
                <a:solidFill>
                  <a:srgbClr val="3B4660"/>
                </a:solidFill>
                <a:latin typeface="IBM Plex Mono"/>
                <a:ea typeface="IBM Plex Mono"/>
                <a:cs typeface="IBM Plex Mono"/>
                <a:sym typeface="IBM Plex Mono"/>
              </a:rPr>
              <a:t>Data might need better cleaning :</a:t>
            </a:r>
            <a:endParaRPr b="1" sz="1600">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lang="en-US">
                <a:solidFill>
                  <a:srgbClr val="3B4660"/>
                </a:solidFill>
                <a:latin typeface="IBM Plex Mono"/>
                <a:ea typeface="IBM Plex Mono"/>
                <a:cs typeface="IBM Plex Mono"/>
                <a:sym typeface="IBM Plex Mono"/>
              </a:rPr>
              <a:t>Use of robust method such as </a:t>
            </a:r>
            <a:r>
              <a:rPr b="1" lang="en-US">
                <a:solidFill>
                  <a:srgbClr val="3B4660"/>
                </a:solidFill>
                <a:latin typeface="IBM Plex Mono"/>
                <a:ea typeface="IBM Plex Mono"/>
                <a:cs typeface="IBM Plex Mono"/>
                <a:sym typeface="IBM Plex Mono"/>
              </a:rPr>
              <a:t>MedianAE</a:t>
            </a:r>
            <a:endParaRPr b="1">
              <a:solidFill>
                <a:srgbClr val="3B4660"/>
              </a:solidFill>
              <a:latin typeface="IBM Plex Mono"/>
              <a:ea typeface="IBM Plex Mono"/>
              <a:cs typeface="IBM Plex Mono"/>
              <a:sym typeface="IBM Plex Mono"/>
            </a:endParaRPr>
          </a:p>
        </p:txBody>
      </p:sp>
      <p:sp>
        <p:nvSpPr>
          <p:cNvPr id="203" name="Google Shape;203;h6524a41718b72fa9_1_5"/>
          <p:cNvSpPr/>
          <p:nvPr/>
        </p:nvSpPr>
        <p:spPr>
          <a:xfrm>
            <a:off x="812800" y="558800"/>
            <a:ext cx="609600" cy="507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04" name="Google Shape;204;h6524a41718b72fa9_1_5"/>
          <p:cNvSpPr/>
          <p:nvPr/>
        </p:nvSpPr>
        <p:spPr>
          <a:xfrm>
            <a:off x="813816" y="813816"/>
            <a:ext cx="2834700" cy="283500"/>
          </a:xfrm>
          <a:prstGeom prst="roundRect">
            <a:avLst>
              <a:gd fmla="val 17778" name="adj"/>
            </a:avLst>
          </a:prstGeom>
          <a:solidFill>
            <a:srgbClr val="1D4E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05" name="Google Shape;205;h6524a41718b72fa9_1_5"/>
          <p:cNvSpPr/>
          <p:nvPr/>
        </p:nvSpPr>
        <p:spPr>
          <a:xfrm>
            <a:off x="914400" y="850392"/>
            <a:ext cx="27432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2 · MEDIUM · RESULTS</a:t>
            </a:r>
            <a:endParaRPr b="0" i="0" sz="1200" u="none" cap="none" strike="noStrike">
              <a:solidFill>
                <a:schemeClr val="dk1"/>
              </a:solidFill>
              <a:latin typeface="IBM Plex Mono"/>
              <a:ea typeface="IBM Plex Mono"/>
              <a:cs typeface="IBM Plex Mono"/>
              <a:sym typeface="IBM Plex Mono"/>
            </a:endParaRPr>
          </a:p>
        </p:txBody>
      </p:sp>
      <p:sp>
        <p:nvSpPr>
          <p:cNvPr id="206" name="Google Shape;206;h6524a41718b72fa9_1_5"/>
          <p:cNvSpPr txBox="1"/>
          <p:nvPr>
            <p:ph type="title"/>
          </p:nvPr>
        </p:nvSpPr>
        <p:spPr>
          <a:xfrm>
            <a:off x="812800" y="1200150"/>
            <a:ext cx="10883400" cy="5271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lang="en-US"/>
              <a:t>Vanilla models</a:t>
            </a:r>
            <a:endParaRPr sz="3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h6524a41718b72fa9_1_20"/>
          <p:cNvSpPr/>
          <p:nvPr/>
        </p:nvSpPr>
        <p:spPr>
          <a:xfrm>
            <a:off x="812800" y="558800"/>
            <a:ext cx="609600" cy="507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13" name="Google Shape;213;h6524a41718b72fa9_1_20"/>
          <p:cNvSpPr/>
          <p:nvPr/>
        </p:nvSpPr>
        <p:spPr>
          <a:xfrm>
            <a:off x="813816" y="813816"/>
            <a:ext cx="2834700" cy="283500"/>
          </a:xfrm>
          <a:prstGeom prst="roundRect">
            <a:avLst>
              <a:gd fmla="val 17778" name="adj"/>
            </a:avLst>
          </a:prstGeom>
          <a:solidFill>
            <a:srgbClr val="1D4E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14" name="Google Shape;214;h6524a41718b72fa9_1_20"/>
          <p:cNvSpPr/>
          <p:nvPr/>
        </p:nvSpPr>
        <p:spPr>
          <a:xfrm>
            <a:off x="914400" y="850392"/>
            <a:ext cx="27432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2 · MEDIUM · RESULTS</a:t>
            </a:r>
            <a:endParaRPr b="0" i="0" sz="1200" u="none" cap="none" strike="noStrike">
              <a:solidFill>
                <a:schemeClr val="dk1"/>
              </a:solidFill>
              <a:latin typeface="IBM Plex Mono"/>
              <a:ea typeface="IBM Plex Mono"/>
              <a:cs typeface="IBM Plex Mono"/>
              <a:sym typeface="IBM Plex Mono"/>
            </a:endParaRPr>
          </a:p>
        </p:txBody>
      </p:sp>
      <p:sp>
        <p:nvSpPr>
          <p:cNvPr id="215" name="Google Shape;215;h6524a41718b72fa9_1_20"/>
          <p:cNvSpPr txBox="1"/>
          <p:nvPr>
            <p:ph type="title"/>
          </p:nvPr>
        </p:nvSpPr>
        <p:spPr>
          <a:xfrm>
            <a:off x="812800" y="1200150"/>
            <a:ext cx="10883400" cy="5271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lang="en-US"/>
              <a:t>Detrending</a:t>
            </a:r>
            <a:endParaRPr sz="3600"/>
          </a:p>
        </p:txBody>
      </p:sp>
      <p:sp>
        <p:nvSpPr>
          <p:cNvPr id="216" name="Google Shape;216;h6524a41718b72fa9_1_20"/>
          <p:cNvSpPr/>
          <p:nvPr/>
        </p:nvSpPr>
        <p:spPr>
          <a:xfrm>
            <a:off x="812800" y="6242050"/>
            <a:ext cx="7848600" cy="234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478"/>
              </a:buClr>
              <a:buSzPts val="1200"/>
              <a:buFont typeface="IBM Plex Mono"/>
              <a:buNone/>
            </a:pPr>
            <a:r>
              <a:rPr b="0" i="0" lang="en-US" sz="1200" u="none" cap="none" strike="noStrike">
                <a:solidFill>
                  <a:srgbClr val="5A6478"/>
                </a:solidFill>
                <a:latin typeface="IBM Plex Mono"/>
                <a:ea typeface="IBM Plex Mono"/>
                <a:cs typeface="IBM Plex Mono"/>
                <a:sym typeface="IBM Plex Mono"/>
              </a:rPr>
              <a:t>Forecasting the CLEAR beam charge </a:t>
            </a:r>
            <a:endParaRPr b="0" i="0" sz="1200" u="none" cap="none" strike="noStrike">
              <a:solidFill>
                <a:schemeClr val="dk1"/>
              </a:solidFill>
              <a:latin typeface="IBM Plex Mono"/>
              <a:ea typeface="IBM Plex Mono"/>
              <a:cs typeface="IBM Plex Mono"/>
              <a:sym typeface="IBM Plex Mono"/>
            </a:endParaRPr>
          </a:p>
        </p:txBody>
      </p:sp>
      <p:sp>
        <p:nvSpPr>
          <p:cNvPr id="217" name="Google Shape;217;h6524a41718b72fa9_1_20"/>
          <p:cNvSpPr/>
          <p:nvPr/>
        </p:nvSpPr>
        <p:spPr>
          <a:xfrm>
            <a:off x="813816" y="1783080"/>
            <a:ext cx="10881300" cy="320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4213D"/>
              </a:buClr>
              <a:buSzPts val="1600"/>
              <a:buFont typeface="IBM Plex Sans"/>
              <a:buNone/>
            </a:pPr>
            <a:r>
              <a:rPr b="1" lang="en-US" sz="1600">
                <a:solidFill>
                  <a:srgbClr val="14213D"/>
                </a:solidFill>
                <a:latin typeface="Space Grotesk"/>
                <a:ea typeface="Space Grotesk"/>
                <a:cs typeface="Space Grotesk"/>
                <a:sym typeface="Space Grotesk"/>
              </a:rPr>
              <a:t>What happen when we introduce the trend followed by the BCM?</a:t>
            </a:r>
            <a:endParaRPr b="1" i="0" sz="1600" u="none" cap="none" strike="noStrike">
              <a:solidFill>
                <a:schemeClr val="dk1"/>
              </a:solidFill>
              <a:latin typeface="Space Grotesk"/>
              <a:ea typeface="Space Grotesk"/>
              <a:cs typeface="Space Grotesk"/>
              <a:sym typeface="Space Grotesk"/>
            </a:endParaRPr>
          </a:p>
        </p:txBody>
      </p:sp>
      <p:graphicFrame>
        <p:nvGraphicFramePr>
          <p:cNvPr id="218" name="Google Shape;218;h6524a41718b72fa9_1_20"/>
          <p:cNvGraphicFramePr/>
          <p:nvPr/>
        </p:nvGraphicFramePr>
        <p:xfrm>
          <a:off x="813825" y="2317888"/>
          <a:ext cx="3000000" cy="3000000"/>
        </p:xfrm>
        <a:graphic>
          <a:graphicData uri="http://schemas.openxmlformats.org/drawingml/2006/table">
            <a:tbl>
              <a:tblPr>
                <a:noFill/>
                <a:tableStyleId>{8D058665-8FE9-45B2-BE9A-A264AC7DD316}</a:tableStyleId>
              </a:tblPr>
              <a:tblGrid>
                <a:gridCol w="795200"/>
                <a:gridCol w="2347525"/>
                <a:gridCol w="1168075"/>
                <a:gridCol w="1184925"/>
                <a:gridCol w="1335325"/>
                <a:gridCol w="1289975"/>
                <a:gridCol w="1260825"/>
                <a:gridCol w="1363825"/>
              </a:tblGrid>
              <a:tr h="659025">
                <a:tc>
                  <a:txBody>
                    <a:bodyPr/>
                    <a:lstStyle/>
                    <a:p>
                      <a:pPr indent="0" lvl="0" marL="0" rtl="0" algn="ctr">
                        <a:lnSpc>
                          <a:spcPct val="115000"/>
                        </a:lnSpc>
                        <a:spcBef>
                          <a:spcPts val="0"/>
                        </a:spcBef>
                        <a:spcAft>
                          <a:spcPts val="0"/>
                        </a:spcAft>
                        <a:buNone/>
                      </a:pPr>
                      <a:r>
                        <a:rPr b="1" lang="en-US">
                          <a:solidFill>
                            <a:srgbClr val="14213D"/>
                          </a:solidFill>
                        </a:rPr>
                        <a:t>seg</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regime</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BCM mean pC</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BCM std pC</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linear</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random forest</a:t>
                      </a:r>
                      <a:endParaRPr b="1">
                        <a:solidFill>
                          <a:srgbClr val="14213D"/>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XGBoost</a:t>
                      </a:r>
                      <a:endParaRPr b="1">
                        <a:solidFill>
                          <a:srgbClr val="14213D"/>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MLP (32-16)</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chemeClr val="lt2"/>
                    </a:solidFill>
                  </a:tcPr>
                </a:tc>
              </a:tr>
              <a:tr h="436375">
                <a:tc>
                  <a:txBody>
                    <a:bodyPr/>
                    <a:lstStyle/>
                    <a:p>
                      <a:pPr indent="0" lvl="0" marL="0" rtl="0" algn="ctr">
                        <a:lnSpc>
                          <a:spcPct val="115000"/>
                        </a:lnSpc>
                        <a:spcBef>
                          <a:spcPts val="0"/>
                        </a:spcBef>
                        <a:spcAft>
                          <a:spcPts val="0"/>
                        </a:spcAft>
                        <a:buNone/>
                      </a:pPr>
                      <a:r>
                        <a:rPr b="1" lang="en-US">
                          <a:solidFill>
                            <a:srgbClr val="14213D"/>
                          </a:solidFill>
                        </a:rPr>
                        <a:t>0</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low charge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251</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23.3</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10.8</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9.9</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rPr>
                        <a:t>10.0</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rPr>
                        <a:t>9.7</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436375">
                <a:tc>
                  <a:txBody>
                    <a:bodyPr/>
                    <a:lstStyle/>
                    <a:p>
                      <a:pPr indent="0" lvl="0" marL="0" rtl="0" algn="ctr">
                        <a:lnSpc>
                          <a:spcPct val="115000"/>
                        </a:lnSpc>
                        <a:spcBef>
                          <a:spcPts val="0"/>
                        </a:spcBef>
                        <a:spcAft>
                          <a:spcPts val="0"/>
                        </a:spcAft>
                        <a:buNone/>
                      </a:pPr>
                      <a:r>
                        <a:rPr b="1" lang="en-US">
                          <a:solidFill>
                            <a:srgbClr val="14213D"/>
                          </a:solidFill>
                        </a:rPr>
                        <a:t>3</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low charge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126</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20.6</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10.8</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b="1" lang="en-US">
                          <a:solidFill>
                            <a:srgbClr val="14213D"/>
                          </a:solidFill>
                        </a:rPr>
                        <a:t>10.4</a:t>
                      </a:r>
                      <a:endParaRPr b="1">
                        <a:solidFill>
                          <a:srgbClr val="14213D"/>
                        </a:solidFill>
                      </a:endParaRPr>
                    </a:p>
                  </a:txBody>
                  <a:tcPr marT="91425" marB="91425" marR="91425" marL="91425">
                    <a:solidFill>
                      <a:srgbClr val="93C47D"/>
                    </a:solidFill>
                  </a:tcPr>
                </a:tc>
                <a:tc>
                  <a:txBody>
                    <a:bodyPr/>
                    <a:lstStyle/>
                    <a:p>
                      <a:pPr indent="0" lvl="0" marL="0" rtl="0" algn="ctr">
                        <a:lnSpc>
                          <a:spcPct val="115000"/>
                        </a:lnSpc>
                        <a:spcBef>
                          <a:spcPts val="0"/>
                        </a:spcBef>
                        <a:spcAft>
                          <a:spcPts val="0"/>
                        </a:spcAft>
                        <a:buNone/>
                      </a:pPr>
                      <a:r>
                        <a:rPr b="1" lang="en-US">
                          <a:solidFill>
                            <a:srgbClr val="14213D"/>
                          </a:solidFill>
                        </a:rPr>
                        <a:t>10.4</a:t>
                      </a:r>
                      <a:endParaRPr b="1">
                        <a:solidFill>
                          <a:srgbClr val="14213D"/>
                        </a:solidFill>
                      </a:endParaRPr>
                    </a:p>
                  </a:txBody>
                  <a:tcPr marT="91425" marB="91425" marR="91425" marL="91425">
                    <a:solidFill>
                      <a:srgbClr val="93C47D"/>
                    </a:solidFill>
                  </a:tcPr>
                </a:tc>
                <a:tc>
                  <a:txBody>
                    <a:bodyPr/>
                    <a:lstStyle/>
                    <a:p>
                      <a:pPr indent="0" lvl="0" marL="0" rtl="0" algn="ctr">
                        <a:lnSpc>
                          <a:spcPct val="115000"/>
                        </a:lnSpc>
                        <a:spcBef>
                          <a:spcPts val="0"/>
                        </a:spcBef>
                        <a:spcAft>
                          <a:spcPts val="0"/>
                        </a:spcAft>
                        <a:buNone/>
                      </a:pPr>
                      <a:r>
                        <a:rPr b="1" lang="en-US">
                          <a:solidFill>
                            <a:srgbClr val="14213D"/>
                          </a:solidFill>
                        </a:rPr>
                        <a:t>10.4</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436375">
                <a:tc>
                  <a:txBody>
                    <a:bodyPr/>
                    <a:lstStyle/>
                    <a:p>
                      <a:pPr indent="0" lvl="0" marL="0" rtl="0" algn="ctr">
                        <a:lnSpc>
                          <a:spcPct val="115000"/>
                        </a:lnSpc>
                        <a:spcBef>
                          <a:spcPts val="0"/>
                        </a:spcBef>
                        <a:spcAft>
                          <a:spcPts val="0"/>
                        </a:spcAft>
                        <a:buNone/>
                      </a:pPr>
                      <a:r>
                        <a:rPr b="1" lang="en-US">
                          <a:solidFill>
                            <a:srgbClr val="14213D"/>
                          </a:solidFill>
                        </a:rPr>
                        <a:t>4</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low charge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107</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21.2</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9.5</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b="1" lang="en-US">
                          <a:solidFill>
                            <a:srgbClr val="14213D"/>
                          </a:solidFill>
                        </a:rPr>
                        <a:t>8.7</a:t>
                      </a:r>
                      <a:endParaRPr b="1">
                        <a:solidFill>
                          <a:srgbClr val="14213D"/>
                        </a:solidFill>
                      </a:endParaRPr>
                    </a:p>
                  </a:txBody>
                  <a:tcPr marT="91425" marB="91425" marR="91425" marL="91425">
                    <a:solidFill>
                      <a:srgbClr val="93C47D"/>
                    </a:solidFill>
                  </a:tcPr>
                </a:tc>
                <a:tc>
                  <a:txBody>
                    <a:bodyPr/>
                    <a:lstStyle/>
                    <a:p>
                      <a:pPr indent="0" lvl="0" marL="0" rtl="0" algn="ctr">
                        <a:lnSpc>
                          <a:spcPct val="115000"/>
                        </a:lnSpc>
                        <a:spcBef>
                          <a:spcPts val="0"/>
                        </a:spcBef>
                        <a:spcAft>
                          <a:spcPts val="0"/>
                        </a:spcAft>
                        <a:buNone/>
                      </a:pPr>
                      <a:r>
                        <a:rPr lang="en-US">
                          <a:solidFill>
                            <a:srgbClr val="14213D"/>
                          </a:solidFill>
                        </a:rPr>
                        <a:t>8.8</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rPr>
                        <a:t>8.9</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r>
              <a:tr h="436375">
                <a:tc>
                  <a:txBody>
                    <a:bodyPr/>
                    <a:lstStyle/>
                    <a:p>
                      <a:pPr indent="0" lvl="0" marL="0" rtl="0" algn="ctr">
                        <a:lnSpc>
                          <a:spcPct val="115000"/>
                        </a:lnSpc>
                        <a:spcBef>
                          <a:spcPts val="0"/>
                        </a:spcBef>
                        <a:spcAft>
                          <a:spcPts val="0"/>
                        </a:spcAft>
                        <a:buNone/>
                      </a:pPr>
                      <a:r>
                        <a:rPr b="1" lang="en-US">
                          <a:solidFill>
                            <a:srgbClr val="14213D"/>
                          </a:solidFill>
                        </a:rPr>
                        <a:t>5</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high, repetitive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5583</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427</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131</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90.4</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rPr>
                        <a:t>87.6</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rPr>
                        <a:t>86.6</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436375">
                <a:tc>
                  <a:txBody>
                    <a:bodyPr/>
                    <a:lstStyle/>
                    <a:p>
                      <a:pPr indent="0" lvl="0" marL="0" rtl="0" algn="ctr">
                        <a:lnSpc>
                          <a:spcPct val="115000"/>
                        </a:lnSpc>
                        <a:spcBef>
                          <a:spcPts val="0"/>
                        </a:spcBef>
                        <a:spcAft>
                          <a:spcPts val="0"/>
                        </a:spcAft>
                        <a:buNone/>
                      </a:pPr>
                      <a:r>
                        <a:rPr b="1" lang="en-US">
                          <a:solidFill>
                            <a:srgbClr val="14213D"/>
                          </a:solidFill>
                        </a:rPr>
                        <a:t>1</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high, non-repetitive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4862</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376</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130</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96.5</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rPr>
                        <a:t>97.3</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rPr>
                        <a:t>92.7</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436375">
                <a:tc>
                  <a:txBody>
                    <a:bodyPr/>
                    <a:lstStyle/>
                    <a:p>
                      <a:pPr indent="0" lvl="0" marL="0" rtl="0" algn="ctr">
                        <a:lnSpc>
                          <a:spcPct val="115000"/>
                        </a:lnSpc>
                        <a:spcBef>
                          <a:spcPts val="0"/>
                        </a:spcBef>
                        <a:spcAft>
                          <a:spcPts val="0"/>
                        </a:spcAft>
                        <a:buNone/>
                      </a:pPr>
                      <a:r>
                        <a:rPr b="1" lang="en-US">
                          <a:solidFill>
                            <a:srgbClr val="14213D"/>
                          </a:solidFill>
                        </a:rPr>
                        <a:t>6</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high, non-repetitive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5571</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191</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US">
                          <a:solidFill>
                            <a:srgbClr val="14213D"/>
                          </a:solidFill>
                        </a:rPr>
                        <a:t>29.1</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rgbClr val="93C47D"/>
                    </a:solidFill>
                  </a:tcPr>
                </a:tc>
                <a:tc>
                  <a:txBody>
                    <a:bodyPr/>
                    <a:lstStyle/>
                    <a:p>
                      <a:pPr indent="0" lvl="0" marL="0" rtl="0" algn="ctr">
                        <a:lnSpc>
                          <a:spcPct val="115000"/>
                        </a:lnSpc>
                        <a:spcBef>
                          <a:spcPts val="0"/>
                        </a:spcBef>
                        <a:spcAft>
                          <a:spcPts val="0"/>
                        </a:spcAft>
                        <a:buNone/>
                      </a:pPr>
                      <a:r>
                        <a:rPr lang="en-US">
                          <a:solidFill>
                            <a:srgbClr val="14213D"/>
                          </a:solidFill>
                        </a:rPr>
                        <a:t>43.0</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rPr>
                        <a:t>33.6</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rPr>
                        <a:t>29.1</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436375">
                <a:tc>
                  <a:txBody>
                    <a:bodyPr/>
                    <a:lstStyle/>
                    <a:p>
                      <a:pPr indent="0" lvl="0" marL="0" rtl="0" algn="ctr">
                        <a:lnSpc>
                          <a:spcPct val="115000"/>
                        </a:lnSpc>
                        <a:spcBef>
                          <a:spcPts val="0"/>
                        </a:spcBef>
                        <a:spcAft>
                          <a:spcPts val="0"/>
                        </a:spcAft>
                        <a:buNone/>
                      </a:pPr>
                      <a:r>
                        <a:rPr b="1" lang="en-US">
                          <a:solidFill>
                            <a:srgbClr val="14213D"/>
                          </a:solidFill>
                        </a:rPr>
                        <a:t>7</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high, non-repetitive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10106</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1024</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279</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250</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rPr>
                        <a:t>242</a:t>
                      </a:r>
                      <a:endParaRPr>
                        <a:solidFill>
                          <a:srgbClr val="14213D"/>
                        </a:solidFill>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rPr>
                        <a:t>199</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h6524a41718b72fa9_1_33"/>
          <p:cNvSpPr/>
          <p:nvPr/>
        </p:nvSpPr>
        <p:spPr>
          <a:xfrm>
            <a:off x="812800" y="558800"/>
            <a:ext cx="609600" cy="507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25" name="Google Shape;225;h6524a41718b72fa9_1_33"/>
          <p:cNvSpPr/>
          <p:nvPr/>
        </p:nvSpPr>
        <p:spPr>
          <a:xfrm>
            <a:off x="813816" y="813816"/>
            <a:ext cx="2834700" cy="283500"/>
          </a:xfrm>
          <a:prstGeom prst="roundRect">
            <a:avLst>
              <a:gd fmla="val 17778" name="adj"/>
            </a:avLst>
          </a:prstGeom>
          <a:solidFill>
            <a:srgbClr val="1D4E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26" name="Google Shape;226;h6524a41718b72fa9_1_33"/>
          <p:cNvSpPr/>
          <p:nvPr/>
        </p:nvSpPr>
        <p:spPr>
          <a:xfrm>
            <a:off x="914400" y="850392"/>
            <a:ext cx="27432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2 · MEDIUM · RESULTS</a:t>
            </a:r>
            <a:endParaRPr b="0" i="0" sz="1200" u="none" cap="none" strike="noStrike">
              <a:solidFill>
                <a:schemeClr val="dk1"/>
              </a:solidFill>
              <a:latin typeface="IBM Plex Mono"/>
              <a:ea typeface="IBM Plex Mono"/>
              <a:cs typeface="IBM Plex Mono"/>
              <a:sym typeface="IBM Plex Mono"/>
            </a:endParaRPr>
          </a:p>
        </p:txBody>
      </p:sp>
      <p:sp>
        <p:nvSpPr>
          <p:cNvPr id="227" name="Google Shape;227;h6524a41718b72fa9_1_33"/>
          <p:cNvSpPr txBox="1"/>
          <p:nvPr>
            <p:ph type="title"/>
          </p:nvPr>
        </p:nvSpPr>
        <p:spPr>
          <a:xfrm>
            <a:off x="812800" y="1200150"/>
            <a:ext cx="10883400" cy="5271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lang="en-US"/>
              <a:t>Sequence models</a:t>
            </a:r>
            <a:endParaRPr sz="3600"/>
          </a:p>
        </p:txBody>
      </p:sp>
      <p:sp>
        <p:nvSpPr>
          <p:cNvPr id="228" name="Google Shape;228;h6524a41718b72fa9_1_33"/>
          <p:cNvSpPr/>
          <p:nvPr/>
        </p:nvSpPr>
        <p:spPr>
          <a:xfrm>
            <a:off x="812800" y="6242050"/>
            <a:ext cx="7848600" cy="234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478"/>
              </a:buClr>
              <a:buSzPts val="1200"/>
              <a:buFont typeface="IBM Plex Mono"/>
              <a:buNone/>
            </a:pPr>
            <a:r>
              <a:rPr b="0" i="0" lang="en-US" sz="1200" u="none" cap="none" strike="noStrike">
                <a:solidFill>
                  <a:srgbClr val="5A6478"/>
                </a:solidFill>
                <a:latin typeface="IBM Plex Mono"/>
                <a:ea typeface="IBM Plex Mono"/>
                <a:cs typeface="IBM Plex Mono"/>
                <a:sym typeface="IBM Plex Mono"/>
              </a:rPr>
              <a:t>Forecasting the CLEAR beam charge </a:t>
            </a:r>
            <a:endParaRPr b="0" i="0" sz="1200" u="none" cap="none" strike="noStrike">
              <a:solidFill>
                <a:schemeClr val="dk1"/>
              </a:solidFill>
              <a:latin typeface="IBM Plex Mono"/>
              <a:ea typeface="IBM Plex Mono"/>
              <a:cs typeface="IBM Plex Mono"/>
              <a:sym typeface="IBM Plex Mono"/>
            </a:endParaRPr>
          </a:p>
        </p:txBody>
      </p:sp>
      <p:sp>
        <p:nvSpPr>
          <p:cNvPr id="229" name="Google Shape;229;h6524a41718b72fa9_1_33"/>
          <p:cNvSpPr/>
          <p:nvPr/>
        </p:nvSpPr>
        <p:spPr>
          <a:xfrm>
            <a:off x="813816" y="1783080"/>
            <a:ext cx="10881300" cy="320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4213D"/>
              </a:buClr>
              <a:buSzPts val="1600"/>
              <a:buFont typeface="IBM Plex Sans"/>
              <a:buNone/>
            </a:pPr>
            <a:r>
              <a:rPr b="1" lang="en-US" sz="1600">
                <a:solidFill>
                  <a:srgbClr val="14213D"/>
                </a:solidFill>
                <a:latin typeface="Space Grotesk"/>
                <a:ea typeface="Space Grotesk"/>
                <a:cs typeface="Space Grotesk"/>
                <a:sym typeface="Space Grotesk"/>
              </a:rPr>
              <a:t>How LSTM applied on a CNN2D latentspace and a temporalCNN compare? </a:t>
            </a:r>
            <a:endParaRPr b="1" i="0" sz="1600" u="none" cap="none" strike="noStrike">
              <a:solidFill>
                <a:schemeClr val="dk1"/>
              </a:solidFill>
              <a:latin typeface="Space Grotesk"/>
              <a:ea typeface="Space Grotesk"/>
              <a:cs typeface="Space Grotesk"/>
              <a:sym typeface="Space Grotesk"/>
            </a:endParaRPr>
          </a:p>
        </p:txBody>
      </p:sp>
      <p:graphicFrame>
        <p:nvGraphicFramePr>
          <p:cNvPr id="230" name="Google Shape;230;h6524a41718b72fa9_1_33"/>
          <p:cNvGraphicFramePr/>
          <p:nvPr/>
        </p:nvGraphicFramePr>
        <p:xfrm>
          <a:off x="813825" y="2327350"/>
          <a:ext cx="3000000" cy="3000000"/>
        </p:xfrm>
        <a:graphic>
          <a:graphicData uri="http://schemas.openxmlformats.org/drawingml/2006/table">
            <a:tbl>
              <a:tblPr>
                <a:noFill/>
                <a:tableStyleId>{8D058665-8FE9-45B2-BE9A-A264AC7DD316}</a:tableStyleId>
              </a:tblPr>
              <a:tblGrid>
                <a:gridCol w="847700"/>
                <a:gridCol w="2379850"/>
                <a:gridCol w="1374150"/>
                <a:gridCol w="884900"/>
                <a:gridCol w="2730725"/>
                <a:gridCol w="2498900"/>
              </a:tblGrid>
              <a:tr h="684325">
                <a:tc>
                  <a:txBody>
                    <a:bodyPr/>
                    <a:lstStyle/>
                    <a:p>
                      <a:pPr indent="0" lvl="0" marL="0" rtl="0" algn="ctr">
                        <a:lnSpc>
                          <a:spcPct val="115000"/>
                        </a:lnSpc>
                        <a:spcBef>
                          <a:spcPts val="0"/>
                        </a:spcBef>
                        <a:spcAft>
                          <a:spcPts val="0"/>
                        </a:spcAft>
                        <a:buNone/>
                      </a:pPr>
                      <a:r>
                        <a:rPr b="1" lang="en-US">
                          <a:solidFill>
                            <a:srgbClr val="14213D"/>
                          </a:solidFill>
                        </a:rPr>
                        <a:t>seg</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regime</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BCM mean pC</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BCM std pC</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temporal CNN (L = 50)</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rPr>
                        <a:t>latent + features LSTM</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chemeClr val="lt2"/>
                    </a:solidFill>
                  </a:tcPr>
                </a:tc>
              </a:tr>
              <a:tr h="403950">
                <a:tc>
                  <a:txBody>
                    <a:bodyPr/>
                    <a:lstStyle/>
                    <a:p>
                      <a:pPr indent="0" lvl="0" marL="0" rtl="0" algn="ctr">
                        <a:lnSpc>
                          <a:spcPct val="115000"/>
                        </a:lnSpc>
                        <a:spcBef>
                          <a:spcPts val="0"/>
                        </a:spcBef>
                        <a:spcAft>
                          <a:spcPts val="0"/>
                        </a:spcAft>
                        <a:buNone/>
                      </a:pPr>
                      <a:r>
                        <a:rPr b="1" lang="en-US">
                          <a:solidFill>
                            <a:srgbClr val="14213D"/>
                          </a:solidFill>
                        </a:rPr>
                        <a:t>0</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low charge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251</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23.3</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13.1</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b="1" lang="en-US">
                          <a:solidFill>
                            <a:srgbClr val="14213D"/>
                          </a:solidFill>
                        </a:rPr>
                        <a:t>10.2</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403950">
                <a:tc>
                  <a:txBody>
                    <a:bodyPr/>
                    <a:lstStyle/>
                    <a:p>
                      <a:pPr indent="0" lvl="0" marL="0" rtl="0" algn="ctr">
                        <a:lnSpc>
                          <a:spcPct val="115000"/>
                        </a:lnSpc>
                        <a:spcBef>
                          <a:spcPts val="0"/>
                        </a:spcBef>
                        <a:spcAft>
                          <a:spcPts val="0"/>
                        </a:spcAft>
                        <a:buNone/>
                      </a:pPr>
                      <a:r>
                        <a:rPr b="1" lang="en-US">
                          <a:solidFill>
                            <a:srgbClr val="14213D"/>
                          </a:solidFill>
                        </a:rPr>
                        <a:t>3</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low charge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126</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20.6</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US">
                          <a:solidFill>
                            <a:srgbClr val="14213D"/>
                          </a:solidFill>
                        </a:rPr>
                        <a:t>9.6</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rgbClr val="93C47D"/>
                    </a:solidFill>
                  </a:tcPr>
                </a:tc>
                <a:tc>
                  <a:txBody>
                    <a:bodyPr/>
                    <a:lstStyle/>
                    <a:p>
                      <a:pPr indent="0" lvl="0" marL="0" rtl="0" algn="ctr">
                        <a:lnSpc>
                          <a:spcPct val="115000"/>
                        </a:lnSpc>
                        <a:spcBef>
                          <a:spcPts val="0"/>
                        </a:spcBef>
                        <a:spcAft>
                          <a:spcPts val="0"/>
                        </a:spcAft>
                        <a:buNone/>
                      </a:pPr>
                      <a:r>
                        <a:rPr lang="en-US">
                          <a:solidFill>
                            <a:srgbClr val="14213D"/>
                          </a:solidFill>
                        </a:rPr>
                        <a:t>9.7</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r>
              <a:tr h="403950">
                <a:tc>
                  <a:txBody>
                    <a:bodyPr/>
                    <a:lstStyle/>
                    <a:p>
                      <a:pPr indent="0" lvl="0" marL="0" rtl="0" algn="ctr">
                        <a:lnSpc>
                          <a:spcPct val="115000"/>
                        </a:lnSpc>
                        <a:spcBef>
                          <a:spcPts val="0"/>
                        </a:spcBef>
                        <a:spcAft>
                          <a:spcPts val="0"/>
                        </a:spcAft>
                        <a:buNone/>
                      </a:pPr>
                      <a:r>
                        <a:rPr b="1" lang="en-US">
                          <a:solidFill>
                            <a:srgbClr val="14213D"/>
                          </a:solidFill>
                        </a:rPr>
                        <a:t>4</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low charge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107</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21.2</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8.9</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b="1" lang="en-US">
                          <a:solidFill>
                            <a:srgbClr val="14213D"/>
                          </a:solidFill>
                        </a:rPr>
                        <a:t>8.7</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403950">
                <a:tc>
                  <a:txBody>
                    <a:bodyPr/>
                    <a:lstStyle/>
                    <a:p>
                      <a:pPr indent="0" lvl="0" marL="0" rtl="0" algn="ctr">
                        <a:lnSpc>
                          <a:spcPct val="115000"/>
                        </a:lnSpc>
                        <a:spcBef>
                          <a:spcPts val="0"/>
                        </a:spcBef>
                        <a:spcAft>
                          <a:spcPts val="0"/>
                        </a:spcAft>
                        <a:buNone/>
                      </a:pPr>
                      <a:r>
                        <a:rPr b="1" lang="en-US">
                          <a:solidFill>
                            <a:srgbClr val="14213D"/>
                          </a:solidFill>
                        </a:rPr>
                        <a:t>5</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high, repetitive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5583</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427</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84.2</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b="1" lang="en-US">
                          <a:solidFill>
                            <a:srgbClr val="14213D"/>
                          </a:solidFill>
                        </a:rPr>
                        <a:t>81.7</a:t>
                      </a:r>
                      <a:endParaRPr b="1">
                        <a:solidFill>
                          <a:srgbClr val="14213D"/>
                        </a:solidFill>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403950">
                <a:tc>
                  <a:txBody>
                    <a:bodyPr/>
                    <a:lstStyle/>
                    <a:p>
                      <a:pPr indent="0" lvl="0" marL="0" rtl="0" algn="ctr">
                        <a:lnSpc>
                          <a:spcPct val="115000"/>
                        </a:lnSpc>
                        <a:spcBef>
                          <a:spcPts val="0"/>
                        </a:spcBef>
                        <a:spcAft>
                          <a:spcPts val="0"/>
                        </a:spcAft>
                        <a:buNone/>
                      </a:pPr>
                      <a:r>
                        <a:rPr b="1" lang="en-US">
                          <a:solidFill>
                            <a:srgbClr val="14213D"/>
                          </a:solidFill>
                        </a:rPr>
                        <a:t>1</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high, non-repetitive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4862</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376</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US">
                          <a:solidFill>
                            <a:srgbClr val="14213D"/>
                          </a:solidFill>
                        </a:rPr>
                        <a:t>119</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rgbClr val="93C47D"/>
                    </a:solidFill>
                  </a:tcPr>
                </a:tc>
                <a:tc>
                  <a:txBody>
                    <a:bodyPr/>
                    <a:lstStyle/>
                    <a:p>
                      <a:pPr indent="0" lvl="0" marL="0" rtl="0" algn="ctr">
                        <a:lnSpc>
                          <a:spcPct val="115000"/>
                        </a:lnSpc>
                        <a:spcBef>
                          <a:spcPts val="0"/>
                        </a:spcBef>
                        <a:spcAft>
                          <a:spcPts val="0"/>
                        </a:spcAft>
                        <a:buNone/>
                      </a:pPr>
                      <a:r>
                        <a:rPr lang="en-US">
                          <a:solidFill>
                            <a:srgbClr val="14213D"/>
                          </a:solidFill>
                        </a:rPr>
                        <a:t>205</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r>
              <a:tr h="403950">
                <a:tc>
                  <a:txBody>
                    <a:bodyPr/>
                    <a:lstStyle/>
                    <a:p>
                      <a:pPr indent="0" lvl="0" marL="0" rtl="0" algn="ctr">
                        <a:lnSpc>
                          <a:spcPct val="115000"/>
                        </a:lnSpc>
                        <a:spcBef>
                          <a:spcPts val="0"/>
                        </a:spcBef>
                        <a:spcAft>
                          <a:spcPts val="0"/>
                        </a:spcAft>
                        <a:buNone/>
                      </a:pPr>
                      <a:r>
                        <a:rPr b="1" lang="en-US">
                          <a:solidFill>
                            <a:srgbClr val="14213D"/>
                          </a:solidFill>
                        </a:rPr>
                        <a:t>6</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high, non-repetitive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5571</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191</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US">
                          <a:solidFill>
                            <a:srgbClr val="14213D"/>
                          </a:solidFill>
                        </a:rPr>
                        <a:t>63.5</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rgbClr val="93C47D"/>
                    </a:solidFill>
                  </a:tcPr>
                </a:tc>
                <a:tc>
                  <a:txBody>
                    <a:bodyPr/>
                    <a:lstStyle/>
                    <a:p>
                      <a:pPr indent="0" lvl="0" marL="0" rtl="0" algn="ctr">
                        <a:lnSpc>
                          <a:spcPct val="115000"/>
                        </a:lnSpc>
                        <a:spcBef>
                          <a:spcPts val="0"/>
                        </a:spcBef>
                        <a:spcAft>
                          <a:spcPts val="0"/>
                        </a:spcAft>
                        <a:buNone/>
                      </a:pPr>
                      <a:r>
                        <a:rPr lang="en-US">
                          <a:solidFill>
                            <a:srgbClr val="14213D"/>
                          </a:solidFill>
                        </a:rPr>
                        <a:t>155</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r>
              <a:tr h="403950">
                <a:tc>
                  <a:txBody>
                    <a:bodyPr/>
                    <a:lstStyle/>
                    <a:p>
                      <a:pPr indent="0" lvl="0" marL="0" rtl="0" algn="ctr">
                        <a:lnSpc>
                          <a:spcPct val="115000"/>
                        </a:lnSpc>
                        <a:spcBef>
                          <a:spcPts val="0"/>
                        </a:spcBef>
                        <a:spcAft>
                          <a:spcPts val="0"/>
                        </a:spcAft>
                        <a:buNone/>
                      </a:pPr>
                      <a:r>
                        <a:rPr b="1" lang="en-US">
                          <a:solidFill>
                            <a:srgbClr val="14213D"/>
                          </a:solidFill>
                        </a:rPr>
                        <a:t>7</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high, non-repetitive</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rPr>
                        <a:t>10106</a:t>
                      </a:r>
                      <a:endParaRPr>
                        <a:solidFill>
                          <a:srgbClr val="14213D"/>
                        </a:solidFill>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rPr>
                        <a:t>1024</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US">
                          <a:solidFill>
                            <a:srgbClr val="14213D"/>
                          </a:solidFill>
                        </a:rPr>
                        <a:t>270</a:t>
                      </a:r>
                      <a:endParaRPr b="1">
                        <a:solidFill>
                          <a:srgbClr val="14213D"/>
                        </a:solidFill>
                      </a:endParaRPr>
                    </a:p>
                  </a:txBody>
                  <a:tcPr marT="91425" marB="91425" marR="91425" marL="91425">
                    <a:lnL cap="flat" cmpd="sng" w="9525">
                      <a:solidFill>
                        <a:srgbClr val="000000"/>
                      </a:solidFill>
                      <a:prstDash val="solid"/>
                      <a:round/>
                      <a:headEnd len="sm" w="sm" type="none"/>
                      <a:tailEnd len="sm" w="sm" type="none"/>
                    </a:lnL>
                    <a:solidFill>
                      <a:srgbClr val="93C47D"/>
                    </a:solidFill>
                  </a:tcPr>
                </a:tc>
                <a:tc>
                  <a:txBody>
                    <a:bodyPr/>
                    <a:lstStyle/>
                    <a:p>
                      <a:pPr indent="0" lvl="0" marL="0" rtl="0" algn="ctr">
                        <a:lnSpc>
                          <a:spcPct val="115000"/>
                        </a:lnSpc>
                        <a:spcBef>
                          <a:spcPts val="0"/>
                        </a:spcBef>
                        <a:spcAft>
                          <a:spcPts val="0"/>
                        </a:spcAft>
                        <a:buNone/>
                      </a:pPr>
                      <a:r>
                        <a:rPr lang="en-US">
                          <a:solidFill>
                            <a:srgbClr val="14213D"/>
                          </a:solidFill>
                        </a:rPr>
                        <a:t>404</a:t>
                      </a:r>
                      <a:endParaRPr>
                        <a:solidFill>
                          <a:srgbClr val="14213D"/>
                        </a:solidFill>
                      </a:endParaRPr>
                    </a:p>
                  </a:txBody>
                  <a:tcPr marT="91425" marB="91425" marR="91425" marL="91425">
                    <a:lnR cap="flat" cmpd="sng" w="9525">
                      <a:solidFill>
                        <a:srgbClr val="000000"/>
                      </a:solidFill>
                      <a:prstDash val="solid"/>
                      <a:round/>
                      <a:headEnd len="sm" w="sm" type="none"/>
                      <a:tailEnd len="sm" w="sm" type="none"/>
                    </a:lnR>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1"/>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37" name="Google Shape;237;p11"/>
          <p:cNvSpPr/>
          <p:nvPr/>
        </p:nvSpPr>
        <p:spPr>
          <a:xfrm>
            <a:off x="813816" y="813816"/>
            <a:ext cx="2834640" cy="283464"/>
          </a:xfrm>
          <a:prstGeom prst="roundRect">
            <a:avLst>
              <a:gd fmla="val 17778" name="adj"/>
            </a:avLst>
          </a:prstGeom>
          <a:solidFill>
            <a:srgbClr val="1D4E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38" name="Google Shape;238;p11"/>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2 · MEDIUM · RESULTS</a:t>
            </a:r>
            <a:endParaRPr b="0" i="0" sz="1200" u="none" cap="none" strike="noStrike">
              <a:solidFill>
                <a:schemeClr val="dk1"/>
              </a:solidFill>
              <a:latin typeface="IBM Plex Mono"/>
              <a:ea typeface="IBM Plex Mono"/>
              <a:cs typeface="IBM Plex Mono"/>
              <a:sym typeface="IBM Plex Mono"/>
            </a:endParaRPr>
          </a:p>
        </p:txBody>
      </p:sp>
      <p:sp>
        <p:nvSpPr>
          <p:cNvPr id="239" name="Google Shape;239;p11"/>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600"/>
              <a:buFont typeface="Space Grotesk"/>
              <a:buNone/>
            </a:pPr>
            <a:r>
              <a:rPr b="1" i="0" lang="en-US" sz="3600">
                <a:solidFill>
                  <a:srgbClr val="14213D"/>
                </a:solidFill>
                <a:latin typeface="Space Grotesk"/>
                <a:ea typeface="Space Grotesk"/>
                <a:cs typeface="Space Grotesk"/>
                <a:sym typeface="Space Grotesk"/>
              </a:rPr>
              <a:t>Slow level + shot-to-shot model</a:t>
            </a:r>
            <a:endParaRPr sz="3600"/>
          </a:p>
        </p:txBody>
      </p:sp>
      <p:graphicFrame>
        <p:nvGraphicFramePr>
          <p:cNvPr id="240" name="Google Shape;240;p11"/>
          <p:cNvGraphicFramePr/>
          <p:nvPr/>
        </p:nvGraphicFramePr>
        <p:xfrm>
          <a:off x="289500" y="1915925"/>
          <a:ext cx="3000000" cy="3000000"/>
        </p:xfrm>
        <a:graphic>
          <a:graphicData uri="http://schemas.openxmlformats.org/drawingml/2006/table">
            <a:tbl>
              <a:tblPr>
                <a:noFill/>
                <a:tableStyleId>{8D058665-8FE9-45B2-BE9A-A264AC7DD316}</a:tableStyleId>
              </a:tblPr>
              <a:tblGrid>
                <a:gridCol w="538300"/>
                <a:gridCol w="1603950"/>
                <a:gridCol w="1045800"/>
                <a:gridCol w="769000"/>
                <a:gridCol w="996250"/>
                <a:gridCol w="1732000"/>
                <a:gridCol w="1651550"/>
                <a:gridCol w="1616325"/>
                <a:gridCol w="1416775"/>
              </a:tblGrid>
              <a:tr h="646650">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seg</a:t>
                      </a:r>
                      <a:endParaRPr b="1">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regime</a:t>
                      </a:r>
                      <a:endParaRPr b="1">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BCM mean pC</a:t>
                      </a:r>
                      <a:endParaRPr b="1">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BCM std pC</a:t>
                      </a:r>
                      <a:endParaRPr b="1">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Trailing level only</a:t>
                      </a:r>
                      <a:endParaRPr b="1">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Ridge, current shot</a:t>
                      </a:r>
                      <a:endParaRPr b="1">
                        <a:solidFill>
                          <a:srgbClr val="14213D"/>
                        </a:solidFill>
                        <a:latin typeface="IBM Plex Sans"/>
                        <a:ea typeface="IBM Plex Sans"/>
                        <a:cs typeface="IBM Plex Sans"/>
                        <a:sym typeface="IBM Plex Sans"/>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GRU, window 16</a:t>
                      </a:r>
                      <a:endParaRPr b="1">
                        <a:solidFill>
                          <a:srgbClr val="14213D"/>
                        </a:solidFill>
                        <a:latin typeface="IBM Plex Sans"/>
                        <a:ea typeface="IBM Plex Sans"/>
                        <a:cs typeface="IBM Plex Sans"/>
                        <a:sym typeface="IBM Plex Sans"/>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Ridge + past BCM + GRU (64)</a:t>
                      </a:r>
                      <a:endParaRPr b="1">
                        <a:solidFill>
                          <a:srgbClr val="14213D"/>
                        </a:solidFill>
                        <a:latin typeface="IBM Plex Sans"/>
                        <a:ea typeface="IBM Plex Sans"/>
                        <a:cs typeface="IBM Plex Sans"/>
                        <a:sym typeface="IBM Plex Sans"/>
                      </a:endParaRPr>
                    </a:p>
                  </a:txBody>
                  <a:tcPr marT="91425" marB="91425" marR="91425" marL="91425">
                    <a:solidFill>
                      <a:schemeClr val="lt2"/>
                    </a:solidFill>
                  </a:tcPr>
                </a:tc>
                <a:tc>
                  <a:txBody>
                    <a:bodyPr/>
                    <a:lstStyle/>
                    <a:p>
                      <a:pPr indent="-317500" lvl="0" marL="457200" rtl="0" algn="ctr">
                        <a:lnSpc>
                          <a:spcPct val="115000"/>
                        </a:lnSpc>
                        <a:spcBef>
                          <a:spcPts val="0"/>
                        </a:spcBef>
                        <a:spcAft>
                          <a:spcPts val="0"/>
                        </a:spcAft>
                        <a:buClr>
                          <a:srgbClr val="14213D"/>
                        </a:buClr>
                        <a:buSzPts val="1400"/>
                        <a:buFont typeface="IBM Plex Sans"/>
                        <a:buChar char="+"/>
                      </a:pPr>
                      <a:r>
                        <a:rPr b="1" lang="en-US">
                          <a:solidFill>
                            <a:srgbClr val="14213D"/>
                          </a:solidFill>
                          <a:latin typeface="IBM Plex Sans"/>
                          <a:ea typeface="IBM Plex Sans"/>
                          <a:cs typeface="IBM Plex Sans"/>
                          <a:sym typeface="IBM Plex Sans"/>
                        </a:rPr>
                        <a:t>online refit</a:t>
                      </a:r>
                      <a:endParaRPr b="1">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solidFill>
                      <a:schemeClr val="lt2"/>
                    </a:solidFill>
                  </a:tcPr>
                </a:tc>
              </a:tr>
              <a:tr h="410500">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0</a:t>
                      </a:r>
                      <a:endParaRPr b="1">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low charge</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251</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23.3</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18.2</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10.0</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9.1</a:t>
                      </a:r>
                      <a:endParaRPr b="1">
                        <a:solidFill>
                          <a:srgbClr val="14213D"/>
                        </a:solidFill>
                        <a:latin typeface="IBM Plex Sans"/>
                        <a:ea typeface="IBM Plex Sans"/>
                        <a:cs typeface="IBM Plex Sans"/>
                        <a:sym typeface="IBM Plex Sans"/>
                      </a:endParaRPr>
                    </a:p>
                  </a:txBody>
                  <a:tcPr marT="91425" marB="91425" marR="91425" marL="91425">
                    <a:solidFill>
                      <a:srgbClr val="93C47D"/>
                    </a:solidFil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9.2</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9.1</a:t>
                      </a:r>
                      <a:endParaRPr b="1">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410500">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3</a:t>
                      </a:r>
                      <a:endParaRPr b="1">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low charge</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126</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20.6</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12.4</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9.4</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9.2</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9.1</a:t>
                      </a:r>
                      <a:endParaRPr b="1">
                        <a:solidFill>
                          <a:srgbClr val="14213D"/>
                        </a:solidFill>
                        <a:latin typeface="IBM Plex Sans"/>
                        <a:ea typeface="IBM Plex Sans"/>
                        <a:cs typeface="IBM Plex Sans"/>
                        <a:sym typeface="IBM Plex Sans"/>
                      </a:endParaRPr>
                    </a:p>
                  </a:txBody>
                  <a:tcPr marT="91425" marB="91425" marR="91425" marL="91425">
                    <a:solidFill>
                      <a:srgbClr val="93C47D"/>
                    </a:solidFil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9.2</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r>
              <a:tr h="410500">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4</a:t>
                      </a:r>
                      <a:endParaRPr b="1">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low charge</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107</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21.2</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11.7</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8.9</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8.1</a:t>
                      </a:r>
                      <a:endParaRPr b="1">
                        <a:solidFill>
                          <a:srgbClr val="14213D"/>
                        </a:solidFill>
                        <a:latin typeface="IBM Plex Sans"/>
                        <a:ea typeface="IBM Plex Sans"/>
                        <a:cs typeface="IBM Plex Sans"/>
                        <a:sym typeface="IBM Plex Sans"/>
                      </a:endParaRPr>
                    </a:p>
                  </a:txBody>
                  <a:tcPr marT="91425" marB="91425" marR="91425" marL="91425">
                    <a:solidFill>
                      <a:srgbClr val="93C47D"/>
                    </a:solidFill>
                  </a:tcPr>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8.1</a:t>
                      </a:r>
                      <a:endParaRPr b="1">
                        <a:solidFill>
                          <a:srgbClr val="14213D"/>
                        </a:solidFill>
                        <a:latin typeface="IBM Plex Sans"/>
                        <a:ea typeface="IBM Plex Sans"/>
                        <a:cs typeface="IBM Plex Sans"/>
                        <a:sym typeface="IBM Plex Sans"/>
                      </a:endParaRPr>
                    </a:p>
                  </a:txBody>
                  <a:tcPr marT="91425" marB="91425" marR="91425" marL="91425">
                    <a:solidFill>
                      <a:srgbClr val="93C47D"/>
                    </a:solidFill>
                  </a:tcPr>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8.1</a:t>
                      </a:r>
                      <a:endParaRPr b="1">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410500">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5</a:t>
                      </a:r>
                      <a:endParaRPr b="1">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high, repetitive</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5583</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427</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145.5</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69.5</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42.1</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40.8</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40.7</a:t>
                      </a:r>
                      <a:endParaRPr b="1">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646650">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1</a:t>
                      </a:r>
                      <a:endParaRPr b="1">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high, non- repetitive</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4862</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376</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143.3</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84.6</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47.2</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45.7</a:t>
                      </a:r>
                      <a:endParaRPr b="1">
                        <a:solidFill>
                          <a:srgbClr val="14213D"/>
                        </a:solidFill>
                        <a:latin typeface="IBM Plex Sans"/>
                        <a:ea typeface="IBM Plex Sans"/>
                        <a:cs typeface="IBM Plex Sans"/>
                        <a:sym typeface="IBM Plex Sans"/>
                      </a:endParaRPr>
                    </a:p>
                  </a:txBody>
                  <a:tcPr marT="91425" marB="91425" marR="91425" marL="91425">
                    <a:solidFill>
                      <a:srgbClr val="93C47D"/>
                    </a:solidFil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45.8</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r>
              <a:tr h="646650">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6</a:t>
                      </a:r>
                      <a:endParaRPr b="1">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high, non-repetitive</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5571</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191</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122.2</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57.0</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31.2</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31.0</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27.8</a:t>
                      </a:r>
                      <a:endParaRPr b="1">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r h="646650">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7</a:t>
                      </a:r>
                      <a:endParaRPr b="1">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high, non-repetitive</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10106</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1024</a:t>
                      </a:r>
                      <a:endParaRPr>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428.1</a:t>
                      </a:r>
                      <a:endParaRPr>
                        <a:solidFill>
                          <a:srgbClr val="14213D"/>
                        </a:solidFill>
                        <a:latin typeface="IBM Plex Sans"/>
                        <a:ea typeface="IBM Plex Sans"/>
                        <a:cs typeface="IBM Plex Sans"/>
                        <a:sym typeface="IBM Plex Sans"/>
                      </a:endParaRPr>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174.4</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226.3</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a:solidFill>
                            <a:srgbClr val="14213D"/>
                          </a:solidFill>
                          <a:latin typeface="IBM Plex Sans"/>
                          <a:ea typeface="IBM Plex Sans"/>
                          <a:cs typeface="IBM Plex Sans"/>
                          <a:sym typeface="IBM Plex Sans"/>
                        </a:rPr>
                        <a:t>147.0</a:t>
                      </a:r>
                      <a:endParaRPr>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a:solidFill>
                            <a:srgbClr val="14213D"/>
                          </a:solidFill>
                          <a:latin typeface="IBM Plex Sans"/>
                          <a:ea typeface="IBM Plex Sans"/>
                          <a:cs typeface="IBM Plex Sans"/>
                          <a:sym typeface="IBM Plex Sans"/>
                        </a:rPr>
                        <a:t>133.2</a:t>
                      </a:r>
                      <a:endParaRPr b="1">
                        <a:solidFill>
                          <a:srgbClr val="14213D"/>
                        </a:solidFill>
                        <a:latin typeface="IBM Plex Sans"/>
                        <a:ea typeface="IBM Plex Sans"/>
                        <a:cs typeface="IBM Plex Sans"/>
                        <a:sym typeface="IBM Plex Sans"/>
                      </a:endParaRPr>
                    </a:p>
                  </a:txBody>
                  <a:tcPr marT="91425" marB="91425" marR="91425" marL="91425">
                    <a:lnR cap="flat" cmpd="sng" w="9525">
                      <a:solidFill>
                        <a:srgbClr val="000000"/>
                      </a:solidFill>
                      <a:prstDash val="solid"/>
                      <a:round/>
                      <a:headEnd len="sm" w="sm" type="none"/>
                      <a:tailEnd len="sm" w="sm" type="none"/>
                    </a:lnR>
                    <a:solidFill>
                      <a:srgbClr val="93C47D"/>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jitter_sequence_crop.png" id="245" name="Google Shape;245;h6524a41718b72fa9_0_38"/>
          <p:cNvPicPr preferRelativeResize="0"/>
          <p:nvPr/>
        </p:nvPicPr>
        <p:blipFill rotWithShape="1">
          <a:blip r:embed="rId3">
            <a:alphaModFix/>
          </a:blip>
          <a:srcRect b="0" l="0" r="0" t="0"/>
          <a:stretch/>
        </p:blipFill>
        <p:spPr>
          <a:xfrm>
            <a:off x="218022" y="2361450"/>
            <a:ext cx="7387852" cy="3546175"/>
          </a:xfrm>
          <a:prstGeom prst="rect">
            <a:avLst/>
          </a:prstGeom>
          <a:noFill/>
          <a:ln>
            <a:noFill/>
          </a:ln>
        </p:spPr>
      </p:pic>
      <p:sp>
        <p:nvSpPr>
          <p:cNvPr id="246" name="Google Shape;246;h6524a41718b72fa9_0_38"/>
          <p:cNvSpPr/>
          <p:nvPr/>
        </p:nvSpPr>
        <p:spPr>
          <a:xfrm>
            <a:off x="7508450" y="1836350"/>
            <a:ext cx="4430100" cy="4977000"/>
          </a:xfrm>
          <a:prstGeom prst="rect">
            <a:avLst/>
          </a:prstGeom>
          <a:noFill/>
          <a:ln>
            <a:noFill/>
          </a:ln>
        </p:spPr>
        <p:txBody>
          <a:bodyPr anchorCtr="0" anchor="t" bIns="0" lIns="0" spcFirstLastPara="1" rIns="0" wrap="square" tIns="0">
            <a:noAutofit/>
          </a:bodyPr>
          <a:lstStyle/>
          <a:p>
            <a:pPr indent="-330200" lvl="0" marL="457200" marR="0" rtl="0" algn="l">
              <a:lnSpc>
                <a:spcPct val="140000"/>
              </a:lnSpc>
              <a:spcBef>
                <a:spcPts val="0"/>
              </a:spcBef>
              <a:spcAft>
                <a:spcPts val="0"/>
              </a:spcAft>
              <a:buClr>
                <a:srgbClr val="3B4660"/>
              </a:buClr>
              <a:buSzPts val="1600"/>
              <a:buFont typeface="IBM Plex Mono"/>
              <a:buChar char="➢"/>
            </a:pPr>
            <a:r>
              <a:rPr lang="en-US" sz="1600">
                <a:solidFill>
                  <a:srgbClr val="3B4660"/>
                </a:solidFill>
                <a:latin typeface="IBM Plex Mono"/>
                <a:ea typeface="IBM Plex Mono"/>
                <a:cs typeface="IBM Plex Mono"/>
                <a:sym typeface="IBM Plex Mono"/>
              </a:rPr>
              <a:t>Trailing level: baseline from 50 shot MA (zero jitter)</a:t>
            </a:r>
            <a:endParaRPr sz="1600">
              <a:solidFill>
                <a:srgbClr val="3B4660"/>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b="1" lang="en-US" sz="1600">
                <a:solidFill>
                  <a:srgbClr val="3B4660"/>
                </a:solidFill>
                <a:latin typeface="IBM Plex Mono"/>
                <a:ea typeface="IBM Plex Mono"/>
                <a:cs typeface="IBM Plex Mono"/>
                <a:sym typeface="IBM Plex Mono"/>
              </a:rPr>
              <a:t>Ridge: predicts jitter from multiple instruments</a:t>
            </a:r>
            <a:endParaRPr b="1" sz="1600">
              <a:solidFill>
                <a:srgbClr val="3B4660"/>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b="1" lang="en-US" sz="1600">
                <a:solidFill>
                  <a:srgbClr val="3B4660"/>
                </a:solidFill>
                <a:latin typeface="IBM Plex Mono"/>
                <a:ea typeface="IBM Plex Mono"/>
                <a:cs typeface="IBM Plex Mono"/>
                <a:sym typeface="IBM Plex Mono"/>
              </a:rPr>
              <a:t>GRU</a:t>
            </a:r>
            <a:r>
              <a:rPr lang="en-US" sz="1600">
                <a:solidFill>
                  <a:srgbClr val="3B4660"/>
                </a:solidFill>
                <a:latin typeface="IBM Plex Mono"/>
                <a:ea typeface="IBM Plex Mono"/>
                <a:cs typeface="IBM Plex Mono"/>
                <a:sym typeface="IBM Plex Mono"/>
              </a:rPr>
              <a:t>: can </a:t>
            </a:r>
            <a:r>
              <a:rPr b="1" lang="en-US" sz="1600">
                <a:solidFill>
                  <a:srgbClr val="3B4660"/>
                </a:solidFill>
                <a:latin typeface="IBM Plex Mono"/>
                <a:ea typeface="IBM Plex Mono"/>
                <a:cs typeface="IBM Plex Mono"/>
                <a:sym typeface="IBM Plex Mono"/>
              </a:rPr>
              <a:t>capture nonlinear effects beyond Ridge</a:t>
            </a:r>
            <a:endParaRPr b="1" sz="1600">
              <a:solidFill>
                <a:srgbClr val="3B4660"/>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b="1" lang="en-US" sz="1600">
                <a:solidFill>
                  <a:srgbClr val="3B4660"/>
                </a:solidFill>
                <a:latin typeface="IBM Plex Mono"/>
                <a:ea typeface="IBM Plex Mono"/>
                <a:cs typeface="IBM Plex Mono"/>
                <a:sym typeface="IBM Plex Mono"/>
              </a:rPr>
              <a:t>Ridge+past BCM+GRU</a:t>
            </a:r>
            <a:r>
              <a:rPr lang="en-US" sz="1600">
                <a:solidFill>
                  <a:srgbClr val="3B4660"/>
                </a:solidFill>
                <a:latin typeface="IBM Plex Mono"/>
                <a:ea typeface="IBM Plex Mono"/>
                <a:cs typeface="IBM Plex Mono"/>
                <a:sym typeface="IBM Plex Mono"/>
              </a:rPr>
              <a:t>: two stages – </a:t>
            </a:r>
            <a:r>
              <a:rPr b="1" lang="en-US" sz="1600">
                <a:solidFill>
                  <a:srgbClr val="3B4660"/>
                </a:solidFill>
                <a:latin typeface="IBM Plex Mono"/>
                <a:ea typeface="IBM Plex Mono"/>
                <a:cs typeface="IBM Plex Mono"/>
                <a:sym typeface="IBM Plex Mono"/>
              </a:rPr>
              <a:t>ridge plus 16 jitter values</a:t>
            </a:r>
            <a:r>
              <a:rPr lang="en-US" sz="1600">
                <a:solidFill>
                  <a:srgbClr val="3B4660"/>
                </a:solidFill>
                <a:latin typeface="IBM Plex Mono"/>
                <a:ea typeface="IBM Plex Mono"/>
                <a:cs typeface="IBM Plex Mono"/>
                <a:sym typeface="IBM Plex Mono"/>
              </a:rPr>
              <a:t>, then </a:t>
            </a:r>
            <a:r>
              <a:rPr b="1" lang="en-US" sz="1600">
                <a:solidFill>
                  <a:srgbClr val="3B4660"/>
                </a:solidFill>
                <a:latin typeface="IBM Plex Mono"/>
                <a:ea typeface="IBM Plex Mono"/>
                <a:cs typeface="IBM Plex Mono"/>
                <a:sym typeface="IBM Plex Mono"/>
              </a:rPr>
              <a:t>64-window GRU for the nonlinear correction</a:t>
            </a:r>
            <a:endParaRPr sz="1600">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lang="en-US">
                <a:solidFill>
                  <a:srgbClr val="3B4660"/>
                </a:solidFill>
                <a:latin typeface="IBM Plex Mono"/>
                <a:ea typeface="IBM Plex Mono"/>
                <a:cs typeface="IBM Plex Mono"/>
                <a:sym typeface="IBM Plex Mono"/>
              </a:rPr>
              <a:t>(good for combining jumps with jitter)</a:t>
            </a:r>
            <a:endParaRPr>
              <a:solidFill>
                <a:srgbClr val="3B4660"/>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b="1" lang="en-US" sz="1600">
                <a:solidFill>
                  <a:srgbClr val="3B4660"/>
                </a:solidFill>
                <a:latin typeface="IBM Plex Mono"/>
                <a:ea typeface="IBM Plex Mono"/>
                <a:cs typeface="IBM Plex Mono"/>
                <a:sym typeface="IBM Plex Mono"/>
              </a:rPr>
              <a:t>+online refit</a:t>
            </a:r>
            <a:r>
              <a:rPr lang="en-US" sz="1600">
                <a:solidFill>
                  <a:srgbClr val="3B4660"/>
                </a:solidFill>
                <a:latin typeface="IBM Plex Mono"/>
                <a:ea typeface="IBM Plex Mono"/>
                <a:cs typeface="IBM Plex Mono"/>
                <a:sym typeface="IBM Plex Mono"/>
              </a:rPr>
              <a:t>: same as above, with </a:t>
            </a:r>
            <a:r>
              <a:rPr b="1" lang="en-US" sz="1600">
                <a:solidFill>
                  <a:srgbClr val="3B4660"/>
                </a:solidFill>
                <a:latin typeface="IBM Plex Mono"/>
                <a:ea typeface="IBM Plex Mono"/>
                <a:cs typeface="IBM Plex Mono"/>
                <a:sym typeface="IBM Plex Mono"/>
              </a:rPr>
              <a:t>weighted ridge based on recent errors</a:t>
            </a:r>
            <a:endParaRPr b="1" sz="1600">
              <a:solidFill>
                <a:srgbClr val="3B4660"/>
              </a:solidFill>
              <a:latin typeface="IBM Plex Mono"/>
              <a:ea typeface="IBM Plex Mono"/>
              <a:cs typeface="IBM Plex Mono"/>
              <a:sym typeface="IBM Plex Mono"/>
            </a:endParaRPr>
          </a:p>
        </p:txBody>
      </p:sp>
      <p:sp>
        <p:nvSpPr>
          <p:cNvPr id="247" name="Google Shape;247;h6524a41718b72fa9_0_38"/>
          <p:cNvSpPr/>
          <p:nvPr/>
        </p:nvSpPr>
        <p:spPr>
          <a:xfrm>
            <a:off x="812800" y="558800"/>
            <a:ext cx="609600" cy="507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48" name="Google Shape;248;h6524a41718b72fa9_0_38"/>
          <p:cNvSpPr/>
          <p:nvPr/>
        </p:nvSpPr>
        <p:spPr>
          <a:xfrm>
            <a:off x="813816" y="813816"/>
            <a:ext cx="2834700" cy="283500"/>
          </a:xfrm>
          <a:prstGeom prst="roundRect">
            <a:avLst>
              <a:gd fmla="val 17778" name="adj"/>
            </a:avLst>
          </a:prstGeom>
          <a:solidFill>
            <a:srgbClr val="1D4E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49" name="Google Shape;249;h6524a41718b72fa9_0_38"/>
          <p:cNvSpPr/>
          <p:nvPr/>
        </p:nvSpPr>
        <p:spPr>
          <a:xfrm>
            <a:off x="914400" y="850392"/>
            <a:ext cx="27432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2 · MEDIUM · RESULTS</a:t>
            </a:r>
            <a:endParaRPr b="0" i="0" sz="1200" u="none" cap="none" strike="noStrike">
              <a:solidFill>
                <a:schemeClr val="dk1"/>
              </a:solidFill>
              <a:latin typeface="IBM Plex Mono"/>
              <a:ea typeface="IBM Plex Mono"/>
              <a:cs typeface="IBM Plex Mono"/>
              <a:sym typeface="IBM Plex Mono"/>
            </a:endParaRPr>
          </a:p>
        </p:txBody>
      </p:sp>
      <p:sp>
        <p:nvSpPr>
          <p:cNvPr id="250" name="Google Shape;250;h6524a41718b72fa9_0_38"/>
          <p:cNvSpPr txBox="1"/>
          <p:nvPr>
            <p:ph type="title"/>
          </p:nvPr>
        </p:nvSpPr>
        <p:spPr>
          <a:xfrm>
            <a:off x="812800" y="1200150"/>
            <a:ext cx="10883400" cy="5271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i="0" lang="en-US" sz="3600">
                <a:solidFill>
                  <a:srgbClr val="14213D"/>
                </a:solidFill>
                <a:latin typeface="Space Grotesk"/>
                <a:ea typeface="Space Grotesk"/>
                <a:cs typeface="Space Grotesk"/>
                <a:sym typeface="Space Grotesk"/>
              </a:rPr>
              <a:t>Slow level + shot-to-shot model</a:t>
            </a:r>
            <a:endParaRPr sz="3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2"/>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57" name="Google Shape;257;p12"/>
          <p:cNvSpPr/>
          <p:nvPr/>
        </p:nvSpPr>
        <p:spPr>
          <a:xfrm>
            <a:off x="813816" y="813816"/>
            <a:ext cx="2834640" cy="283464"/>
          </a:xfrm>
          <a:prstGeom prst="roundRect">
            <a:avLst>
              <a:gd fmla="val 17778" name="adj"/>
            </a:avLst>
          </a:prstGeom>
          <a:solidFill>
            <a:srgbClr val="1D4E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58" name="Google Shape;258;p12"/>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2 · MEDIUM · RESULTS</a:t>
            </a:r>
            <a:endParaRPr b="0" i="0" sz="1200" u="none" cap="none" strike="noStrike">
              <a:solidFill>
                <a:schemeClr val="dk1"/>
              </a:solidFill>
              <a:latin typeface="IBM Plex Mono"/>
              <a:ea typeface="IBM Plex Mono"/>
              <a:cs typeface="IBM Plex Mono"/>
              <a:sym typeface="IBM Plex Mono"/>
            </a:endParaRPr>
          </a:p>
        </p:txBody>
      </p:sp>
      <p:sp>
        <p:nvSpPr>
          <p:cNvPr id="259" name="Google Shape;259;p12"/>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600"/>
              <a:buFont typeface="Space Grotesk"/>
              <a:buNone/>
            </a:pPr>
            <a:r>
              <a:rPr b="1" i="0" lang="en-US" sz="3600">
                <a:solidFill>
                  <a:srgbClr val="14213D"/>
                </a:solidFill>
                <a:latin typeface="Space Grotesk"/>
                <a:ea typeface="Space Grotesk"/>
                <a:cs typeface="Space Grotesk"/>
                <a:sym typeface="Space Grotesk"/>
              </a:rPr>
              <a:t>Nine model families converge</a:t>
            </a:r>
            <a:endParaRPr sz="3600"/>
          </a:p>
        </p:txBody>
      </p:sp>
      <p:sp>
        <p:nvSpPr>
          <p:cNvPr id="260" name="Google Shape;260;p12"/>
          <p:cNvSpPr/>
          <p:nvPr/>
        </p:nvSpPr>
        <p:spPr>
          <a:xfrm>
            <a:off x="812800" y="6242050"/>
            <a:ext cx="784860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478"/>
              </a:buClr>
              <a:buSzPts val="1200"/>
              <a:buFont typeface="IBM Plex Mono"/>
              <a:buNone/>
            </a:pPr>
            <a:r>
              <a:rPr b="0" i="0" lang="en-US" sz="1200" u="none" cap="none" strike="noStrike">
                <a:solidFill>
                  <a:srgbClr val="5A6478"/>
                </a:solidFill>
                <a:latin typeface="IBM Plex Mono"/>
                <a:ea typeface="IBM Plex Mono"/>
                <a:cs typeface="IBM Plex Mono"/>
                <a:sym typeface="IBM Plex Mono"/>
              </a:rPr>
              <a:t>Forecasting the CLEAR beam charge </a:t>
            </a:r>
            <a:endParaRPr b="0" i="0" sz="1200" u="none" cap="none" strike="noStrike">
              <a:solidFill>
                <a:schemeClr val="dk1"/>
              </a:solidFill>
              <a:latin typeface="IBM Plex Mono"/>
              <a:ea typeface="IBM Plex Mono"/>
              <a:cs typeface="IBM Plex Mono"/>
              <a:sym typeface="IBM Plex Mono"/>
            </a:endParaRPr>
          </a:p>
        </p:txBody>
      </p:sp>
      <p:sp>
        <p:nvSpPr>
          <p:cNvPr id="261" name="Google Shape;261;p12"/>
          <p:cNvSpPr/>
          <p:nvPr/>
        </p:nvSpPr>
        <p:spPr>
          <a:xfrm>
            <a:off x="813816" y="1783080"/>
            <a:ext cx="10881360" cy="3200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1" i="0" lang="en-US" sz="1600" u="none" cap="none" strike="noStrike">
                <a:solidFill>
                  <a:srgbClr val="14213D"/>
                </a:solidFill>
                <a:latin typeface="Space Grotesk"/>
                <a:ea typeface="Space Grotesk"/>
                <a:cs typeface="Space Grotesk"/>
                <a:sym typeface="Space Grotesk"/>
              </a:rPr>
              <a:t>Linear, ridge, random forest, XGBoost, MLP, RNN, GRU, LSTM, sparse GP and ensembles; MAE in % of the level.</a:t>
            </a:r>
            <a:endParaRPr b="1" i="0" sz="1600" u="none" cap="none" strike="noStrike">
              <a:solidFill>
                <a:schemeClr val="dk1"/>
              </a:solidFill>
              <a:latin typeface="Space Grotesk"/>
              <a:ea typeface="Space Grotesk"/>
              <a:cs typeface="Space Grotesk"/>
              <a:sym typeface="Space Grotesk"/>
            </a:endParaRPr>
          </a:p>
        </p:txBody>
      </p:sp>
      <p:sp>
        <p:nvSpPr>
          <p:cNvPr id="262" name="Google Shape;262;p12"/>
          <p:cNvSpPr/>
          <p:nvPr/>
        </p:nvSpPr>
        <p:spPr>
          <a:xfrm>
            <a:off x="868675" y="2286000"/>
            <a:ext cx="10607100" cy="1180800"/>
          </a:xfrm>
          <a:prstGeom prst="rect">
            <a:avLst/>
          </a:prstGeom>
          <a:noFill/>
          <a:ln>
            <a:noFill/>
          </a:ln>
        </p:spPr>
        <p:txBody>
          <a:bodyPr anchorCtr="0" anchor="t" bIns="0" lIns="0" spcFirstLastPara="1" rIns="0" wrap="square" tIns="0">
            <a:normAutofit/>
          </a:bodyPr>
          <a:lstStyle/>
          <a:p>
            <a:pPr indent="-215392" lvl="0" marL="196342" marR="0" rtl="0" algn="l">
              <a:lnSpc>
                <a:spcPct val="140000"/>
              </a:lnSpc>
              <a:spcBef>
                <a:spcPts val="0"/>
              </a:spcBef>
              <a:spcAft>
                <a:spcPts val="0"/>
              </a:spcAft>
              <a:buClr>
                <a:srgbClr val="3B4660"/>
              </a:buClr>
              <a:buSzPts val="1600"/>
              <a:buFont typeface="IBM Plex Mono"/>
              <a:buChar char="•"/>
            </a:pPr>
            <a:r>
              <a:rPr b="1" i="0" lang="en-US" sz="1600" u="none" cap="none" strike="noStrike">
                <a:solidFill>
                  <a:srgbClr val="3B4660"/>
                </a:solidFill>
                <a:latin typeface="IBM Plex Mono"/>
                <a:ea typeface="IBM Plex Mono"/>
                <a:cs typeface="IBM Plex Mono"/>
                <a:sym typeface="IBM Plex Mono"/>
              </a:rPr>
              <a:t>Outlier-robust preparation brings all families within ~10 %</a:t>
            </a:r>
            <a:r>
              <a:rPr i="0" lang="en-US" sz="1600" u="none" cap="none" strike="noStrike">
                <a:solidFill>
                  <a:srgbClr val="3B4660"/>
                </a:solidFill>
                <a:latin typeface="IBM Plex Mono"/>
                <a:ea typeface="IBM Plex Mono"/>
                <a:cs typeface="IBM Plex Mono"/>
                <a:sym typeface="IBM Plex Mono"/>
              </a:rPr>
              <a:t>: </a:t>
            </a:r>
            <a:endParaRPr i="0" sz="1600" u="none" cap="none" strike="noStrike">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i="0" lang="en-US" u="none" cap="none" strike="noStrike">
                <a:solidFill>
                  <a:srgbClr val="3B4660"/>
                </a:solidFill>
                <a:latin typeface="IBM Plex Mono"/>
                <a:ea typeface="IBM Plex Mono"/>
                <a:cs typeface="IBM Plex Mono"/>
                <a:sym typeface="IBM Plex Mono"/>
              </a:rPr>
              <a:t>squared-loss models were chasing camera spikes (seg 1 ridge 2.86 → 1.12 %)</a:t>
            </a:r>
            <a:endParaRPr i="0" u="none" cap="none" strike="noStrike">
              <a:solidFill>
                <a:schemeClr val="dk1"/>
              </a:solidFill>
              <a:latin typeface="IBM Plex Mono"/>
              <a:ea typeface="IBM Plex Mono"/>
              <a:cs typeface="IBM Plex Mono"/>
              <a:sym typeface="IBM Plex Mono"/>
            </a:endParaRPr>
          </a:p>
          <a:p>
            <a:pPr indent="-215392" lvl="0" marL="196342" marR="0" rtl="0" algn="l">
              <a:lnSpc>
                <a:spcPct val="140000"/>
              </a:lnSpc>
              <a:spcBef>
                <a:spcPts val="0"/>
              </a:spcBef>
              <a:spcAft>
                <a:spcPts val="0"/>
              </a:spcAft>
              <a:buClr>
                <a:srgbClr val="3B4660"/>
              </a:buClr>
              <a:buSzPts val="1600"/>
              <a:buFont typeface="IBM Plex Mono"/>
              <a:buChar char="•"/>
            </a:pPr>
            <a:r>
              <a:rPr b="1" i="0" lang="en-US" sz="1600" u="none" cap="none" strike="noStrike">
                <a:solidFill>
                  <a:srgbClr val="3B4660"/>
                </a:solidFill>
                <a:latin typeface="IBM Plex Mono"/>
                <a:ea typeface="IBM Plex Mono"/>
                <a:cs typeface="IBM Plex Mono"/>
                <a:sym typeface="IBM Plex Mono"/>
              </a:rPr>
              <a:t>Pulse alignment helps the nonlinear models</a:t>
            </a:r>
            <a:r>
              <a:rPr i="0" lang="en-US" sz="1600" u="none" cap="none" strike="noStrike">
                <a:solidFill>
                  <a:srgbClr val="3B4660"/>
                </a:solidFill>
                <a:latin typeface="IBM Plex Mono"/>
                <a:ea typeface="IBM Plex Mono"/>
                <a:cs typeface="IBM Plex Mono"/>
                <a:sym typeface="IBM Plex Mono"/>
              </a:rPr>
              <a:t>: </a:t>
            </a:r>
            <a:endParaRPr i="0" sz="1600" u="none" cap="none" strike="noStrike">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i="0" lang="en-US" u="none" cap="none" strike="noStrike">
                <a:solidFill>
                  <a:srgbClr val="3B4660"/>
                </a:solidFill>
                <a:latin typeface="IBM Plex Mono"/>
                <a:ea typeface="IBM Plex Mono"/>
                <a:cs typeface="IBM Plex Mono"/>
                <a:sym typeface="IBM Plex Mono"/>
              </a:rPr>
              <a:t>XGBoost: </a:t>
            </a:r>
            <a:r>
              <a:rPr b="1" lang="en-US">
                <a:solidFill>
                  <a:srgbClr val="3B4660"/>
                </a:solidFill>
                <a:latin typeface="IBM Plex Mono"/>
                <a:ea typeface="IBM Plex Mono"/>
                <a:cs typeface="IBM Plex Mono"/>
                <a:sym typeface="IBM Plex Mono"/>
              </a:rPr>
              <a:t>MAE = </a:t>
            </a:r>
            <a:r>
              <a:rPr b="1" i="0" lang="en-US" u="none" cap="none" strike="noStrike">
                <a:solidFill>
                  <a:srgbClr val="3B4660"/>
                </a:solidFill>
                <a:latin typeface="IBM Plex Mono"/>
                <a:ea typeface="IBM Plex Mono"/>
                <a:cs typeface="IBM Plex Mono"/>
                <a:sym typeface="IBM Plex Mono"/>
              </a:rPr>
              <a:t>1.26 → 0.95 %</a:t>
            </a:r>
            <a:endParaRPr>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i="0" lang="en-US" u="none" cap="none" strike="noStrike">
                <a:solidFill>
                  <a:srgbClr val="3B4660"/>
                </a:solidFill>
                <a:latin typeface="IBM Plex Mono"/>
                <a:ea typeface="IBM Plex Mono"/>
                <a:cs typeface="IBM Plex Mono"/>
                <a:sym typeface="IBM Plex Mono"/>
              </a:rPr>
              <a:t>best LSTM: </a:t>
            </a:r>
            <a:r>
              <a:rPr b="1" i="0" lang="en-US" u="none" cap="none" strike="noStrike">
                <a:solidFill>
                  <a:srgbClr val="3B4660"/>
                </a:solidFill>
                <a:latin typeface="IBM Plex Mono"/>
                <a:ea typeface="IBM Plex Mono"/>
                <a:cs typeface="IBM Plex Mono"/>
                <a:sym typeface="IBM Plex Mono"/>
              </a:rPr>
              <a:t>MAE = 0.87 %</a:t>
            </a:r>
            <a:endParaRPr>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b="1" i="0" lang="en-US" u="none" cap="none" strike="noStrike">
                <a:solidFill>
                  <a:srgbClr val="3B4660"/>
                </a:solidFill>
                <a:latin typeface="IBM Plex Mono"/>
                <a:ea typeface="IBM Plex Mono"/>
                <a:cs typeface="IBM Plex Mono"/>
                <a:sym typeface="IBM Plex Mono"/>
              </a:rPr>
              <a:t>GRU / GP beat ridge by 11–22 %</a:t>
            </a:r>
            <a:r>
              <a:rPr i="0" lang="en-US" u="none" cap="none" strike="noStrike">
                <a:solidFill>
                  <a:srgbClr val="3B4660"/>
                </a:solidFill>
                <a:latin typeface="IBM Plex Mono"/>
                <a:ea typeface="IBM Plex Mono"/>
                <a:cs typeface="IBM Plex Mono"/>
                <a:sym typeface="IBM Plex Mono"/>
              </a:rPr>
              <a:t> </a:t>
            </a:r>
            <a:r>
              <a:rPr lang="en-US">
                <a:solidFill>
                  <a:srgbClr val="3B4660"/>
                </a:solidFill>
                <a:latin typeface="IBM Plex Mono"/>
                <a:ea typeface="IBM Plex Mono"/>
                <a:cs typeface="IBM Plex Mono"/>
                <a:sym typeface="IBM Plex Mono"/>
              </a:rPr>
              <a:t>in</a:t>
            </a:r>
            <a:r>
              <a:rPr i="0" lang="en-US" u="none" cap="none" strike="noStrike">
                <a:solidFill>
                  <a:srgbClr val="3B4660"/>
                </a:solidFill>
                <a:latin typeface="IBM Plex Mono"/>
                <a:ea typeface="IBM Plex Mono"/>
                <a:cs typeface="IBM Plex Mono"/>
                <a:sym typeface="IBM Plex Mono"/>
              </a:rPr>
              <a:t> high charge regime</a:t>
            </a:r>
            <a:endParaRPr i="0" u="none" cap="none" strike="noStrike">
              <a:solidFill>
                <a:schemeClr val="dk1"/>
              </a:solidFill>
              <a:latin typeface="IBM Plex Mono"/>
              <a:ea typeface="IBM Plex Mono"/>
              <a:cs typeface="IBM Plex Mono"/>
              <a:sym typeface="IBM Plex Mono"/>
            </a:endParaRPr>
          </a:p>
          <a:p>
            <a:pPr indent="0" lvl="0" marL="0" marR="0" rtl="0" algn="l">
              <a:lnSpc>
                <a:spcPct val="140000"/>
              </a:lnSpc>
              <a:spcBef>
                <a:spcPts val="0"/>
              </a:spcBef>
              <a:spcAft>
                <a:spcPts val="0"/>
              </a:spcAft>
              <a:buNone/>
            </a:pPr>
            <a:r>
              <a:t/>
            </a:r>
            <a:endParaRPr b="0" i="0" sz="1300" u="none" cap="none" strike="noStrike">
              <a:solidFill>
                <a:schemeClr val="dk1"/>
              </a:solidFill>
              <a:latin typeface="IBM Plex Mono"/>
              <a:ea typeface="IBM Plex Mono"/>
              <a:cs typeface="IBM Plex Mono"/>
              <a:sym typeface="IBM Plex Mono"/>
            </a:endParaRPr>
          </a:p>
        </p:txBody>
      </p:sp>
      <p:pic>
        <p:nvPicPr>
          <p:cNvPr descr="11_robust_preparation_cell7.png" id="263" name="Google Shape;263;p12"/>
          <p:cNvPicPr preferRelativeResize="0"/>
          <p:nvPr/>
        </p:nvPicPr>
        <p:blipFill rotWithShape="1">
          <a:blip r:embed="rId3">
            <a:alphaModFix/>
          </a:blip>
          <a:srcRect b="0" l="0" r="0" t="0"/>
          <a:stretch/>
        </p:blipFill>
        <p:spPr>
          <a:xfrm>
            <a:off x="120112" y="4228013"/>
            <a:ext cx="11576077" cy="250561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1"/>
        </a:solidFill>
      </p:bgPr>
    </p:bg>
    <p:spTree>
      <p:nvGrpSpPr>
        <p:cNvPr id="268" name="Shape 268"/>
        <p:cNvGrpSpPr/>
        <p:nvPr/>
      </p:nvGrpSpPr>
      <p:grpSpPr>
        <a:xfrm>
          <a:off x="0" y="0"/>
          <a:ext cx="0" cy="0"/>
          <a:chOff x="0" y="0"/>
          <a:chExt cx="0" cy="0"/>
        </a:xfrm>
      </p:grpSpPr>
      <p:sp>
        <p:nvSpPr>
          <p:cNvPr id="269" name="Google Shape;269;p15"/>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70" name="Google Shape;270;p15"/>
          <p:cNvSpPr/>
          <p:nvPr/>
        </p:nvSpPr>
        <p:spPr>
          <a:xfrm>
            <a:off x="812800" y="812800"/>
            <a:ext cx="1557039" cy="285750"/>
          </a:xfrm>
          <a:prstGeom prst="roundRect">
            <a:avLst>
              <a:gd fmla="val 17778" name="adj"/>
            </a:avLst>
          </a:prstGeom>
          <a:solidFill>
            <a:srgbClr val="BE18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71" name="Google Shape;271;p15"/>
          <p:cNvSpPr/>
          <p:nvPr/>
        </p:nvSpPr>
        <p:spPr>
          <a:xfrm>
            <a:off x="914400" y="850900"/>
            <a:ext cx="140464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3 · HARD</a:t>
            </a:r>
            <a:endParaRPr b="0" i="0" sz="1200" u="none" cap="none" strike="noStrike">
              <a:solidFill>
                <a:schemeClr val="dk1"/>
              </a:solidFill>
              <a:latin typeface="IBM Plex Mono"/>
              <a:ea typeface="IBM Plex Mono"/>
              <a:cs typeface="IBM Plex Mono"/>
              <a:sym typeface="IBM Plex Mono"/>
            </a:endParaRPr>
          </a:p>
        </p:txBody>
      </p:sp>
      <p:sp>
        <p:nvSpPr>
          <p:cNvPr id="272" name="Google Shape;272;p15"/>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600"/>
              <a:buFont typeface="Space Grotesk"/>
              <a:buNone/>
            </a:pPr>
            <a:r>
              <a:rPr b="1" i="0" lang="en-US" sz="3600">
                <a:solidFill>
                  <a:srgbClr val="14213D"/>
                </a:solidFill>
                <a:latin typeface="Space Grotesk"/>
                <a:ea typeface="Space Grotesk"/>
                <a:cs typeface="Space Grotesk"/>
                <a:sym typeface="Space Grotesk"/>
              </a:rPr>
              <a:t>Forecasting</a:t>
            </a:r>
            <a:endParaRPr sz="3600"/>
          </a:p>
        </p:txBody>
      </p:sp>
      <p:sp>
        <p:nvSpPr>
          <p:cNvPr id="273" name="Google Shape;273;p15"/>
          <p:cNvSpPr/>
          <p:nvPr/>
        </p:nvSpPr>
        <p:spPr>
          <a:xfrm>
            <a:off x="815975" y="2295525"/>
            <a:ext cx="5506541" cy="717550"/>
          </a:xfrm>
          <a:prstGeom prst="roundRect">
            <a:avLst>
              <a:gd fmla="val 10177" name="adj"/>
            </a:avLst>
          </a:prstGeom>
          <a:solidFill>
            <a:srgbClr val="FFFDF8"/>
          </a:solidFill>
          <a:ln cap="flat" cmpd="sng" w="9525">
            <a:solidFill>
              <a:srgbClr val="E6E0D2"/>
            </a:solidFill>
            <a:prstDash val="solid"/>
            <a:round/>
            <a:headEnd len="sm" w="sm" type="none"/>
            <a:tailEnd len="sm" w="sm" type="none"/>
          </a:ln>
        </p:spPr>
        <p:txBody>
          <a:bodyPr anchorCtr="0" anchor="t" bIns="83375" lIns="134175" spcFirstLastPara="1" rIns="0" wrap="square" tIns="108775">
            <a:normAutofit/>
          </a:bodyPr>
          <a:lstStyle/>
          <a:p>
            <a:pPr indent="0" lvl="0" marL="0" marR="0" rtl="0" algn="l">
              <a:lnSpc>
                <a:spcPct val="150000"/>
              </a:lnSpc>
              <a:spcBef>
                <a:spcPts val="0"/>
              </a:spcBef>
              <a:spcAft>
                <a:spcPts val="0"/>
              </a:spcAft>
              <a:buClr>
                <a:srgbClr val="14213D"/>
              </a:buClr>
              <a:buSzPts val="1200"/>
              <a:buFont typeface="IBM Plex Mono"/>
              <a:buNone/>
            </a:pPr>
            <a:r>
              <a:rPr b="0" i="0" lang="en-US" sz="1200" u="none" cap="none" strike="noStrike">
                <a:solidFill>
                  <a:srgbClr val="14213D"/>
                </a:solidFill>
                <a:latin typeface="IBM Plex Mono"/>
                <a:ea typeface="IBM Plex Mono"/>
                <a:cs typeface="IBM Plex Mono"/>
                <a:sym typeface="IBM Plex Mono"/>
              </a:rPr>
              <a:t>Repeat what has be</a:t>
            </a:r>
            <a:r>
              <a:rPr lang="en-US" sz="1200">
                <a:solidFill>
                  <a:srgbClr val="14213D"/>
                </a:solidFill>
                <a:latin typeface="IBM Plex Mono"/>
                <a:ea typeface="IBM Plex Mono"/>
                <a:cs typeface="IBM Plex Mono"/>
                <a:sym typeface="IBM Plex Mono"/>
              </a:rPr>
              <a:t>en </a:t>
            </a:r>
            <a:r>
              <a:rPr b="0" i="0" lang="en-US" sz="1200" u="none" cap="none" strike="noStrike">
                <a:solidFill>
                  <a:srgbClr val="14213D"/>
                </a:solidFill>
                <a:latin typeface="IBM Plex Mono"/>
                <a:ea typeface="IBM Plex Mono"/>
                <a:cs typeface="IBM Plex Mono"/>
                <a:sym typeface="IBM Plex Mono"/>
              </a:rPr>
              <a:t>done for virtual diagnostic in a more complex scenario</a:t>
            </a:r>
            <a:endParaRPr b="0" i="0" sz="1200" u="none" cap="none" strike="noStrike">
              <a:solidFill>
                <a:schemeClr val="dk1"/>
              </a:solidFill>
              <a:latin typeface="IBM Plex Mono"/>
              <a:ea typeface="IBM Plex Mono"/>
              <a:cs typeface="IBM Plex Mono"/>
              <a:sym typeface="IBM Plex Mono"/>
            </a:endParaRPr>
          </a:p>
        </p:txBody>
      </p:sp>
      <p:sp>
        <p:nvSpPr>
          <p:cNvPr id="274" name="Google Shape;274;p15"/>
          <p:cNvSpPr/>
          <p:nvPr/>
        </p:nvSpPr>
        <p:spPr>
          <a:xfrm>
            <a:off x="870457" y="3219449"/>
            <a:ext cx="5613000" cy="1981200"/>
          </a:xfrm>
          <a:prstGeom prst="rect">
            <a:avLst/>
          </a:prstGeom>
          <a:noFill/>
          <a:ln>
            <a:noFill/>
          </a:ln>
        </p:spPr>
        <p:txBody>
          <a:bodyPr anchorCtr="0" anchor="t" bIns="0" lIns="0" spcFirstLastPara="1" rIns="0" wrap="square" tIns="0">
            <a:normAutofit/>
          </a:bodyPr>
          <a:lstStyle/>
          <a:p>
            <a:pPr indent="-330200" lvl="0" marL="457200" marR="0" rtl="0" algn="l">
              <a:lnSpc>
                <a:spcPct val="140000"/>
              </a:lnSpc>
              <a:spcBef>
                <a:spcPts val="0"/>
              </a:spcBef>
              <a:spcAft>
                <a:spcPts val="0"/>
              </a:spcAft>
              <a:buClr>
                <a:srgbClr val="3B4660"/>
              </a:buClr>
              <a:buSzPts val="1600"/>
              <a:buFont typeface="IBM Plex Mono"/>
              <a:buChar char="➢"/>
            </a:pPr>
            <a:r>
              <a:rPr b="1" i="0" lang="en-US" sz="1600" u="none" cap="none" strike="noStrike">
                <a:solidFill>
                  <a:srgbClr val="3B4660"/>
                </a:solidFill>
                <a:latin typeface="IBM Plex Mono"/>
                <a:ea typeface="IBM Plex Mono"/>
                <a:cs typeface="IBM Plex Mono"/>
                <a:sym typeface="IBM Plex Mono"/>
              </a:rPr>
              <a:t>One step ahead, then up to 50 shots</a:t>
            </a:r>
            <a:endParaRPr b="1" i="0" sz="160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b="1" i="0" lang="en-US" sz="1600" u="none" cap="none" strike="noStrike">
                <a:solidFill>
                  <a:srgbClr val="3B4660"/>
                </a:solidFill>
                <a:latin typeface="IBM Plex Mono"/>
                <a:ea typeface="IBM Plex Mono"/>
                <a:cs typeface="IBM Plex Mono"/>
                <a:sym typeface="IBM Plex Mono"/>
              </a:rPr>
              <a:t>At least one sequence model: TFT, DeepAR, LSTM/GRU or a time-series foundation model</a:t>
            </a:r>
            <a:endParaRPr b="1" i="0" sz="160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b="1" i="0" lang="en-US" sz="1600" u="none" cap="none" strike="noStrike">
                <a:solidFill>
                  <a:srgbClr val="3B4660"/>
                </a:solidFill>
                <a:latin typeface="IBM Plex Mono"/>
                <a:ea typeface="IBM Plex Mono"/>
                <a:cs typeface="IBM Plex Mono"/>
                <a:sym typeface="IBM Plex Mono"/>
              </a:rPr>
              <a:t>Tune the context window and show its effect</a:t>
            </a:r>
            <a:endParaRPr b="1" i="0" sz="1600" u="none" cap="none" strike="noStrike">
              <a:solidFill>
                <a:schemeClr val="dk1"/>
              </a:solidFill>
              <a:latin typeface="IBM Plex Mono"/>
              <a:ea typeface="IBM Plex Mono"/>
              <a:cs typeface="IBM Plex Mono"/>
              <a:sym typeface="IBM Plex Mono"/>
            </a:endParaRPr>
          </a:p>
        </p:txBody>
      </p:sp>
      <p:sp>
        <p:nvSpPr>
          <p:cNvPr id="275" name="Google Shape;275;p15"/>
          <p:cNvSpPr/>
          <p:nvPr/>
        </p:nvSpPr>
        <p:spPr>
          <a:xfrm>
            <a:off x="6630491" y="2006600"/>
            <a:ext cx="4748709" cy="3168649"/>
          </a:xfrm>
          <a:prstGeom prst="roundRect">
            <a:avLst>
              <a:gd fmla="val 3206" name="adj"/>
            </a:avLst>
          </a:prstGeom>
          <a:solidFill>
            <a:srgbClr val="FDE2E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76" name="Google Shape;276;p15"/>
          <p:cNvSpPr/>
          <p:nvPr/>
        </p:nvSpPr>
        <p:spPr>
          <a:xfrm>
            <a:off x="6630491" y="2006600"/>
            <a:ext cx="4748709" cy="3168649"/>
          </a:xfrm>
          <a:custGeom>
            <a:rect b="b" l="l" r="r" t="t"/>
            <a:pathLst>
              <a:path extrusionOk="0" h="3168650" w="4748709">
                <a:moveTo>
                  <a:pt x="0" y="101600"/>
                </a:moveTo>
                <a:lnTo>
                  <a:pt x="0" y="101600"/>
                </a:lnTo>
                <a:cubicBezTo>
                  <a:pt x="0" y="45488"/>
                  <a:pt x="45488" y="0"/>
                  <a:pt x="101600" y="0"/>
                </a:cubicBezTo>
                <a:lnTo>
                  <a:pt x="4647109" y="0"/>
                </a:lnTo>
                <a:cubicBezTo>
                  <a:pt x="4674055" y="0"/>
                  <a:pt x="4699897" y="10704"/>
                  <a:pt x="4718951" y="29758"/>
                </a:cubicBezTo>
                <a:cubicBezTo>
                  <a:pt x="4738005" y="48812"/>
                  <a:pt x="4748709" y="74654"/>
                  <a:pt x="4748709" y="101600"/>
                </a:cubicBezTo>
                <a:lnTo>
                  <a:pt x="4748709" y="101600"/>
                </a:lnTo>
                <a:cubicBezTo>
                  <a:pt x="4748709" y="73544"/>
                  <a:pt x="4703221" y="50800"/>
                  <a:pt x="4647109" y="50800"/>
                </a:cubicBezTo>
                <a:lnTo>
                  <a:pt x="101600" y="50800"/>
                </a:lnTo>
                <a:cubicBezTo>
                  <a:pt x="45488" y="50800"/>
                  <a:pt x="0" y="73544"/>
                  <a:pt x="0" y="101600"/>
                </a:cubicBezTo>
                <a:close/>
              </a:path>
            </a:pathLst>
          </a:custGeom>
          <a:solidFill>
            <a:srgbClr val="BE18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77" name="Google Shape;277;p15"/>
          <p:cNvSpPr/>
          <p:nvPr/>
        </p:nvSpPr>
        <p:spPr>
          <a:xfrm>
            <a:off x="6884491" y="2311399"/>
            <a:ext cx="436793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E185D"/>
              </a:buClr>
              <a:buSzPts val="1200"/>
              <a:buFont typeface="IBM Plex Mono"/>
              <a:buNone/>
            </a:pPr>
            <a:r>
              <a:rPr b="0" i="0" lang="en-US" sz="1200" u="none" cap="none" strike="noStrike">
                <a:solidFill>
                  <a:srgbClr val="BE185D"/>
                </a:solidFill>
                <a:latin typeface="IBM Plex Mono"/>
                <a:ea typeface="IBM Plex Mono"/>
                <a:cs typeface="IBM Plex Mono"/>
                <a:sym typeface="IBM Plex Mono"/>
              </a:rPr>
              <a:t>THE GOAL</a:t>
            </a:r>
            <a:endParaRPr b="0" i="0" sz="1200" u="none" cap="none" strike="noStrike">
              <a:solidFill>
                <a:schemeClr val="dk1"/>
              </a:solidFill>
              <a:latin typeface="IBM Plex Mono"/>
              <a:ea typeface="IBM Plex Mono"/>
              <a:cs typeface="IBM Plex Mono"/>
              <a:sym typeface="IBM Plex Mono"/>
            </a:endParaRPr>
          </a:p>
        </p:txBody>
      </p:sp>
      <p:sp>
        <p:nvSpPr>
          <p:cNvPr id="278" name="Google Shape;278;p15"/>
          <p:cNvSpPr/>
          <p:nvPr/>
        </p:nvSpPr>
        <p:spPr>
          <a:xfrm>
            <a:off x="6913265" y="2647949"/>
            <a:ext cx="4331536" cy="1802130"/>
          </a:xfrm>
          <a:prstGeom prst="rect">
            <a:avLst/>
          </a:prstGeom>
          <a:noFill/>
          <a:ln>
            <a:noFill/>
          </a:ln>
        </p:spPr>
        <p:txBody>
          <a:bodyPr anchorCtr="0" anchor="t" bIns="0" lIns="0" spcFirstLastPara="1" rIns="0" wrap="square" tIns="0">
            <a:normAutofit/>
          </a:bodyPr>
          <a:lstStyle/>
          <a:p>
            <a:pPr indent="-225227" lvl="0" marL="225227" marR="0" rtl="0" algn="l">
              <a:lnSpc>
                <a:spcPct val="140000"/>
              </a:lnSpc>
              <a:spcBef>
                <a:spcPts val="0"/>
              </a:spcBef>
              <a:spcAft>
                <a:spcPts val="0"/>
              </a:spcAft>
              <a:buClr>
                <a:srgbClr val="14213D"/>
              </a:buClr>
              <a:buSzPts val="1600"/>
              <a:buFont typeface="IBM Plex Mono"/>
              <a:buAutoNum type="arabicPeriod"/>
            </a:pPr>
            <a:r>
              <a:rPr b="1" i="0" lang="en-US" sz="1600" u="none" cap="none" strike="noStrike">
                <a:solidFill>
                  <a:srgbClr val="14213D"/>
                </a:solidFill>
                <a:latin typeface="IBM Plex Mono"/>
                <a:ea typeface="IBM Plex Mono"/>
                <a:cs typeface="IBM Plex Mono"/>
                <a:sym typeface="IBM Plex Mono"/>
              </a:rPr>
              <a:t>Identify the right metric</a:t>
            </a:r>
            <a:r>
              <a:rPr i="0" lang="en-US" sz="1600" u="none" cap="none" strike="noStrike">
                <a:solidFill>
                  <a:srgbClr val="14213D"/>
                </a:solidFill>
                <a:latin typeface="IBM Plex Mono"/>
                <a:ea typeface="IBM Plex Mono"/>
                <a:cs typeface="IBM Plex Mono"/>
                <a:sym typeface="IBM Plex Mono"/>
              </a:rPr>
              <a:t> and </a:t>
            </a:r>
            <a:r>
              <a:rPr b="1" i="0" lang="en-US" sz="1600" u="none" cap="none" strike="noStrike">
                <a:solidFill>
                  <a:srgbClr val="14213D"/>
                </a:solidFill>
                <a:latin typeface="IBM Plex Mono"/>
                <a:ea typeface="IBM Plex Mono"/>
                <a:cs typeface="IBM Plex Mono"/>
                <a:sym typeface="IBM Plex Mono"/>
              </a:rPr>
              <a:t>try some basic model</a:t>
            </a:r>
            <a:r>
              <a:rPr i="0" lang="en-US" sz="1600" u="none" cap="none" strike="noStrike">
                <a:solidFill>
                  <a:srgbClr val="14213D"/>
                </a:solidFill>
                <a:latin typeface="IBM Plex Mono"/>
                <a:ea typeface="IBM Plex Mono"/>
                <a:cs typeface="IBM Plex Mono"/>
                <a:sym typeface="IBM Plex Mono"/>
              </a:rPr>
              <a:t> </a:t>
            </a:r>
            <a:endParaRPr i="0" sz="1800" u="none" cap="none" strike="noStrike">
              <a:solidFill>
                <a:schemeClr val="dk1"/>
              </a:solidFill>
              <a:latin typeface="IBM Plex Mono"/>
              <a:ea typeface="IBM Plex Mono"/>
              <a:cs typeface="IBM Plex Mono"/>
              <a:sym typeface="IBM Plex Mono"/>
            </a:endParaRPr>
          </a:p>
          <a:p>
            <a:pPr indent="-225227" lvl="0" marL="225227" marR="0" rtl="0" algn="l">
              <a:lnSpc>
                <a:spcPct val="140000"/>
              </a:lnSpc>
              <a:spcBef>
                <a:spcPts val="0"/>
              </a:spcBef>
              <a:spcAft>
                <a:spcPts val="0"/>
              </a:spcAft>
              <a:buClr>
                <a:srgbClr val="14213D"/>
              </a:buClr>
              <a:buSzPts val="1600"/>
              <a:buFont typeface="IBM Plex Mono"/>
              <a:buAutoNum type="arabicPeriod"/>
            </a:pPr>
            <a:r>
              <a:rPr b="1" i="0" lang="en-US" sz="1600" u="none" cap="none" strike="noStrike">
                <a:solidFill>
                  <a:srgbClr val="14213D"/>
                </a:solidFill>
                <a:latin typeface="IBM Plex Mono"/>
                <a:ea typeface="IBM Plex Mono"/>
                <a:cs typeface="IBM Plex Mono"/>
                <a:sym typeface="IBM Plex Mono"/>
              </a:rPr>
              <a:t>Beat</a:t>
            </a:r>
            <a:r>
              <a:rPr i="0" lang="en-US" sz="1600" u="none" cap="none" strike="noStrike">
                <a:solidFill>
                  <a:srgbClr val="14213D"/>
                </a:solidFill>
                <a:latin typeface="IBM Plex Mono"/>
                <a:ea typeface="IBM Plex Mono"/>
                <a:cs typeface="IBM Plex Mono"/>
                <a:sym typeface="IBM Plex Mono"/>
              </a:rPr>
              <a:t> the rolling mean</a:t>
            </a:r>
            <a:endParaRPr i="0" sz="1800" u="none" cap="none" strike="noStrike">
              <a:solidFill>
                <a:schemeClr val="dk1"/>
              </a:solidFill>
              <a:latin typeface="IBM Plex Mono"/>
              <a:ea typeface="IBM Plex Mono"/>
              <a:cs typeface="IBM Plex Mono"/>
              <a:sym typeface="IBM Plex Mono"/>
            </a:endParaRPr>
          </a:p>
          <a:p>
            <a:pPr indent="-225227" lvl="0" marL="225227" marR="0" rtl="0" algn="l">
              <a:lnSpc>
                <a:spcPct val="140000"/>
              </a:lnSpc>
              <a:spcBef>
                <a:spcPts val="0"/>
              </a:spcBef>
              <a:spcAft>
                <a:spcPts val="0"/>
              </a:spcAft>
              <a:buClr>
                <a:srgbClr val="14213D"/>
              </a:buClr>
              <a:buSzPts val="1600"/>
              <a:buFont typeface="IBM Plex Mono"/>
              <a:buAutoNum type="arabicPeriod"/>
            </a:pPr>
            <a:r>
              <a:rPr b="1" i="0" lang="en-US" sz="1600" u="none" cap="none" strike="noStrike">
                <a:solidFill>
                  <a:srgbClr val="14213D"/>
                </a:solidFill>
                <a:latin typeface="IBM Plex Mono"/>
                <a:ea typeface="IBM Plex Mono"/>
                <a:cs typeface="IBM Plex Mono"/>
                <a:sym typeface="IBM Plex Mono"/>
              </a:rPr>
              <a:t>Deploy</a:t>
            </a:r>
            <a:r>
              <a:rPr i="0" lang="en-US" sz="1600" u="none" cap="none" strike="noStrike">
                <a:solidFill>
                  <a:srgbClr val="14213D"/>
                </a:solidFill>
                <a:latin typeface="IBM Plex Mono"/>
                <a:ea typeface="IBM Plex Mono"/>
                <a:cs typeface="IBM Plex Mono"/>
                <a:sym typeface="IBM Plex Mono"/>
              </a:rPr>
              <a:t> in the machine the model </a:t>
            </a:r>
            <a:endParaRPr i="0" sz="1800" u="none" cap="none" strike="noStrike">
              <a:solidFill>
                <a:schemeClr val="dk1"/>
              </a:solidFill>
              <a:latin typeface="IBM Plex Mono"/>
              <a:ea typeface="IBM Plex Mono"/>
              <a:cs typeface="IBM Plex Mono"/>
              <a:sym typeface="IBM Plex Mono"/>
            </a:endParaRPr>
          </a:p>
        </p:txBody>
      </p:sp>
      <p:sp>
        <p:nvSpPr>
          <p:cNvPr id="279" name="Google Shape;279;p15"/>
          <p:cNvSpPr/>
          <p:nvPr/>
        </p:nvSpPr>
        <p:spPr>
          <a:xfrm>
            <a:off x="812800" y="6242050"/>
            <a:ext cx="784860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478"/>
              </a:buClr>
              <a:buSzPts val="1200"/>
              <a:buFont typeface="IBM Plex Mono"/>
              <a:buNone/>
            </a:pPr>
            <a:r>
              <a:rPr b="0" i="0" lang="en-US" sz="1200" u="none" cap="none" strike="noStrike">
                <a:solidFill>
                  <a:srgbClr val="5A6478"/>
                </a:solidFill>
                <a:latin typeface="IBM Plex Mono"/>
                <a:ea typeface="IBM Plex Mono"/>
                <a:cs typeface="IBM Plex Mono"/>
                <a:sym typeface="IBM Plex Mono"/>
              </a:rPr>
              <a:t>Forecasting the CLEAR beam charge</a:t>
            </a:r>
            <a:endParaRPr b="0" i="0" sz="1200" u="none" cap="none" strike="noStrike">
              <a:solidFill>
                <a:schemeClr val="dk1"/>
              </a:solidFill>
              <a:latin typeface="IBM Plex Mono"/>
              <a:ea typeface="IBM Plex Mono"/>
              <a:cs typeface="IBM Plex Mono"/>
              <a:sym typeface="IBM Plex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6"/>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86" name="Google Shape;286;p16"/>
          <p:cNvSpPr/>
          <p:nvPr/>
        </p:nvSpPr>
        <p:spPr>
          <a:xfrm>
            <a:off x="813816" y="813816"/>
            <a:ext cx="2834640" cy="283464"/>
          </a:xfrm>
          <a:prstGeom prst="roundRect">
            <a:avLst>
              <a:gd fmla="val 17778" name="adj"/>
            </a:avLst>
          </a:prstGeom>
          <a:solidFill>
            <a:srgbClr val="BE18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287" name="Google Shape;287;p16"/>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3 · HARD · RESULTS</a:t>
            </a:r>
            <a:endParaRPr b="0" i="0" sz="1200" u="none" cap="none" strike="noStrike">
              <a:solidFill>
                <a:schemeClr val="dk1"/>
              </a:solidFill>
              <a:latin typeface="IBM Plex Mono"/>
              <a:ea typeface="IBM Plex Mono"/>
              <a:cs typeface="IBM Plex Mono"/>
              <a:sym typeface="IBM Plex Mono"/>
            </a:endParaRPr>
          </a:p>
        </p:txBody>
      </p:sp>
      <p:sp>
        <p:nvSpPr>
          <p:cNvPr id="288" name="Google Shape;288;p16"/>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600"/>
              <a:buFont typeface="Space Grotesk"/>
              <a:buNone/>
            </a:pPr>
            <a:r>
              <a:rPr b="1" i="0" lang="en-US" sz="3600">
                <a:solidFill>
                  <a:srgbClr val="14213D"/>
                </a:solidFill>
                <a:latin typeface="Space Grotesk"/>
                <a:ea typeface="Space Grotesk"/>
                <a:cs typeface="Space Grotesk"/>
                <a:sym typeface="Space Grotesk"/>
              </a:rPr>
              <a:t>Next shot: beating the rolling mean of 9</a:t>
            </a:r>
            <a:endParaRPr sz="3600"/>
          </a:p>
        </p:txBody>
      </p:sp>
      <p:sp>
        <p:nvSpPr>
          <p:cNvPr id="289" name="Google Shape;289;p16"/>
          <p:cNvSpPr/>
          <p:nvPr/>
        </p:nvSpPr>
        <p:spPr>
          <a:xfrm>
            <a:off x="10058400" y="6242050"/>
            <a:ext cx="1320800" cy="23495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D28D9"/>
              </a:buClr>
              <a:buSzPts val="1200"/>
              <a:buFont typeface="IBM Plex Mono"/>
              <a:buNone/>
            </a:pPr>
            <a:r>
              <a:rPr b="0" i="0" lang="en-US" sz="1200" u="none" cap="none" strike="noStrike">
                <a:solidFill>
                  <a:srgbClr val="6D28D9"/>
                </a:solidFill>
                <a:latin typeface="IBM Plex Mono"/>
                <a:ea typeface="IBM Plex Mono"/>
                <a:cs typeface="IBM Plex Mono"/>
                <a:sym typeface="IBM Plex Mono"/>
              </a:rPr>
              <a:t>33</a:t>
            </a:r>
            <a:endParaRPr b="0" i="0" sz="1200" u="none" cap="none" strike="noStrike">
              <a:solidFill>
                <a:schemeClr val="dk1"/>
              </a:solidFill>
              <a:latin typeface="IBM Plex Mono"/>
              <a:ea typeface="IBM Plex Mono"/>
              <a:cs typeface="IBM Plex Mono"/>
              <a:sym typeface="IBM Plex Mono"/>
            </a:endParaRPr>
          </a:p>
        </p:txBody>
      </p:sp>
      <p:sp>
        <p:nvSpPr>
          <p:cNvPr id="290" name="Google Shape;290;p16"/>
          <p:cNvSpPr/>
          <p:nvPr/>
        </p:nvSpPr>
        <p:spPr>
          <a:xfrm>
            <a:off x="813816" y="1783080"/>
            <a:ext cx="10881360" cy="3200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1" i="0" lang="en-US" sz="1600" u="none" cap="none" strike="noStrike">
                <a:solidFill>
                  <a:srgbClr val="14213D"/>
                </a:solidFill>
                <a:latin typeface="Space Grotesk"/>
                <a:ea typeface="Space Grotesk"/>
                <a:cs typeface="Space Grotesk"/>
                <a:sym typeface="Space Grotesk"/>
              </a:rPr>
              <a:t>Charge of shot n+1 from everything up to shot n; last 10 % of each run.</a:t>
            </a:r>
            <a:endParaRPr b="1" i="0" sz="1600" u="none" cap="none" strike="noStrike">
              <a:solidFill>
                <a:schemeClr val="dk1"/>
              </a:solidFill>
              <a:latin typeface="Space Grotesk"/>
              <a:ea typeface="Space Grotesk"/>
              <a:cs typeface="Space Grotesk"/>
              <a:sym typeface="Space Grotesk"/>
            </a:endParaRPr>
          </a:p>
        </p:txBody>
      </p:sp>
      <p:sp>
        <p:nvSpPr>
          <p:cNvPr id="291" name="Google Shape;291;p16"/>
          <p:cNvSpPr/>
          <p:nvPr/>
        </p:nvSpPr>
        <p:spPr>
          <a:xfrm>
            <a:off x="386150" y="4024525"/>
            <a:ext cx="5217300" cy="2169000"/>
          </a:xfrm>
          <a:prstGeom prst="rect">
            <a:avLst/>
          </a:prstGeom>
          <a:noFill/>
          <a:ln>
            <a:noFill/>
          </a:ln>
        </p:spPr>
        <p:txBody>
          <a:bodyPr anchorCtr="0" anchor="t" bIns="0" lIns="0" spcFirstLastPara="1" rIns="0" wrap="square" tIns="0">
            <a:normAutofit/>
          </a:bodyPr>
          <a:lstStyle/>
          <a:p>
            <a:pPr indent="-330200" lvl="0" marL="457200" marR="0" rtl="0" algn="l">
              <a:lnSpc>
                <a:spcPct val="140000"/>
              </a:lnSpc>
              <a:spcBef>
                <a:spcPts val="0"/>
              </a:spcBef>
              <a:spcAft>
                <a:spcPts val="0"/>
              </a:spcAft>
              <a:buClr>
                <a:srgbClr val="3B4660"/>
              </a:buClr>
              <a:buSzPts val="1600"/>
              <a:buFont typeface="IBM Plex Mono"/>
              <a:buChar char="➢"/>
            </a:pPr>
            <a:r>
              <a:rPr b="1" i="0" lang="en-US" sz="1600" u="none" cap="none" strike="noStrike">
                <a:solidFill>
                  <a:srgbClr val="3B4660"/>
                </a:solidFill>
                <a:latin typeface="IBM Plex Mono"/>
                <a:ea typeface="IBM Plex Mono"/>
                <a:cs typeface="IBM Plex Mono"/>
                <a:sym typeface="IBM Plex Mono"/>
              </a:rPr>
              <a:t>GRU significantly better</a:t>
            </a:r>
            <a:r>
              <a:rPr i="0" lang="en-US" sz="1600" u="none" cap="none" strike="noStrike">
                <a:solidFill>
                  <a:srgbClr val="3B4660"/>
                </a:solidFill>
                <a:latin typeface="IBM Plex Mono"/>
                <a:ea typeface="IBM Plex Mono"/>
                <a:cs typeface="IBM Plex Mono"/>
                <a:sym typeface="IBM Plex Mono"/>
              </a:rPr>
              <a:t> on all 5 runs (block bootstrap*)</a:t>
            </a:r>
            <a:endParaRPr sz="1600">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i="0" lang="en-US" u="none" cap="none" strike="noStrike">
                <a:solidFill>
                  <a:srgbClr val="3B4660"/>
                </a:solidFill>
                <a:latin typeface="IBM Plex Mono"/>
                <a:ea typeface="IBM Plex Mono"/>
                <a:cs typeface="IBM Plex Mono"/>
                <a:sym typeface="IBM Plex Mono"/>
              </a:rPr>
              <a:t>persistence is 25 % worse</a:t>
            </a:r>
            <a:endParaRPr i="0" u="none" cap="none" strike="noStrike">
              <a:solidFill>
                <a:schemeClr val="dk1"/>
              </a:solidFill>
              <a:latin typeface="IBM Plex Mono"/>
              <a:ea typeface="IBM Plex Mono"/>
              <a:cs typeface="IBM Plex Mono"/>
              <a:sym typeface="IBM Plex Mono"/>
            </a:endParaRPr>
          </a:p>
          <a:p>
            <a:pPr indent="-311150" lvl="0" marL="457200" marR="0" rtl="0" algn="l">
              <a:lnSpc>
                <a:spcPct val="140000"/>
              </a:lnSpc>
              <a:spcBef>
                <a:spcPts val="0"/>
              </a:spcBef>
              <a:spcAft>
                <a:spcPts val="0"/>
              </a:spcAft>
              <a:buClr>
                <a:srgbClr val="3B4660"/>
              </a:buClr>
              <a:buSzPts val="1300"/>
              <a:buFont typeface="IBM Plex Mono"/>
              <a:buChar char="➢"/>
            </a:pPr>
            <a:r>
              <a:rPr i="0" lang="en-US" sz="1600" u="none" cap="none" strike="noStrike">
                <a:solidFill>
                  <a:srgbClr val="3B4660"/>
                </a:solidFill>
                <a:latin typeface="IBM Plex Mono"/>
                <a:ea typeface="IBM Plex Mono"/>
                <a:cs typeface="IBM Plex Mono"/>
                <a:sym typeface="IBM Plex Mono"/>
              </a:rPr>
              <a:t>Run 1's gain is mostly its final level jump</a:t>
            </a:r>
            <a:r>
              <a:rPr i="0" lang="en-US" sz="1300" u="none" cap="none" strike="noStrike">
                <a:solidFill>
                  <a:srgbClr val="3B4660"/>
                </a:solidFill>
                <a:latin typeface="IBM Plex Mono"/>
                <a:ea typeface="IBM Plex Mono"/>
                <a:cs typeface="IBM Plex Mono"/>
                <a:sym typeface="IBM Plex Mono"/>
              </a:rPr>
              <a:t> </a:t>
            </a:r>
            <a:endParaRPr sz="1300">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i="0" lang="en-US" u="none" cap="none" strike="noStrike">
                <a:solidFill>
                  <a:srgbClr val="3B4660"/>
                </a:solidFill>
                <a:latin typeface="IBM Plex Mono"/>
                <a:ea typeface="IBM Plex Mono"/>
                <a:cs typeface="IBM Plex Mono"/>
                <a:sym typeface="IBM Plex Mono"/>
              </a:rPr>
              <a:t>(3.6 % on its stable shots)</a:t>
            </a:r>
            <a:endParaRPr i="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Context window 8–256 shots:∆ ≤ 1.3 pC </a:t>
            </a:r>
            <a:endParaRPr sz="1600">
              <a:solidFill>
                <a:srgbClr val="3B4660"/>
              </a:solidFill>
              <a:latin typeface="IBM Plex Mono"/>
              <a:ea typeface="IBM Plex Mono"/>
              <a:cs typeface="IBM Plex Mono"/>
              <a:sym typeface="IBM Plex Mono"/>
            </a:endParaRPr>
          </a:p>
          <a:p>
            <a:pPr indent="-317500" lvl="1" marL="914400" marR="0" rtl="0" algn="l">
              <a:lnSpc>
                <a:spcPct val="140000"/>
              </a:lnSpc>
              <a:spcBef>
                <a:spcPts val="0"/>
              </a:spcBef>
              <a:spcAft>
                <a:spcPts val="0"/>
              </a:spcAft>
              <a:buClr>
                <a:srgbClr val="3B4660"/>
              </a:buClr>
              <a:buSzPts val="1400"/>
              <a:buFont typeface="IBM Plex Mono"/>
              <a:buChar char="○"/>
            </a:pPr>
            <a:r>
              <a:rPr i="0" lang="en-US" u="none" cap="none" strike="noStrike">
                <a:solidFill>
                  <a:srgbClr val="3B4660"/>
                </a:solidFill>
                <a:latin typeface="IBM Plex Mono"/>
                <a:ea typeface="IBM Plex Mono"/>
                <a:cs typeface="IBM Plex Mono"/>
                <a:sym typeface="IBM Plex Mono"/>
              </a:rPr>
              <a:t>laser and other inputs add nothing</a:t>
            </a:r>
            <a:endParaRPr i="0" u="none" cap="none" strike="noStrike">
              <a:solidFill>
                <a:schemeClr val="dk1"/>
              </a:solidFill>
              <a:latin typeface="IBM Plex Mono"/>
              <a:ea typeface="IBM Plex Mono"/>
              <a:cs typeface="IBM Plex Mono"/>
              <a:sym typeface="IBM Plex Mono"/>
            </a:endParaRPr>
          </a:p>
        </p:txBody>
      </p:sp>
      <p:pic>
        <p:nvPicPr>
          <p:cNvPr descr="gru_2026-10-08_00-08-19_crop.png" id="292" name="Google Shape;292;p16"/>
          <p:cNvPicPr preferRelativeResize="0"/>
          <p:nvPr/>
        </p:nvPicPr>
        <p:blipFill rotWithShape="1">
          <a:blip r:embed="rId3">
            <a:alphaModFix/>
          </a:blip>
          <a:srcRect b="0" l="0" r="0" t="0"/>
          <a:stretch/>
        </p:blipFill>
        <p:spPr>
          <a:xfrm>
            <a:off x="5490425" y="4343025"/>
            <a:ext cx="6685874" cy="2204351"/>
          </a:xfrm>
          <a:prstGeom prst="rect">
            <a:avLst/>
          </a:prstGeom>
          <a:noFill/>
          <a:ln>
            <a:noFill/>
          </a:ln>
        </p:spPr>
      </p:pic>
      <p:graphicFrame>
        <p:nvGraphicFramePr>
          <p:cNvPr id="293" name="Google Shape;293;p16"/>
          <p:cNvGraphicFramePr/>
          <p:nvPr/>
        </p:nvGraphicFramePr>
        <p:xfrm>
          <a:off x="868680" y="2120145"/>
          <a:ext cx="3000000" cy="3000000"/>
        </p:xfrm>
        <a:graphic>
          <a:graphicData uri="http://schemas.openxmlformats.org/drawingml/2006/table">
            <a:tbl>
              <a:tblPr bandRow="1" firstRow="1">
                <a:noFill/>
                <a:tableStyleId>{112CE20D-767B-464B-9DCB-EA9EB6AF2ED4}</a:tableStyleId>
              </a:tblPr>
              <a:tblGrid>
                <a:gridCol w="1638200"/>
                <a:gridCol w="2067325"/>
                <a:gridCol w="881025"/>
                <a:gridCol w="735075"/>
                <a:gridCol w="752300"/>
                <a:gridCol w="778025"/>
                <a:gridCol w="1087000"/>
              </a:tblGrid>
              <a:tr h="329175">
                <a:tc>
                  <a:txBody>
                    <a:bodyPr/>
                    <a:lstStyle/>
                    <a:p>
                      <a:pPr indent="0" lvl="0" marL="0" marR="0" rtl="0" algn="l">
                        <a:spcBef>
                          <a:spcPts val="0"/>
                        </a:spcBef>
                        <a:spcAft>
                          <a:spcPts val="0"/>
                        </a:spcAft>
                        <a:buNone/>
                      </a:pPr>
                      <a:r>
                        <a:rPr b="1" lang="en-US" sz="1000" u="none" cap="none" strike="noStrike">
                          <a:solidFill>
                            <a:srgbClr val="14213D"/>
                          </a:solidFill>
                          <a:latin typeface="IBM Plex Sans"/>
                          <a:ea typeface="IBM Plex Sans"/>
                          <a:cs typeface="IBM Plex Sans"/>
                          <a:sym typeface="IBM Plex Sans"/>
                        </a:rPr>
                        <a:t>MAE vs 9-shot mean</a:t>
                      </a:r>
                      <a:endParaRPr sz="1800" u="none" cap="none" strike="noStrike"/>
                    </a:p>
                  </a:txBody>
                  <a:tcPr marT="18300" marB="18300" marR="45725" marL="45725">
                    <a:solidFill>
                      <a:srgbClr val="E6E0D2"/>
                    </a:solidFill>
                  </a:tcPr>
                </a:tc>
                <a:tc>
                  <a:txBody>
                    <a:bodyPr/>
                    <a:lstStyle/>
                    <a:p>
                      <a:pPr indent="0" lvl="0" marL="0" marR="0" rtl="0" algn="l">
                        <a:spcBef>
                          <a:spcPts val="0"/>
                        </a:spcBef>
                        <a:spcAft>
                          <a:spcPts val="0"/>
                        </a:spcAft>
                        <a:buNone/>
                      </a:pPr>
                      <a:r>
                        <a:rPr lang="en-US" sz="1000">
                          <a:solidFill>
                            <a:srgbClr val="14213D"/>
                          </a:solidFill>
                          <a:latin typeface="IBM Plex Sans"/>
                          <a:ea typeface="IBM Plex Sans"/>
                          <a:cs typeface="IBM Plex Sans"/>
                          <a:sym typeface="IBM Plex Sans"/>
                        </a:rPr>
                        <a:t>Explanation</a:t>
                      </a:r>
                      <a:endParaRPr b="1" sz="1000" u="none" cap="none" strike="noStrike">
                        <a:solidFill>
                          <a:srgbClr val="14213D"/>
                        </a:solidFill>
                        <a:latin typeface="IBM Plex Sans"/>
                        <a:ea typeface="IBM Plex Sans"/>
                        <a:cs typeface="IBM Plex Sans"/>
                        <a:sym typeface="IBM Plex Sans"/>
                      </a:endParaRPr>
                    </a:p>
                  </a:txBody>
                  <a:tcPr marT="18300" marB="18300" marR="45725" marL="45725">
                    <a:solidFill>
                      <a:srgbClr val="E6E0D2"/>
                    </a:solidFill>
                  </a:tcPr>
                </a:tc>
                <a:tc>
                  <a:txBody>
                    <a:bodyPr/>
                    <a:lstStyle/>
                    <a:p>
                      <a:pPr indent="0" lvl="0" marL="0" marR="0" rtl="0" algn="l">
                        <a:spcBef>
                          <a:spcPts val="0"/>
                        </a:spcBef>
                        <a:spcAft>
                          <a:spcPts val="0"/>
                        </a:spcAft>
                        <a:buNone/>
                      </a:pPr>
                      <a:r>
                        <a:rPr b="1" lang="en-US" sz="1000" u="none" cap="none" strike="noStrike">
                          <a:solidFill>
                            <a:srgbClr val="14213D"/>
                          </a:solidFill>
                          <a:latin typeface="IBM Plex Sans"/>
                          <a:ea typeface="IBM Plex Sans"/>
                          <a:cs typeface="IBM Plex Sans"/>
                          <a:sym typeface="IBM Plex Sans"/>
                        </a:rPr>
                        <a:t>run 1 (10 nC)</a:t>
                      </a:r>
                      <a:endParaRPr sz="1800" u="none" cap="none" strike="noStrike"/>
                    </a:p>
                  </a:txBody>
                  <a:tcPr marT="18300" marB="18300" marR="45725" marL="45725">
                    <a:solidFill>
                      <a:srgbClr val="E6E0D2"/>
                    </a:solidFill>
                  </a:tcPr>
                </a:tc>
                <a:tc>
                  <a:txBody>
                    <a:bodyPr/>
                    <a:lstStyle/>
                    <a:p>
                      <a:pPr indent="0" lvl="0" marL="0" marR="0" rtl="0" algn="l">
                        <a:spcBef>
                          <a:spcPts val="0"/>
                        </a:spcBef>
                        <a:spcAft>
                          <a:spcPts val="0"/>
                        </a:spcAft>
                        <a:buNone/>
                      </a:pPr>
                      <a:r>
                        <a:rPr b="1" lang="en-US" sz="1000" u="none" cap="none" strike="noStrike">
                          <a:solidFill>
                            <a:srgbClr val="14213D"/>
                          </a:solidFill>
                          <a:latin typeface="IBM Plex Sans"/>
                          <a:ea typeface="IBM Plex Sans"/>
                          <a:cs typeface="IBM Plex Sans"/>
                          <a:sym typeface="IBM Plex Sans"/>
                        </a:rPr>
                        <a:t>run 2 (5.5)</a:t>
                      </a:r>
                      <a:endParaRPr sz="1800" u="none" cap="none" strike="noStrike"/>
                    </a:p>
                  </a:txBody>
                  <a:tcPr marT="18300" marB="18300" marR="45725" marL="45725">
                    <a:solidFill>
                      <a:srgbClr val="E6E0D2"/>
                    </a:solidFill>
                  </a:tcPr>
                </a:tc>
                <a:tc>
                  <a:txBody>
                    <a:bodyPr/>
                    <a:lstStyle/>
                    <a:p>
                      <a:pPr indent="0" lvl="0" marL="0" marR="0" rtl="0" algn="l">
                        <a:spcBef>
                          <a:spcPts val="0"/>
                        </a:spcBef>
                        <a:spcAft>
                          <a:spcPts val="0"/>
                        </a:spcAft>
                        <a:buNone/>
                      </a:pPr>
                      <a:r>
                        <a:rPr b="1" lang="en-US" sz="1000" u="none" cap="none" strike="noStrike">
                          <a:solidFill>
                            <a:srgbClr val="14213D"/>
                          </a:solidFill>
                          <a:latin typeface="IBM Plex Sans"/>
                          <a:ea typeface="IBM Plex Sans"/>
                          <a:cs typeface="IBM Plex Sans"/>
                          <a:sym typeface="IBM Plex Sans"/>
                        </a:rPr>
                        <a:t>run 3 (4.8)</a:t>
                      </a:r>
                      <a:endParaRPr sz="1800" u="none" cap="none" strike="noStrike"/>
                    </a:p>
                  </a:txBody>
                  <a:tcPr marT="18300" marB="18300" marR="45725" marL="45725">
                    <a:solidFill>
                      <a:srgbClr val="E6E0D2"/>
                    </a:solidFill>
                  </a:tcPr>
                </a:tc>
                <a:tc>
                  <a:txBody>
                    <a:bodyPr/>
                    <a:lstStyle/>
                    <a:p>
                      <a:pPr indent="0" lvl="0" marL="0" marR="0" rtl="0" algn="l">
                        <a:spcBef>
                          <a:spcPts val="0"/>
                        </a:spcBef>
                        <a:spcAft>
                          <a:spcPts val="0"/>
                        </a:spcAft>
                        <a:buNone/>
                      </a:pPr>
                      <a:r>
                        <a:rPr b="1" lang="en-US" sz="1000" u="none" cap="none" strike="noStrike">
                          <a:solidFill>
                            <a:srgbClr val="14213D"/>
                          </a:solidFill>
                          <a:latin typeface="IBM Plex Sans"/>
                          <a:ea typeface="IBM Plex Sans"/>
                          <a:cs typeface="IBM Plex Sans"/>
                          <a:sym typeface="IBM Plex Sans"/>
                        </a:rPr>
                        <a:t>run 4 (0.2)</a:t>
                      </a:r>
                      <a:endParaRPr sz="1800" u="none" cap="none" strike="noStrike"/>
                    </a:p>
                  </a:txBody>
                  <a:tcPr marT="18300" marB="18300" marR="45725" marL="45725">
                    <a:solidFill>
                      <a:srgbClr val="E6E0D2"/>
                    </a:solidFill>
                  </a:tcPr>
                </a:tc>
                <a:tc>
                  <a:txBody>
                    <a:bodyPr/>
                    <a:lstStyle/>
                    <a:p>
                      <a:pPr indent="0" lvl="0" marL="0" marR="0" rtl="0" algn="l">
                        <a:spcBef>
                          <a:spcPts val="0"/>
                        </a:spcBef>
                        <a:spcAft>
                          <a:spcPts val="0"/>
                        </a:spcAft>
                        <a:buNone/>
                      </a:pPr>
                      <a:r>
                        <a:rPr b="1" lang="en-US" sz="1000" u="none" cap="none" strike="noStrike">
                          <a:solidFill>
                            <a:srgbClr val="14213D"/>
                          </a:solidFill>
                          <a:latin typeface="IBM Plex Sans"/>
                          <a:ea typeface="IBM Plex Sans"/>
                          <a:cs typeface="IBM Plex Sans"/>
                          <a:sym typeface="IBM Plex Sans"/>
                        </a:rPr>
                        <a:t>run 5 (0.1)</a:t>
                      </a:r>
                      <a:endParaRPr sz="1800" u="none" cap="none" strike="noStrike"/>
                    </a:p>
                  </a:txBody>
                  <a:tcPr marT="18300" marB="18300" marR="45725" marL="45725">
                    <a:solidFill>
                      <a:srgbClr val="E6E0D2"/>
                    </a:solidFill>
                  </a:tcPr>
                </a:tc>
              </a:tr>
              <a:tr h="329175">
                <a:tc>
                  <a:txBody>
                    <a:bodyPr/>
                    <a:lstStyle/>
                    <a:p>
                      <a:pPr indent="0" lvl="0" marL="0" marR="0" rtl="0" algn="l">
                        <a:spcBef>
                          <a:spcPts val="0"/>
                        </a:spcBef>
                        <a:spcAft>
                          <a:spcPts val="0"/>
                        </a:spcAft>
                        <a:buNone/>
                      </a:pPr>
                      <a:r>
                        <a:rPr b="1" lang="en-US" sz="1000" u="none" cap="none" strike="noStrike">
                          <a:solidFill>
                            <a:srgbClr val="14213D"/>
                          </a:solidFill>
                          <a:latin typeface="IBM Plex Sans"/>
                          <a:ea typeface="IBM Plex Sans"/>
                          <a:cs typeface="IBM Plex Sans"/>
                          <a:sym typeface="IBM Plex Sans"/>
                        </a:rPr>
                        <a:t>9-shot mean (nC)</a:t>
                      </a:r>
                      <a:endParaRPr sz="1800" u="none" cap="none" strike="noStrike"/>
                    </a:p>
                  </a:txBody>
                  <a:tcPr marT="18300" marB="18300" marR="45725" marL="45725">
                    <a:solidFill>
                      <a:srgbClr val="FFFDF8"/>
                    </a:solidFill>
                  </a:tcPr>
                </a:tc>
                <a:tc>
                  <a:txBody>
                    <a:bodyPr/>
                    <a:lstStyle/>
                    <a:p>
                      <a:pPr indent="0" lvl="0" marL="0" rtl="0" algn="l">
                        <a:spcBef>
                          <a:spcPts val="0"/>
                        </a:spcBef>
                        <a:spcAft>
                          <a:spcPts val="0"/>
                        </a:spcAft>
                        <a:buNone/>
                      </a:pPr>
                      <a:r>
                        <a:rPr lang="en-US" sz="1000">
                          <a:latin typeface="IBM Plex Sans"/>
                          <a:ea typeface="IBM Plex Sans"/>
                          <a:cs typeface="IBM Plex Sans"/>
                          <a:sym typeface="IBM Plex Sans"/>
                        </a:rPr>
                        <a:t>Used by operators – the target to beat</a:t>
                      </a:r>
                      <a:endParaRPr b="1" sz="1000">
                        <a:solidFill>
                          <a:srgbClr val="14213D"/>
                        </a:solidFill>
                        <a:latin typeface="IBM Plex Sans"/>
                        <a:ea typeface="IBM Plex Sans"/>
                        <a:cs typeface="IBM Plex Sans"/>
                        <a:sym typeface="IBM Plex Sans"/>
                      </a:endParaRPr>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0.343</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0.144</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0.141</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0.0195</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0.0122</a:t>
                      </a:r>
                      <a:endParaRPr sz="1800" u="none" cap="none" strike="noStrike"/>
                    </a:p>
                  </a:txBody>
                  <a:tcPr marT="18300" marB="18300" marR="45725" marL="45725">
                    <a:solidFill>
                      <a:srgbClr val="FFFDF8"/>
                    </a:solidFill>
                  </a:tcPr>
                </a:tc>
              </a:tr>
              <a:tr h="329175">
                <a:tc>
                  <a:txBody>
                    <a:bodyPr/>
                    <a:lstStyle/>
                    <a:p>
                      <a:pPr indent="0" lvl="0" marL="0" marR="0" rtl="0" algn="l">
                        <a:spcBef>
                          <a:spcPts val="0"/>
                        </a:spcBef>
                        <a:spcAft>
                          <a:spcPts val="0"/>
                        </a:spcAft>
                        <a:buNone/>
                      </a:pPr>
                      <a:r>
                        <a:rPr b="1" lang="en-US" sz="1000" u="none" cap="none" strike="noStrike">
                          <a:solidFill>
                            <a:srgbClr val="14213D"/>
                          </a:solidFill>
                          <a:latin typeface="IBM Plex Sans"/>
                          <a:ea typeface="IBM Plex Sans"/>
                          <a:cs typeface="IBM Plex Sans"/>
                          <a:sym typeface="IBM Plex Sans"/>
                        </a:rPr>
                        <a:t>hybrid level</a:t>
                      </a:r>
                      <a:endParaRPr sz="1800" u="none" cap="none" strike="noStrike"/>
                    </a:p>
                  </a:txBody>
                  <a:tcPr marT="18300" marB="18300" marR="45725" marL="45725">
                    <a:solidFill>
                      <a:srgbClr val="FFFDF8"/>
                    </a:solidFill>
                  </a:tcPr>
                </a:tc>
                <a:tc>
                  <a:txBody>
                    <a:bodyPr/>
                    <a:lstStyle/>
                    <a:p>
                      <a:pPr indent="0" lvl="0" marL="0" rtl="0" algn="l">
                        <a:spcBef>
                          <a:spcPts val="0"/>
                        </a:spcBef>
                        <a:spcAft>
                          <a:spcPts val="0"/>
                        </a:spcAft>
                        <a:buNone/>
                      </a:pPr>
                      <a:r>
                        <a:rPr lang="en-US" sz="1000">
                          <a:latin typeface="IBM Plex Sans"/>
                          <a:ea typeface="IBM Plex Sans"/>
                          <a:cs typeface="IBM Plex Sans"/>
                          <a:sym typeface="IBM Plex Sans"/>
                        </a:rPr>
                        <a:t>Same as above, but with a reset after a level change (deviation by 6x jitter, dropout, etc.)</a:t>
                      </a:r>
                      <a:endParaRPr b="1" sz="1000">
                        <a:solidFill>
                          <a:srgbClr val="14213D"/>
                        </a:solidFill>
                        <a:latin typeface="IBM Plex Sans"/>
                        <a:ea typeface="IBM Plex Sans"/>
                        <a:cs typeface="IBM Plex Sans"/>
                        <a:sym typeface="IBM Plex Sans"/>
                      </a:endParaRPr>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−8.0 %</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−1.9 %</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−1.6 %</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−1.7 %</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−2.5 %</a:t>
                      </a:r>
                      <a:endParaRPr sz="1800" u="none" cap="none" strike="noStrike"/>
                    </a:p>
                  </a:txBody>
                  <a:tcPr marT="18300" marB="18300" marR="45725" marL="45725">
                    <a:solidFill>
                      <a:srgbClr val="FFFDF8"/>
                    </a:solidFill>
                  </a:tcPr>
                </a:tc>
              </a:tr>
              <a:tr h="329175">
                <a:tc>
                  <a:txBody>
                    <a:bodyPr/>
                    <a:lstStyle/>
                    <a:p>
                      <a:pPr indent="0" lvl="0" marL="0" marR="0" rtl="0" algn="l">
                        <a:spcBef>
                          <a:spcPts val="0"/>
                        </a:spcBef>
                        <a:spcAft>
                          <a:spcPts val="0"/>
                        </a:spcAft>
                        <a:buNone/>
                      </a:pPr>
                      <a:r>
                        <a:rPr b="1" lang="en-US" sz="1000" u="none" cap="none" strike="noStrike">
                          <a:solidFill>
                            <a:srgbClr val="14213D"/>
                          </a:solidFill>
                          <a:latin typeface="IBM Plex Sans"/>
                          <a:ea typeface="IBM Plex Sans"/>
                          <a:cs typeface="IBM Plex Sans"/>
                          <a:sym typeface="IBM Plex Sans"/>
                        </a:rPr>
                        <a:t>GRU, pooled runs</a:t>
                      </a:r>
                      <a:endParaRPr sz="1800" u="none" cap="none" strike="noStrike"/>
                    </a:p>
                  </a:txBody>
                  <a:tcPr marT="18300" marB="18300" marR="45725" marL="45725">
                    <a:solidFill>
                      <a:srgbClr val="FFFDF8"/>
                    </a:solidFill>
                  </a:tcPr>
                </a:tc>
                <a:tc>
                  <a:txBody>
                    <a:bodyPr/>
                    <a:lstStyle/>
                    <a:p>
                      <a:pPr indent="0" lvl="0" marL="0" rtl="0" algn="l">
                        <a:spcBef>
                          <a:spcPts val="0"/>
                        </a:spcBef>
                        <a:spcAft>
                          <a:spcPts val="0"/>
                        </a:spcAft>
                        <a:buNone/>
                      </a:pPr>
                      <a:r>
                        <a:rPr lang="en-US" sz="1000">
                          <a:latin typeface="IBM Plex Sans"/>
                          <a:ea typeface="IBM Plex Sans"/>
                          <a:cs typeface="IBM Plex Sans"/>
                          <a:sym typeface="IBM Plex Sans"/>
                        </a:rPr>
                        <a:t>GRU trained on first 90% of all 5 runs, tested on last 10%</a:t>
                      </a:r>
                      <a:endParaRPr b="1" sz="1000">
                        <a:solidFill>
                          <a:srgbClr val="14213D"/>
                        </a:solidFill>
                        <a:latin typeface="IBM Plex Sans"/>
                        <a:ea typeface="IBM Plex Sans"/>
                        <a:cs typeface="IBM Plex Sans"/>
                        <a:sym typeface="IBM Plex Sans"/>
                      </a:endParaRPr>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−9.2 %</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−3.0 %</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−3.9 %</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−4.6 %</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−3.3 %</a:t>
                      </a:r>
                      <a:endParaRPr sz="1800" u="none" cap="none" strike="noStrike"/>
                    </a:p>
                  </a:txBody>
                  <a:tcPr marT="18300" marB="18300" marR="45725" marL="45725">
                    <a:solidFill>
                      <a:srgbClr val="FFFDF8"/>
                    </a:solidFill>
                  </a:tcPr>
                </a:tc>
              </a:tr>
              <a:tr h="329175">
                <a:tc>
                  <a:txBody>
                    <a:bodyPr/>
                    <a:lstStyle/>
                    <a:p>
                      <a:pPr indent="0" lvl="0" marL="0" marR="0" rtl="0" algn="l">
                        <a:spcBef>
                          <a:spcPts val="0"/>
                        </a:spcBef>
                        <a:spcAft>
                          <a:spcPts val="0"/>
                        </a:spcAft>
                        <a:buNone/>
                      </a:pPr>
                      <a:r>
                        <a:rPr b="1" lang="en-US" sz="1000" u="none" cap="none" strike="noStrike">
                          <a:solidFill>
                            <a:srgbClr val="14213D"/>
                          </a:solidFill>
                          <a:latin typeface="IBM Plex Sans"/>
                          <a:ea typeface="IBM Plex Sans"/>
                          <a:cs typeface="IBM Plex Sans"/>
                          <a:sym typeface="IBM Plex Sans"/>
                        </a:rPr>
                        <a:t>GRU, other runs only</a:t>
                      </a:r>
                      <a:endParaRPr sz="1800" u="none" cap="none" strike="noStrike"/>
                    </a:p>
                  </a:txBody>
                  <a:tcPr marT="18300" marB="18300" marR="45725" marL="45725">
                    <a:solidFill>
                      <a:srgbClr val="FFFDF8"/>
                    </a:solidFill>
                  </a:tcPr>
                </a:tc>
                <a:tc>
                  <a:txBody>
                    <a:bodyPr/>
                    <a:lstStyle/>
                    <a:p>
                      <a:pPr indent="0" lvl="0" marL="0" rtl="0" algn="l">
                        <a:spcBef>
                          <a:spcPts val="0"/>
                        </a:spcBef>
                        <a:spcAft>
                          <a:spcPts val="0"/>
                        </a:spcAft>
                        <a:buNone/>
                      </a:pPr>
                      <a:r>
                        <a:rPr lang="en-US" sz="1000">
                          <a:latin typeface="IBM Plex Sans"/>
                          <a:ea typeface="IBM Plex Sans"/>
                          <a:cs typeface="IBM Plex Sans"/>
                          <a:sym typeface="IBM Plex Sans"/>
                        </a:rPr>
                        <a:t>GRU trained on four runs and tested on the remaining one</a:t>
                      </a:r>
                      <a:endParaRPr b="1" sz="1000">
                        <a:solidFill>
                          <a:srgbClr val="14213D"/>
                        </a:solidFill>
                        <a:latin typeface="IBM Plex Sans"/>
                        <a:ea typeface="IBM Plex Sans"/>
                        <a:cs typeface="IBM Plex Sans"/>
                        <a:sym typeface="IBM Plex Sans"/>
                      </a:endParaRPr>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−8.8 %</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−2.3 %</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−3.1 %</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−4.8 %</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000" u="none" cap="none" strike="noStrike">
                          <a:solidFill>
                            <a:srgbClr val="14213D"/>
                          </a:solidFill>
                          <a:latin typeface="IBM Plex Sans"/>
                          <a:ea typeface="IBM Plex Sans"/>
                          <a:cs typeface="IBM Plex Sans"/>
                          <a:sym typeface="IBM Plex Sans"/>
                        </a:rPr>
                        <a:t>−3.6 %</a:t>
                      </a:r>
                      <a:endParaRPr sz="1800" u="none" cap="none" strike="noStrike"/>
                    </a:p>
                  </a:txBody>
                  <a:tcPr marT="18300" marB="18300" marR="45725" marL="45725">
                    <a:solidFill>
                      <a:srgbClr val="FFFDF8"/>
                    </a:solidFill>
                  </a:tcPr>
                </a:tc>
              </a:tr>
            </a:tbl>
          </a:graphicData>
        </a:graphic>
      </p:graphicFrame>
      <p:graphicFrame>
        <p:nvGraphicFramePr>
          <p:cNvPr id="294" name="Google Shape;294;p16"/>
          <p:cNvGraphicFramePr/>
          <p:nvPr/>
        </p:nvGraphicFramePr>
        <p:xfrm>
          <a:off x="9886780" y="2240280"/>
          <a:ext cx="3000000" cy="3000000"/>
        </p:xfrm>
        <a:graphic>
          <a:graphicData uri="http://schemas.openxmlformats.org/drawingml/2006/table">
            <a:tbl>
              <a:tblPr bandRow="1" firstRow="1">
                <a:noFill/>
                <a:tableStyleId>{112CE20D-767B-464B-9DCB-EA9EB6AF2ED4}</a:tableStyleId>
              </a:tblPr>
              <a:tblGrid>
                <a:gridCol w="2025400"/>
              </a:tblGrid>
              <a:tr h="329175">
                <a:tc>
                  <a:txBody>
                    <a:bodyPr/>
                    <a:lstStyle/>
                    <a:p>
                      <a:pPr indent="0" lvl="0" marL="0" marR="0" rtl="0" algn="l">
                        <a:spcBef>
                          <a:spcPts val="0"/>
                        </a:spcBef>
                        <a:spcAft>
                          <a:spcPts val="0"/>
                        </a:spcAft>
                        <a:buNone/>
                      </a:pPr>
                      <a:r>
                        <a:rPr lang="en-US" sz="1000">
                          <a:solidFill>
                            <a:srgbClr val="14213D"/>
                          </a:solidFill>
                          <a:latin typeface="IBM Plex Sans"/>
                          <a:ea typeface="IBM Plex Sans"/>
                          <a:cs typeface="IBM Plex Sans"/>
                          <a:sym typeface="IBM Plex Sans"/>
                        </a:rPr>
                        <a:t>Block bootstrap*</a:t>
                      </a:r>
                      <a:endParaRPr sz="1800" u="none" cap="none" strike="noStrike"/>
                    </a:p>
                  </a:txBody>
                  <a:tcPr marT="18300" marB="18300" marR="45725" marL="45725">
                    <a:solidFill>
                      <a:srgbClr val="E6E0D2"/>
                    </a:solidFill>
                  </a:tcPr>
                </a:tc>
              </a:tr>
              <a:tr h="329175">
                <a:tc>
                  <a:txBody>
                    <a:bodyPr/>
                    <a:lstStyle/>
                    <a:p>
                      <a:pPr indent="0" lvl="0" marL="0" marR="0" rtl="0" algn="l">
                        <a:spcBef>
                          <a:spcPts val="0"/>
                        </a:spcBef>
                        <a:spcAft>
                          <a:spcPts val="0"/>
                        </a:spcAft>
                        <a:buNone/>
                      </a:pPr>
                      <a:r>
                        <a:rPr lang="en-US" sz="1000">
                          <a:solidFill>
                            <a:srgbClr val="14213D"/>
                          </a:solidFill>
                          <a:latin typeface="IBM Plex Sans"/>
                          <a:ea typeface="IBM Plex Sans"/>
                          <a:cs typeface="IBM Plex Sans"/>
                          <a:sym typeface="IBM Plex Sans"/>
                        </a:rPr>
                        <a:t>Fake additional data by drawing from error of GRU and 9-shot mean</a:t>
                      </a:r>
                      <a:endParaRPr sz="1800" u="none" cap="none" strike="noStrike"/>
                    </a:p>
                  </a:txBody>
                  <a:tcPr marT="18300" marB="18300" marR="45725" marL="45725">
                    <a:solidFill>
                      <a:srgbClr val="FFFDF8"/>
                    </a:solidFill>
                  </a:tcPr>
                </a:tc>
              </a:tr>
              <a:tr h="329175">
                <a:tc>
                  <a:txBody>
                    <a:bodyPr/>
                    <a:lstStyle/>
                    <a:p>
                      <a:pPr indent="0" lvl="0" marL="0" marR="0" rtl="0" algn="l">
                        <a:spcBef>
                          <a:spcPts val="0"/>
                        </a:spcBef>
                        <a:spcAft>
                          <a:spcPts val="0"/>
                        </a:spcAft>
                        <a:buNone/>
                      </a:pPr>
                      <a:r>
                        <a:rPr lang="en-US" sz="1000">
                          <a:solidFill>
                            <a:srgbClr val="14213D"/>
                          </a:solidFill>
                          <a:latin typeface="IBM Plex Sans"/>
                          <a:ea typeface="IBM Plex Sans"/>
                          <a:cs typeface="IBM Plex Sans"/>
                          <a:sym typeface="IBM Plex Sans"/>
                        </a:rPr>
                        <a:t>Since consecutive errors are related, we randomize them in blocks of 50 shots</a:t>
                      </a:r>
                      <a:endParaRPr sz="1800" u="none" cap="none" strike="noStrike"/>
                    </a:p>
                  </a:txBody>
                  <a:tcPr marT="18300" marB="18300" marR="45725" marL="45725">
                    <a:solidFill>
                      <a:srgbClr val="FFFDF8"/>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h6524a41718b72fa9_1_47"/>
          <p:cNvSpPr/>
          <p:nvPr/>
        </p:nvSpPr>
        <p:spPr>
          <a:xfrm>
            <a:off x="812800" y="558800"/>
            <a:ext cx="609600" cy="507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01" name="Google Shape;301;h6524a41718b72fa9_1_47"/>
          <p:cNvSpPr/>
          <p:nvPr/>
        </p:nvSpPr>
        <p:spPr>
          <a:xfrm>
            <a:off x="813816" y="813816"/>
            <a:ext cx="2834700" cy="283500"/>
          </a:xfrm>
          <a:prstGeom prst="roundRect">
            <a:avLst>
              <a:gd fmla="val 17778" name="adj"/>
            </a:avLst>
          </a:prstGeom>
          <a:solidFill>
            <a:srgbClr val="BE18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02" name="Google Shape;302;h6524a41718b72fa9_1_47"/>
          <p:cNvSpPr/>
          <p:nvPr/>
        </p:nvSpPr>
        <p:spPr>
          <a:xfrm>
            <a:off x="914400" y="850392"/>
            <a:ext cx="27432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3 · HARD · RESULTS</a:t>
            </a:r>
            <a:endParaRPr b="0" i="0" sz="1200" u="none" cap="none" strike="noStrike">
              <a:solidFill>
                <a:schemeClr val="dk1"/>
              </a:solidFill>
              <a:latin typeface="IBM Plex Mono"/>
              <a:ea typeface="IBM Plex Mono"/>
              <a:cs typeface="IBM Plex Mono"/>
              <a:sym typeface="IBM Plex Mono"/>
            </a:endParaRPr>
          </a:p>
        </p:txBody>
      </p:sp>
      <p:sp>
        <p:nvSpPr>
          <p:cNvPr id="303" name="Google Shape;303;h6524a41718b72fa9_1_47"/>
          <p:cNvSpPr txBox="1"/>
          <p:nvPr>
            <p:ph type="title"/>
          </p:nvPr>
        </p:nvSpPr>
        <p:spPr>
          <a:xfrm>
            <a:off x="812800" y="1200150"/>
            <a:ext cx="10883400" cy="5271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i="0" lang="en-US" sz="3600">
                <a:solidFill>
                  <a:srgbClr val="14213D"/>
                </a:solidFill>
                <a:latin typeface="Space Grotesk"/>
                <a:ea typeface="Space Grotesk"/>
                <a:cs typeface="Space Grotesk"/>
                <a:sym typeface="Space Grotesk"/>
              </a:rPr>
              <a:t>Next shot: </a:t>
            </a:r>
            <a:r>
              <a:rPr b="1" lang="en-US"/>
              <a:t>the models from Tier 2</a:t>
            </a:r>
            <a:endParaRPr sz="3600"/>
          </a:p>
        </p:txBody>
      </p:sp>
      <p:sp>
        <p:nvSpPr>
          <p:cNvPr id="304" name="Google Shape;304;h6524a41718b72fa9_1_47"/>
          <p:cNvSpPr/>
          <p:nvPr/>
        </p:nvSpPr>
        <p:spPr>
          <a:xfrm>
            <a:off x="813816" y="1783080"/>
            <a:ext cx="10881300" cy="320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4213D"/>
              </a:buClr>
              <a:buSzPts val="1600"/>
              <a:buFont typeface="IBM Plex Sans"/>
              <a:buNone/>
            </a:pPr>
            <a:r>
              <a:rPr b="1" lang="en-US" sz="1600">
                <a:solidFill>
                  <a:srgbClr val="14213D"/>
                </a:solidFill>
                <a:latin typeface="Space Grotesk"/>
                <a:ea typeface="Space Grotesk"/>
                <a:cs typeface="Space Grotesk"/>
                <a:sym typeface="Space Grotesk"/>
              </a:rPr>
              <a:t>The last 5 BCMs + the current features and the L=50 temporal CNN</a:t>
            </a:r>
            <a:endParaRPr b="1" i="0" sz="1600" u="none" cap="none" strike="noStrike">
              <a:solidFill>
                <a:schemeClr val="dk1"/>
              </a:solidFill>
              <a:latin typeface="Space Grotesk"/>
              <a:ea typeface="Space Grotesk"/>
              <a:cs typeface="Space Grotesk"/>
              <a:sym typeface="Space Grotesk"/>
            </a:endParaRPr>
          </a:p>
        </p:txBody>
      </p:sp>
      <p:sp>
        <p:nvSpPr>
          <p:cNvPr id="305" name="Google Shape;305;h6524a41718b72fa9_1_47"/>
          <p:cNvSpPr/>
          <p:nvPr/>
        </p:nvSpPr>
        <p:spPr>
          <a:xfrm>
            <a:off x="813825" y="5392125"/>
            <a:ext cx="10641900" cy="1970100"/>
          </a:xfrm>
          <a:prstGeom prst="rect">
            <a:avLst/>
          </a:prstGeom>
          <a:noFill/>
          <a:ln>
            <a:noFill/>
          </a:ln>
        </p:spPr>
        <p:txBody>
          <a:bodyPr anchorCtr="0" anchor="t" bIns="0" lIns="0" spcFirstLastPara="1" rIns="0" wrap="square" tIns="0">
            <a:noAutofit/>
          </a:bodyPr>
          <a:lstStyle/>
          <a:p>
            <a:pPr indent="-317500" lvl="0" marL="457200" marR="0" rtl="0" algn="l">
              <a:lnSpc>
                <a:spcPct val="140000"/>
              </a:lnSpc>
              <a:spcBef>
                <a:spcPts val="0"/>
              </a:spcBef>
              <a:spcAft>
                <a:spcPts val="0"/>
              </a:spcAft>
              <a:buClr>
                <a:srgbClr val="3B4660"/>
              </a:buClr>
              <a:buSzPts val="1400"/>
              <a:buFont typeface="IBM Plex Mono"/>
              <a:buChar char="➢"/>
            </a:pPr>
            <a:r>
              <a:rPr b="1" lang="en-US">
                <a:solidFill>
                  <a:srgbClr val="3B4660"/>
                </a:solidFill>
                <a:latin typeface="IBM Plex Mono"/>
                <a:ea typeface="IBM Plex Mono"/>
                <a:cs typeface="IBM Plex Mono"/>
                <a:sym typeface="IBM Plex Mono"/>
              </a:rPr>
              <a:t>Mean of last 50 performs approximately the same as any model</a:t>
            </a:r>
            <a:r>
              <a:rPr lang="en-US">
                <a:solidFill>
                  <a:srgbClr val="3B4660"/>
                </a:solidFill>
                <a:latin typeface="IBM Plex Mono"/>
                <a:ea typeface="IBM Plex Mono"/>
                <a:cs typeface="IBM Plex Mono"/>
                <a:sym typeface="IBM Plex Mono"/>
              </a:rPr>
              <a:t>, meaning that the there is little extra information available</a:t>
            </a:r>
            <a:endParaRPr>
              <a:solidFill>
                <a:srgbClr val="3B4660"/>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Mono"/>
              <a:buChar char="➢"/>
            </a:pPr>
            <a:r>
              <a:rPr b="1" lang="en-US">
                <a:solidFill>
                  <a:srgbClr val="3B4660"/>
                </a:solidFill>
                <a:latin typeface="IBM Plex Mono"/>
                <a:ea typeface="IBM Plex Mono"/>
                <a:cs typeface="IBM Plex Mono"/>
                <a:sym typeface="IBM Plex Mono"/>
              </a:rPr>
              <a:t>Temporal CNN basically performs as well as the rolling average</a:t>
            </a:r>
            <a:endParaRPr>
              <a:solidFill>
                <a:srgbClr val="3B4660"/>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Mono"/>
              <a:buChar char="➢"/>
            </a:pPr>
            <a:r>
              <a:rPr lang="en-US">
                <a:solidFill>
                  <a:srgbClr val="3B4660"/>
                </a:solidFill>
                <a:latin typeface="IBM Plex Mono"/>
                <a:ea typeface="IBM Plex Mono"/>
                <a:cs typeface="IBM Plex Mono"/>
                <a:sym typeface="IBM Plex Mono"/>
              </a:rPr>
              <a:t>Note: no hyperparameter search was performed - these are vanilla models with default hyperparameter values</a:t>
            </a:r>
            <a:endParaRPr>
              <a:solidFill>
                <a:srgbClr val="3B4660"/>
              </a:solidFill>
              <a:latin typeface="IBM Plex Mono"/>
              <a:ea typeface="IBM Plex Mono"/>
              <a:cs typeface="IBM Plex Mono"/>
              <a:sym typeface="IBM Plex Mono"/>
            </a:endParaRPr>
          </a:p>
        </p:txBody>
      </p:sp>
      <p:graphicFrame>
        <p:nvGraphicFramePr>
          <p:cNvPr id="306" name="Google Shape;306;h6524a41718b72fa9_1_47"/>
          <p:cNvGraphicFramePr/>
          <p:nvPr/>
        </p:nvGraphicFramePr>
        <p:xfrm>
          <a:off x="812800" y="2159000"/>
          <a:ext cx="3000000" cy="3000000"/>
        </p:xfrm>
        <a:graphic>
          <a:graphicData uri="http://schemas.openxmlformats.org/drawingml/2006/table">
            <a:tbl>
              <a:tblPr>
                <a:noFill/>
                <a:tableStyleId>{8D058665-8FE9-45B2-BE9A-A264AC7DD316}</a:tableStyleId>
              </a:tblPr>
              <a:tblGrid>
                <a:gridCol w="504825"/>
                <a:gridCol w="1457325"/>
                <a:gridCol w="790575"/>
                <a:gridCol w="790575"/>
                <a:gridCol w="962025"/>
                <a:gridCol w="962025"/>
                <a:gridCol w="971550"/>
                <a:gridCol w="990600"/>
                <a:gridCol w="1009650"/>
                <a:gridCol w="981075"/>
                <a:gridCol w="1009650"/>
              </a:tblGrid>
              <a:tr h="381000">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seg</a:t>
                      </a:r>
                      <a:endParaRPr b="1" sz="1100">
                        <a:solidFill>
                          <a:srgbClr val="14213D"/>
                        </a:solidFill>
                        <a:latin typeface="IBM Plex Sans"/>
                        <a:ea typeface="IBM Plex Sans"/>
                        <a:cs typeface="IBM Plex Sans"/>
                        <a:sym typeface="IBM Plex Sans"/>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regime</a:t>
                      </a:r>
                      <a:endParaRPr b="1" sz="1100">
                        <a:solidFill>
                          <a:srgbClr val="14213D"/>
                        </a:solidFill>
                        <a:latin typeface="IBM Plex Sans"/>
                        <a:ea typeface="IBM Plex Sans"/>
                        <a:cs typeface="IBM Plex Sans"/>
                        <a:sym typeface="IBM Plex Sans"/>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BCM mean pC</a:t>
                      </a:r>
                      <a:endParaRPr b="1" sz="1100">
                        <a:solidFill>
                          <a:srgbClr val="14213D"/>
                        </a:solidFill>
                        <a:latin typeface="IBM Plex Sans"/>
                        <a:ea typeface="IBM Plex Sans"/>
                        <a:cs typeface="IBM Plex Sans"/>
                        <a:sym typeface="IBM Plex Sans"/>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BCM std pC</a:t>
                      </a:r>
                      <a:endParaRPr b="1" sz="1100">
                        <a:solidFill>
                          <a:srgbClr val="14213D"/>
                        </a:solidFill>
                        <a:latin typeface="IBM Plex Sans"/>
                        <a:ea typeface="IBM Plex Sans"/>
                        <a:cs typeface="IBM Plex Sans"/>
                        <a:sym typeface="IBM Plex Sans"/>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mean of last 9</a:t>
                      </a:r>
                      <a:endParaRPr b="1" sz="1100">
                        <a:solidFill>
                          <a:srgbClr val="14213D"/>
                        </a:solidFill>
                        <a:latin typeface="IBM Plex Sans"/>
                        <a:ea typeface="IBM Plex Sans"/>
                        <a:cs typeface="IBM Plex Sans"/>
                        <a:sym typeface="IBM Plex Sans"/>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mean of last 50</a:t>
                      </a:r>
                      <a:endParaRPr b="1" sz="1100">
                        <a:solidFill>
                          <a:srgbClr val="14213D"/>
                        </a:solidFill>
                        <a:latin typeface="IBM Plex Sans"/>
                        <a:ea typeface="IBM Plex Sans"/>
                        <a:cs typeface="IBM Plex Sans"/>
                        <a:sym typeface="IBM Plex Sans"/>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linear</a:t>
                      </a:r>
                      <a:endParaRPr b="1" sz="1100">
                        <a:solidFill>
                          <a:srgbClr val="14213D"/>
                        </a:solidFill>
                        <a:latin typeface="IBM Plex Sans"/>
                        <a:ea typeface="IBM Plex Sans"/>
                        <a:cs typeface="IBM Plex Sans"/>
                        <a:sym typeface="IBM Plex Sans"/>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random forest</a:t>
                      </a:r>
                      <a:endParaRPr b="1" sz="1100">
                        <a:solidFill>
                          <a:srgbClr val="14213D"/>
                        </a:solidFill>
                        <a:latin typeface="IBM Plex Sans"/>
                        <a:ea typeface="IBM Plex Sans"/>
                        <a:cs typeface="IBM Plex Sans"/>
                        <a:sym typeface="IBM Plex Sans"/>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XGBoost</a:t>
                      </a:r>
                      <a:endParaRPr b="1" sz="1100">
                        <a:solidFill>
                          <a:srgbClr val="14213D"/>
                        </a:solidFill>
                        <a:latin typeface="IBM Plex Sans"/>
                        <a:ea typeface="IBM Plex Sans"/>
                        <a:cs typeface="IBM Plex Sans"/>
                        <a:sym typeface="IBM Plex Sans"/>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MLP (32-16)</a:t>
                      </a:r>
                      <a:endParaRPr b="1" sz="1100">
                        <a:solidFill>
                          <a:srgbClr val="14213D"/>
                        </a:solidFill>
                        <a:latin typeface="IBM Plex Sans"/>
                        <a:ea typeface="IBM Plex Sans"/>
                        <a:cs typeface="IBM Plex Sans"/>
                        <a:sym typeface="IBM Plex Sans"/>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temporal CNN (L = 50)</a:t>
                      </a:r>
                      <a:endParaRPr b="1" sz="1100">
                        <a:solidFill>
                          <a:srgbClr val="14213D"/>
                        </a:solidFill>
                        <a:latin typeface="IBM Plex Sans"/>
                        <a:ea typeface="IBM Plex Sans"/>
                        <a:cs typeface="IBM Plex Sans"/>
                        <a:sym typeface="IBM Plex Sans"/>
                      </a:endParaRPr>
                    </a:p>
                  </a:txBody>
                  <a:tcPr marT="91425" marB="91425" marR="91425" marL="91425">
                    <a:solidFill>
                      <a:schemeClr val="lt2"/>
                    </a:solidFill>
                  </a:tcPr>
                </a:tc>
              </a:tr>
              <a:tr h="276225">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0</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low charge</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251</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23.3</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18.6</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17.6</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17.5</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17.4</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17.6</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17.5</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17.6</a:t>
                      </a:r>
                      <a:endParaRPr sz="1100">
                        <a:solidFill>
                          <a:srgbClr val="14213D"/>
                        </a:solidFill>
                        <a:latin typeface="IBM Plex Sans"/>
                        <a:ea typeface="IBM Plex Sans"/>
                        <a:cs typeface="IBM Plex Sans"/>
                        <a:sym typeface="IBM Plex Sans"/>
                      </a:endParaRPr>
                    </a:p>
                  </a:txBody>
                  <a:tcPr marT="91425" marB="91425" marR="91425" marL="91425"/>
                </a:tc>
              </a:tr>
              <a:tr h="276225">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3</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low charge</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127</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16.2</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12.2</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11.9</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11.9</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11.9</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11.9</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12.1</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11.9</a:t>
                      </a:r>
                      <a:endParaRPr b="1" sz="1100">
                        <a:solidFill>
                          <a:srgbClr val="14213D"/>
                        </a:solidFill>
                        <a:latin typeface="IBM Plex Sans"/>
                        <a:ea typeface="IBM Plex Sans"/>
                        <a:cs typeface="IBM Plex Sans"/>
                        <a:sym typeface="IBM Plex Sans"/>
                      </a:endParaRPr>
                    </a:p>
                  </a:txBody>
                  <a:tcPr marT="91425" marB="91425" marR="91425" marL="91425"/>
                </a:tc>
              </a:tr>
              <a:tr h="276225">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4</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low charge</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107</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21.2</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12.1</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11.9</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11.9</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12.0</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11.9</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12.0</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11.9</a:t>
                      </a:r>
                      <a:endParaRPr b="1" sz="1100">
                        <a:solidFill>
                          <a:srgbClr val="14213D"/>
                        </a:solidFill>
                        <a:latin typeface="IBM Plex Sans"/>
                        <a:ea typeface="IBM Plex Sans"/>
                        <a:cs typeface="IBM Plex Sans"/>
                        <a:sym typeface="IBM Plex Sans"/>
                      </a:endParaRPr>
                    </a:p>
                  </a:txBody>
                  <a:tcPr marT="91425" marB="91425" marR="91425" marL="91425"/>
                </a:tc>
              </a:tr>
              <a:tr h="276225">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5</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high, repetitive</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5583</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427.1</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146.5</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147.4</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141.7</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141.7</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142.0</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141.7</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142.4</a:t>
                      </a:r>
                      <a:endParaRPr sz="1100">
                        <a:solidFill>
                          <a:srgbClr val="14213D"/>
                        </a:solidFill>
                        <a:latin typeface="IBM Plex Sans"/>
                        <a:ea typeface="IBM Plex Sans"/>
                        <a:cs typeface="IBM Plex Sans"/>
                        <a:sym typeface="IBM Plex Sans"/>
                      </a:endParaRPr>
                    </a:p>
                  </a:txBody>
                  <a:tcPr marT="91425" marB="91425" marR="91425" marL="91425"/>
                </a:tc>
              </a:tr>
              <a:tr h="276225">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high, non-repetitive</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4862</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375.9</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141.8</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142.5</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136.2</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136.0</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136.6</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137.6</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136.7</a:t>
                      </a:r>
                      <a:endParaRPr sz="1100">
                        <a:solidFill>
                          <a:srgbClr val="14213D"/>
                        </a:solidFill>
                        <a:latin typeface="IBM Plex Sans"/>
                        <a:ea typeface="IBM Plex Sans"/>
                        <a:cs typeface="IBM Plex Sans"/>
                        <a:sym typeface="IBM Plex Sans"/>
                      </a:endParaRPr>
                    </a:p>
                  </a:txBody>
                  <a:tcPr marT="91425" marB="91425" marR="91425" marL="91425"/>
                </a:tc>
              </a:tr>
              <a:tr h="276225">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6</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high, non-repetitive</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5571</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190.8</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118.0</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114.4</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111.2</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111.4</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113.7</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113.9</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112.2</a:t>
                      </a:r>
                      <a:endParaRPr sz="1100">
                        <a:solidFill>
                          <a:srgbClr val="14213D"/>
                        </a:solidFill>
                        <a:latin typeface="IBM Plex Sans"/>
                        <a:ea typeface="IBM Plex Sans"/>
                        <a:cs typeface="IBM Plex Sans"/>
                        <a:sym typeface="IBM Plex Sans"/>
                      </a:endParaRPr>
                    </a:p>
                  </a:txBody>
                  <a:tcPr marT="91425" marB="91425" marR="91425" marL="91425"/>
                </a:tc>
              </a:tr>
              <a:tr h="276225">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7</a:t>
                      </a:r>
                      <a:endParaRPr b="1"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high, non-repetitive</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10086</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680.3</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340.5</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337.7</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335.0</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340.9</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338.3</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lang="en-US" sz="1100">
                          <a:solidFill>
                            <a:srgbClr val="14213D"/>
                          </a:solidFill>
                          <a:latin typeface="IBM Plex Sans"/>
                          <a:ea typeface="IBM Plex Sans"/>
                          <a:cs typeface="IBM Plex Sans"/>
                          <a:sym typeface="IBM Plex Sans"/>
                        </a:rPr>
                        <a:t>344.5</a:t>
                      </a:r>
                      <a:endParaRPr sz="1100">
                        <a:solidFill>
                          <a:srgbClr val="14213D"/>
                        </a:solidFill>
                        <a:latin typeface="IBM Plex Sans"/>
                        <a:ea typeface="IBM Plex Sans"/>
                        <a:cs typeface="IBM Plex Sans"/>
                        <a:sym typeface="IBM Plex Sans"/>
                      </a:endParaRPr>
                    </a:p>
                  </a:txBody>
                  <a:tcPr marT="91425" marB="91425" marR="91425" marL="91425"/>
                </a:tc>
                <a:tc>
                  <a:txBody>
                    <a:bodyPr/>
                    <a:lstStyle/>
                    <a:p>
                      <a:pPr indent="0" lvl="0" marL="0" rtl="0" algn="ctr">
                        <a:lnSpc>
                          <a:spcPct val="115000"/>
                        </a:lnSpc>
                        <a:spcBef>
                          <a:spcPts val="0"/>
                        </a:spcBef>
                        <a:spcAft>
                          <a:spcPts val="0"/>
                        </a:spcAft>
                        <a:buNone/>
                      </a:pPr>
                      <a:r>
                        <a:rPr b="1" lang="en-US" sz="1100">
                          <a:solidFill>
                            <a:srgbClr val="14213D"/>
                          </a:solidFill>
                          <a:latin typeface="IBM Plex Sans"/>
                          <a:ea typeface="IBM Plex Sans"/>
                          <a:cs typeface="IBM Plex Sans"/>
                          <a:sym typeface="IBM Plex Sans"/>
                        </a:rPr>
                        <a:t>333.4</a:t>
                      </a:r>
                      <a:endParaRPr b="1" sz="1100">
                        <a:solidFill>
                          <a:srgbClr val="14213D"/>
                        </a:solidFill>
                        <a:latin typeface="IBM Plex Sans"/>
                        <a:ea typeface="IBM Plex Sans"/>
                        <a:cs typeface="IBM Plex Sans"/>
                        <a:sym typeface="IBM Plex Sans"/>
                      </a:endParaRPr>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7"/>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13" name="Google Shape;313;p17"/>
          <p:cNvSpPr/>
          <p:nvPr/>
        </p:nvSpPr>
        <p:spPr>
          <a:xfrm>
            <a:off x="813816" y="813816"/>
            <a:ext cx="2834640" cy="283464"/>
          </a:xfrm>
          <a:prstGeom prst="roundRect">
            <a:avLst>
              <a:gd fmla="val 17778" name="adj"/>
            </a:avLst>
          </a:prstGeom>
          <a:solidFill>
            <a:srgbClr val="BE18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14" name="Google Shape;314;p17"/>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3 · HARD · RESULTS</a:t>
            </a:r>
            <a:endParaRPr b="0" i="0" sz="1200" u="none" cap="none" strike="noStrike">
              <a:solidFill>
                <a:schemeClr val="dk1"/>
              </a:solidFill>
              <a:latin typeface="IBM Plex Mono"/>
              <a:ea typeface="IBM Plex Mono"/>
              <a:cs typeface="IBM Plex Mono"/>
              <a:sym typeface="IBM Plex Mono"/>
            </a:endParaRPr>
          </a:p>
        </p:txBody>
      </p:sp>
      <p:sp>
        <p:nvSpPr>
          <p:cNvPr id="315" name="Google Shape;315;p17"/>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600"/>
              <a:buFont typeface="Space Grotesk"/>
              <a:buNone/>
            </a:pPr>
            <a:r>
              <a:rPr b="1" i="0" lang="en-US" sz="3600">
                <a:solidFill>
                  <a:srgbClr val="14213D"/>
                </a:solidFill>
                <a:latin typeface="Space Grotesk"/>
                <a:ea typeface="Space Grotesk"/>
                <a:cs typeface="Space Grotesk"/>
                <a:sym typeface="Space Grotesk"/>
              </a:rPr>
              <a:t>Further ahead, smaller gains</a:t>
            </a:r>
            <a:endParaRPr sz="3600"/>
          </a:p>
        </p:txBody>
      </p:sp>
      <p:sp>
        <p:nvSpPr>
          <p:cNvPr id="316" name="Google Shape;316;p17"/>
          <p:cNvSpPr/>
          <p:nvPr/>
        </p:nvSpPr>
        <p:spPr>
          <a:xfrm>
            <a:off x="10058400" y="6242050"/>
            <a:ext cx="1320800" cy="23495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D28D9"/>
              </a:buClr>
              <a:buSzPts val="1200"/>
              <a:buFont typeface="IBM Plex Mono"/>
              <a:buNone/>
            </a:pPr>
            <a:r>
              <a:rPr b="0" i="0" lang="en-US" sz="1200" u="none" cap="none" strike="noStrike">
                <a:solidFill>
                  <a:srgbClr val="6D28D9"/>
                </a:solidFill>
                <a:latin typeface="IBM Plex Mono"/>
                <a:ea typeface="IBM Plex Mono"/>
                <a:cs typeface="IBM Plex Mono"/>
                <a:sym typeface="IBM Plex Mono"/>
              </a:rPr>
              <a:t>34</a:t>
            </a:r>
            <a:endParaRPr b="0" i="0" sz="1200" u="none" cap="none" strike="noStrike">
              <a:solidFill>
                <a:schemeClr val="dk1"/>
              </a:solidFill>
              <a:latin typeface="IBM Plex Mono"/>
              <a:ea typeface="IBM Plex Mono"/>
              <a:cs typeface="IBM Plex Mono"/>
              <a:sym typeface="IBM Plex Mono"/>
            </a:endParaRPr>
          </a:p>
        </p:txBody>
      </p:sp>
      <p:sp>
        <p:nvSpPr>
          <p:cNvPr id="317" name="Google Shape;317;p17"/>
          <p:cNvSpPr/>
          <p:nvPr/>
        </p:nvSpPr>
        <p:spPr>
          <a:xfrm>
            <a:off x="813825" y="1783075"/>
            <a:ext cx="11312700" cy="3534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1" i="0" lang="en-US" sz="1600" u="none" cap="none" strike="noStrike">
                <a:solidFill>
                  <a:srgbClr val="14213D"/>
                </a:solidFill>
                <a:latin typeface="Space Grotesk"/>
                <a:ea typeface="Space Grotesk"/>
                <a:cs typeface="Space Grotesk"/>
                <a:sym typeface="Space Grotesk"/>
              </a:rPr>
              <a:t>Multi-step forecasts </a:t>
            </a:r>
            <a:r>
              <a:rPr b="1" lang="en-US" sz="1600">
                <a:solidFill>
                  <a:srgbClr val="14213D"/>
                </a:solidFill>
                <a:latin typeface="Space Grotesk"/>
                <a:ea typeface="Space Grotesk"/>
                <a:cs typeface="Space Grotesk"/>
                <a:sym typeface="Space Grotesk"/>
              </a:rPr>
              <a:t>vs</a:t>
            </a:r>
            <a:r>
              <a:rPr b="1" i="0" lang="en-US" sz="1600" u="none" cap="none" strike="noStrike">
                <a:solidFill>
                  <a:srgbClr val="14213D"/>
                </a:solidFill>
                <a:latin typeface="Space Grotesk"/>
                <a:ea typeface="Space Grotesk"/>
                <a:cs typeface="Space Grotesk"/>
                <a:sym typeface="Space Grotesk"/>
              </a:rPr>
              <a:t> the 9-shot mean </a:t>
            </a:r>
            <a:r>
              <a:rPr b="1" lang="en-US" sz="1600">
                <a:solidFill>
                  <a:srgbClr val="14213D"/>
                </a:solidFill>
                <a:latin typeface="Space Grotesk"/>
                <a:ea typeface="Space Grotesk"/>
                <a:cs typeface="Space Grotesk"/>
                <a:sym typeface="Space Grotesk"/>
              </a:rPr>
              <a:t>&amp;</a:t>
            </a:r>
            <a:r>
              <a:rPr b="1" i="0" lang="en-US" sz="1600" u="none" cap="none" strike="noStrike">
                <a:solidFill>
                  <a:srgbClr val="14213D"/>
                </a:solidFill>
                <a:latin typeface="Space Grotesk"/>
                <a:ea typeface="Space Grotesk"/>
                <a:cs typeface="Space Grotesk"/>
                <a:sym typeface="Space Grotesk"/>
              </a:rPr>
              <a:t> the oracle floor (slow trend + random noise </a:t>
            </a:r>
            <a:r>
              <a:rPr b="1" lang="en-US" sz="1600">
                <a:solidFill>
                  <a:srgbClr val="14213D"/>
                </a:solidFill>
                <a:latin typeface="Space Grotesk"/>
                <a:ea typeface="Space Grotesk"/>
                <a:cs typeface="Space Grotesk"/>
                <a:sym typeface="Space Grotesk"/>
              </a:rPr>
              <a:t>from both past and future)</a:t>
            </a:r>
            <a:r>
              <a:rPr b="1" i="0" lang="en-US" sz="1600" u="none" cap="none" strike="noStrike">
                <a:solidFill>
                  <a:srgbClr val="14213D"/>
                </a:solidFill>
                <a:latin typeface="Space Grotesk"/>
                <a:ea typeface="Space Grotesk"/>
                <a:cs typeface="Space Grotesk"/>
                <a:sym typeface="Space Grotesk"/>
              </a:rPr>
              <a:t>.</a:t>
            </a:r>
            <a:endParaRPr b="1" i="0" sz="1600" u="none" cap="none" strike="noStrike">
              <a:solidFill>
                <a:schemeClr val="dk1"/>
              </a:solidFill>
              <a:latin typeface="Space Grotesk"/>
              <a:ea typeface="Space Grotesk"/>
              <a:cs typeface="Space Grotesk"/>
              <a:sym typeface="Space Grotesk"/>
            </a:endParaRPr>
          </a:p>
        </p:txBody>
      </p:sp>
      <p:sp>
        <p:nvSpPr>
          <p:cNvPr id="318" name="Google Shape;318;p17"/>
          <p:cNvSpPr/>
          <p:nvPr/>
        </p:nvSpPr>
        <p:spPr>
          <a:xfrm>
            <a:off x="877275" y="4126200"/>
            <a:ext cx="6177000" cy="2268900"/>
          </a:xfrm>
          <a:prstGeom prst="rect">
            <a:avLst/>
          </a:prstGeom>
          <a:noFill/>
          <a:ln>
            <a:noFill/>
          </a:ln>
        </p:spPr>
        <p:txBody>
          <a:bodyPr anchorCtr="0" anchor="t" bIns="0" lIns="0" spcFirstLastPara="1" rIns="0" wrap="square" tIns="0">
            <a:normAutofit/>
          </a:bodyPr>
          <a:lstStyle/>
          <a:p>
            <a:pPr indent="-317500" lvl="0" marL="457200" marR="0" rtl="0" algn="l">
              <a:lnSpc>
                <a:spcPct val="140000"/>
              </a:lnSpc>
              <a:spcBef>
                <a:spcPts val="0"/>
              </a:spcBef>
              <a:spcAft>
                <a:spcPts val="0"/>
              </a:spcAft>
              <a:buClr>
                <a:srgbClr val="3B4660"/>
              </a:buClr>
              <a:buSzPts val="1400"/>
              <a:buFont typeface="IBM Plex Sans"/>
              <a:buChar char="➢"/>
            </a:pPr>
            <a:r>
              <a:rPr b="1" i="0" lang="en-US" u="none" cap="none" strike="noStrike">
                <a:solidFill>
                  <a:srgbClr val="3B4660"/>
                </a:solidFill>
                <a:latin typeface="IBM Plex Mono"/>
                <a:ea typeface="IBM Plex Mono"/>
                <a:cs typeface="IBM Plex Mono"/>
                <a:sym typeface="IBM Plex Mono"/>
              </a:rPr>
              <a:t>h = 1–5: 1.5–7 % better than the 9-shot mean</a:t>
            </a:r>
            <a:r>
              <a:rPr i="0" lang="en-US" u="none" cap="none" strike="noStrike">
                <a:solidFill>
                  <a:srgbClr val="3B4660"/>
                </a:solidFill>
                <a:latin typeface="IBM Plex Mono"/>
                <a:ea typeface="IBM Plex Mono"/>
                <a:cs typeface="IBM Plex Mono"/>
                <a:sym typeface="IBM Plex Mono"/>
              </a:rPr>
              <a:t>, significant on 5–7 of 7 segments; h = 50 mostly not</a:t>
            </a:r>
            <a:endParaRPr i="0" u="none" cap="none" strike="noStrike">
              <a:solidFill>
                <a:schemeClr val="dk1"/>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Mono"/>
              <a:buChar char="➢"/>
            </a:pPr>
            <a:r>
              <a:rPr b="1" i="0" lang="en-US" u="none" cap="none" strike="noStrike">
                <a:solidFill>
                  <a:srgbClr val="3B4660"/>
                </a:solidFill>
                <a:latin typeface="IBM Plex Mono"/>
                <a:ea typeface="IBM Plex Mono"/>
                <a:cs typeface="IBM Plex Mono"/>
                <a:sym typeface="IBM Plex Mono"/>
              </a:rPr>
              <a:t>Ensemble at the floor up to N ≈ 2, +6 % at N = 10, +22 % at N = 100</a:t>
            </a:r>
            <a:endParaRPr b="1" i="0" u="none" cap="none" strike="noStrike">
              <a:solidFill>
                <a:schemeClr val="dk1"/>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Mono"/>
              <a:buChar char="➢"/>
            </a:pPr>
            <a:r>
              <a:rPr i="0" lang="en-US" u="none" cap="none" strike="noStrike">
                <a:solidFill>
                  <a:srgbClr val="3B4660"/>
                </a:solidFill>
                <a:latin typeface="IBM Plex Mono"/>
                <a:ea typeface="IBM Plex Mono"/>
                <a:cs typeface="IBM Plex Mono"/>
                <a:sym typeface="IBM Plex Mono"/>
              </a:rPr>
              <a:t>Instruments add ~0.5–1 point: </a:t>
            </a:r>
            <a:r>
              <a:rPr b="1" i="0" lang="en-US" u="none" cap="none" strike="noStrike">
                <a:solidFill>
                  <a:srgbClr val="3B4660"/>
                </a:solidFill>
                <a:latin typeface="IBM Plex Mono"/>
                <a:ea typeface="IBM Plex Mono"/>
                <a:cs typeface="IBM Plex Mono"/>
                <a:sym typeface="IBM Plex Mono"/>
              </a:rPr>
              <a:t>the next laser pulse is not predictable (R² ≤ 0.35)</a:t>
            </a:r>
            <a:endParaRPr b="1">
              <a:solidFill>
                <a:srgbClr val="3B4660"/>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Sans"/>
              <a:buChar char="➢"/>
            </a:pPr>
            <a:r>
              <a:rPr lang="en-US">
                <a:solidFill>
                  <a:srgbClr val="3B4660"/>
                </a:solidFill>
                <a:latin typeface="IBM Plex Mono"/>
                <a:ea typeface="IBM Plex Mono"/>
                <a:cs typeface="IBM Plex Mono"/>
                <a:sym typeface="IBM Plex Mono"/>
              </a:rPr>
              <a:t>Simple and exponential </a:t>
            </a:r>
            <a:r>
              <a:rPr b="1" lang="en-US">
                <a:solidFill>
                  <a:srgbClr val="3B4660"/>
                </a:solidFill>
                <a:latin typeface="IBM Plex Mono"/>
                <a:ea typeface="IBM Plex Mono"/>
                <a:cs typeface="IBM Plex Mono"/>
                <a:sym typeface="IBM Plex Mono"/>
              </a:rPr>
              <a:t>moving average give ~5% excess error.</a:t>
            </a:r>
            <a:endParaRPr sz="1300">
              <a:solidFill>
                <a:srgbClr val="3B4660"/>
              </a:solidFill>
              <a:latin typeface="IBM Plex Sans"/>
              <a:ea typeface="IBM Plex Sans"/>
              <a:cs typeface="IBM Plex Sans"/>
              <a:sym typeface="IBM Plex Sans"/>
            </a:endParaRPr>
          </a:p>
        </p:txBody>
      </p:sp>
      <p:pic>
        <p:nvPicPr>
          <p:cNvPr descr="15_alignment_significance_intervals_cell16.png" id="319" name="Google Shape;319;p17"/>
          <p:cNvPicPr preferRelativeResize="0"/>
          <p:nvPr/>
        </p:nvPicPr>
        <p:blipFill rotWithShape="1">
          <a:blip r:embed="rId3">
            <a:alphaModFix/>
          </a:blip>
          <a:srcRect b="0" l="0" r="0" t="0"/>
          <a:stretch/>
        </p:blipFill>
        <p:spPr>
          <a:xfrm>
            <a:off x="1051411" y="2136485"/>
            <a:ext cx="10327775" cy="1920240"/>
          </a:xfrm>
          <a:prstGeom prst="rect">
            <a:avLst/>
          </a:prstGeom>
          <a:noFill/>
          <a:ln>
            <a:noFill/>
          </a:ln>
        </p:spPr>
      </p:pic>
      <p:pic>
        <p:nvPicPr>
          <p:cNvPr descr="excess_over_floor.png" id="320" name="Google Shape;320;p17"/>
          <p:cNvPicPr preferRelativeResize="0"/>
          <p:nvPr/>
        </p:nvPicPr>
        <p:blipFill rotWithShape="1">
          <a:blip r:embed="rId4">
            <a:alphaModFix/>
          </a:blip>
          <a:srcRect b="0" l="0" r="0" t="0"/>
          <a:stretch/>
        </p:blipFill>
        <p:spPr>
          <a:xfrm>
            <a:off x="7090979" y="4160528"/>
            <a:ext cx="4871274" cy="2509951"/>
          </a:xfrm>
          <a:prstGeom prst="rect">
            <a:avLst/>
          </a:prstGeom>
          <a:noFill/>
          <a:ln>
            <a:noFill/>
          </a:ln>
        </p:spPr>
      </p:pic>
      <p:graphicFrame>
        <p:nvGraphicFramePr>
          <p:cNvPr id="321" name="Google Shape;321;p17"/>
          <p:cNvGraphicFramePr/>
          <p:nvPr/>
        </p:nvGraphicFramePr>
        <p:xfrm>
          <a:off x="8547355" y="129430"/>
          <a:ext cx="3000000" cy="3000000"/>
        </p:xfrm>
        <a:graphic>
          <a:graphicData uri="http://schemas.openxmlformats.org/drawingml/2006/table">
            <a:tbl>
              <a:tblPr bandRow="1" firstRow="1">
                <a:noFill/>
                <a:tableStyleId>{112CE20D-767B-464B-9DCB-EA9EB6AF2ED4}</a:tableStyleId>
              </a:tblPr>
              <a:tblGrid>
                <a:gridCol w="3579175"/>
              </a:tblGrid>
              <a:tr h="329175">
                <a:tc>
                  <a:txBody>
                    <a:bodyPr/>
                    <a:lstStyle/>
                    <a:p>
                      <a:pPr indent="0" lvl="0" marL="0" marR="0" rtl="0" algn="l">
                        <a:spcBef>
                          <a:spcPts val="0"/>
                        </a:spcBef>
                        <a:spcAft>
                          <a:spcPts val="0"/>
                        </a:spcAft>
                        <a:buNone/>
                      </a:pPr>
                      <a:r>
                        <a:rPr lang="en-US" sz="1000">
                          <a:solidFill>
                            <a:srgbClr val="14213D"/>
                          </a:solidFill>
                          <a:latin typeface="IBM Plex Sans"/>
                          <a:ea typeface="IBM Plex Sans"/>
                          <a:cs typeface="IBM Plex Sans"/>
                          <a:sym typeface="IBM Plex Sans"/>
                        </a:rPr>
                        <a:t>Model used</a:t>
                      </a:r>
                      <a:endParaRPr sz="1800" u="none" cap="none" strike="noStrike"/>
                    </a:p>
                  </a:txBody>
                  <a:tcPr marT="18300" marB="18300" marR="45725" marL="45725">
                    <a:solidFill>
                      <a:srgbClr val="E6E0D2"/>
                    </a:solidFill>
                  </a:tcPr>
                </a:tc>
              </a:tr>
              <a:tr h="329175">
                <a:tc>
                  <a:txBody>
                    <a:bodyPr/>
                    <a:lstStyle/>
                    <a:p>
                      <a:pPr indent="0" lvl="0" marL="0" marR="0" rtl="0" algn="l">
                        <a:spcBef>
                          <a:spcPts val="0"/>
                        </a:spcBef>
                        <a:spcAft>
                          <a:spcPts val="0"/>
                        </a:spcAft>
                        <a:buNone/>
                      </a:pPr>
                      <a:r>
                        <a:rPr b="1" lang="en-US" sz="1000">
                          <a:solidFill>
                            <a:srgbClr val="14213D"/>
                          </a:solidFill>
                          <a:latin typeface="IBM Plex Sans"/>
                          <a:ea typeface="IBM Plex Sans"/>
                          <a:cs typeface="IBM Plex Sans"/>
                          <a:sym typeface="IBM Plex Sans"/>
                        </a:rPr>
                        <a:t>Ridge, past charge only (blue)</a:t>
                      </a:r>
                      <a:endParaRPr sz="1800" u="none" cap="none" strike="noStrike"/>
                    </a:p>
                  </a:txBody>
                  <a:tcPr marT="18300" marB="18300" marR="45725" marL="45725">
                    <a:solidFill>
                      <a:srgbClr val="FFFDF8"/>
                    </a:solidFill>
                  </a:tcPr>
                </a:tc>
              </a:tr>
              <a:tr h="329175">
                <a:tc>
                  <a:txBody>
                    <a:bodyPr/>
                    <a:lstStyle/>
                    <a:p>
                      <a:pPr indent="0" lvl="0" marL="0" marR="0" rtl="0" algn="l">
                        <a:spcBef>
                          <a:spcPts val="0"/>
                        </a:spcBef>
                        <a:spcAft>
                          <a:spcPts val="0"/>
                        </a:spcAft>
                        <a:buNone/>
                      </a:pPr>
                      <a:r>
                        <a:rPr b="1" lang="en-US" sz="1000">
                          <a:solidFill>
                            <a:srgbClr val="14213D"/>
                          </a:solidFill>
                          <a:latin typeface="IBM Plex Sans"/>
                          <a:ea typeface="IBM Plex Sans"/>
                          <a:cs typeface="IBM Plex Sans"/>
                          <a:sym typeface="IBM Plex Sans"/>
                        </a:rPr>
                        <a:t>Ridge, past charge plus other diagnostics (orange)</a:t>
                      </a:r>
                      <a:endParaRPr sz="1800" u="none" cap="none" strike="noStrike"/>
                    </a:p>
                  </a:txBody>
                  <a:tcPr marT="18300" marB="18300" marR="45725" marL="45725">
                    <a:solidFill>
                      <a:srgbClr val="FFFDF8"/>
                    </a:solidFill>
                  </a:tcPr>
                </a:tc>
              </a:tr>
              <a:tr h="329175">
                <a:tc>
                  <a:txBody>
                    <a:bodyPr/>
                    <a:lstStyle/>
                    <a:p>
                      <a:pPr indent="0" lvl="0" marL="0" marR="0" rtl="0" algn="l">
                        <a:spcBef>
                          <a:spcPts val="0"/>
                        </a:spcBef>
                        <a:spcAft>
                          <a:spcPts val="0"/>
                        </a:spcAft>
                        <a:buNone/>
                      </a:pPr>
                      <a:r>
                        <a:rPr b="1" lang="en-US" sz="1000">
                          <a:solidFill>
                            <a:srgbClr val="14213D"/>
                          </a:solidFill>
                          <a:latin typeface="IBM Plex Sans"/>
                          <a:ea typeface="IBM Plex Sans"/>
                          <a:cs typeface="IBM Plex Sans"/>
                          <a:sym typeface="IBM Plex Sans"/>
                        </a:rPr>
                        <a:t>GRU, past charge plus other diagnostics (red)</a:t>
                      </a:r>
                      <a:endParaRPr sz="1800" u="none" cap="none" strike="noStrike"/>
                    </a:p>
                  </a:txBody>
                  <a:tcPr marT="18300" marB="18300" marR="45725" marL="45725">
                    <a:solidFill>
                      <a:srgbClr val="FFFDF8"/>
                    </a:solidFill>
                  </a:tcPr>
                </a:tc>
              </a:tr>
            </a:tbl>
          </a:graphicData>
        </a:graphic>
      </p:graphicFrame>
      <p:sp>
        <p:nvSpPr>
          <p:cNvPr id="322" name="Google Shape;322;p17"/>
          <p:cNvSpPr txBox="1"/>
          <p:nvPr/>
        </p:nvSpPr>
        <p:spPr>
          <a:xfrm>
            <a:off x="2454200" y="6332850"/>
            <a:ext cx="5526300" cy="437700"/>
          </a:xfrm>
          <a:prstGeom prst="rect">
            <a:avLst/>
          </a:prstGeom>
          <a:noFill/>
          <a:ln>
            <a:noFill/>
          </a:ln>
        </p:spPr>
        <p:txBody>
          <a:bodyPr anchorCtr="0" anchor="t" bIns="91425" lIns="91425" spcFirstLastPara="1" rIns="91425" wrap="square" tIns="91425">
            <a:noAutofit/>
          </a:bodyPr>
          <a:lstStyle/>
          <a:p>
            <a:pPr indent="-330200" lvl="0" marL="457200" rtl="0" algn="l">
              <a:lnSpc>
                <a:spcPct val="140000"/>
              </a:lnSpc>
              <a:spcBef>
                <a:spcPts val="0"/>
              </a:spcBef>
              <a:spcAft>
                <a:spcPts val="0"/>
              </a:spcAft>
              <a:buClr>
                <a:srgbClr val="3B4660"/>
              </a:buClr>
              <a:buSzPts val="1600"/>
              <a:buFont typeface="IBM Plex Mono"/>
              <a:buChar char="➔"/>
            </a:pPr>
            <a:r>
              <a:rPr lang="en-US" sz="1600">
                <a:solidFill>
                  <a:srgbClr val="3B4660"/>
                </a:solidFill>
                <a:latin typeface="IBM Plex Mono"/>
                <a:ea typeface="IBM Plex Mono"/>
                <a:cs typeface="IBM Plex Mono"/>
                <a:sym typeface="IBM Plex Mono"/>
              </a:rPr>
              <a:t>The </a:t>
            </a:r>
            <a:r>
              <a:rPr b="1" lang="en-US" sz="1600">
                <a:solidFill>
                  <a:srgbClr val="3B4660"/>
                </a:solidFill>
                <a:latin typeface="IBM Plex Mono"/>
                <a:ea typeface="IBM Plex Mono"/>
                <a:cs typeface="IBM Plex Mono"/>
                <a:sym typeface="IBM Plex Mono"/>
              </a:rPr>
              <a:t>heavier models help, but not by much</a:t>
            </a:r>
            <a:endParaRPr b="1" sz="1600">
              <a:solidFill>
                <a:srgbClr val="3B4660"/>
              </a:solidFill>
              <a:latin typeface="IBM Plex Mono"/>
              <a:ea typeface="IBM Plex Mono"/>
              <a:cs typeface="IBM Plex Mono"/>
              <a:sym typeface="IBM Plex Mono"/>
            </a:endParaRPr>
          </a:p>
          <a:p>
            <a:pPr indent="0" lvl="0" marL="0" rtl="0" algn="l">
              <a:spcBef>
                <a:spcPts val="0"/>
              </a:spcBef>
              <a:spcAft>
                <a:spcPts val="0"/>
              </a:spcAft>
              <a:buNone/>
            </a:pPr>
            <a:r>
              <a:t/>
            </a:r>
            <a:endParaRPr sz="1600">
              <a:solidFill>
                <a:srgbClr val="14213D"/>
              </a:solidFill>
              <a:latin typeface="IBM Plex Mono"/>
              <a:ea typeface="IBM Plex Mono"/>
              <a:cs typeface="IBM Plex Mono"/>
              <a:sym typeface="IBM Plex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1"/>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29" name="Google Shape;329;p21"/>
          <p:cNvSpPr/>
          <p:nvPr/>
        </p:nvSpPr>
        <p:spPr>
          <a:xfrm>
            <a:off x="813816" y="813816"/>
            <a:ext cx="2834640" cy="283464"/>
          </a:xfrm>
          <a:prstGeom prst="roundRect">
            <a:avLst>
              <a:gd fmla="val 17778" name="adj"/>
            </a:avLst>
          </a:prstGeom>
          <a:solidFill>
            <a:srgbClr val="BE18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30" name="Google Shape;330;p21"/>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3 · HARD · RESULTS</a:t>
            </a:r>
            <a:endParaRPr b="0" i="0" sz="1200" u="none" cap="none" strike="noStrike">
              <a:solidFill>
                <a:schemeClr val="dk1"/>
              </a:solidFill>
              <a:latin typeface="IBM Plex Mono"/>
              <a:ea typeface="IBM Plex Mono"/>
              <a:cs typeface="IBM Plex Mono"/>
              <a:sym typeface="IBM Plex Mono"/>
            </a:endParaRPr>
          </a:p>
        </p:txBody>
      </p:sp>
      <p:sp>
        <p:nvSpPr>
          <p:cNvPr id="331" name="Google Shape;331;p21"/>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600"/>
              <a:buFont typeface="Space Grotesk"/>
              <a:buNone/>
            </a:pPr>
            <a:r>
              <a:rPr b="1" i="0" lang="en-US" sz="3600">
                <a:solidFill>
                  <a:srgbClr val="14213D"/>
                </a:solidFill>
                <a:latin typeface="Space Grotesk"/>
                <a:ea typeface="Space Grotesk"/>
                <a:cs typeface="Space Grotesk"/>
                <a:sym typeface="Space Grotesk"/>
              </a:rPr>
              <a:t>Summary: what worked and what did not</a:t>
            </a:r>
            <a:endParaRPr sz="3600"/>
          </a:p>
        </p:txBody>
      </p:sp>
      <p:sp>
        <p:nvSpPr>
          <p:cNvPr id="332" name="Google Shape;332;p21"/>
          <p:cNvSpPr/>
          <p:nvPr/>
        </p:nvSpPr>
        <p:spPr>
          <a:xfrm>
            <a:off x="868680" y="2377440"/>
            <a:ext cx="5120640" cy="3474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None/>
            </a:pPr>
            <a:r>
              <a:rPr b="1" i="0" lang="en-US" sz="1800" u="none" cap="none" strike="noStrike">
                <a:solidFill>
                  <a:srgbClr val="3B4660"/>
                </a:solidFill>
                <a:latin typeface="IBM Plex Mono"/>
                <a:ea typeface="IBM Plex Mono"/>
                <a:cs typeface="IBM Plex Mono"/>
                <a:sym typeface="IBM Plex Mono"/>
              </a:rPr>
              <a:t>Worked</a:t>
            </a:r>
            <a:endParaRPr b="1" i="0" sz="180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Pulse-grid alignment of every reading</a:t>
            </a:r>
            <a:endParaRPr i="0" sz="160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Slow + fast split: trailing level + GRU, at the noise floor on 3 segments</a:t>
            </a:r>
            <a:endParaRPr i="0" sz="160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Beating the 9-shot mean on every run (−2 to −9 %)</a:t>
            </a:r>
            <a:endParaRPr i="0" sz="160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Measured BCM noise for honest intervals</a:t>
            </a:r>
            <a:endParaRPr i="0" sz="1600" u="none" cap="none" strike="noStrike">
              <a:solidFill>
                <a:schemeClr val="dk1"/>
              </a:solidFill>
              <a:latin typeface="IBM Plex Mono"/>
              <a:ea typeface="IBM Plex Mono"/>
              <a:cs typeface="IBM Plex Mono"/>
              <a:sym typeface="IBM Plex Mono"/>
            </a:endParaRPr>
          </a:p>
        </p:txBody>
      </p:sp>
      <p:sp>
        <p:nvSpPr>
          <p:cNvPr id="333" name="Google Shape;333;p21"/>
          <p:cNvSpPr/>
          <p:nvPr/>
        </p:nvSpPr>
        <p:spPr>
          <a:xfrm>
            <a:off x="6355080" y="2377440"/>
            <a:ext cx="5120640" cy="3474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None/>
            </a:pPr>
            <a:r>
              <a:rPr b="1" i="0" lang="en-US" sz="1800" u="none" cap="none" strike="noStrike">
                <a:solidFill>
                  <a:srgbClr val="3B4660"/>
                </a:solidFill>
                <a:latin typeface="IBM Plex Mono"/>
                <a:ea typeface="IBM Plex Mono"/>
                <a:cs typeface="IBM Plex Mono"/>
                <a:sym typeface="IBM Plex Mono"/>
              </a:rPr>
              <a:t>Did not help</a:t>
            </a:r>
            <a:endParaRPr b="1" i="0" sz="180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Kalman / EMA / median levels, periodic terms</a:t>
            </a:r>
            <a:endParaRPr i="0" sz="160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Forecasting the instruments (two-step models)</a:t>
            </a:r>
            <a:endParaRPr i="0" sz="160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Attention, autoencoders, minimax training</a:t>
            </a:r>
            <a:endParaRPr i="0" sz="1600" u="none" cap="none" strike="noStrike">
              <a:solidFill>
                <a:schemeClr val="dk1"/>
              </a:solidFill>
              <a:latin typeface="IBM Plex Mono"/>
              <a:ea typeface="IBM Plex Mono"/>
              <a:cs typeface="IBM Plex Mono"/>
              <a:sym typeface="IBM Plex Mono"/>
            </a:endParaRPr>
          </a:p>
          <a:p>
            <a:pPr indent="-330200" lvl="0" marL="457200" marR="0" rtl="0" algn="l">
              <a:lnSpc>
                <a:spcPct val="140000"/>
              </a:lnSpc>
              <a:spcBef>
                <a:spcPts val="0"/>
              </a:spcBef>
              <a:spcAft>
                <a:spcPts val="0"/>
              </a:spcAft>
              <a:buClr>
                <a:srgbClr val="3B4660"/>
              </a:buClr>
              <a:buSzPts val="1600"/>
              <a:buFont typeface="IBM Plex Mono"/>
              <a:buChar char="➢"/>
            </a:pPr>
            <a:r>
              <a:rPr i="0" lang="en-US" sz="1600" u="none" cap="none" strike="noStrike">
                <a:solidFill>
                  <a:srgbClr val="3B4660"/>
                </a:solidFill>
                <a:latin typeface="IBM Plex Mono"/>
                <a:ea typeface="IBM Plex Mono"/>
                <a:cs typeface="IBM Plex Mono"/>
                <a:sym typeface="IBM Plex Mono"/>
              </a:rPr>
              <a:t>RF, climate and magnet inputs</a:t>
            </a:r>
            <a:endParaRPr i="0" sz="1600" u="none" cap="none" strike="noStrike">
              <a:solidFill>
                <a:schemeClr val="dk1"/>
              </a:solidFill>
              <a:latin typeface="IBM Plex Mono"/>
              <a:ea typeface="IBM Plex Mono"/>
              <a:cs typeface="IBM Plex Mono"/>
              <a:sym typeface="IBM Plex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h6524a41718b72fa9_1_68"/>
          <p:cNvSpPr/>
          <p:nvPr/>
        </p:nvSpPr>
        <p:spPr>
          <a:xfrm>
            <a:off x="812800" y="558800"/>
            <a:ext cx="609600" cy="507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40" name="Google Shape;340;h6524a41718b72fa9_1_68"/>
          <p:cNvSpPr/>
          <p:nvPr/>
        </p:nvSpPr>
        <p:spPr>
          <a:xfrm>
            <a:off x="813816" y="813816"/>
            <a:ext cx="2834700" cy="283500"/>
          </a:xfrm>
          <a:prstGeom prst="roundRect">
            <a:avLst>
              <a:gd fmla="val 17778" name="adj"/>
            </a:avLst>
          </a:prstGeom>
          <a:solidFill>
            <a:srgbClr val="BE18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41" name="Google Shape;341;h6524a41718b72fa9_1_68"/>
          <p:cNvSpPr/>
          <p:nvPr/>
        </p:nvSpPr>
        <p:spPr>
          <a:xfrm>
            <a:off x="914400" y="850392"/>
            <a:ext cx="27432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3 · HARD · RESULTS</a:t>
            </a:r>
            <a:endParaRPr b="0" i="0" sz="1200" u="none" cap="none" strike="noStrike">
              <a:solidFill>
                <a:schemeClr val="dk1"/>
              </a:solidFill>
              <a:latin typeface="IBM Plex Mono"/>
              <a:ea typeface="IBM Plex Mono"/>
              <a:cs typeface="IBM Plex Mono"/>
              <a:sym typeface="IBM Plex Mono"/>
            </a:endParaRPr>
          </a:p>
        </p:txBody>
      </p:sp>
      <p:sp>
        <p:nvSpPr>
          <p:cNvPr id="342" name="Google Shape;342;h6524a41718b72fa9_1_68"/>
          <p:cNvSpPr txBox="1"/>
          <p:nvPr>
            <p:ph type="title"/>
          </p:nvPr>
        </p:nvSpPr>
        <p:spPr>
          <a:xfrm>
            <a:off x="812800" y="1200150"/>
            <a:ext cx="10883400" cy="5271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lang="en-US"/>
              <a:t>Further work</a:t>
            </a:r>
            <a:endParaRPr sz="3600"/>
          </a:p>
        </p:txBody>
      </p:sp>
      <p:sp>
        <p:nvSpPr>
          <p:cNvPr id="343" name="Google Shape;343;h6524a41718b72fa9_1_68"/>
          <p:cNvSpPr/>
          <p:nvPr/>
        </p:nvSpPr>
        <p:spPr>
          <a:xfrm>
            <a:off x="868675" y="1954575"/>
            <a:ext cx="10420500" cy="389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600">
                <a:solidFill>
                  <a:srgbClr val="3B4660"/>
                </a:solidFill>
                <a:latin typeface="IBM Plex Mono"/>
                <a:ea typeface="IBM Plex Mono"/>
                <a:cs typeface="IBM Plex Mono"/>
                <a:sym typeface="IBM Plex Mono"/>
              </a:rPr>
              <a:t>Step 1:</a:t>
            </a:r>
            <a:endParaRPr b="1" sz="1600">
              <a:solidFill>
                <a:srgbClr val="3B4660"/>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Sans"/>
              <a:buChar char="-"/>
            </a:pPr>
            <a:r>
              <a:rPr b="1" lang="en-US">
                <a:solidFill>
                  <a:srgbClr val="3B4660"/>
                </a:solidFill>
                <a:latin typeface="IBM Plex Mono"/>
                <a:ea typeface="IBM Plex Mono"/>
                <a:cs typeface="IBM Plex Mono"/>
                <a:sym typeface="IBM Plex Mono"/>
              </a:rPr>
              <a:t>Review the work</a:t>
            </a:r>
            <a:r>
              <a:rPr lang="en-US">
                <a:solidFill>
                  <a:srgbClr val="3B4660"/>
                </a:solidFill>
                <a:latin typeface="IBM Plex Mono"/>
                <a:ea typeface="IBM Plex Mono"/>
                <a:cs typeface="IBM Plex Mono"/>
                <a:sym typeface="IBM Plex Mono"/>
              </a:rPr>
              <a:t> - a lot was done, </a:t>
            </a:r>
            <a:r>
              <a:rPr b="1" lang="en-US">
                <a:solidFill>
                  <a:srgbClr val="3B4660"/>
                </a:solidFill>
                <a:latin typeface="IBM Plex Mono"/>
                <a:ea typeface="IBM Plex Mono"/>
                <a:cs typeface="IBM Plex Mono"/>
                <a:sym typeface="IBM Plex Mono"/>
              </a:rPr>
              <a:t>all of it in a Fast &amp; Approximate manner</a:t>
            </a:r>
            <a:endParaRPr b="1">
              <a:solidFill>
                <a:srgbClr val="3B4660"/>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Mono"/>
              <a:buChar char="-"/>
            </a:pPr>
            <a:r>
              <a:rPr lang="en-US">
                <a:solidFill>
                  <a:srgbClr val="3B4660"/>
                </a:solidFill>
                <a:latin typeface="IBM Plex Mono"/>
                <a:ea typeface="IBM Plex Mono"/>
                <a:cs typeface="IBM Plex Mono"/>
                <a:sym typeface="IBM Plex Mono"/>
              </a:rPr>
              <a:t>New information as we proceeded was not necessarily propagated properly back into the data preparation stage</a:t>
            </a:r>
            <a:endParaRPr>
              <a:solidFill>
                <a:srgbClr val="3B4660"/>
              </a:solidFill>
              <a:latin typeface="IBM Plex Mono"/>
              <a:ea typeface="IBM Plex Mono"/>
              <a:cs typeface="IBM Plex Mono"/>
              <a:sym typeface="IBM Plex Mono"/>
            </a:endParaRPr>
          </a:p>
          <a:p>
            <a:pPr indent="0" lvl="0" marL="0" marR="0" rtl="0" algn="l">
              <a:lnSpc>
                <a:spcPct val="140000"/>
              </a:lnSpc>
              <a:spcBef>
                <a:spcPts val="0"/>
              </a:spcBef>
              <a:spcAft>
                <a:spcPts val="0"/>
              </a:spcAft>
              <a:buNone/>
            </a:pPr>
            <a:r>
              <a:rPr b="1" lang="en-US" sz="1600">
                <a:solidFill>
                  <a:srgbClr val="3B4660"/>
                </a:solidFill>
                <a:latin typeface="IBM Plex Mono"/>
                <a:ea typeface="IBM Plex Mono"/>
                <a:cs typeface="IBM Plex Mono"/>
                <a:sym typeface="IBM Plex Mono"/>
              </a:rPr>
              <a:t>Step 2:</a:t>
            </a:r>
            <a:endParaRPr b="1" sz="1600">
              <a:solidFill>
                <a:srgbClr val="3B4660"/>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Mono"/>
              <a:buChar char="-"/>
            </a:pPr>
            <a:r>
              <a:rPr lang="en-US">
                <a:solidFill>
                  <a:srgbClr val="3B4660"/>
                </a:solidFill>
                <a:latin typeface="IBM Plex Mono"/>
                <a:ea typeface="IBM Plex Mono"/>
                <a:cs typeface="IBM Plex Mono"/>
                <a:sym typeface="IBM Plex Mono"/>
              </a:rPr>
              <a:t>Better data alignment</a:t>
            </a:r>
            <a:endParaRPr>
              <a:solidFill>
                <a:srgbClr val="3B4660"/>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Mono"/>
              <a:buChar char="-"/>
            </a:pPr>
            <a:r>
              <a:rPr lang="en-US">
                <a:solidFill>
                  <a:srgbClr val="3B4660"/>
                </a:solidFill>
                <a:latin typeface="IBM Plex Mono"/>
                <a:ea typeface="IBM Plex Mono"/>
                <a:cs typeface="IBM Plex Mono"/>
                <a:sym typeface="IBM Plex Mono"/>
              </a:rPr>
              <a:t>Redo the feature selection, perhaps with a full grid search </a:t>
            </a:r>
            <a:endParaRPr>
              <a:solidFill>
                <a:srgbClr val="3B4660"/>
              </a:solidFill>
              <a:latin typeface="IBM Plex Mono"/>
              <a:ea typeface="IBM Plex Mono"/>
              <a:cs typeface="IBM Plex Mono"/>
              <a:sym typeface="IBM Plex Mono"/>
            </a:endParaRPr>
          </a:p>
          <a:p>
            <a:pPr indent="0" lvl="0" marL="0" marR="0" rtl="0" algn="l">
              <a:lnSpc>
                <a:spcPct val="140000"/>
              </a:lnSpc>
              <a:spcBef>
                <a:spcPts val="0"/>
              </a:spcBef>
              <a:spcAft>
                <a:spcPts val="0"/>
              </a:spcAft>
              <a:buNone/>
            </a:pPr>
            <a:r>
              <a:rPr b="1" lang="en-US" sz="1600">
                <a:solidFill>
                  <a:srgbClr val="3B4660"/>
                </a:solidFill>
                <a:latin typeface="IBM Plex Mono"/>
                <a:ea typeface="IBM Plex Mono"/>
                <a:cs typeface="IBM Plex Mono"/>
                <a:sym typeface="IBM Plex Mono"/>
              </a:rPr>
              <a:t>Step 3:</a:t>
            </a:r>
            <a:endParaRPr b="1" sz="1600">
              <a:solidFill>
                <a:srgbClr val="3B4660"/>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Mono"/>
              <a:buChar char="-"/>
            </a:pPr>
            <a:r>
              <a:rPr lang="en-US">
                <a:solidFill>
                  <a:srgbClr val="3B4660"/>
                </a:solidFill>
                <a:latin typeface="IBM Plex Mono"/>
                <a:ea typeface="IBM Plex Mono"/>
                <a:cs typeface="IBM Plex Mono"/>
                <a:sym typeface="IBM Plex Mono"/>
              </a:rPr>
              <a:t>Understand the model limitations and why they performed little better than the rolling means</a:t>
            </a:r>
            <a:endParaRPr>
              <a:solidFill>
                <a:srgbClr val="3B4660"/>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Mono"/>
              <a:buChar char="-"/>
            </a:pPr>
            <a:r>
              <a:rPr lang="en-US">
                <a:solidFill>
                  <a:srgbClr val="3B4660"/>
                </a:solidFill>
                <a:latin typeface="IBM Plex Mono"/>
                <a:ea typeface="IBM Plex Mono"/>
                <a:cs typeface="IBM Plex Mono"/>
                <a:sym typeface="IBM Plex Mono"/>
              </a:rPr>
              <a:t>Select the most promising models and do a proper hyperparameter search</a:t>
            </a:r>
            <a:endParaRPr>
              <a:solidFill>
                <a:srgbClr val="3B4660"/>
              </a:solidFill>
              <a:latin typeface="IBM Plex Mono"/>
              <a:ea typeface="IBM Plex Mono"/>
              <a:cs typeface="IBM Plex Mono"/>
              <a:sym typeface="IBM Plex Mono"/>
            </a:endParaRPr>
          </a:p>
          <a:p>
            <a:pPr indent="0" lvl="0" marL="0" marR="0" rtl="0" algn="l">
              <a:lnSpc>
                <a:spcPct val="140000"/>
              </a:lnSpc>
              <a:spcBef>
                <a:spcPts val="0"/>
              </a:spcBef>
              <a:spcAft>
                <a:spcPts val="0"/>
              </a:spcAft>
              <a:buNone/>
            </a:pPr>
            <a:r>
              <a:rPr b="1" lang="en-US" sz="1600">
                <a:solidFill>
                  <a:srgbClr val="3B4660"/>
                </a:solidFill>
                <a:latin typeface="IBM Plex Mono"/>
                <a:ea typeface="IBM Plex Mono"/>
                <a:cs typeface="IBM Plex Mono"/>
                <a:sym typeface="IBM Plex Mono"/>
              </a:rPr>
              <a:t>Step 4:</a:t>
            </a:r>
            <a:endParaRPr b="1" sz="1600">
              <a:solidFill>
                <a:srgbClr val="3B4660"/>
              </a:solidFill>
              <a:latin typeface="IBM Plex Mono"/>
              <a:ea typeface="IBM Plex Mono"/>
              <a:cs typeface="IBM Plex Mono"/>
              <a:sym typeface="IBM Plex Mono"/>
            </a:endParaRPr>
          </a:p>
          <a:p>
            <a:pPr indent="-317500" lvl="0" marL="457200" marR="0" rtl="0" algn="l">
              <a:lnSpc>
                <a:spcPct val="140000"/>
              </a:lnSpc>
              <a:spcBef>
                <a:spcPts val="0"/>
              </a:spcBef>
              <a:spcAft>
                <a:spcPts val="0"/>
              </a:spcAft>
              <a:buClr>
                <a:srgbClr val="3B4660"/>
              </a:buClr>
              <a:buSzPts val="1400"/>
              <a:buFont typeface="IBM Plex Mono"/>
              <a:buChar char="-"/>
            </a:pPr>
            <a:r>
              <a:rPr lang="en-US">
                <a:solidFill>
                  <a:srgbClr val="3B4660"/>
                </a:solidFill>
                <a:latin typeface="IBM Plex Mono"/>
                <a:ea typeface="IBM Plex Mono"/>
                <a:cs typeface="IBM Plex Mono"/>
                <a:sym typeface="IBM Plex Mono"/>
              </a:rPr>
              <a:t>Publication</a:t>
            </a:r>
            <a:endParaRPr>
              <a:solidFill>
                <a:srgbClr val="3B4660"/>
              </a:solidFill>
              <a:latin typeface="IBM Plex Mono"/>
              <a:ea typeface="IBM Plex Mono"/>
              <a:cs typeface="IBM Plex Mono"/>
              <a:sym typeface="IBM Plex Mono"/>
            </a:endParaRPr>
          </a:p>
          <a:p>
            <a:pPr indent="0" lvl="0" marL="457200" marR="0" rtl="0" algn="l">
              <a:lnSpc>
                <a:spcPct val="140000"/>
              </a:lnSpc>
              <a:spcBef>
                <a:spcPts val="0"/>
              </a:spcBef>
              <a:spcAft>
                <a:spcPts val="0"/>
              </a:spcAft>
              <a:buNone/>
            </a:pPr>
            <a:r>
              <a:t/>
            </a:r>
            <a:endParaRPr b="1">
              <a:solidFill>
                <a:srgbClr val="3B4660"/>
              </a:solidFill>
              <a:latin typeface="IBM Plex Sans"/>
              <a:ea typeface="IBM Plex Sans"/>
              <a:cs typeface="IBM Plex Sans"/>
              <a:sym typeface="IBM Plex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1"/>
        </a:solidFill>
      </p:bgPr>
    </p:bg>
    <p:spTree>
      <p:nvGrpSpPr>
        <p:cNvPr id="348" name="Shape 348"/>
        <p:cNvGrpSpPr/>
        <p:nvPr/>
      </p:nvGrpSpPr>
      <p:grpSpPr>
        <a:xfrm>
          <a:off x="0" y="0"/>
          <a:ext cx="0" cy="0"/>
          <a:chOff x="0" y="0"/>
          <a:chExt cx="0" cy="0"/>
        </a:xfrm>
      </p:grpSpPr>
      <p:pic>
        <p:nvPicPr>
          <p:cNvPr descr="On a blue-to-pink gradient panel, the charge trace from the title slide: past shots, then a dashed forecast with its uncertainty band" id="349" name="Google Shape;349;p23"/>
          <p:cNvPicPr preferRelativeResize="0"/>
          <p:nvPr/>
        </p:nvPicPr>
        <p:blipFill rotWithShape="1">
          <a:blip r:embed="rId3">
            <a:alphaModFix/>
          </a:blip>
          <a:srcRect b="-10" l="0" r="0" t="-10"/>
          <a:stretch/>
        </p:blipFill>
        <p:spPr>
          <a:xfrm>
            <a:off x="0" y="0"/>
            <a:ext cx="5715000" cy="6858000"/>
          </a:xfrm>
          <a:prstGeom prst="rect">
            <a:avLst/>
          </a:prstGeom>
          <a:noFill/>
          <a:ln>
            <a:noFill/>
          </a:ln>
        </p:spPr>
      </p:pic>
      <p:sp>
        <p:nvSpPr>
          <p:cNvPr id="350" name="Google Shape;350;p23"/>
          <p:cNvSpPr/>
          <p:nvPr/>
        </p:nvSpPr>
        <p:spPr>
          <a:xfrm>
            <a:off x="6527800" y="1717675"/>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51" name="Google Shape;351;p23"/>
          <p:cNvSpPr/>
          <p:nvPr/>
        </p:nvSpPr>
        <p:spPr>
          <a:xfrm>
            <a:off x="6527800" y="1946275"/>
            <a:ext cx="499694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D28D9"/>
              </a:buClr>
              <a:buSzPts val="1200"/>
              <a:buFont typeface="IBM Plex Mono"/>
              <a:buNone/>
            </a:pPr>
            <a:r>
              <a:rPr b="0" i="0" lang="en-US" sz="1200" u="none" cap="none" strike="noStrike">
                <a:solidFill>
                  <a:srgbClr val="6D28D9"/>
                </a:solidFill>
                <a:latin typeface="IBM Plex Mono"/>
                <a:ea typeface="IBM Plex Mono"/>
                <a:cs typeface="IBM Plex Mono"/>
                <a:sym typeface="IBM Plex Mono"/>
              </a:rPr>
              <a:t>THANK YOU</a:t>
            </a:r>
            <a:endParaRPr b="0" i="0" sz="1200" u="none" cap="none" strike="noStrike">
              <a:solidFill>
                <a:schemeClr val="dk1"/>
              </a:solidFill>
              <a:latin typeface="IBM Plex Mono"/>
              <a:ea typeface="IBM Plex Mono"/>
              <a:cs typeface="IBM Plex Mono"/>
              <a:sym typeface="IBM Plex Mono"/>
            </a:endParaRPr>
          </a:p>
        </p:txBody>
      </p:sp>
      <p:sp>
        <p:nvSpPr>
          <p:cNvPr id="352" name="Google Shape;352;p23"/>
          <p:cNvSpPr txBox="1"/>
          <p:nvPr>
            <p:ph type="title"/>
          </p:nvPr>
        </p:nvSpPr>
        <p:spPr>
          <a:xfrm>
            <a:off x="6527800" y="2333625"/>
            <a:ext cx="4996942" cy="129540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14213D"/>
              </a:buClr>
              <a:buSzPts val="4800"/>
              <a:buFont typeface="Space Grotesk"/>
              <a:buNone/>
            </a:pPr>
            <a:r>
              <a:rPr b="1" i="0" lang="en-US" sz="4800">
                <a:solidFill>
                  <a:srgbClr val="14213D"/>
                </a:solidFill>
                <a:latin typeface="Space Grotesk"/>
                <a:ea typeface="Space Grotesk"/>
                <a:cs typeface="Space Grotesk"/>
                <a:sym typeface="Space Grotesk"/>
              </a:rPr>
              <a:t>Let's predict the </a:t>
            </a:r>
            <a:r>
              <a:rPr b="1" i="0" lang="en-US" sz="4800">
                <a:solidFill>
                  <a:srgbClr val="BE185D"/>
                </a:solidFill>
                <a:latin typeface="Space Grotesk"/>
                <a:ea typeface="Space Grotesk"/>
                <a:cs typeface="Space Grotesk"/>
                <a:sym typeface="Space Grotesk"/>
              </a:rPr>
              <a:t>next shot</a:t>
            </a:r>
            <a:endParaRPr sz="4800"/>
          </a:p>
        </p:txBody>
      </p:sp>
      <p:sp>
        <p:nvSpPr>
          <p:cNvPr id="353" name="Google Shape;353;p23"/>
          <p:cNvSpPr/>
          <p:nvPr/>
        </p:nvSpPr>
        <p:spPr>
          <a:xfrm>
            <a:off x="6527800" y="4238625"/>
            <a:ext cx="4996942" cy="304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Antonio Gilardi</a:t>
            </a:r>
            <a:endParaRPr b="0" i="0" sz="1600" u="none" cap="none" strike="noStrike">
              <a:solidFill>
                <a:schemeClr val="dk1"/>
              </a:solidFill>
              <a:latin typeface="IBM Plex Mono"/>
              <a:ea typeface="IBM Plex Mono"/>
              <a:cs typeface="IBM Plex Mono"/>
              <a:sym typeface="IBM Plex Mono"/>
            </a:endParaRPr>
          </a:p>
        </p:txBody>
      </p:sp>
      <p:sp>
        <p:nvSpPr>
          <p:cNvPr id="354" name="Google Shape;354;p23"/>
          <p:cNvSpPr/>
          <p:nvPr/>
        </p:nvSpPr>
        <p:spPr>
          <a:xfrm>
            <a:off x="6527800" y="4543425"/>
            <a:ext cx="499694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478"/>
              </a:buClr>
              <a:buSzPts val="1200"/>
              <a:buFont typeface="IBM Plex Mono"/>
              <a:buNone/>
            </a:pPr>
            <a:r>
              <a:rPr b="0" i="0" lang="en-US" sz="1200" u="none" cap="none" strike="noStrike">
                <a:solidFill>
                  <a:srgbClr val="5A6478"/>
                </a:solidFill>
                <a:latin typeface="IBM Plex Mono"/>
                <a:ea typeface="IBM Plex Mono"/>
                <a:cs typeface="IBM Plex Mono"/>
                <a:sym typeface="IBM Plex Mono"/>
              </a:rPr>
              <a:t>antonio.gilardi@cern.ch</a:t>
            </a:r>
            <a:endParaRPr b="0" i="0" sz="1200" u="none" cap="none" strike="noStrike">
              <a:solidFill>
                <a:schemeClr val="dk1"/>
              </a:solidFill>
              <a:latin typeface="IBM Plex Mono"/>
              <a:ea typeface="IBM Plex Mono"/>
              <a:cs typeface="IBM Plex Mono"/>
              <a:sym typeface="IBM Plex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18"/>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61" name="Google Shape;361;p18"/>
          <p:cNvSpPr/>
          <p:nvPr/>
        </p:nvSpPr>
        <p:spPr>
          <a:xfrm>
            <a:off x="813816" y="813816"/>
            <a:ext cx="2834640" cy="283464"/>
          </a:xfrm>
          <a:prstGeom prst="roundRect">
            <a:avLst>
              <a:gd fmla="val 17778" name="adj"/>
            </a:avLst>
          </a:prstGeom>
          <a:solidFill>
            <a:srgbClr val="BE18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62" name="Google Shape;362;p18"/>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3 · HARD · RESULTS</a:t>
            </a:r>
            <a:endParaRPr b="0" i="0" sz="1200" u="none" cap="none" strike="noStrike">
              <a:solidFill>
                <a:schemeClr val="dk1"/>
              </a:solidFill>
              <a:latin typeface="IBM Plex Mono"/>
              <a:ea typeface="IBM Plex Mono"/>
              <a:cs typeface="IBM Plex Mono"/>
              <a:sym typeface="IBM Plex Mono"/>
            </a:endParaRPr>
          </a:p>
        </p:txBody>
      </p:sp>
      <p:sp>
        <p:nvSpPr>
          <p:cNvPr id="363" name="Google Shape;363;p18"/>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600"/>
              <a:buFont typeface="Space Grotesk"/>
              <a:buNone/>
            </a:pPr>
            <a:r>
              <a:rPr b="1" i="0" lang="en-US" sz="3600">
                <a:solidFill>
                  <a:srgbClr val="14213D"/>
                </a:solidFill>
                <a:latin typeface="Space Grotesk"/>
                <a:ea typeface="Space Grotesk"/>
                <a:cs typeface="Space Grotesk"/>
                <a:sym typeface="Space Grotesk"/>
              </a:rPr>
              <a:t>Pitfall: a fake gain from misaligned data</a:t>
            </a:r>
            <a:endParaRPr sz="3600"/>
          </a:p>
        </p:txBody>
      </p:sp>
      <p:sp>
        <p:nvSpPr>
          <p:cNvPr id="364" name="Google Shape;364;p18"/>
          <p:cNvSpPr/>
          <p:nvPr/>
        </p:nvSpPr>
        <p:spPr>
          <a:xfrm>
            <a:off x="10058400" y="6242050"/>
            <a:ext cx="1320800" cy="23495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D28D9"/>
              </a:buClr>
              <a:buSzPts val="1200"/>
              <a:buFont typeface="IBM Plex Mono"/>
              <a:buNone/>
            </a:pPr>
            <a:r>
              <a:rPr b="0" i="0" lang="en-US" sz="1200" u="none" cap="none" strike="noStrike">
                <a:solidFill>
                  <a:srgbClr val="6D28D9"/>
                </a:solidFill>
                <a:latin typeface="IBM Plex Mono"/>
                <a:ea typeface="IBM Plex Mono"/>
                <a:cs typeface="IBM Plex Mono"/>
                <a:sym typeface="IBM Plex Mono"/>
              </a:rPr>
              <a:t>35</a:t>
            </a:r>
            <a:endParaRPr b="0" i="0" sz="1200" u="none" cap="none" strike="noStrike">
              <a:solidFill>
                <a:schemeClr val="dk1"/>
              </a:solidFill>
              <a:latin typeface="IBM Plex Mono"/>
              <a:ea typeface="IBM Plex Mono"/>
              <a:cs typeface="IBM Plex Mono"/>
              <a:sym typeface="IBM Plex Mono"/>
            </a:endParaRPr>
          </a:p>
        </p:txBody>
      </p:sp>
      <p:sp>
        <p:nvSpPr>
          <p:cNvPr id="365" name="Google Shape;365;p18"/>
          <p:cNvSpPr/>
          <p:nvPr/>
        </p:nvSpPr>
        <p:spPr>
          <a:xfrm>
            <a:off x="813816" y="1783080"/>
            <a:ext cx="10881360" cy="3200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0" i="0" lang="en-US" sz="1600" u="none" cap="none" strike="noStrike">
                <a:solidFill>
                  <a:srgbClr val="14213D"/>
                </a:solidFill>
                <a:latin typeface="IBM Plex Sans"/>
                <a:ea typeface="IBM Plex Sans"/>
                <a:cs typeface="IBM Plex Sans"/>
                <a:sym typeface="IBM Plex Sans"/>
              </a:rPr>
              <a:t>With the laser meter on the wrong row, the "forecast" sees the future.</a:t>
            </a:r>
            <a:endParaRPr b="0" i="0" sz="1600" u="none" cap="none" strike="noStrike">
              <a:solidFill>
                <a:schemeClr val="dk1"/>
              </a:solidFill>
              <a:latin typeface="IBM Plex Mono"/>
              <a:ea typeface="IBM Plex Mono"/>
              <a:cs typeface="IBM Plex Mono"/>
              <a:sym typeface="IBM Plex Mono"/>
            </a:endParaRPr>
          </a:p>
        </p:txBody>
      </p:sp>
      <p:sp>
        <p:nvSpPr>
          <p:cNvPr id="366" name="Google Shape;366;p18"/>
          <p:cNvSpPr/>
          <p:nvPr/>
        </p:nvSpPr>
        <p:spPr>
          <a:xfrm>
            <a:off x="868675" y="2286000"/>
            <a:ext cx="4828500" cy="3566100"/>
          </a:xfrm>
          <a:prstGeom prst="rect">
            <a:avLst/>
          </a:prstGeom>
          <a:noFill/>
          <a:ln>
            <a:noFill/>
          </a:ln>
        </p:spPr>
        <p:txBody>
          <a:bodyPr anchorCtr="0" anchor="t" bIns="0" lIns="0" spcFirstLastPara="1" rIns="0" wrap="square" tIns="0">
            <a:normAutofit/>
          </a:bodyPr>
          <a:lstStyle/>
          <a:p>
            <a:pPr indent="-196342" lvl="0" marL="196342" marR="0" rtl="0" algn="l">
              <a:lnSpc>
                <a:spcPct val="140000"/>
              </a:lnSpc>
              <a:spcBef>
                <a:spcPts val="0"/>
              </a:spcBef>
              <a:spcAft>
                <a:spcPts val="0"/>
              </a:spcAft>
              <a:buClr>
                <a:srgbClr val="3B4660"/>
              </a:buClr>
              <a:buSzPts val="1400"/>
              <a:buFont typeface="IBM Plex Sans"/>
              <a:buChar char="•"/>
            </a:pPr>
            <a:r>
              <a:rPr b="0" i="0" lang="en-US" sz="1400" u="none" cap="none" strike="noStrike">
                <a:solidFill>
                  <a:srgbClr val="3B4660"/>
                </a:solidFill>
                <a:latin typeface="IBM Plex Sans"/>
                <a:ea typeface="IBM Plex Sans"/>
                <a:cs typeface="IBM Plex Sans"/>
                <a:sym typeface="IBM Plex Sans"/>
              </a:rPr>
              <a:t>Row-shifted datasets: h = 1 gain of </a:t>
            </a:r>
            <a:r>
              <a:rPr b="1" i="0" lang="en-US" sz="1400" u="none" cap="none" strike="noStrike">
                <a:solidFill>
                  <a:srgbClr val="3B4660"/>
                </a:solidFill>
                <a:latin typeface="IBM Plex Sans"/>
                <a:ea typeface="IBM Plex Sans"/>
                <a:cs typeface="IBM Plex Sans"/>
                <a:sym typeface="IBM Plex Sans"/>
              </a:rPr>
              <a:t>−17 to −19 % (!!)</a:t>
            </a:r>
            <a:r>
              <a:rPr b="0" i="0" lang="en-US" sz="1400" u="none" cap="none" strike="noStrike">
                <a:solidFill>
                  <a:srgbClr val="3B4660"/>
                </a:solidFill>
                <a:latin typeface="IBM Plex Sans"/>
                <a:ea typeface="IBM Plex Sans"/>
                <a:cs typeface="IBM Plex Sans"/>
                <a:sym typeface="IBM Plex Sans"/>
              </a:rPr>
              <a:t> vs the 9-shot mean.</a:t>
            </a:r>
            <a:endParaRPr b="0" i="0" sz="1400" u="none" cap="none" strike="noStrike">
              <a:solidFill>
                <a:srgbClr val="3B4660"/>
              </a:solidFill>
              <a:latin typeface="IBM Plex Sans"/>
              <a:ea typeface="IBM Plex Sans"/>
              <a:cs typeface="IBM Plex Sans"/>
              <a:sym typeface="IBM Plex Sans"/>
            </a:endParaRPr>
          </a:p>
          <a:p>
            <a:pPr indent="-196342" lvl="0" marL="196342" marR="0" rtl="0" algn="l">
              <a:lnSpc>
                <a:spcPct val="140000"/>
              </a:lnSpc>
              <a:spcBef>
                <a:spcPts val="0"/>
              </a:spcBef>
              <a:spcAft>
                <a:spcPts val="0"/>
              </a:spcAft>
              <a:buClr>
                <a:srgbClr val="3B4660"/>
              </a:buClr>
              <a:buSzPts val="1400"/>
              <a:buFont typeface="IBM Plex Sans"/>
              <a:buChar char="•"/>
            </a:pPr>
            <a:r>
              <a:rPr b="1" lang="en-US">
                <a:solidFill>
                  <a:srgbClr val="3B4660"/>
                </a:solidFill>
                <a:latin typeface="IBM Plex Sans"/>
                <a:ea typeface="IBM Plex Sans"/>
                <a:cs typeface="IBM Plex Sans"/>
                <a:sym typeface="IBM Plex Sans"/>
              </a:rPr>
              <a:t>BUT</a:t>
            </a:r>
            <a:r>
              <a:rPr lang="en-US">
                <a:solidFill>
                  <a:srgbClr val="3B4660"/>
                </a:solidFill>
                <a:latin typeface="IBM Plex Sans"/>
                <a:ea typeface="IBM Plex Sans"/>
                <a:cs typeface="IBM Plex Sans"/>
                <a:sym typeface="IBM Plex Sans"/>
              </a:rPr>
              <a:t>: the laser meter is often read before it has updated, so it still shows the previous pulse’s value – a next-shot forecast can cheat.</a:t>
            </a:r>
            <a:endParaRPr>
              <a:solidFill>
                <a:srgbClr val="3B4660"/>
              </a:solidFill>
              <a:latin typeface="IBM Plex Sans"/>
              <a:ea typeface="IBM Plex Sans"/>
              <a:cs typeface="IBM Plex Sans"/>
              <a:sym typeface="IBM Plex Sans"/>
            </a:endParaRPr>
          </a:p>
          <a:p>
            <a:pPr indent="-196342" lvl="0" marL="196342" marR="0" rtl="0" algn="l">
              <a:lnSpc>
                <a:spcPct val="140000"/>
              </a:lnSpc>
              <a:spcBef>
                <a:spcPts val="0"/>
              </a:spcBef>
              <a:spcAft>
                <a:spcPts val="0"/>
              </a:spcAft>
              <a:buClr>
                <a:srgbClr val="3B4660"/>
              </a:buClr>
              <a:buSzPts val="1400"/>
              <a:buFont typeface="IBM Plex Sans"/>
              <a:buChar char="•"/>
            </a:pPr>
            <a:r>
              <a:rPr b="1" i="0" lang="en-US" sz="1400" u="none" cap="none" strike="noStrike">
                <a:solidFill>
                  <a:srgbClr val="3B4660"/>
                </a:solidFill>
                <a:latin typeface="IBM Plex Sans"/>
                <a:ea typeface="IBM Plex Sans"/>
                <a:cs typeface="IBM Plex Sans"/>
                <a:sym typeface="IBM Plex Sans"/>
              </a:rPr>
              <a:t>Pulse-aligned</a:t>
            </a:r>
            <a:r>
              <a:rPr b="0" i="0" lang="en-US" sz="1400" u="none" cap="none" strike="noStrike">
                <a:solidFill>
                  <a:srgbClr val="3B4660"/>
                </a:solidFill>
                <a:latin typeface="IBM Plex Sans"/>
                <a:ea typeface="IBM Plex Sans"/>
                <a:cs typeface="IBM Plex Sans"/>
                <a:sym typeface="IBM Plex Sans"/>
              </a:rPr>
              <a:t>: −3 to −4 %, flat over horizon</a:t>
            </a:r>
            <a:endParaRPr b="0" i="0" sz="1400" u="none" cap="none" strike="noStrike">
              <a:solidFill>
                <a:schemeClr val="dk1"/>
              </a:solidFill>
              <a:latin typeface="IBM Plex Mono"/>
              <a:ea typeface="IBM Plex Mono"/>
              <a:cs typeface="IBM Plex Mono"/>
              <a:sym typeface="IBM Plex Mono"/>
            </a:endParaRPr>
          </a:p>
          <a:p>
            <a:pPr indent="-196342" lvl="0" marL="196342" marR="0" rtl="0" algn="l">
              <a:lnSpc>
                <a:spcPct val="140000"/>
              </a:lnSpc>
              <a:spcBef>
                <a:spcPts val="0"/>
              </a:spcBef>
              <a:spcAft>
                <a:spcPts val="0"/>
              </a:spcAft>
              <a:buClr>
                <a:srgbClr val="3B4660"/>
              </a:buClr>
              <a:buSzPts val="1400"/>
              <a:buFont typeface="IBM Plex Sans"/>
              <a:buChar char="•"/>
            </a:pPr>
            <a:r>
              <a:rPr b="0" i="0" lang="en-US" sz="1400" u="none" cap="none" strike="noStrike">
                <a:solidFill>
                  <a:srgbClr val="3B4660"/>
                </a:solidFill>
                <a:latin typeface="IBM Plex Sans"/>
                <a:ea typeface="IBM Plex Sans"/>
                <a:cs typeface="IBM Plex Sans"/>
                <a:sym typeface="IBM Plex Sans"/>
              </a:rPr>
              <a:t>Two-step model (</a:t>
            </a:r>
            <a:r>
              <a:rPr lang="en-US">
                <a:solidFill>
                  <a:srgbClr val="3B4660"/>
                </a:solidFill>
                <a:latin typeface="IBM Plex Sans"/>
                <a:ea typeface="IBM Plex Sans"/>
                <a:cs typeface="IBM Plex Sans"/>
                <a:sym typeface="IBM Plex Sans"/>
              </a:rPr>
              <a:t>reusing the virtual diagnostic to feed into the forecast</a:t>
            </a:r>
            <a:r>
              <a:rPr b="0" i="0" lang="en-US" sz="1400" u="none" cap="none" strike="noStrike">
                <a:solidFill>
                  <a:srgbClr val="3B4660"/>
                </a:solidFill>
                <a:latin typeface="IBM Plex Sans"/>
                <a:ea typeface="IBM Plex Sans"/>
                <a:cs typeface="IBM Plex Sans"/>
                <a:sym typeface="IBM Plex Sans"/>
              </a:rPr>
              <a:t>) is </a:t>
            </a:r>
            <a:r>
              <a:rPr b="1" i="0" lang="en-US" sz="1400" u="none" cap="none" strike="noStrike">
                <a:solidFill>
                  <a:srgbClr val="3B4660"/>
                </a:solidFill>
                <a:latin typeface="IBM Plex Sans"/>
                <a:ea typeface="IBM Plex Sans"/>
                <a:cs typeface="IBM Plex Sans"/>
                <a:sym typeface="IBM Plex Sans"/>
              </a:rPr>
              <a:t>no better</a:t>
            </a:r>
            <a:r>
              <a:rPr b="0" i="0" lang="en-US" sz="1400" u="none" cap="none" strike="noStrike">
                <a:solidFill>
                  <a:srgbClr val="3B4660"/>
                </a:solidFill>
                <a:latin typeface="IBM Plex Sans"/>
                <a:ea typeface="IBM Plex Sans"/>
                <a:cs typeface="IBM Plex Sans"/>
                <a:sym typeface="IBM Plex Sans"/>
              </a:rPr>
              <a:t> than the </a:t>
            </a:r>
            <a:r>
              <a:rPr b="1" i="0" lang="en-US" sz="1400" u="none" cap="none" strike="noStrike">
                <a:solidFill>
                  <a:srgbClr val="3B4660"/>
                </a:solidFill>
                <a:latin typeface="IBM Plex Sans"/>
                <a:ea typeface="IBM Plex Sans"/>
                <a:cs typeface="IBM Plex Sans"/>
                <a:sym typeface="IBM Plex Sans"/>
              </a:rPr>
              <a:t>51-shot mean</a:t>
            </a:r>
            <a:r>
              <a:rPr b="0" i="0" lang="en-US" sz="1400" u="none" cap="none" strike="noStrike">
                <a:solidFill>
                  <a:srgbClr val="3B4660"/>
                </a:solidFill>
                <a:latin typeface="IBM Plex Sans"/>
                <a:ea typeface="IBM Plex Sans"/>
                <a:cs typeface="IBM Plex Sans"/>
                <a:sym typeface="IBM Plex Sans"/>
              </a:rPr>
              <a:t>: present features cannot be forecast</a:t>
            </a:r>
            <a:r>
              <a:rPr lang="en-US">
                <a:solidFill>
                  <a:srgbClr val="3B4660"/>
                </a:solidFill>
                <a:latin typeface="IBM Plex Sans"/>
                <a:ea typeface="IBM Plex Sans"/>
                <a:cs typeface="IBM Plex Sans"/>
                <a:sym typeface="IBM Plex Sans"/>
              </a:rPr>
              <a:t> reliably.</a:t>
            </a:r>
            <a:endParaRPr b="0" i="0" sz="1400" u="none" cap="none" strike="noStrike">
              <a:solidFill>
                <a:schemeClr val="dk1"/>
              </a:solidFill>
              <a:latin typeface="IBM Plex Mono"/>
              <a:ea typeface="IBM Plex Mono"/>
              <a:cs typeface="IBM Plex Mono"/>
              <a:sym typeface="IBM Plex Mono"/>
            </a:endParaRPr>
          </a:p>
          <a:p>
            <a:pPr indent="-196342" lvl="0" marL="196342" marR="0" rtl="0" algn="l">
              <a:lnSpc>
                <a:spcPct val="140000"/>
              </a:lnSpc>
              <a:spcBef>
                <a:spcPts val="0"/>
              </a:spcBef>
              <a:spcAft>
                <a:spcPts val="0"/>
              </a:spcAft>
              <a:buClr>
                <a:srgbClr val="3B4660"/>
              </a:buClr>
              <a:buSzPts val="1400"/>
              <a:buFont typeface="IBM Plex Sans"/>
              <a:buChar char="•"/>
            </a:pPr>
            <a:r>
              <a:rPr b="1" i="0" lang="en-US" sz="1400" u="none" cap="none" strike="noStrike">
                <a:solidFill>
                  <a:srgbClr val="3B4660"/>
                </a:solidFill>
                <a:latin typeface="IBM Plex Sans"/>
                <a:ea typeface="IBM Plex Sans"/>
                <a:cs typeface="IBM Plex Sans"/>
                <a:sym typeface="IBM Plex Sans"/>
              </a:rPr>
              <a:t>Lesson</a:t>
            </a:r>
            <a:r>
              <a:rPr b="0" i="0" lang="en-US" sz="1400" u="none" cap="none" strike="noStrike">
                <a:solidFill>
                  <a:srgbClr val="3B4660"/>
                </a:solidFill>
                <a:latin typeface="IBM Plex Sans"/>
                <a:ea typeface="IBM Plex Sans"/>
                <a:cs typeface="IBM Plex Sans"/>
                <a:sym typeface="IBM Plex Sans"/>
              </a:rPr>
              <a:t>: check every variable's lag on the pulse grid before trusting a gain</a:t>
            </a:r>
            <a:endParaRPr b="0" i="0" sz="1400" u="none" cap="none" strike="noStrike">
              <a:solidFill>
                <a:schemeClr val="dk1"/>
              </a:solidFill>
              <a:latin typeface="IBM Plex Mono"/>
              <a:ea typeface="IBM Plex Mono"/>
              <a:cs typeface="IBM Plex Mono"/>
              <a:sym typeface="IBM Plex Mono"/>
            </a:endParaRPr>
          </a:p>
        </p:txBody>
      </p:sp>
      <p:pic>
        <p:nvPicPr>
          <p:cNvPr descr="15_alignment_significance_intervals_cell13.png" id="367" name="Google Shape;367;p18"/>
          <p:cNvPicPr preferRelativeResize="0"/>
          <p:nvPr/>
        </p:nvPicPr>
        <p:blipFill rotWithShape="1">
          <a:blip r:embed="rId3">
            <a:alphaModFix/>
          </a:blip>
          <a:srcRect b="0" l="0" r="0" t="0"/>
          <a:stretch/>
        </p:blipFill>
        <p:spPr>
          <a:xfrm>
            <a:off x="5867802" y="2473500"/>
            <a:ext cx="6234076" cy="1549000"/>
          </a:xfrm>
          <a:prstGeom prst="rect">
            <a:avLst/>
          </a:prstGeom>
          <a:noFill/>
          <a:ln>
            <a:noFill/>
          </a:ln>
        </p:spPr>
      </p:pic>
      <p:pic>
        <p:nvPicPr>
          <p:cNvPr descr="10_forecast_two_step_cell10.png" id="368" name="Google Shape;368;p18"/>
          <p:cNvPicPr preferRelativeResize="0"/>
          <p:nvPr/>
        </p:nvPicPr>
        <p:blipFill rotWithShape="1">
          <a:blip r:embed="rId4">
            <a:alphaModFix/>
          </a:blip>
          <a:srcRect b="0" l="0" r="0" t="0"/>
          <a:stretch/>
        </p:blipFill>
        <p:spPr>
          <a:xfrm>
            <a:off x="5867802" y="4824258"/>
            <a:ext cx="6287677" cy="1994418"/>
          </a:xfrm>
          <a:prstGeom prst="rect">
            <a:avLst/>
          </a:prstGeom>
          <a:noFill/>
          <a:ln>
            <a:noFill/>
          </a:ln>
        </p:spPr>
      </p:pic>
      <p:sp>
        <p:nvSpPr>
          <p:cNvPr id="369" name="Google Shape;369;p18"/>
          <p:cNvSpPr/>
          <p:nvPr/>
        </p:nvSpPr>
        <p:spPr>
          <a:xfrm>
            <a:off x="7599676" y="2285988"/>
            <a:ext cx="4374600" cy="702300"/>
          </a:xfrm>
          <a:prstGeom prst="rect">
            <a:avLst/>
          </a:prstGeom>
          <a:noFill/>
          <a:ln>
            <a:noFill/>
          </a:ln>
        </p:spPr>
        <p:txBody>
          <a:bodyPr anchorCtr="0" anchor="t" bIns="0" lIns="0" spcFirstLastPara="1" rIns="0" wrap="square" tIns="0">
            <a:noAutofit/>
          </a:bodyPr>
          <a:lstStyle/>
          <a:p>
            <a:pPr indent="0" lvl="0" marL="0" marR="0" rtl="0" algn="l">
              <a:lnSpc>
                <a:spcPct val="139900"/>
              </a:lnSpc>
              <a:spcBef>
                <a:spcPts val="0"/>
              </a:spcBef>
              <a:spcAft>
                <a:spcPts val="0"/>
              </a:spcAft>
              <a:buClr>
                <a:srgbClr val="14213D"/>
              </a:buClr>
              <a:buSzPts val="1000"/>
              <a:buFont typeface="IBM Plex Sans"/>
              <a:buNone/>
            </a:pPr>
            <a:r>
              <a:rPr b="1" lang="en-US" sz="1000">
                <a:solidFill>
                  <a:srgbClr val="14213D"/>
                </a:solidFill>
                <a:latin typeface="IBM Plex Sans"/>
                <a:ea typeface="IBM Plex Sans"/>
                <a:cs typeface="IBM Plex Sans"/>
                <a:sym typeface="IBM Plex Sans"/>
              </a:rPr>
              <a:t>Ridge model using all inputs, predicting h shots ahead</a:t>
            </a:r>
            <a:endParaRPr b="1" i="0" sz="1000" u="none" cap="none" strike="noStrike">
              <a:solidFill>
                <a:schemeClr val="dk1"/>
              </a:solidFill>
              <a:latin typeface="IBM Plex Mono"/>
              <a:ea typeface="IBM Plex Mono"/>
              <a:cs typeface="IBM Plex Mono"/>
              <a:sym typeface="IBM Plex Mono"/>
            </a:endParaRPr>
          </a:p>
        </p:txBody>
      </p:sp>
      <p:sp>
        <p:nvSpPr>
          <p:cNvPr id="370" name="Google Shape;370;p18"/>
          <p:cNvSpPr/>
          <p:nvPr/>
        </p:nvSpPr>
        <p:spPr>
          <a:xfrm>
            <a:off x="6283525" y="4465395"/>
            <a:ext cx="3119400" cy="419100"/>
          </a:xfrm>
          <a:prstGeom prst="rect">
            <a:avLst/>
          </a:prstGeom>
          <a:noFill/>
          <a:ln>
            <a:noFill/>
          </a:ln>
        </p:spPr>
        <p:txBody>
          <a:bodyPr anchorCtr="0" anchor="t" bIns="0" lIns="0" spcFirstLastPara="1" rIns="0" wrap="square" tIns="0">
            <a:noAutofit/>
          </a:bodyPr>
          <a:lstStyle/>
          <a:p>
            <a:pPr indent="0" lvl="0" marL="0" marR="0" rtl="0" algn="l">
              <a:lnSpc>
                <a:spcPct val="139900"/>
              </a:lnSpc>
              <a:spcBef>
                <a:spcPts val="0"/>
              </a:spcBef>
              <a:spcAft>
                <a:spcPts val="0"/>
              </a:spcAft>
              <a:buClr>
                <a:srgbClr val="14213D"/>
              </a:buClr>
              <a:buSzPts val="1000"/>
              <a:buFont typeface="IBM Plex Sans"/>
              <a:buNone/>
            </a:pPr>
            <a:r>
              <a:rPr b="1" lang="en-US" sz="1000">
                <a:solidFill>
                  <a:schemeClr val="dk1"/>
                </a:solidFill>
                <a:latin typeface="IBM Plex Mono"/>
                <a:ea typeface="IBM Plex Mono"/>
                <a:cs typeface="IBM Plex Mono"/>
                <a:sym typeface="IBM Plex Mono"/>
              </a:rPr>
              <a:t>R2 at shot h for each feature </a:t>
            </a:r>
            <a:endParaRPr b="1" i="0" sz="1000" u="none" cap="none" strike="noStrike">
              <a:solidFill>
                <a:schemeClr val="dk1"/>
              </a:solidFill>
              <a:latin typeface="IBM Plex Mono"/>
              <a:ea typeface="IBM Plex Mono"/>
              <a:cs typeface="IBM Plex Mono"/>
              <a:sym typeface="IBM Plex Mono"/>
            </a:endParaRPr>
          </a:p>
        </p:txBody>
      </p:sp>
      <p:sp>
        <p:nvSpPr>
          <p:cNvPr id="371" name="Google Shape;371;p18"/>
          <p:cNvSpPr/>
          <p:nvPr/>
        </p:nvSpPr>
        <p:spPr>
          <a:xfrm>
            <a:off x="9355925" y="4465400"/>
            <a:ext cx="2743200" cy="419100"/>
          </a:xfrm>
          <a:prstGeom prst="rect">
            <a:avLst/>
          </a:prstGeom>
          <a:noFill/>
          <a:ln>
            <a:noFill/>
          </a:ln>
        </p:spPr>
        <p:txBody>
          <a:bodyPr anchorCtr="0" anchor="t" bIns="0" lIns="0" spcFirstLastPara="1" rIns="0" wrap="square" tIns="0">
            <a:noAutofit/>
          </a:bodyPr>
          <a:lstStyle/>
          <a:p>
            <a:pPr indent="0" lvl="0" marL="0" marR="0" rtl="0" algn="l">
              <a:lnSpc>
                <a:spcPct val="139900"/>
              </a:lnSpc>
              <a:spcBef>
                <a:spcPts val="0"/>
              </a:spcBef>
              <a:spcAft>
                <a:spcPts val="0"/>
              </a:spcAft>
              <a:buClr>
                <a:srgbClr val="14213D"/>
              </a:buClr>
              <a:buSzPts val="1000"/>
              <a:buFont typeface="IBM Plex Sans"/>
              <a:buNone/>
            </a:pPr>
            <a:r>
              <a:rPr b="1" lang="en-US" sz="1000">
                <a:solidFill>
                  <a:schemeClr val="dk1"/>
                </a:solidFill>
                <a:latin typeface="IBM Plex Mono"/>
                <a:ea typeface="IBM Plex Mono"/>
                <a:cs typeface="IBM Plex Mono"/>
                <a:sym typeface="IBM Plex Mono"/>
              </a:rPr>
              <a:t>Forecasting for different segments</a:t>
            </a:r>
            <a:endParaRPr b="1" i="0" sz="1000" u="none" cap="none" strike="noStrike">
              <a:solidFill>
                <a:schemeClr val="dk1"/>
              </a:solidFill>
              <a:latin typeface="IBM Plex Mono"/>
              <a:ea typeface="IBM Plex Mono"/>
              <a:cs typeface="IBM Plex Mono"/>
              <a:sym typeface="IBM Plex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19"/>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78" name="Google Shape;378;p19"/>
          <p:cNvSpPr/>
          <p:nvPr/>
        </p:nvSpPr>
        <p:spPr>
          <a:xfrm>
            <a:off x="813816" y="813816"/>
            <a:ext cx="2834640" cy="283464"/>
          </a:xfrm>
          <a:prstGeom prst="roundRect">
            <a:avLst>
              <a:gd fmla="val 17778" name="adj"/>
            </a:avLst>
          </a:prstGeom>
          <a:solidFill>
            <a:srgbClr val="BE18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79" name="Google Shape;379;p19"/>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3 · HARD · RESULTS</a:t>
            </a:r>
            <a:endParaRPr b="0" i="0" sz="1200" u="none" cap="none" strike="noStrike">
              <a:solidFill>
                <a:schemeClr val="dk1"/>
              </a:solidFill>
              <a:latin typeface="IBM Plex Mono"/>
              <a:ea typeface="IBM Plex Mono"/>
              <a:cs typeface="IBM Plex Mono"/>
              <a:sym typeface="IBM Plex Mono"/>
            </a:endParaRPr>
          </a:p>
        </p:txBody>
      </p:sp>
      <p:sp>
        <p:nvSpPr>
          <p:cNvPr id="380" name="Google Shape;380;p19"/>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600"/>
              <a:buFont typeface="Space Grotesk"/>
              <a:buNone/>
            </a:pPr>
            <a:r>
              <a:rPr b="1" i="0" lang="en-US" sz="3600">
                <a:solidFill>
                  <a:srgbClr val="14213D"/>
                </a:solidFill>
                <a:latin typeface="Space Grotesk"/>
                <a:ea typeface="Space Grotesk"/>
                <a:cs typeface="Space Grotesk"/>
                <a:sym typeface="Space Grotesk"/>
              </a:rPr>
              <a:t>Filtering the slow level: simple wins</a:t>
            </a:r>
            <a:endParaRPr sz="3600"/>
          </a:p>
        </p:txBody>
      </p:sp>
      <p:sp>
        <p:nvSpPr>
          <p:cNvPr id="381" name="Google Shape;381;p19"/>
          <p:cNvSpPr/>
          <p:nvPr/>
        </p:nvSpPr>
        <p:spPr>
          <a:xfrm>
            <a:off x="10058400" y="6242050"/>
            <a:ext cx="1320800" cy="23495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D28D9"/>
              </a:buClr>
              <a:buSzPts val="1200"/>
              <a:buFont typeface="IBM Plex Mono"/>
              <a:buNone/>
            </a:pPr>
            <a:r>
              <a:rPr b="0" i="0" lang="en-US" sz="1200" u="none" cap="none" strike="noStrike">
                <a:solidFill>
                  <a:srgbClr val="6D28D9"/>
                </a:solidFill>
                <a:latin typeface="IBM Plex Mono"/>
                <a:ea typeface="IBM Plex Mono"/>
                <a:cs typeface="IBM Plex Mono"/>
                <a:sym typeface="IBM Plex Mono"/>
              </a:rPr>
              <a:t>36</a:t>
            </a:r>
            <a:endParaRPr b="0" i="0" sz="1200" u="none" cap="none" strike="noStrike">
              <a:solidFill>
                <a:schemeClr val="dk1"/>
              </a:solidFill>
              <a:latin typeface="IBM Plex Mono"/>
              <a:ea typeface="IBM Plex Mono"/>
              <a:cs typeface="IBM Plex Mono"/>
              <a:sym typeface="IBM Plex Mono"/>
            </a:endParaRPr>
          </a:p>
        </p:txBody>
      </p:sp>
      <p:sp>
        <p:nvSpPr>
          <p:cNvPr id="382" name="Google Shape;382;p19"/>
          <p:cNvSpPr/>
          <p:nvPr/>
        </p:nvSpPr>
        <p:spPr>
          <a:xfrm>
            <a:off x="813816" y="1783080"/>
            <a:ext cx="10881360" cy="3200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0" i="0" lang="en-US" sz="1600" u="none" cap="none" strike="noStrike">
                <a:solidFill>
                  <a:srgbClr val="14213D"/>
                </a:solidFill>
                <a:latin typeface="IBM Plex Sans"/>
                <a:ea typeface="IBM Plex Sans"/>
                <a:cs typeface="IBM Plex Sans"/>
                <a:sym typeface="IBM Plex Sans"/>
              </a:rPr>
              <a:t>Trailing mean vs median vs robust EMA vs Kalman level filter, with and without a ridge on top.</a:t>
            </a:r>
            <a:endParaRPr b="0" i="0" sz="1600" u="none" cap="none" strike="noStrike">
              <a:solidFill>
                <a:schemeClr val="dk1"/>
              </a:solidFill>
              <a:latin typeface="IBM Plex Mono"/>
              <a:ea typeface="IBM Plex Mono"/>
              <a:cs typeface="IBM Plex Mono"/>
              <a:sym typeface="IBM Plex Mono"/>
            </a:endParaRPr>
          </a:p>
        </p:txBody>
      </p:sp>
      <p:sp>
        <p:nvSpPr>
          <p:cNvPr id="383" name="Google Shape;383;p19"/>
          <p:cNvSpPr/>
          <p:nvPr/>
        </p:nvSpPr>
        <p:spPr>
          <a:xfrm>
            <a:off x="868680" y="3977639"/>
            <a:ext cx="5120640" cy="1874519"/>
          </a:xfrm>
          <a:prstGeom prst="rect">
            <a:avLst/>
          </a:prstGeom>
          <a:noFill/>
          <a:ln>
            <a:noFill/>
          </a:ln>
        </p:spPr>
        <p:txBody>
          <a:bodyPr anchorCtr="0" anchor="t" bIns="0" lIns="0" spcFirstLastPara="1" rIns="0" wrap="square" tIns="0">
            <a:normAutofit/>
          </a:bodyPr>
          <a:lstStyle/>
          <a:p>
            <a:pPr indent="-196342" lvl="0" marL="196342" marR="0" rtl="0" algn="l">
              <a:lnSpc>
                <a:spcPct val="140000"/>
              </a:lnSpc>
              <a:spcBef>
                <a:spcPts val="0"/>
              </a:spcBef>
              <a:spcAft>
                <a:spcPts val="0"/>
              </a:spcAft>
              <a:buClr>
                <a:srgbClr val="3B4660"/>
              </a:buClr>
              <a:buSzPts val="1300"/>
              <a:buFont typeface="IBM Plex Sans"/>
              <a:buChar char="•"/>
            </a:pPr>
            <a:r>
              <a:rPr b="0" i="0" lang="en-US" sz="1300" u="none" cap="none" strike="noStrike">
                <a:solidFill>
                  <a:srgbClr val="3B4660"/>
                </a:solidFill>
                <a:latin typeface="IBM Plex Sans"/>
                <a:ea typeface="IBM Plex Sans"/>
                <a:cs typeface="IBM Plex Sans"/>
                <a:sym typeface="IBM Plex Sans"/>
              </a:rPr>
              <a:t>Kalman tuned on the level alone is the best level (seg 5: 140.5 vs 145.5 pC) but </a:t>
            </a:r>
            <a:r>
              <a:rPr b="1" i="0" lang="en-US" sz="1300" u="none" cap="none" strike="noStrike">
                <a:solidFill>
                  <a:srgbClr val="3B4660"/>
                </a:solidFill>
                <a:latin typeface="IBM Plex Sans"/>
                <a:ea typeface="IBM Plex Sans"/>
                <a:cs typeface="IBM Plex Sans"/>
                <a:sym typeface="IBM Plex Sans"/>
              </a:rPr>
              <a:t>absorbs predictable jitter</a:t>
            </a:r>
            <a:endParaRPr b="1" i="0" sz="1300" u="none" cap="none" strike="noStrike">
              <a:solidFill>
                <a:schemeClr val="dk1"/>
              </a:solidFill>
              <a:latin typeface="IBM Plex Mono"/>
              <a:ea typeface="IBM Plex Mono"/>
              <a:cs typeface="IBM Plex Mono"/>
              <a:sym typeface="IBM Plex Mono"/>
            </a:endParaRPr>
          </a:p>
          <a:p>
            <a:pPr indent="-196342" lvl="0" marL="196342" marR="0" rtl="0" algn="l">
              <a:lnSpc>
                <a:spcPct val="140000"/>
              </a:lnSpc>
              <a:spcBef>
                <a:spcPts val="0"/>
              </a:spcBef>
              <a:spcAft>
                <a:spcPts val="0"/>
              </a:spcAft>
              <a:buClr>
                <a:srgbClr val="3B4660"/>
              </a:buClr>
              <a:buSzPts val="1300"/>
              <a:buFont typeface="IBM Plex Sans"/>
              <a:buChar char="•"/>
            </a:pPr>
            <a:r>
              <a:rPr b="0" i="0" lang="en-US" sz="1300" u="none" cap="none" strike="noStrike">
                <a:solidFill>
                  <a:srgbClr val="3B4660"/>
                </a:solidFill>
                <a:latin typeface="IBM Plex Sans"/>
                <a:ea typeface="IBM Plex Sans"/>
                <a:cs typeface="IBM Plex Sans"/>
                <a:sym typeface="IBM Plex Sans"/>
              </a:rPr>
              <a:t>Spectrum: no lines, residual white; only seg 3 has a slow drift the trailing mean misses</a:t>
            </a:r>
            <a:endParaRPr b="0" i="0" sz="1300" u="none" cap="none" strike="noStrike">
              <a:solidFill>
                <a:schemeClr val="dk1"/>
              </a:solidFill>
              <a:latin typeface="IBM Plex Mono"/>
              <a:ea typeface="IBM Plex Mono"/>
              <a:cs typeface="IBM Plex Mono"/>
              <a:sym typeface="IBM Plex Mono"/>
            </a:endParaRPr>
          </a:p>
          <a:p>
            <a:pPr indent="-196342" lvl="0" marL="196342" marR="0" rtl="0" algn="l">
              <a:lnSpc>
                <a:spcPct val="140000"/>
              </a:lnSpc>
              <a:spcBef>
                <a:spcPts val="0"/>
              </a:spcBef>
              <a:spcAft>
                <a:spcPts val="0"/>
              </a:spcAft>
              <a:buClr>
                <a:srgbClr val="3B4660"/>
              </a:buClr>
              <a:buSzPts val="1300"/>
              <a:buFont typeface="IBM Plex Sans"/>
              <a:buChar char="•"/>
            </a:pPr>
            <a:r>
              <a:rPr b="1" i="0" lang="en-US" sz="1300" u="none" cap="none" strike="noStrike">
                <a:solidFill>
                  <a:srgbClr val="3B4660"/>
                </a:solidFill>
                <a:latin typeface="IBM Plex Sans"/>
                <a:ea typeface="IBM Plex Sans"/>
                <a:cs typeface="IBM Plex Sans"/>
                <a:sym typeface="IBM Plex Sans"/>
              </a:rPr>
              <a:t>Online refit</a:t>
            </a:r>
            <a:r>
              <a:rPr b="0" i="0" lang="en-US" sz="1300" u="none" cap="none" strike="noStrike">
                <a:solidFill>
                  <a:srgbClr val="3B4660"/>
                </a:solidFill>
                <a:latin typeface="IBM Plex Sans"/>
                <a:ea typeface="IBM Plex Sans"/>
                <a:cs typeface="IBM Plex Sans"/>
                <a:sym typeface="IBM Plex Sans"/>
              </a:rPr>
              <a:t> after every shot: </a:t>
            </a:r>
            <a:r>
              <a:rPr b="1" i="0" lang="en-US" sz="1300" u="none" cap="none" strike="noStrike">
                <a:solidFill>
                  <a:srgbClr val="3B4660"/>
                </a:solidFill>
                <a:latin typeface="IBM Plex Sans"/>
                <a:ea typeface="IBM Plex Sans"/>
                <a:cs typeface="IBM Plex Sans"/>
                <a:sym typeface="IBM Plex Sans"/>
              </a:rPr>
              <a:t>−22 to −43 %</a:t>
            </a:r>
            <a:r>
              <a:rPr b="0" i="0" lang="en-US" sz="1300" u="none" cap="none" strike="noStrike">
                <a:solidFill>
                  <a:srgbClr val="3B4660"/>
                </a:solidFill>
                <a:latin typeface="IBM Plex Sans"/>
                <a:ea typeface="IBM Plex Sans"/>
                <a:cs typeface="IBM Plex Sans"/>
                <a:sym typeface="IBM Plex Sans"/>
              </a:rPr>
              <a:t> on the ridge, seg 6 31 → 28 pC on the best model</a:t>
            </a:r>
            <a:endParaRPr b="0" i="0" sz="1300" u="none" cap="none" strike="noStrike">
              <a:solidFill>
                <a:schemeClr val="dk1"/>
              </a:solidFill>
              <a:latin typeface="IBM Plex Mono"/>
              <a:ea typeface="IBM Plex Mono"/>
              <a:cs typeface="IBM Plex Mono"/>
              <a:sym typeface="IBM Plex Mono"/>
            </a:endParaRPr>
          </a:p>
        </p:txBody>
      </p:sp>
      <p:pic>
        <p:nvPicPr>
          <p:cNvPr descr="jitter_kalman.png" id="384" name="Google Shape;384;p19"/>
          <p:cNvPicPr preferRelativeResize="0"/>
          <p:nvPr/>
        </p:nvPicPr>
        <p:blipFill rotWithShape="1">
          <a:blip r:embed="rId3">
            <a:alphaModFix/>
          </a:blip>
          <a:srcRect b="0" l="0" r="0" t="0"/>
          <a:stretch/>
        </p:blipFill>
        <p:spPr>
          <a:xfrm>
            <a:off x="6377952" y="2148852"/>
            <a:ext cx="5814052" cy="4360524"/>
          </a:xfrm>
          <a:prstGeom prst="rect">
            <a:avLst/>
          </a:prstGeom>
          <a:noFill/>
          <a:ln>
            <a:noFill/>
          </a:ln>
        </p:spPr>
      </p:pic>
      <p:graphicFrame>
        <p:nvGraphicFramePr>
          <p:cNvPr id="385" name="Google Shape;385;p19"/>
          <p:cNvGraphicFramePr/>
          <p:nvPr/>
        </p:nvGraphicFramePr>
        <p:xfrm>
          <a:off x="868680" y="2240280"/>
          <a:ext cx="3000000" cy="3000000"/>
        </p:xfrm>
        <a:graphic>
          <a:graphicData uri="http://schemas.openxmlformats.org/drawingml/2006/table">
            <a:tbl>
              <a:tblPr bandRow="1" firstRow="1">
                <a:noFill/>
                <a:tableStyleId>{112CE20D-767B-464B-9DCB-EA9EB6AF2ED4}</a:tableStyleId>
              </a:tblPr>
              <a:tblGrid>
                <a:gridCol w="1843425"/>
                <a:gridCol w="819300"/>
                <a:gridCol w="819300"/>
                <a:gridCol w="819300"/>
                <a:gridCol w="819300"/>
              </a:tblGrid>
              <a:tr h="320050">
                <a:tc>
                  <a:txBody>
                    <a:bodyPr/>
                    <a:lstStyle/>
                    <a:p>
                      <a:pPr indent="0" lvl="0" marL="0" marR="0" rtl="0" algn="l">
                        <a:spcBef>
                          <a:spcPts val="0"/>
                        </a:spcBef>
                        <a:spcAft>
                          <a:spcPts val="0"/>
                        </a:spcAft>
                        <a:buNone/>
                      </a:pPr>
                      <a:r>
                        <a:rPr b="1" lang="en-US" sz="1100" u="none" cap="none" strike="noStrike">
                          <a:solidFill>
                            <a:srgbClr val="14213D"/>
                          </a:solidFill>
                          <a:latin typeface="IBM Plex Sans"/>
                          <a:ea typeface="IBM Plex Sans"/>
                          <a:cs typeface="IBM Plex Sans"/>
                          <a:sym typeface="IBM Plex Sans"/>
                        </a:rPr>
                        <a:t>MAE pC, + ridge</a:t>
                      </a:r>
                      <a:endParaRPr sz="1800" u="none" cap="none" strike="noStrike"/>
                    </a:p>
                  </a:txBody>
                  <a:tcPr marT="18300" marB="18300" marR="45725" marL="45725">
                    <a:solidFill>
                      <a:srgbClr val="E6E0D2"/>
                    </a:solidFill>
                  </a:tcPr>
                </a:tc>
                <a:tc>
                  <a:txBody>
                    <a:bodyPr/>
                    <a:lstStyle/>
                    <a:p>
                      <a:pPr indent="0" lvl="0" marL="0" marR="0" rtl="0" algn="l">
                        <a:spcBef>
                          <a:spcPts val="0"/>
                        </a:spcBef>
                        <a:spcAft>
                          <a:spcPts val="0"/>
                        </a:spcAft>
                        <a:buNone/>
                      </a:pPr>
                      <a:r>
                        <a:rPr b="1" lang="en-US" sz="1100" u="none" cap="none" strike="noStrike">
                          <a:solidFill>
                            <a:srgbClr val="14213D"/>
                          </a:solidFill>
                          <a:latin typeface="IBM Plex Sans"/>
                          <a:ea typeface="IBM Plex Sans"/>
                          <a:cs typeface="IBM Plex Sans"/>
                          <a:sym typeface="IBM Plex Sans"/>
                        </a:rPr>
                        <a:t>seg 3</a:t>
                      </a:r>
                      <a:endParaRPr sz="1800" u="none" cap="none" strike="noStrike"/>
                    </a:p>
                  </a:txBody>
                  <a:tcPr marT="18300" marB="18300" marR="45725" marL="45725">
                    <a:solidFill>
                      <a:srgbClr val="E6E0D2"/>
                    </a:solidFill>
                  </a:tcPr>
                </a:tc>
                <a:tc>
                  <a:txBody>
                    <a:bodyPr/>
                    <a:lstStyle/>
                    <a:p>
                      <a:pPr indent="0" lvl="0" marL="0" marR="0" rtl="0" algn="l">
                        <a:spcBef>
                          <a:spcPts val="0"/>
                        </a:spcBef>
                        <a:spcAft>
                          <a:spcPts val="0"/>
                        </a:spcAft>
                        <a:buNone/>
                      </a:pPr>
                      <a:r>
                        <a:rPr b="1" lang="en-US" sz="1100" u="none" cap="none" strike="noStrike">
                          <a:solidFill>
                            <a:srgbClr val="14213D"/>
                          </a:solidFill>
                          <a:latin typeface="IBM Plex Sans"/>
                          <a:ea typeface="IBM Plex Sans"/>
                          <a:cs typeface="IBM Plex Sans"/>
                          <a:sym typeface="IBM Plex Sans"/>
                        </a:rPr>
                        <a:t>seg 5</a:t>
                      </a:r>
                      <a:endParaRPr sz="1800" u="none" cap="none" strike="noStrike"/>
                    </a:p>
                  </a:txBody>
                  <a:tcPr marT="18300" marB="18300" marR="45725" marL="45725">
                    <a:solidFill>
                      <a:srgbClr val="E6E0D2"/>
                    </a:solidFill>
                  </a:tcPr>
                </a:tc>
                <a:tc>
                  <a:txBody>
                    <a:bodyPr/>
                    <a:lstStyle/>
                    <a:p>
                      <a:pPr indent="0" lvl="0" marL="0" marR="0" rtl="0" algn="l">
                        <a:spcBef>
                          <a:spcPts val="0"/>
                        </a:spcBef>
                        <a:spcAft>
                          <a:spcPts val="0"/>
                        </a:spcAft>
                        <a:buNone/>
                      </a:pPr>
                      <a:r>
                        <a:rPr b="1" lang="en-US" sz="1100" u="none" cap="none" strike="noStrike">
                          <a:solidFill>
                            <a:srgbClr val="14213D"/>
                          </a:solidFill>
                          <a:latin typeface="IBM Plex Sans"/>
                          <a:ea typeface="IBM Plex Sans"/>
                          <a:cs typeface="IBM Plex Sans"/>
                          <a:sym typeface="IBM Plex Sans"/>
                        </a:rPr>
                        <a:t>seg 1</a:t>
                      </a:r>
                      <a:endParaRPr sz="1800" u="none" cap="none" strike="noStrike"/>
                    </a:p>
                  </a:txBody>
                  <a:tcPr marT="18300" marB="18300" marR="45725" marL="45725">
                    <a:solidFill>
                      <a:srgbClr val="E6E0D2"/>
                    </a:solidFill>
                  </a:tcPr>
                </a:tc>
                <a:tc>
                  <a:txBody>
                    <a:bodyPr/>
                    <a:lstStyle/>
                    <a:p>
                      <a:pPr indent="0" lvl="0" marL="0" marR="0" rtl="0" algn="l">
                        <a:spcBef>
                          <a:spcPts val="0"/>
                        </a:spcBef>
                        <a:spcAft>
                          <a:spcPts val="0"/>
                        </a:spcAft>
                        <a:buNone/>
                      </a:pPr>
                      <a:r>
                        <a:rPr b="1" lang="en-US" sz="1100" u="none" cap="none" strike="noStrike">
                          <a:solidFill>
                            <a:srgbClr val="14213D"/>
                          </a:solidFill>
                          <a:latin typeface="IBM Plex Sans"/>
                          <a:ea typeface="IBM Plex Sans"/>
                          <a:cs typeface="IBM Plex Sans"/>
                          <a:sym typeface="IBM Plex Sans"/>
                        </a:rPr>
                        <a:t>seg 6</a:t>
                      </a:r>
                      <a:endParaRPr sz="1800" u="none" cap="none" strike="noStrike"/>
                    </a:p>
                  </a:txBody>
                  <a:tcPr marT="18300" marB="18300" marR="45725" marL="45725">
                    <a:solidFill>
                      <a:srgbClr val="E6E0D2"/>
                    </a:solidFill>
                  </a:tcPr>
                </a:tc>
              </a:tr>
              <a:tr h="320050">
                <a:tc>
                  <a:txBody>
                    <a:bodyPr/>
                    <a:lstStyle/>
                    <a:p>
                      <a:pPr indent="0" lvl="0" marL="0" marR="0" rtl="0" algn="l">
                        <a:spcBef>
                          <a:spcPts val="0"/>
                        </a:spcBef>
                        <a:spcAft>
                          <a:spcPts val="0"/>
                        </a:spcAft>
                        <a:buNone/>
                      </a:pPr>
                      <a:r>
                        <a:rPr b="1" lang="en-US" sz="1100" u="none" cap="none" strike="noStrike">
                          <a:solidFill>
                            <a:srgbClr val="14213D"/>
                          </a:solidFill>
                          <a:latin typeface="IBM Plex Sans"/>
                          <a:ea typeface="IBM Plex Sans"/>
                          <a:cs typeface="IBM Plex Sans"/>
                          <a:sym typeface="IBM Plex Sans"/>
                        </a:rPr>
                        <a:t>trailing mean 50</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9.4</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69.5</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84.6</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57.0</a:t>
                      </a:r>
                      <a:endParaRPr sz="1800" u="none" cap="none" strike="noStrike"/>
                    </a:p>
                  </a:txBody>
                  <a:tcPr marT="18300" marB="18300" marR="45725" marL="45725">
                    <a:solidFill>
                      <a:srgbClr val="FFFDF8"/>
                    </a:solidFill>
                  </a:tcPr>
                </a:tc>
              </a:tr>
              <a:tr h="320050">
                <a:tc>
                  <a:txBody>
                    <a:bodyPr/>
                    <a:lstStyle/>
                    <a:p>
                      <a:pPr indent="0" lvl="0" marL="0" marR="0" rtl="0" algn="l">
                        <a:spcBef>
                          <a:spcPts val="0"/>
                        </a:spcBef>
                        <a:spcAft>
                          <a:spcPts val="0"/>
                        </a:spcAft>
                        <a:buNone/>
                      </a:pPr>
                      <a:r>
                        <a:rPr b="1" lang="en-US" sz="1100" u="none" cap="none" strike="noStrike">
                          <a:solidFill>
                            <a:srgbClr val="14213D"/>
                          </a:solidFill>
                          <a:latin typeface="IBM Plex Sans"/>
                          <a:ea typeface="IBM Plex Sans"/>
                          <a:cs typeface="IBM Plex Sans"/>
                          <a:sym typeface="IBM Plex Sans"/>
                        </a:rPr>
                        <a:t>trailing median 50</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9.2</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71.2</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84.6</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59.0</a:t>
                      </a:r>
                      <a:endParaRPr sz="1800" u="none" cap="none" strike="noStrike"/>
                    </a:p>
                  </a:txBody>
                  <a:tcPr marT="18300" marB="18300" marR="45725" marL="45725">
                    <a:solidFill>
                      <a:srgbClr val="FFFDF8"/>
                    </a:solidFill>
                  </a:tcPr>
                </a:tc>
              </a:tr>
              <a:tr h="320050">
                <a:tc>
                  <a:txBody>
                    <a:bodyPr/>
                    <a:lstStyle/>
                    <a:p>
                      <a:pPr indent="0" lvl="0" marL="0" marR="0" rtl="0" algn="l">
                        <a:spcBef>
                          <a:spcPts val="0"/>
                        </a:spcBef>
                        <a:spcAft>
                          <a:spcPts val="0"/>
                        </a:spcAft>
                        <a:buNone/>
                      </a:pPr>
                      <a:r>
                        <a:rPr b="1" lang="en-US" sz="1100" u="none" cap="none" strike="noStrike">
                          <a:solidFill>
                            <a:srgbClr val="14213D"/>
                          </a:solidFill>
                          <a:latin typeface="IBM Plex Sans"/>
                          <a:ea typeface="IBM Plex Sans"/>
                          <a:cs typeface="IBM Plex Sans"/>
                          <a:sym typeface="IBM Plex Sans"/>
                        </a:rPr>
                        <a:t>robust EMA (half-life 25)</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9.2</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72.5</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88.0</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56.9</a:t>
                      </a:r>
                      <a:endParaRPr sz="1800" u="none" cap="none" strike="noStrike"/>
                    </a:p>
                  </a:txBody>
                  <a:tcPr marT="18300" marB="18300" marR="45725" marL="45725">
                    <a:solidFill>
                      <a:srgbClr val="FFFDF8"/>
                    </a:solidFill>
                  </a:tcPr>
                </a:tc>
              </a:tr>
              <a:tr h="320050">
                <a:tc>
                  <a:txBody>
                    <a:bodyPr/>
                    <a:lstStyle/>
                    <a:p>
                      <a:pPr indent="0" lvl="0" marL="0" marR="0" rtl="0" algn="l">
                        <a:spcBef>
                          <a:spcPts val="0"/>
                        </a:spcBef>
                        <a:spcAft>
                          <a:spcPts val="0"/>
                        </a:spcAft>
                        <a:buNone/>
                      </a:pPr>
                      <a:r>
                        <a:rPr b="1" lang="en-US" sz="1100" u="none" cap="none" strike="noStrike">
                          <a:solidFill>
                            <a:srgbClr val="14213D"/>
                          </a:solidFill>
                          <a:latin typeface="IBM Plex Sans"/>
                          <a:ea typeface="IBM Plex Sans"/>
                          <a:cs typeface="IBM Plex Sans"/>
                          <a:sym typeface="IBM Plex Sans"/>
                        </a:rPr>
                        <a:t>Kalman level</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9.2</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72.1</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85.6</a:t>
                      </a:r>
                      <a:endParaRPr sz="1800" u="none" cap="none" strike="noStrike"/>
                    </a:p>
                  </a:txBody>
                  <a:tcPr marT="18300" marB="18300" marR="45725" marL="45725">
                    <a:solidFill>
                      <a:srgbClr val="FFFDF8"/>
                    </a:solidFill>
                  </a:tcPr>
                </a:tc>
                <a:tc>
                  <a:txBody>
                    <a:bodyPr/>
                    <a:lstStyle/>
                    <a:p>
                      <a:pPr indent="0" lvl="0" marL="0" marR="0" rtl="0" algn="l">
                        <a:spcBef>
                          <a:spcPts val="0"/>
                        </a:spcBef>
                        <a:spcAft>
                          <a:spcPts val="0"/>
                        </a:spcAft>
                        <a:buNone/>
                      </a:pPr>
                      <a:r>
                        <a:rPr b="0" lang="en-US" sz="1100" u="none" cap="none" strike="noStrike">
                          <a:solidFill>
                            <a:srgbClr val="14213D"/>
                          </a:solidFill>
                          <a:latin typeface="IBM Plex Sans"/>
                          <a:ea typeface="IBM Plex Sans"/>
                          <a:cs typeface="IBM Plex Sans"/>
                          <a:sym typeface="IBM Plex Sans"/>
                        </a:rPr>
                        <a:t>57.3</a:t>
                      </a:r>
                      <a:endParaRPr sz="1800" u="none" cap="none" strike="noStrike"/>
                    </a:p>
                  </a:txBody>
                  <a:tcPr marT="18300" marB="18300" marR="45725" marL="45725">
                    <a:solidFill>
                      <a:srgbClr val="FFFDF8"/>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0"/>
          <p:cNvSpPr/>
          <p:nvPr/>
        </p:nvSpPr>
        <p:spPr>
          <a:xfrm>
            <a:off x="812800" y="558800"/>
            <a:ext cx="609600" cy="50800"/>
          </a:xfrm>
          <a:prstGeom prst="roundRect">
            <a:avLst>
              <a:gd fmla="val 50000" name="adj"/>
            </a:avLst>
          </a:prstGeom>
          <a:gradFill>
            <a:gsLst>
              <a:gs pos="0">
                <a:srgbClr val="1D4ED8"/>
              </a:gs>
              <a:gs pos="50000">
                <a:srgbClr val="6D28D9"/>
              </a:gs>
              <a:gs pos="100000">
                <a:srgbClr val="DB277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92" name="Google Shape;392;p20"/>
          <p:cNvSpPr/>
          <p:nvPr/>
        </p:nvSpPr>
        <p:spPr>
          <a:xfrm>
            <a:off x="813816" y="813816"/>
            <a:ext cx="2834640" cy="283464"/>
          </a:xfrm>
          <a:prstGeom prst="roundRect">
            <a:avLst>
              <a:gd fmla="val 17778" name="adj"/>
            </a:avLst>
          </a:prstGeom>
          <a:solidFill>
            <a:srgbClr val="BE18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IBM Plex Mono"/>
              <a:ea typeface="IBM Plex Mono"/>
              <a:cs typeface="IBM Plex Mono"/>
              <a:sym typeface="IBM Plex Mono"/>
            </a:endParaRPr>
          </a:p>
        </p:txBody>
      </p:sp>
      <p:sp>
        <p:nvSpPr>
          <p:cNvPr id="393" name="Google Shape;393;p20"/>
          <p:cNvSpPr/>
          <p:nvPr/>
        </p:nvSpPr>
        <p:spPr>
          <a:xfrm>
            <a:off x="914400" y="850392"/>
            <a:ext cx="274320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DF7"/>
              </a:buClr>
              <a:buSzPts val="1200"/>
              <a:buFont typeface="IBM Plex Mono"/>
              <a:buNone/>
            </a:pPr>
            <a:r>
              <a:rPr b="0" i="0" lang="en-US" sz="1200" u="none" cap="none" strike="noStrike">
                <a:solidFill>
                  <a:srgbClr val="FFFDF7"/>
                </a:solidFill>
                <a:latin typeface="IBM Plex Mono"/>
                <a:ea typeface="IBM Plex Mono"/>
                <a:cs typeface="IBM Plex Mono"/>
                <a:sym typeface="IBM Plex Mono"/>
              </a:rPr>
              <a:t>TIER 3 · HARD · RESULTS</a:t>
            </a:r>
            <a:endParaRPr b="0" i="0" sz="1200" u="none" cap="none" strike="noStrike">
              <a:solidFill>
                <a:schemeClr val="dk1"/>
              </a:solidFill>
              <a:latin typeface="IBM Plex Mono"/>
              <a:ea typeface="IBM Plex Mono"/>
              <a:cs typeface="IBM Plex Mono"/>
              <a:sym typeface="IBM Plex Mono"/>
            </a:endParaRPr>
          </a:p>
        </p:txBody>
      </p:sp>
      <p:sp>
        <p:nvSpPr>
          <p:cNvPr id="394" name="Google Shape;394;p20"/>
          <p:cNvSpPr txBox="1"/>
          <p:nvPr>
            <p:ph type="title"/>
          </p:nvPr>
        </p:nvSpPr>
        <p:spPr>
          <a:xfrm>
            <a:off x="812800" y="1200150"/>
            <a:ext cx="10883392" cy="5270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lang="en-US"/>
              <a:t>N</a:t>
            </a:r>
            <a:r>
              <a:rPr b="1" i="0" lang="en-US" sz="3600">
                <a:solidFill>
                  <a:srgbClr val="14213D"/>
                </a:solidFill>
                <a:latin typeface="Space Grotesk"/>
                <a:ea typeface="Space Grotesk"/>
                <a:cs typeface="Space Grotesk"/>
                <a:sym typeface="Space Grotesk"/>
              </a:rPr>
              <a:t>oise floor and uncertainty</a:t>
            </a:r>
            <a:endParaRPr sz="3600"/>
          </a:p>
        </p:txBody>
      </p:sp>
      <p:sp>
        <p:nvSpPr>
          <p:cNvPr id="395" name="Google Shape;395;p20"/>
          <p:cNvSpPr/>
          <p:nvPr/>
        </p:nvSpPr>
        <p:spPr>
          <a:xfrm>
            <a:off x="10058400" y="6242050"/>
            <a:ext cx="1320800" cy="23495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D28D9"/>
              </a:buClr>
              <a:buSzPts val="1200"/>
              <a:buFont typeface="IBM Plex Mono"/>
              <a:buNone/>
            </a:pPr>
            <a:r>
              <a:rPr b="0" i="0" lang="en-US" sz="1200" u="none" cap="none" strike="noStrike">
                <a:solidFill>
                  <a:srgbClr val="6D28D9"/>
                </a:solidFill>
                <a:latin typeface="IBM Plex Mono"/>
                <a:ea typeface="IBM Plex Mono"/>
                <a:cs typeface="IBM Plex Mono"/>
                <a:sym typeface="IBM Plex Mono"/>
              </a:rPr>
              <a:t>37</a:t>
            </a:r>
            <a:endParaRPr b="0" i="0" sz="1200" u="none" cap="none" strike="noStrike">
              <a:solidFill>
                <a:schemeClr val="dk1"/>
              </a:solidFill>
              <a:latin typeface="IBM Plex Mono"/>
              <a:ea typeface="IBM Plex Mono"/>
              <a:cs typeface="IBM Plex Mono"/>
              <a:sym typeface="IBM Plex Mono"/>
            </a:endParaRPr>
          </a:p>
        </p:txBody>
      </p:sp>
      <p:sp>
        <p:nvSpPr>
          <p:cNvPr id="396" name="Google Shape;396;p20"/>
          <p:cNvSpPr/>
          <p:nvPr/>
        </p:nvSpPr>
        <p:spPr>
          <a:xfrm>
            <a:off x="813816" y="1783080"/>
            <a:ext cx="10881360" cy="3200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0" i="0" lang="en-US" sz="1600" u="none" cap="none" strike="noStrike">
                <a:solidFill>
                  <a:srgbClr val="14213D"/>
                </a:solidFill>
                <a:latin typeface="IBM Plex Sans"/>
                <a:ea typeface="IBM Plex Sans"/>
                <a:cs typeface="IBM Plex Sans"/>
                <a:sym typeface="IBM Plex Sans"/>
              </a:rPr>
              <a:t>The BCM's own noise sets the floor; </a:t>
            </a:r>
            <a:endParaRPr b="0" i="0" sz="1600" u="none" cap="none" strike="noStrike">
              <a:solidFill>
                <a:srgbClr val="14213D"/>
              </a:solidFill>
              <a:latin typeface="IBM Plex Sans"/>
              <a:ea typeface="IBM Plex Sans"/>
              <a:cs typeface="IBM Plex Sans"/>
              <a:sym typeface="IBM Plex Sans"/>
            </a:endParaRPr>
          </a:p>
          <a:p>
            <a:pPr indent="0" lvl="0" marL="0" marR="0" rtl="0" algn="l">
              <a:lnSpc>
                <a:spcPct val="140000"/>
              </a:lnSpc>
              <a:spcBef>
                <a:spcPts val="0"/>
              </a:spcBef>
              <a:spcAft>
                <a:spcPts val="0"/>
              </a:spcAft>
              <a:buClr>
                <a:srgbClr val="14213D"/>
              </a:buClr>
              <a:buSzPts val="1600"/>
              <a:buFont typeface="IBM Plex Sans"/>
              <a:buNone/>
            </a:pPr>
            <a:r>
              <a:rPr b="0" i="0" lang="en-US" sz="1600" u="none" cap="none" strike="noStrike">
                <a:solidFill>
                  <a:srgbClr val="14213D"/>
                </a:solidFill>
                <a:latin typeface="IBM Plex Sans"/>
                <a:ea typeface="IBM Plex Sans"/>
                <a:cs typeface="IBM Plex Sans"/>
                <a:sym typeface="IBM Plex Sans"/>
              </a:rPr>
              <a:t>prediction intervals checked on the test region.</a:t>
            </a:r>
            <a:endParaRPr b="0" i="0" sz="1600" u="none" cap="none" strike="noStrike">
              <a:solidFill>
                <a:schemeClr val="dk1"/>
              </a:solidFill>
              <a:latin typeface="IBM Plex Mono"/>
              <a:ea typeface="IBM Plex Mono"/>
              <a:cs typeface="IBM Plex Mono"/>
              <a:sym typeface="IBM Plex Mono"/>
            </a:endParaRPr>
          </a:p>
        </p:txBody>
      </p:sp>
      <p:sp>
        <p:nvSpPr>
          <p:cNvPr id="397" name="Google Shape;397;p20"/>
          <p:cNvSpPr/>
          <p:nvPr/>
        </p:nvSpPr>
        <p:spPr>
          <a:xfrm>
            <a:off x="868676" y="2675950"/>
            <a:ext cx="3977700" cy="3566100"/>
          </a:xfrm>
          <a:prstGeom prst="rect">
            <a:avLst/>
          </a:prstGeom>
          <a:noFill/>
          <a:ln>
            <a:noFill/>
          </a:ln>
        </p:spPr>
        <p:txBody>
          <a:bodyPr anchorCtr="0" anchor="t" bIns="0" lIns="0" spcFirstLastPara="1" rIns="0" wrap="square" tIns="0">
            <a:normAutofit/>
          </a:bodyPr>
          <a:lstStyle/>
          <a:p>
            <a:pPr indent="-196342" lvl="0" marL="196342" marR="0" rtl="0" algn="l">
              <a:lnSpc>
                <a:spcPct val="140000"/>
              </a:lnSpc>
              <a:spcBef>
                <a:spcPts val="0"/>
              </a:spcBef>
              <a:spcAft>
                <a:spcPts val="0"/>
              </a:spcAft>
              <a:buClr>
                <a:srgbClr val="3B4660"/>
              </a:buClr>
              <a:buSzPts val="1300"/>
              <a:buFont typeface="IBM Plex Sans"/>
              <a:buChar char="•"/>
            </a:pPr>
            <a:r>
              <a:rPr b="1" i="0" lang="en-US" sz="1300" u="none" cap="none" strike="noStrike">
                <a:solidFill>
                  <a:srgbClr val="3B4660"/>
                </a:solidFill>
                <a:latin typeface="IBM Plex Sans"/>
                <a:ea typeface="IBM Plex Sans"/>
                <a:cs typeface="IBM Plex Sans"/>
                <a:sym typeface="IBM Plex Sans"/>
              </a:rPr>
              <a:t>BCM noise</a:t>
            </a:r>
            <a:r>
              <a:rPr b="0" i="0" lang="en-US" sz="1300" u="none" cap="none" strike="noStrike">
                <a:solidFill>
                  <a:srgbClr val="3B4660"/>
                </a:solidFill>
                <a:latin typeface="IBM Plex Sans"/>
                <a:ea typeface="IBM Plex Sans"/>
                <a:cs typeface="IBM Plex Sans"/>
                <a:sym typeface="IBM Plex Sans"/>
              </a:rPr>
              <a:t>: white, Gaussian core with heavy tails (0.2–1.5 % beyond 4σ); ~50 % of the jitter at low charge</a:t>
            </a:r>
            <a:endParaRPr b="0" i="0" sz="1300" u="none" cap="none" strike="noStrike">
              <a:solidFill>
                <a:schemeClr val="dk1"/>
              </a:solidFill>
              <a:latin typeface="IBM Plex Mono"/>
              <a:ea typeface="IBM Plex Mono"/>
              <a:cs typeface="IBM Plex Mono"/>
              <a:sym typeface="IBM Plex Mono"/>
            </a:endParaRPr>
          </a:p>
          <a:p>
            <a:pPr indent="-196342" lvl="0" marL="196342" marR="0" rtl="0" algn="l">
              <a:lnSpc>
                <a:spcPct val="140000"/>
              </a:lnSpc>
              <a:spcBef>
                <a:spcPts val="0"/>
              </a:spcBef>
              <a:spcAft>
                <a:spcPts val="0"/>
              </a:spcAft>
              <a:buClr>
                <a:srgbClr val="3B4660"/>
              </a:buClr>
              <a:buSzPts val="1300"/>
              <a:buFont typeface="IBM Plex Sans"/>
              <a:buChar char="•"/>
            </a:pPr>
            <a:r>
              <a:rPr b="0" i="0" lang="en-US" sz="1300" u="none" cap="none" strike="noStrike">
                <a:solidFill>
                  <a:srgbClr val="3B4660"/>
                </a:solidFill>
                <a:latin typeface="IBM Plex Sans"/>
                <a:ea typeface="IBM Plex Sans"/>
                <a:cs typeface="IBM Plex Sans"/>
                <a:sym typeface="IBM Plex Sans"/>
              </a:rPr>
              <a:t>Rolling 90 % interval covers 87–92 % (±5–7 % at 5–10 nC)</a:t>
            </a:r>
            <a:endParaRPr b="0" i="0" sz="1300" u="none" cap="none" strike="noStrike">
              <a:solidFill>
                <a:schemeClr val="dk1"/>
              </a:solidFill>
              <a:latin typeface="IBM Plex Mono"/>
              <a:ea typeface="IBM Plex Mono"/>
              <a:cs typeface="IBM Plex Mono"/>
              <a:sym typeface="IBM Plex Mono"/>
            </a:endParaRPr>
          </a:p>
          <a:p>
            <a:pPr indent="-196342" lvl="0" marL="196342" marR="0" rtl="0" algn="l">
              <a:lnSpc>
                <a:spcPct val="140000"/>
              </a:lnSpc>
              <a:spcBef>
                <a:spcPts val="0"/>
              </a:spcBef>
              <a:spcAft>
                <a:spcPts val="0"/>
              </a:spcAft>
              <a:buClr>
                <a:srgbClr val="3B4660"/>
              </a:buClr>
              <a:buSzPts val="1300"/>
              <a:buFont typeface="IBM Plex Sans"/>
              <a:buChar char="•"/>
            </a:pPr>
            <a:r>
              <a:rPr b="1" i="0" lang="en-US" sz="1300" u="none" cap="none" strike="noStrike">
                <a:solidFill>
                  <a:srgbClr val="3B4660"/>
                </a:solidFill>
                <a:latin typeface="IBM Plex Sans"/>
                <a:ea typeface="IBM Plex Sans"/>
                <a:cs typeface="IBM Plex Sans"/>
                <a:sym typeface="IBM Plex Sans"/>
              </a:rPr>
              <a:t>GP</a:t>
            </a:r>
            <a:r>
              <a:rPr b="0" i="0" lang="en-US" sz="1300" u="none" cap="none" strike="noStrike">
                <a:solidFill>
                  <a:srgbClr val="3B4660"/>
                </a:solidFill>
                <a:latin typeface="IBM Plex Sans"/>
                <a:ea typeface="IBM Plex Sans"/>
                <a:cs typeface="IBM Plex Sans"/>
                <a:sym typeface="IBM Plex Sans"/>
              </a:rPr>
              <a:t> with the measured noise as its kernel noise: </a:t>
            </a:r>
            <a:r>
              <a:rPr b="1" i="0" lang="en-US" sz="1300" u="none" cap="none" strike="noStrike">
                <a:solidFill>
                  <a:srgbClr val="3B4660"/>
                </a:solidFill>
                <a:latin typeface="IBM Plex Sans"/>
                <a:ea typeface="IBM Plex Sans"/>
                <a:cs typeface="IBM Plex Sans"/>
                <a:sym typeface="IBM Plex Sans"/>
              </a:rPr>
              <a:t>no better MAE</a:t>
            </a:r>
            <a:r>
              <a:rPr b="0" i="0" lang="en-US" sz="1300" u="none" cap="none" strike="noStrike">
                <a:solidFill>
                  <a:srgbClr val="3B4660"/>
                </a:solidFill>
                <a:latin typeface="IBM Plex Sans"/>
                <a:ea typeface="IBM Plex Sans"/>
                <a:cs typeface="IBM Plex Sans"/>
                <a:sym typeface="IBM Plex Sans"/>
              </a:rPr>
              <a:t>, right intervals once missing camera frames get extra variance (86–95 %)</a:t>
            </a:r>
            <a:endParaRPr b="0" i="0" sz="1300" u="none" cap="none" strike="noStrike">
              <a:solidFill>
                <a:schemeClr val="dk1"/>
              </a:solidFill>
              <a:latin typeface="IBM Plex Mono"/>
              <a:ea typeface="IBM Plex Mono"/>
              <a:cs typeface="IBM Plex Mono"/>
              <a:sym typeface="IBM Plex Mono"/>
            </a:endParaRPr>
          </a:p>
          <a:p>
            <a:pPr indent="-196342" lvl="0" marL="196342" marR="0" rtl="0" algn="l">
              <a:lnSpc>
                <a:spcPct val="140000"/>
              </a:lnSpc>
              <a:spcBef>
                <a:spcPts val="0"/>
              </a:spcBef>
              <a:spcAft>
                <a:spcPts val="0"/>
              </a:spcAft>
              <a:buClr>
                <a:srgbClr val="3B4660"/>
              </a:buClr>
              <a:buSzPts val="1300"/>
              <a:buFont typeface="IBM Plex Sans"/>
              <a:buChar char="•"/>
            </a:pPr>
            <a:r>
              <a:rPr b="1" i="0" lang="en-US" sz="1300" u="none" cap="none" strike="noStrike">
                <a:solidFill>
                  <a:srgbClr val="3B4660"/>
                </a:solidFill>
                <a:latin typeface="IBM Plex Sans"/>
                <a:ea typeface="IBM Plex Sans"/>
                <a:cs typeface="IBM Plex Sans"/>
                <a:sym typeface="IBM Plex Sans"/>
              </a:rPr>
              <a:t>Minimax</a:t>
            </a:r>
            <a:r>
              <a:rPr b="0" i="0" lang="en-US" sz="1300" u="none" cap="none" strike="noStrike">
                <a:solidFill>
                  <a:srgbClr val="3B4660"/>
                </a:solidFill>
                <a:latin typeface="IBM Plex Sans"/>
                <a:ea typeface="IBM Plex Sans"/>
                <a:cs typeface="IBM Plex Sans"/>
                <a:sym typeface="IBM Plex Sans"/>
              </a:rPr>
              <a:t> (max-error) training </a:t>
            </a:r>
            <a:r>
              <a:rPr b="1" i="0" lang="en-US" sz="1300" u="none" cap="none" strike="noStrike">
                <a:solidFill>
                  <a:srgbClr val="3B4660"/>
                </a:solidFill>
                <a:latin typeface="IBM Plex Sans"/>
                <a:ea typeface="IBM Plex Sans"/>
                <a:cs typeface="IBM Plex Sans"/>
                <a:sym typeface="IBM Plex Sans"/>
              </a:rPr>
              <a:t>does not reduce</a:t>
            </a:r>
            <a:r>
              <a:rPr b="0" i="0" lang="en-US" sz="1300" u="none" cap="none" strike="noStrike">
                <a:solidFill>
                  <a:srgbClr val="3B4660"/>
                </a:solidFill>
                <a:latin typeface="IBM Plex Sans"/>
                <a:ea typeface="IBM Plex Sans"/>
                <a:cs typeface="IBM Plex Sans"/>
                <a:sym typeface="IBM Plex Sans"/>
              </a:rPr>
              <a:t> the </a:t>
            </a:r>
            <a:r>
              <a:rPr b="1" i="0" lang="en-US" sz="1300" u="none" cap="none" strike="noStrike">
                <a:solidFill>
                  <a:srgbClr val="3B4660"/>
                </a:solidFill>
                <a:latin typeface="IBM Plex Sans"/>
                <a:ea typeface="IBM Plex Sans"/>
                <a:cs typeface="IBM Plex Sans"/>
                <a:sym typeface="IBM Plex Sans"/>
              </a:rPr>
              <a:t>worst error</a:t>
            </a:r>
            <a:endParaRPr b="1" i="0" sz="1300" u="none" cap="none" strike="noStrike">
              <a:solidFill>
                <a:schemeClr val="dk1"/>
              </a:solidFill>
              <a:latin typeface="IBM Plex Mono"/>
              <a:ea typeface="IBM Plex Mono"/>
              <a:cs typeface="IBM Plex Mono"/>
              <a:sym typeface="IBM Plex Mono"/>
            </a:endParaRPr>
          </a:p>
        </p:txBody>
      </p:sp>
      <p:pic>
        <p:nvPicPr>
          <p:cNvPr descr="jitter_noise.png" id="398" name="Google Shape;398;p20"/>
          <p:cNvPicPr preferRelativeResize="0"/>
          <p:nvPr/>
        </p:nvPicPr>
        <p:blipFill rotWithShape="1">
          <a:blip r:embed="rId3">
            <a:alphaModFix/>
          </a:blip>
          <a:srcRect b="0" l="0" r="0" t="0"/>
          <a:stretch/>
        </p:blipFill>
        <p:spPr>
          <a:xfrm>
            <a:off x="4988928" y="3625447"/>
            <a:ext cx="7138876" cy="3123250"/>
          </a:xfrm>
          <a:prstGeom prst="rect">
            <a:avLst/>
          </a:prstGeom>
          <a:noFill/>
          <a:ln>
            <a:noFill/>
          </a:ln>
        </p:spPr>
      </p:pic>
      <p:pic>
        <p:nvPicPr>
          <p:cNvPr descr="interval_2026-10-08_21-11-47.png" id="399" name="Google Shape;399;p20"/>
          <p:cNvPicPr preferRelativeResize="0"/>
          <p:nvPr/>
        </p:nvPicPr>
        <p:blipFill rotWithShape="1">
          <a:blip r:embed="rId4">
            <a:alphaModFix/>
          </a:blip>
          <a:srcRect b="0" l="0" r="0" t="0"/>
          <a:stretch/>
        </p:blipFill>
        <p:spPr>
          <a:xfrm>
            <a:off x="6368130" y="1509121"/>
            <a:ext cx="5759676" cy="1919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recasting the CLEAR Beam Charge">
  <a:themeElements>
    <a:clrScheme name="Forecasting the CLEAR Beam Charge">
      <a:dk1>
        <a:srgbClr val="14213D"/>
      </a:dk1>
      <a:lt1>
        <a:srgbClr val="FBF8F1"/>
      </a:lt1>
      <a:dk2>
        <a:srgbClr val="4E576A"/>
      </a:dk2>
      <a:lt2>
        <a:srgbClr val="E4E3DF"/>
      </a:lt2>
      <a:accent1>
        <a:srgbClr val="6D28D9"/>
      </a:accent1>
      <a:accent2>
        <a:srgbClr val="1D4ED8"/>
      </a:accent2>
      <a:accent3>
        <a:srgbClr val="DB2777"/>
      </a:accent3>
      <a:accent4>
        <a:srgbClr val="BE185D"/>
      </a:accent4>
      <a:accent5>
        <a:srgbClr val="0F766E"/>
      </a:accent5>
      <a:accent6>
        <a:srgbClr val="C2410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2026-10-11T10:46:20Z</dcterms:created>
</cp:coreProperties>
</file>