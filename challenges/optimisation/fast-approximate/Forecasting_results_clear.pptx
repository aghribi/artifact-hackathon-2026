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IBM Plex Mono" panose="020B0509050203000203" pitchFamily="49" charset="-18"/>
      <p:regular r:id="rId31"/>
      <p:bold r:id="rId32"/>
    </p:embeddedFont>
    <p:embeddedFont>
      <p:font typeface="IBM Plex Sans" panose="020B0503050203000203" pitchFamily="34" charset="0"/>
      <p:regular r:id="rId33"/>
      <p:bold r:id="rId34"/>
    </p:embeddedFont>
    <p:embeddedFont>
      <p:font typeface="Space Grotesk" panose="020B0604020202020204" charset="-18"/>
      <p:regular r:id="rId35"/>
      <p:bold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3840">
          <p15:clr>
            <a:srgbClr val="000000"/>
          </p15:clr>
        </p15:guide>
        <p15:guide id="2" orient="horz" pos="216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5" roundtripDataSignature="AMtx7mijk5Pdo3rO0EqNUyT/NWuAMFAL+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12CE20D-767B-464B-9DCB-EA9EB6AF2ED4}">
  <a:tblStyle styleId="{112CE20D-767B-464B-9DCB-EA9EB6AF2ED4}" styleName="Table_0">
    <a:wholeTbl>
      <a:tcTxStyle b="off" i="off">
        <a:font>
          <a:latin typeface="IBM Plex Mono"/>
          <a:ea typeface="IBM Plex Mono"/>
          <a:cs typeface="IBM Plex Mono"/>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AE7F8"/>
          </a:solidFill>
        </a:fill>
      </a:tcStyle>
    </a:wholeTbl>
    <a:band1H>
      <a:tcTxStyle/>
      <a:tcStyle>
        <a:tcBdr/>
        <a:fill>
          <a:solidFill>
            <a:srgbClr val="D3CBF1"/>
          </a:solidFill>
        </a:fill>
      </a:tcStyle>
    </a:band1H>
    <a:band2H>
      <a:tcTxStyle/>
      <a:tcStyle>
        <a:tcBdr/>
      </a:tcStyle>
    </a:band2H>
    <a:band1V>
      <a:tcTxStyle/>
      <a:tcStyle>
        <a:tcBdr/>
        <a:fill>
          <a:solidFill>
            <a:srgbClr val="D3CBF1"/>
          </a:solidFill>
        </a:fill>
      </a:tcStyle>
    </a:band1V>
    <a:band2V>
      <a:tcTxStyle/>
      <a:tcStyle>
        <a:tcBdr/>
      </a:tcStyle>
    </a:band2V>
    <a:lastCol>
      <a:tcTxStyle b="on" i="off">
        <a:font>
          <a:latin typeface="IBM Plex Mono"/>
          <a:ea typeface="IBM Plex Mono"/>
          <a:cs typeface="IBM Plex Mono"/>
        </a:font>
        <a:schemeClr val="lt1"/>
      </a:tcTxStyle>
      <a:tcStyle>
        <a:tcBdr/>
        <a:fill>
          <a:solidFill>
            <a:schemeClr val="accent1"/>
          </a:solidFill>
        </a:fill>
      </a:tcStyle>
    </a:lastCol>
    <a:firstCol>
      <a:tcTxStyle b="on" i="off">
        <a:font>
          <a:latin typeface="IBM Plex Mono"/>
          <a:ea typeface="IBM Plex Mono"/>
          <a:cs typeface="IBM Plex Mono"/>
        </a:font>
        <a:schemeClr val="lt1"/>
      </a:tcTxStyle>
      <a:tcStyle>
        <a:tcBdr/>
        <a:fill>
          <a:solidFill>
            <a:schemeClr val="accent1"/>
          </a:solidFill>
        </a:fill>
      </a:tcStyle>
    </a:firstCol>
    <a:lastRow>
      <a:tcTxStyle b="on" i="off">
        <a:font>
          <a:latin typeface="IBM Plex Mono"/>
          <a:ea typeface="IBM Plex Mono"/>
          <a:cs typeface="IBM Plex Mono"/>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IBM Plex Mono"/>
          <a:ea typeface="IBM Plex Mono"/>
          <a:cs typeface="IBM Plex Mono"/>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8D058665-8FE9-45B2-BE9A-A264AC7DD316}"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2" d="100"/>
          <a:sy n="122" d="100"/>
        </p:scale>
        <p:origin x="123" y="63"/>
      </p:cViewPr>
      <p:guideLst>
        <p:guide pos="3840"/>
        <p:guide orient="horz"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4.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45"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4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
        <p:cNvGrpSpPr/>
        <p:nvPr/>
      </p:nvGrpSpPr>
      <p:grpSpPr>
        <a:xfrm>
          <a:off x="0" y="0"/>
          <a:ext cx="0" cy="0"/>
          <a:chOff x="0" y="0"/>
          <a:chExt cx="0" cy="0"/>
        </a:xfrm>
      </p:grpSpPr>
      <p:sp>
        <p:nvSpPr>
          <p:cNvPr id="13" name="Google Shape;13;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 name="Google Shape;14;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Welcome. This is the forecasting part of the optimisation challenge, on real data from CLEAR at CERN. The picture is the whole story: the beam charge jitters and drifts shot by shot, sometimes drops out, and the question is whether we can see where it goes next.</a:t>
            </a:r>
            <a:endParaRPr sz="1200" b="0" i="0" u="none" strike="noStrike" cap="none">
              <a:solidFill>
                <a:schemeClr val="dk1"/>
              </a:solidFill>
              <a:latin typeface="Arial"/>
              <a:ea typeface="Arial"/>
              <a:cs typeface="Arial"/>
              <a:sym typeface="Arial"/>
            </a:endParaRPr>
          </a:p>
        </p:txBody>
      </p:sp>
      <p:sp>
        <p:nvSpPr>
          <p:cNvPr id="15" name="Google Shape;15;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 name="Google Shape;3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The parent challenge asks how to find the best settings. This one adds time: how will the beam behave next? Three steps, which are also the three tiers. First understand the data. Then a virtual diagnostic: the charge of a shot from the other signals of the same shot. Then forecasting: the charge of the next shot, or several shots ahead, from the past only. The long-term goal is to put the forecast inside a controller, which brings us back to optimisation. And if a team gets extremely promising results, we can ask for real beam time to test it on CLEAR.</a:t>
            </a:r>
            <a:endParaRPr sz="1200" b="0" i="0" u="none" strike="noStrike" cap="none">
              <a:solidFill>
                <a:schemeClr val="dk1"/>
              </a:solidFill>
              <a:latin typeface="Arial"/>
              <a:ea typeface="Arial"/>
              <a:cs typeface="Arial"/>
              <a:sym typeface="Arial"/>
            </a:endParaRPr>
          </a:p>
        </p:txBody>
      </p:sp>
      <p:sp>
        <p:nvSpPr>
          <p:cNvPr id="32" name="Google Shape;32;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h6524a41718b72fa9_0_0:notes"/>
          <p:cNvSpPr>
            <a:spLocks noGrp="1" noRot="1" noChangeAspect="1"/>
          </p:cNvSpPr>
          <p:nvPr>
            <p:ph type="sldImg" idx="2"/>
          </p:nvPr>
        </p:nvSpPr>
        <p:spPr>
          <a:xfrm>
            <a:off x="1143225" y="914400"/>
            <a:ext cx="4572300" cy="4572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h6524a41718b72fa9_0_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h6524a41718b72fa9_0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0" name="Google Shape;70;h6524a41718b72fa9_0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Medium is the virtual diagnostic: infer the charge of a shot from the other signals of that same shot, without using any charge. Compare at least a linear model, a tree ensemble and a neural network, and show what drives each one: does it agree with your correlation study? Then the interesting part: train on one run and test on another, across days or across regimes. How much does it degrade, and which features stop transferring?</a:t>
            </a:r>
            <a:endParaRPr sz="1200" b="0" i="0" u="none" strike="noStrike" cap="none">
              <a:solidFill>
                <a:schemeClr val="dk1"/>
              </a:solidFill>
              <a:latin typeface="Arial"/>
              <a:ea typeface="Arial"/>
              <a:cs typeface="Arial"/>
              <a:sym typeface="Arial"/>
            </a:endParaRPr>
          </a:p>
        </p:txBody>
      </p:sp>
      <p:sp>
        <p:nvSpPr>
          <p:cNvPr id="71" name="Google Shape;71;h6524a41718b72fa9_0_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6" name="Google Shape;86;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87" name="Google Shape;87;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01" name="Google Shape;101;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6" name="Google Shape;116;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17" name="Google Shape;117;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 name="Google Shape;128;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29" name="Google Shape;129;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3" name="Google Shape;14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44" name="Google Shape;14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7" name="Google Shape;157;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58" name="Google Shape;158;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1" name="Google Shape;171;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Medium is the virtual diagnostic: infer the charge of a shot from the other signals of that same shot, without using any charge. Compare at least a linear model, a tree ensemble and a neural network, and show what drives each one: does it agree with your correlation study? Then the interesting part: train on one run and test on another, across days or across regimes. How much does it degrade, and which features stop transferring?</a:t>
            </a:r>
            <a:endParaRPr sz="1200" b="0" i="0" u="none" strike="noStrike" cap="none">
              <a:solidFill>
                <a:schemeClr val="dk1"/>
              </a:solidFill>
              <a:latin typeface="Arial"/>
              <a:ea typeface="Arial"/>
              <a:cs typeface="Arial"/>
              <a:sym typeface="Arial"/>
            </a:endParaRPr>
          </a:p>
        </p:txBody>
      </p:sp>
      <p:sp>
        <p:nvSpPr>
          <p:cNvPr id="172" name="Google Shape;172;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188" name="Google Shape;188;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h6524a41718b72fa9_1_5:notes"/>
          <p:cNvSpPr>
            <a:spLocks noGrp="1" noRot="1" noChangeAspect="1"/>
          </p:cNvSpPr>
          <p:nvPr>
            <p:ph type="sldImg" idx="2"/>
          </p:nvPr>
        </p:nvSpPr>
        <p:spPr>
          <a:xfrm>
            <a:off x="1143225" y="914400"/>
            <a:ext cx="4572300" cy="4572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h6524a41718b72fa9_1_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h6524a41718b72fa9_1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h6524a41718b72fa9_1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10" name="Google Shape;210;h6524a41718b72fa9_1_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h6524a41718b72fa9_1_3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1" name="Google Shape;221;h6524a41718b72fa9_1_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22" name="Google Shape;222;h6524a41718b72fa9_1_3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3" name="Google Shape;233;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34" name="Google Shape;234;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h6524a41718b72fa9_0_38:notes"/>
          <p:cNvSpPr>
            <a:spLocks noGrp="1" noRot="1" noChangeAspect="1"/>
          </p:cNvSpPr>
          <p:nvPr>
            <p:ph type="sldImg" idx="2"/>
          </p:nvPr>
        </p:nvSpPr>
        <p:spPr>
          <a:xfrm>
            <a:off x="1143225" y="914400"/>
            <a:ext cx="4572300" cy="4572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h6524a41718b72fa9_0_3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3" name="Google Shape;253;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54" name="Google Shape;254;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6" name="Google Shape;266;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Hard is forecasting: predict the charge of future shots from everything known up to now. First beat the rolling mean, which is not trivial. Then beat the notebook's XGBoost on lag features. Go multi-step and find the horizon where your model stops beating the rolling mean. Use at least one model built for sequences. And tell us where the forecast comes from: the charge's own history, or the machine.</a:t>
            </a:r>
            <a:endParaRPr sz="1200" b="0" i="0" u="none" strike="noStrike" cap="none">
              <a:solidFill>
                <a:schemeClr val="dk1"/>
              </a:solidFill>
              <a:latin typeface="Arial"/>
              <a:ea typeface="Arial"/>
              <a:cs typeface="Arial"/>
              <a:sym typeface="Arial"/>
            </a:endParaRPr>
          </a:p>
        </p:txBody>
      </p:sp>
      <p:sp>
        <p:nvSpPr>
          <p:cNvPr id="267" name="Google Shape;267;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2" name="Google Shape;282;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83" name="Google Shape;283;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h6524a41718b72fa9_1_4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h6524a41718b72fa9_1_4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298" name="Google Shape;298;h6524a41718b72fa9_1_4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9" name="Google Shape;30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10" name="Google Shape;31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5" name="Google Shape;325;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26" name="Google Shape;326;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h6524a41718b72fa9_1_6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6" name="Google Shape;336;h6524a41718b72fa9_1_6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37" name="Google Shape;337;h6524a41718b72fa9_1_6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6" name="Google Shape;346;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That is the challenge: understand the data, infer the charge, then try to predict the next shot. Questions now, or any time during the week: find me at the Tuesday hands-on session or the Wednesday check-in.</a:t>
            </a:r>
            <a:endParaRPr sz="1200" b="0" i="0" u="none" strike="noStrike" cap="none">
              <a:solidFill>
                <a:schemeClr val="dk1"/>
              </a:solidFill>
              <a:latin typeface="Arial"/>
              <a:ea typeface="Arial"/>
              <a:cs typeface="Arial"/>
              <a:sym typeface="Arial"/>
            </a:endParaRPr>
          </a:p>
        </p:txBody>
      </p:sp>
      <p:sp>
        <p:nvSpPr>
          <p:cNvPr id="347" name="Google Shape;347;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58" name="Google Shape;358;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4" name="Google Shape;374;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75" name="Google Shape;375;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8" name="Google Shape;388;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b="0" i="0" u="none" strike="noStrike" cap="none">
              <a:solidFill>
                <a:schemeClr val="dk1"/>
              </a:solidFill>
              <a:latin typeface="Arial"/>
              <a:ea typeface="Arial"/>
              <a:cs typeface="Arial"/>
              <a:sym typeface="Arial"/>
            </a:endParaRPr>
          </a:p>
        </p:txBody>
      </p:sp>
      <p:sp>
        <p:nvSpPr>
          <p:cNvPr id="389" name="Google Shape;389;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28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p:cSld name="Title and body">
    <p:bg>
      <p:bgPr>
        <a:solidFill>
          <a:srgbClr val="FBF8F1"/>
        </a:solidFill>
        <a:effectLst/>
      </p:bgPr>
    </p:bg>
    <p:spTree>
      <p:nvGrpSpPr>
        <p:cNvPr id="1" name="Shape 8"/>
        <p:cNvGrpSpPr/>
        <p:nvPr/>
      </p:nvGrpSpPr>
      <p:grpSpPr>
        <a:xfrm>
          <a:off x="0" y="0"/>
          <a:ext cx="0" cy="0"/>
          <a:chOff x="0" y="0"/>
          <a:chExt cx="0" cy="0"/>
        </a:xfrm>
      </p:grpSpPr>
      <p:sp>
        <p:nvSpPr>
          <p:cNvPr id="9" name="Google Shape;9;p25"/>
          <p:cNvSpPr txBox="1">
            <a:spLocks noGrp="1"/>
          </p:cNvSpPr>
          <p:nvPr>
            <p:ph type="title"/>
          </p:nvPr>
        </p:nvSpPr>
        <p:spPr>
          <a:xfrm>
            <a:off x="812800" y="1123950"/>
            <a:ext cx="10566400" cy="501650"/>
          </a:xfrm>
          <a:prstGeom prst="rect">
            <a:avLst/>
          </a:prstGeom>
          <a:noFill/>
          <a:ln>
            <a:noFill/>
          </a:ln>
        </p:spPr>
        <p:txBody>
          <a:bodyPr spcFirstLastPara="1" wrap="square" lIns="0" tIns="0" rIns="0" bIns="0" anchor="t" anchorCtr="0">
            <a:noAutofit/>
          </a:bodyPr>
          <a:lstStyle>
            <a:lvl1pPr lvl="0" algn="l">
              <a:lnSpc>
                <a:spcPct val="114999"/>
              </a:lnSpc>
              <a:spcBef>
                <a:spcPts val="0"/>
              </a:spcBef>
              <a:spcAft>
                <a:spcPts val="0"/>
              </a:spcAft>
              <a:buClr>
                <a:srgbClr val="14213D"/>
              </a:buClr>
              <a:buSzPts val="3600"/>
              <a:buFont typeface="Space Grotesk"/>
              <a:buNone/>
              <a:defRPr sz="3600">
                <a:solidFill>
                  <a:srgbClr val="14213D"/>
                </a:solidFill>
                <a:latin typeface="Space Grotesk"/>
                <a:ea typeface="Space Grotesk"/>
                <a:cs typeface="Space Grotesk"/>
                <a:sym typeface="Space Grotes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 name="Google Shape;10;p25"/>
          <p:cNvSpPr txBox="1">
            <a:spLocks noGrp="1"/>
          </p:cNvSpPr>
          <p:nvPr>
            <p:ph type="body" idx="1"/>
          </p:nvPr>
        </p:nvSpPr>
        <p:spPr>
          <a:xfrm>
            <a:off x="812800" y="1930400"/>
            <a:ext cx="10566400" cy="4114800"/>
          </a:xfrm>
          <a:prstGeom prst="rect">
            <a:avLst/>
          </a:prstGeom>
          <a:noFill/>
          <a:ln>
            <a:noFill/>
          </a:ln>
        </p:spPr>
        <p:txBody>
          <a:bodyPr spcFirstLastPara="1" wrap="square" lIns="0" tIns="0" rIns="0" bIns="0" anchor="t" anchorCtr="0">
            <a:noAutofit/>
          </a:bodyPr>
          <a:lstStyle>
            <a:lvl1pPr marL="457200" lvl="0" indent="-228600" algn="l">
              <a:lnSpc>
                <a:spcPct val="140000"/>
              </a:lnSpc>
              <a:spcBef>
                <a:spcPts val="0"/>
              </a:spcBef>
              <a:spcAft>
                <a:spcPts val="0"/>
              </a:spcAft>
              <a:buClr>
                <a:srgbClr val="14213D"/>
              </a:buClr>
              <a:buSzPts val="1600"/>
              <a:buNone/>
              <a:defRPr sz="1600">
                <a:solidFill>
                  <a:srgbClr val="14213D"/>
                </a:solidFill>
                <a:latin typeface="IBM Plex Mono"/>
                <a:ea typeface="IBM Plex Mono"/>
                <a:cs typeface="IBM Plex Mono"/>
                <a:sym typeface="IBM Plex Mono"/>
              </a:defRPr>
            </a:lvl1pPr>
            <a:lvl2pPr marL="914400" lvl="1" indent="-342900" algn="l">
              <a:spcBef>
                <a:spcPts val="0"/>
              </a:spcBef>
              <a:spcAft>
                <a:spcPts val="0"/>
              </a:spcAft>
              <a:buClr>
                <a:schemeClr val="dk1"/>
              </a:buClr>
              <a:buSzPts val="1800"/>
              <a:buChar char="–"/>
              <a:defRPr/>
            </a:lvl2pPr>
            <a:lvl3pPr marL="1371600" lvl="2" indent="-342900" algn="l">
              <a:spcBef>
                <a:spcPts val="0"/>
              </a:spcBef>
              <a:spcAft>
                <a:spcPts val="0"/>
              </a:spcAft>
              <a:buClr>
                <a:schemeClr val="dk1"/>
              </a:buClr>
              <a:buSzPts val="1800"/>
              <a:buChar char="•"/>
              <a:defRPr/>
            </a:lvl3pPr>
            <a:lvl4pPr marL="1828800" lvl="3" indent="-342900" algn="l">
              <a:spcBef>
                <a:spcPts val="0"/>
              </a:spcBef>
              <a:spcAft>
                <a:spcPts val="0"/>
              </a:spcAft>
              <a:buClr>
                <a:schemeClr val="dk1"/>
              </a:buClr>
              <a:buSzPts val="1800"/>
              <a:buChar char="–"/>
              <a:defRPr/>
            </a:lvl4pPr>
            <a:lvl5pPr marL="2286000" lvl="4" indent="-342900" algn="l">
              <a:spcBef>
                <a:spcPts val="0"/>
              </a:spcBef>
              <a:spcAft>
                <a:spcPts val="0"/>
              </a:spcAft>
              <a:buClr>
                <a:schemeClr val="dk1"/>
              </a:buClr>
              <a:buSzPts val="1800"/>
              <a:buChar char="»"/>
              <a:defRPr/>
            </a:lvl5pPr>
            <a:lvl6pPr marL="2743200" lvl="5" indent="-342900" algn="l">
              <a:spcBef>
                <a:spcPts val="0"/>
              </a:spcBef>
              <a:spcAft>
                <a:spcPts val="0"/>
              </a:spcAft>
              <a:buClr>
                <a:schemeClr val="dk1"/>
              </a:buClr>
              <a:buSzPts val="1800"/>
              <a:buChar char="•"/>
              <a:defRPr/>
            </a:lvl6pPr>
            <a:lvl7pPr marL="3200400" lvl="6" indent="-342900" algn="l">
              <a:spcBef>
                <a:spcPts val="0"/>
              </a:spcBef>
              <a:spcAft>
                <a:spcPts val="0"/>
              </a:spcAft>
              <a:buClr>
                <a:schemeClr val="dk1"/>
              </a:buClr>
              <a:buSzPts val="1800"/>
              <a:buChar char="•"/>
              <a:defRPr/>
            </a:lvl7pPr>
            <a:lvl8pPr marL="3657600" lvl="7" indent="-342900" algn="l">
              <a:spcBef>
                <a:spcPts val="0"/>
              </a:spcBef>
              <a:spcAft>
                <a:spcPts val="0"/>
              </a:spcAft>
              <a:buClr>
                <a:schemeClr val="dk1"/>
              </a:buClr>
              <a:buSzPts val="1800"/>
              <a:buChar char="•"/>
              <a:defRPr/>
            </a:lvl8pPr>
            <a:lvl9pPr marL="4114800" lvl="8" indent="-342900" algn="l">
              <a:spcBef>
                <a:spcPts val="0"/>
              </a:spcBef>
              <a:spcAft>
                <a:spcPts val="0"/>
              </a:spcAft>
              <a:buClr>
                <a:schemeClr val="dk1"/>
              </a:buClr>
              <a:buSzPts val="1800"/>
              <a:buChar char="•"/>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5"/>
        <p:cNvGrpSpPr/>
        <p:nvPr/>
      </p:nvGrpSpPr>
      <p:grpSpPr>
        <a:xfrm>
          <a:off x="0" y="0"/>
          <a:ext cx="0" cy="0"/>
          <a:chOff x="0" y="0"/>
          <a:chExt cx="0" cy="0"/>
        </a:xfrm>
      </p:grpSpPr>
      <p:sp>
        <p:nvSpPr>
          <p:cNvPr id="6" name="Google Shape;6;p24"/>
          <p:cNvSpPr txBox="1">
            <a:spLocks noGrp="1"/>
          </p:cNvSpPr>
          <p:nvPr>
            <p:ph type="title"/>
          </p:nvPr>
        </p:nvSpPr>
        <p:spPr>
          <a:xfrm>
            <a:off x="812800" y="1123950"/>
            <a:ext cx="10566400" cy="501650"/>
          </a:xfrm>
          <a:prstGeom prst="rect">
            <a:avLst/>
          </a:prstGeom>
          <a:noFill/>
          <a:ln>
            <a:noFill/>
          </a:ln>
        </p:spPr>
        <p:txBody>
          <a:bodyPr spcFirstLastPara="1" wrap="square" lIns="0" tIns="0" rIns="0" bIns="0" anchor="t" anchorCtr="0">
            <a:noAutofit/>
          </a:bodyPr>
          <a:lstStyle>
            <a:lvl1pPr marR="0" lvl="0" algn="l" rtl="0">
              <a:lnSpc>
                <a:spcPct val="114999"/>
              </a:lnSpc>
              <a:spcBef>
                <a:spcPts val="0"/>
              </a:spcBef>
              <a:spcAft>
                <a:spcPts val="0"/>
              </a:spcAft>
              <a:buClr>
                <a:srgbClr val="14213D"/>
              </a:buClr>
              <a:buSzPts val="3600"/>
              <a:buFont typeface="Space Grotesk"/>
              <a:buNone/>
              <a:defRPr sz="3600" b="0" i="0" u="none" strike="noStrike" cap="none">
                <a:solidFill>
                  <a:srgbClr val="14213D"/>
                </a:solidFill>
                <a:latin typeface="Space Grotesk"/>
                <a:ea typeface="Space Grotesk"/>
                <a:cs typeface="Space Grotesk"/>
                <a:sym typeface="Space Grotesk"/>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4"/>
          <p:cNvSpPr txBox="1">
            <a:spLocks noGrp="1"/>
          </p:cNvSpPr>
          <p:nvPr>
            <p:ph type="body" idx="1"/>
          </p:nvPr>
        </p:nvSpPr>
        <p:spPr>
          <a:xfrm>
            <a:off x="812800" y="1930400"/>
            <a:ext cx="10566400" cy="4114800"/>
          </a:xfrm>
          <a:prstGeom prst="rect">
            <a:avLst/>
          </a:prstGeom>
          <a:noFill/>
          <a:ln>
            <a:noFill/>
          </a:ln>
        </p:spPr>
        <p:txBody>
          <a:bodyPr spcFirstLastPara="1" wrap="square" lIns="0" tIns="0" rIns="0" bIns="0" anchor="t" anchorCtr="0">
            <a:noAutofit/>
          </a:bodyPr>
          <a:lstStyle>
            <a:lvl1pPr marL="457200" marR="0" lvl="0" indent="-228600" algn="l" rtl="0">
              <a:lnSpc>
                <a:spcPct val="140000"/>
              </a:lnSpc>
              <a:spcBef>
                <a:spcPts val="0"/>
              </a:spcBef>
              <a:spcAft>
                <a:spcPts val="0"/>
              </a:spcAft>
              <a:buClr>
                <a:srgbClr val="14213D"/>
              </a:buClr>
              <a:buSzPts val="1600"/>
              <a:buFont typeface="Arial"/>
              <a:buNone/>
              <a:defRPr sz="1600" b="0" i="0" u="none" strike="noStrike" cap="none">
                <a:solidFill>
                  <a:srgbClr val="14213D"/>
                </a:solidFill>
                <a:latin typeface="IBM Plex Mono"/>
                <a:ea typeface="IBM Plex Mono"/>
                <a:cs typeface="IBM Plex Mono"/>
                <a:sym typeface="IBM Plex Mono"/>
              </a:defRPr>
            </a:lvl1pPr>
            <a:lvl2pPr marL="914400" marR="0" lvl="1" indent="-406400" algn="l" rtl="0">
              <a:spcBef>
                <a:spcPts val="0"/>
              </a:spcBef>
              <a:spcAft>
                <a:spcPts val="0"/>
              </a:spcAft>
              <a:buClr>
                <a:schemeClr val="dk1"/>
              </a:buClr>
              <a:buSzPts val="2800"/>
              <a:buFont typeface="Arial"/>
              <a:buChar char="–"/>
              <a:defRPr sz="2800" b="0" i="0" u="none" strike="noStrike" cap="none">
                <a:solidFill>
                  <a:schemeClr val="dk1"/>
                </a:solidFill>
                <a:latin typeface="IBM Plex Mono"/>
                <a:ea typeface="IBM Plex Mono"/>
                <a:cs typeface="IBM Plex Mono"/>
                <a:sym typeface="IBM Plex Mono"/>
              </a:defRPr>
            </a:lvl2pPr>
            <a:lvl3pPr marL="1371600" marR="0" lvl="2" indent="-381000" algn="l" rtl="0">
              <a:spcBef>
                <a:spcPts val="0"/>
              </a:spcBef>
              <a:spcAft>
                <a:spcPts val="0"/>
              </a:spcAft>
              <a:buClr>
                <a:schemeClr val="dk1"/>
              </a:buClr>
              <a:buSzPts val="2400"/>
              <a:buFont typeface="Arial"/>
              <a:buChar char="•"/>
              <a:defRPr sz="2400" b="0" i="0" u="none" strike="noStrike" cap="none">
                <a:solidFill>
                  <a:schemeClr val="dk1"/>
                </a:solidFill>
                <a:latin typeface="IBM Plex Mono"/>
                <a:ea typeface="IBM Plex Mono"/>
                <a:cs typeface="IBM Plex Mono"/>
                <a:sym typeface="IBM Plex Mono"/>
              </a:defRPr>
            </a:lvl3pPr>
            <a:lvl4pPr marL="1828800" marR="0" lvl="3"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4pPr>
            <a:lvl5pPr marL="2286000" marR="0" lvl="4"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5pPr>
            <a:lvl6pPr marL="2743200" marR="0" lvl="5"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6pPr>
            <a:lvl7pPr marL="3200400" marR="0" lvl="6"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7pPr>
            <a:lvl8pPr marL="3657600" marR="0" lvl="7"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8pPr>
            <a:lvl9pPr marL="4114800" marR="0" lvl="8" indent="-355600" algn="l" rtl="0">
              <a:spcBef>
                <a:spcPts val="0"/>
              </a:spcBef>
              <a:spcAft>
                <a:spcPts val="0"/>
              </a:spcAft>
              <a:buClr>
                <a:schemeClr val="dk1"/>
              </a:buClr>
              <a:buSzPts val="2000"/>
              <a:buFont typeface="Arial"/>
              <a:buChar char="•"/>
              <a:defRPr sz="2000" b="0" i="0" u="none" strike="noStrike" cap="none">
                <a:solidFill>
                  <a:schemeClr val="dk1"/>
                </a:solidFill>
                <a:latin typeface="IBM Plex Mono"/>
                <a:ea typeface="IBM Plex Mono"/>
                <a:cs typeface="IBM Plex Mono"/>
                <a:sym typeface="IBM Plex Mono"/>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16"/>
        <p:cNvGrpSpPr/>
        <p:nvPr/>
      </p:nvGrpSpPr>
      <p:grpSpPr>
        <a:xfrm>
          <a:off x="0" y="0"/>
          <a:ext cx="0" cy="0"/>
          <a:chOff x="0" y="0"/>
          <a:chExt cx="0" cy="0"/>
        </a:xfrm>
      </p:grpSpPr>
      <p:pic>
        <p:nvPicPr>
          <p:cNvPr id="17" name="Google Shape;17;p1" descr="On a blue-to-pink gradient panel: a jittering, drifting charge trace over past shots, with one dropout, then a dashed forecast with a widening uncertainty band after the present shot"/>
          <p:cNvPicPr preferRelativeResize="0"/>
          <p:nvPr/>
        </p:nvPicPr>
        <p:blipFill rotWithShape="1">
          <a:blip r:embed="rId3">
            <a:alphaModFix/>
          </a:blip>
          <a:srcRect t="-10" b="-10"/>
          <a:stretch/>
        </p:blipFill>
        <p:spPr>
          <a:xfrm>
            <a:off x="6477000" y="0"/>
            <a:ext cx="5715000" cy="6858000"/>
          </a:xfrm>
          <a:prstGeom prst="rect">
            <a:avLst/>
          </a:prstGeom>
          <a:noFill/>
          <a:ln>
            <a:noFill/>
          </a:ln>
        </p:spPr>
      </p:pic>
      <p:sp>
        <p:nvSpPr>
          <p:cNvPr id="18" name="Google Shape;18;p1"/>
          <p:cNvSpPr/>
          <p:nvPr/>
        </p:nvSpPr>
        <p:spPr>
          <a:xfrm>
            <a:off x="812800" y="812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9" name="Google Shape;19;p1"/>
          <p:cNvSpPr/>
          <p:nvPr/>
        </p:nvSpPr>
        <p:spPr>
          <a:xfrm>
            <a:off x="812800" y="939800"/>
            <a:ext cx="5415534" cy="4826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5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AISSAI ACCELERATOR HACKATHON 2026</a:t>
            </a:r>
            <a:endParaRPr sz="1200" b="0" i="0" u="none" strike="noStrike" cap="none">
              <a:solidFill>
                <a:schemeClr val="dk1"/>
              </a:solidFill>
              <a:latin typeface="IBM Plex Mono"/>
              <a:ea typeface="IBM Plex Mono"/>
              <a:cs typeface="IBM Plex Mono"/>
              <a:sym typeface="IBM Plex Mono"/>
            </a:endParaRPr>
          </a:p>
          <a:p>
            <a:pPr marL="0" marR="0" lvl="0" indent="0" algn="l" rtl="0">
              <a:lnSpc>
                <a:spcPct val="15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OPTIMISATION CHALLENGE</a:t>
            </a:r>
            <a:endParaRPr sz="1200" b="0" i="0" u="none" strike="noStrike" cap="none">
              <a:solidFill>
                <a:schemeClr val="dk1"/>
              </a:solidFill>
              <a:latin typeface="IBM Plex Mono"/>
              <a:ea typeface="IBM Plex Mono"/>
              <a:cs typeface="IBM Plex Mono"/>
              <a:sym typeface="IBM Plex Mono"/>
            </a:endParaRPr>
          </a:p>
        </p:txBody>
      </p:sp>
      <p:sp>
        <p:nvSpPr>
          <p:cNvPr id="20" name="Google Shape;20;p1"/>
          <p:cNvSpPr txBox="1">
            <a:spLocks noGrp="1"/>
          </p:cNvSpPr>
          <p:nvPr>
            <p:ph type="title"/>
          </p:nvPr>
        </p:nvSpPr>
        <p:spPr>
          <a:xfrm>
            <a:off x="812800" y="2143125"/>
            <a:ext cx="5715000" cy="1930500"/>
          </a:xfrm>
          <a:prstGeom prst="rect">
            <a:avLst/>
          </a:prstGeom>
          <a:noFill/>
          <a:ln>
            <a:noFill/>
          </a:ln>
        </p:spPr>
        <p:txBody>
          <a:bodyPr spcFirstLastPara="1" wrap="square" lIns="0" tIns="0" rIns="0" bIns="0" anchor="t" anchorCtr="0">
            <a:normAutofit fontScale="90000"/>
          </a:bodyPr>
          <a:lstStyle/>
          <a:p>
            <a:pPr marL="0" lvl="0" indent="0" algn="l" rtl="0">
              <a:lnSpc>
                <a:spcPct val="104999"/>
              </a:lnSpc>
              <a:spcBef>
                <a:spcPts val="0"/>
              </a:spcBef>
              <a:spcAft>
                <a:spcPts val="0"/>
              </a:spcAft>
              <a:buClr>
                <a:srgbClr val="14213D"/>
              </a:buClr>
              <a:buSzPct val="100000"/>
              <a:buFont typeface="Space Grotesk"/>
              <a:buNone/>
            </a:pPr>
            <a:r>
              <a:rPr lang="en-US" sz="4800" b="1" i="0">
                <a:solidFill>
                  <a:srgbClr val="14213D"/>
                </a:solidFill>
                <a:latin typeface="Space Grotesk"/>
                <a:ea typeface="Space Grotesk"/>
                <a:cs typeface="Space Grotesk"/>
                <a:sym typeface="Space Grotesk"/>
              </a:rPr>
              <a:t>Forecasting the </a:t>
            </a:r>
            <a:r>
              <a:rPr lang="en-US" sz="4800" b="1" i="0">
                <a:solidFill>
                  <a:srgbClr val="6D28D9"/>
                </a:solidFill>
                <a:latin typeface="Space Grotesk"/>
                <a:ea typeface="Space Grotesk"/>
                <a:cs typeface="Space Grotesk"/>
                <a:sym typeface="Space Grotesk"/>
              </a:rPr>
              <a:t>CLEAR</a:t>
            </a:r>
            <a:r>
              <a:rPr lang="en-US" sz="4800" b="1" i="0">
                <a:solidFill>
                  <a:srgbClr val="14213D"/>
                </a:solidFill>
                <a:latin typeface="Space Grotesk"/>
                <a:ea typeface="Space Grotesk"/>
                <a:cs typeface="Space Grotesk"/>
                <a:sym typeface="Space Grotesk"/>
              </a:rPr>
              <a:t> beam charge</a:t>
            </a:r>
            <a:endParaRPr sz="4800"/>
          </a:p>
        </p:txBody>
      </p:sp>
      <p:sp>
        <p:nvSpPr>
          <p:cNvPr id="21" name="Google Shape;21;p1"/>
          <p:cNvSpPr/>
          <p:nvPr/>
        </p:nvSpPr>
        <p:spPr>
          <a:xfrm>
            <a:off x="812800" y="4225925"/>
            <a:ext cx="5415534" cy="584200"/>
          </a:xfrm>
          <a:prstGeom prst="rect">
            <a:avLst/>
          </a:prstGeom>
          <a:noFill/>
          <a:ln>
            <a:noFill/>
          </a:ln>
        </p:spPr>
        <p:txBody>
          <a:bodyPr spcFirstLastPara="1" wrap="square" lIns="0" tIns="0" rIns="0" bIns="0" anchor="t" anchorCtr="0">
            <a:normAutofit/>
          </a:bodyPr>
          <a:lstStyle/>
          <a:p>
            <a:pPr marL="0" marR="0" lvl="0" indent="0" algn="l" rtl="0">
              <a:lnSpc>
                <a:spcPct val="140000"/>
              </a:lnSpc>
              <a:spcBef>
                <a:spcPts val="0"/>
              </a:spcBef>
              <a:spcAft>
                <a:spcPts val="0"/>
              </a:spcAft>
              <a:buClr>
                <a:srgbClr val="3B4660"/>
              </a:buClr>
              <a:buSzPts val="1600"/>
              <a:buFont typeface="IBM Plex Sans"/>
              <a:buNone/>
            </a:pPr>
            <a:r>
              <a:rPr lang="en-US" sz="1600" b="0" i="0" u="none" strike="noStrike" cap="none">
                <a:solidFill>
                  <a:srgbClr val="3B4660"/>
                </a:solidFill>
                <a:latin typeface="IBM Plex Sans"/>
                <a:ea typeface="IBM Plex Sans"/>
                <a:cs typeface="IBM Plex Sans"/>
                <a:sym typeface="IBM Plex Sans"/>
              </a:rPr>
              <a:t>How will the beam behave next, and can we see it coming?</a:t>
            </a:r>
            <a:endParaRPr sz="1600" b="0" i="0" u="none" strike="noStrike" cap="none">
              <a:solidFill>
                <a:schemeClr val="dk1"/>
              </a:solidFill>
              <a:latin typeface="IBM Plex Mono"/>
              <a:ea typeface="IBM Plex Mono"/>
              <a:cs typeface="IBM Plex Mono"/>
              <a:sym typeface="IBM Plex Mono"/>
            </a:endParaRPr>
          </a:p>
        </p:txBody>
      </p:sp>
      <p:sp>
        <p:nvSpPr>
          <p:cNvPr id="22" name="Google Shape;22;p1"/>
          <p:cNvSpPr/>
          <p:nvPr/>
        </p:nvSpPr>
        <p:spPr>
          <a:xfrm>
            <a:off x="812799" y="4892674"/>
            <a:ext cx="5415534" cy="3048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Antonio Gilardi (Team Leader &amp; Case Holder)</a:t>
            </a:r>
            <a:endParaRPr sz="1600" b="0" i="0" u="none" strike="noStrike" cap="none">
              <a:solidFill>
                <a:schemeClr val="dk1"/>
              </a:solidFill>
              <a:latin typeface="IBM Plex Mono"/>
              <a:ea typeface="IBM Plex Mono"/>
              <a:cs typeface="IBM Plex Mono"/>
              <a:sym typeface="IBM Plex Mono"/>
            </a:endParaRPr>
          </a:p>
        </p:txBody>
      </p:sp>
      <p:sp>
        <p:nvSpPr>
          <p:cNvPr id="23" name="Google Shape;23;p1"/>
          <p:cNvSpPr/>
          <p:nvPr/>
        </p:nvSpPr>
        <p:spPr>
          <a:xfrm>
            <a:off x="812799" y="5197474"/>
            <a:ext cx="5415534"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CERN · CLEAR · antonio.gilardi@cern.ch</a:t>
            </a:r>
            <a:endParaRPr sz="1200" b="0" i="0" u="none" strike="noStrike" cap="none">
              <a:solidFill>
                <a:schemeClr val="dk1"/>
              </a:solidFill>
              <a:latin typeface="IBM Plex Mono"/>
              <a:ea typeface="IBM Plex Mono"/>
              <a:cs typeface="IBM Plex Mono"/>
              <a:sym typeface="IBM Plex Mono"/>
            </a:endParaRPr>
          </a:p>
        </p:txBody>
      </p:sp>
      <p:sp>
        <p:nvSpPr>
          <p:cNvPr id="24" name="Google Shape;24;p1"/>
          <p:cNvSpPr/>
          <p:nvPr/>
        </p:nvSpPr>
        <p:spPr>
          <a:xfrm>
            <a:off x="6921500" y="5080000"/>
            <a:ext cx="196215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past shots</a:t>
            </a:r>
            <a:endParaRPr sz="1200" b="0" i="0" u="none" strike="noStrike" cap="none">
              <a:solidFill>
                <a:schemeClr val="dk1"/>
              </a:solidFill>
              <a:latin typeface="IBM Plex Mono"/>
              <a:ea typeface="IBM Plex Mono"/>
              <a:cs typeface="IBM Plex Mono"/>
              <a:sym typeface="IBM Plex Mono"/>
            </a:endParaRPr>
          </a:p>
        </p:txBody>
      </p:sp>
      <p:sp>
        <p:nvSpPr>
          <p:cNvPr id="25" name="Google Shape;25;p1"/>
          <p:cNvSpPr/>
          <p:nvPr/>
        </p:nvSpPr>
        <p:spPr>
          <a:xfrm>
            <a:off x="8953500" y="4667250"/>
            <a:ext cx="10033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dropout</a:t>
            </a:r>
            <a:endParaRPr sz="1200" b="0" i="0" u="none" strike="noStrike" cap="none">
              <a:solidFill>
                <a:schemeClr val="dk1"/>
              </a:solidFill>
              <a:latin typeface="IBM Plex Mono"/>
              <a:ea typeface="IBM Plex Mono"/>
              <a:cs typeface="IBM Plex Mono"/>
              <a:sym typeface="IBM Plex Mono"/>
            </a:endParaRPr>
          </a:p>
        </p:txBody>
      </p:sp>
      <p:sp>
        <p:nvSpPr>
          <p:cNvPr id="26" name="Google Shape;26;p1"/>
          <p:cNvSpPr/>
          <p:nvPr/>
        </p:nvSpPr>
        <p:spPr>
          <a:xfrm>
            <a:off x="10071100" y="2476500"/>
            <a:ext cx="558800" cy="234950"/>
          </a:xfrm>
          <a:prstGeom prst="rect">
            <a:avLst/>
          </a:prstGeom>
          <a:noFill/>
          <a:ln>
            <a:noFill/>
          </a:ln>
        </p:spPr>
        <p:txBody>
          <a:bodyPr spcFirstLastPara="1" wrap="square" lIns="0" tIns="0" rIns="0" bIns="0" anchor="t" anchorCtr="0">
            <a:normAutofit fontScale="92500"/>
          </a:bodyPr>
          <a:lstStyle/>
          <a:p>
            <a:pPr marL="0" marR="0" lvl="0" indent="0" algn="ctr"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now</a:t>
            </a:r>
            <a:endParaRPr sz="1200" b="0" i="0" u="none" strike="noStrike" cap="none">
              <a:solidFill>
                <a:schemeClr val="dk1"/>
              </a:solidFill>
              <a:latin typeface="IBM Plex Mono"/>
              <a:ea typeface="IBM Plex Mono"/>
              <a:cs typeface="IBM Plex Mono"/>
              <a:sym typeface="IBM Plex Mono"/>
            </a:endParaRPr>
          </a:p>
        </p:txBody>
      </p:sp>
      <p:sp>
        <p:nvSpPr>
          <p:cNvPr id="27" name="Google Shape;27;p1"/>
          <p:cNvSpPr/>
          <p:nvPr/>
        </p:nvSpPr>
        <p:spPr>
          <a:xfrm>
            <a:off x="10477500" y="2870200"/>
            <a:ext cx="10668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forecast</a:t>
            </a:r>
            <a:endParaRPr sz="1200" b="0" i="0" u="none" strike="noStrike" cap="none">
              <a:solidFill>
                <a:schemeClr val="dk1"/>
              </a:solidFill>
              <a:latin typeface="IBM Plex Mono"/>
              <a:ea typeface="IBM Plex Mono"/>
              <a:cs typeface="IBM Plex Mono"/>
              <a:sym typeface="IBM Plex Mono"/>
            </a:endParaRPr>
          </a:p>
        </p:txBody>
      </p:sp>
      <p:sp>
        <p:nvSpPr>
          <p:cNvPr id="28" name="Google Shape;28;p1"/>
          <p:cNvSpPr/>
          <p:nvPr/>
        </p:nvSpPr>
        <p:spPr>
          <a:xfrm>
            <a:off x="812799" y="5559256"/>
            <a:ext cx="5415534" cy="1298743"/>
          </a:xfrm>
          <a:prstGeom prst="rect">
            <a:avLst/>
          </a:prstGeom>
          <a:noFill/>
          <a:ln>
            <a:noFill/>
          </a:ln>
        </p:spPr>
        <p:txBody>
          <a:bodyPr spcFirstLastPara="1" wrap="square" lIns="0" tIns="0" rIns="0" bIns="0" anchor="t" anchorCtr="0">
            <a:normAutofit/>
          </a:bodyPr>
          <a:lstStyle/>
          <a:p>
            <a:pPr marL="0" marR="0" lvl="0" indent="0" algn="l" rtl="0">
              <a:lnSpc>
                <a:spcPct val="139937"/>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Jan Jug</a:t>
            </a:r>
            <a:endParaRPr sz="1600" b="1" i="0" u="none" strike="noStrike" cap="none">
              <a:solidFill>
                <a:srgbClr val="14213D"/>
              </a:solidFill>
              <a:latin typeface="IBM Plex Sans"/>
              <a:ea typeface="IBM Plex Sans"/>
              <a:cs typeface="IBM Plex Sans"/>
              <a:sym typeface="IBM Plex Sans"/>
            </a:endParaRPr>
          </a:p>
          <a:p>
            <a:pPr marL="0" marR="0" lvl="0" indent="0" algn="l" rtl="0">
              <a:lnSpc>
                <a:spcPct val="139937"/>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Quentin Bruant</a:t>
            </a:r>
            <a:endParaRPr sz="1600" b="1" i="0" u="none" strike="noStrike" cap="none">
              <a:solidFill>
                <a:srgbClr val="14213D"/>
              </a:solidFill>
              <a:latin typeface="IBM Plex Sans"/>
              <a:ea typeface="IBM Plex Sans"/>
              <a:cs typeface="IBM Plex Sans"/>
              <a:sym typeface="IBM Plex Sans"/>
            </a:endParaRPr>
          </a:p>
          <a:p>
            <a:pPr marL="0" marR="0" lvl="0" indent="0" algn="l" rtl="0">
              <a:lnSpc>
                <a:spcPct val="139937"/>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Alex Brynes</a:t>
            </a:r>
            <a:endParaRPr sz="16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33"/>
        <p:cNvGrpSpPr/>
        <p:nvPr/>
      </p:nvGrpSpPr>
      <p:grpSpPr>
        <a:xfrm>
          <a:off x="0" y="0"/>
          <a:ext cx="0" cy="0"/>
          <a:chOff x="0" y="0"/>
          <a:chExt cx="0" cy="0"/>
        </a:xfrm>
      </p:grpSpPr>
      <p:sp>
        <p:nvSpPr>
          <p:cNvPr id="34" name="Google Shape;34;p2"/>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5" name="Google Shape;35;p2"/>
          <p:cNvSpPr/>
          <p:nvPr/>
        </p:nvSpPr>
        <p:spPr>
          <a:xfrm>
            <a:off x="812800" y="812800"/>
            <a:ext cx="10883392"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THE CHALLENGE</a:t>
            </a:r>
            <a:endParaRPr sz="1200" b="0" i="0" u="none" strike="noStrike" cap="none">
              <a:solidFill>
                <a:schemeClr val="dk1"/>
              </a:solidFill>
              <a:latin typeface="IBM Plex Mono"/>
              <a:ea typeface="IBM Plex Mono"/>
              <a:cs typeface="IBM Plex Mono"/>
              <a:sym typeface="IBM Plex Mono"/>
            </a:endParaRPr>
          </a:p>
        </p:txBody>
      </p:sp>
      <p:sp>
        <p:nvSpPr>
          <p:cNvPr id="36" name="Google Shape;36;p2"/>
          <p:cNvSpPr txBox="1">
            <a:spLocks noGrp="1"/>
          </p:cNvSpPr>
          <p:nvPr>
            <p:ph type="title"/>
          </p:nvPr>
        </p:nvSpPr>
        <p:spPr>
          <a:xfrm>
            <a:off x="812800" y="11239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Three steps, one question</a:t>
            </a:r>
            <a:endParaRPr sz="3600"/>
          </a:p>
        </p:txBody>
      </p:sp>
      <p:sp>
        <p:nvSpPr>
          <p:cNvPr id="37" name="Google Shape;37;p2"/>
          <p:cNvSpPr/>
          <p:nvPr/>
        </p:nvSpPr>
        <p:spPr>
          <a:xfrm>
            <a:off x="812800" y="1930400"/>
            <a:ext cx="3386634" cy="2159000"/>
          </a:xfrm>
          <a:prstGeom prst="roundRect">
            <a:avLst>
              <a:gd name="adj" fmla="val 4706"/>
            </a:avLst>
          </a:prstGeom>
          <a:solidFill>
            <a:srgbClr val="D5F3E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8" name="Google Shape;38;p2"/>
          <p:cNvSpPr/>
          <p:nvPr/>
        </p:nvSpPr>
        <p:spPr>
          <a:xfrm>
            <a:off x="812800" y="1930400"/>
            <a:ext cx="3386634" cy="2159000"/>
          </a:xfrm>
          <a:custGeom>
            <a:avLst/>
            <a:gdLst/>
            <a:ahLst/>
            <a:cxnLst/>
            <a:rect l="l" t="t" r="r" b="b"/>
            <a:pathLst>
              <a:path w="3386634" h="2159000" extrusionOk="0">
                <a:moveTo>
                  <a:pt x="0" y="101600"/>
                </a:moveTo>
                <a:lnTo>
                  <a:pt x="0" y="101600"/>
                </a:lnTo>
                <a:cubicBezTo>
                  <a:pt x="0" y="45488"/>
                  <a:pt x="45488" y="0"/>
                  <a:pt x="101600" y="0"/>
                </a:cubicBezTo>
                <a:lnTo>
                  <a:pt x="3285034" y="0"/>
                </a:lnTo>
                <a:cubicBezTo>
                  <a:pt x="3311980" y="0"/>
                  <a:pt x="3337822" y="10704"/>
                  <a:pt x="3356876" y="29758"/>
                </a:cubicBezTo>
                <a:cubicBezTo>
                  <a:pt x="3375930" y="48812"/>
                  <a:pt x="3386634" y="74654"/>
                  <a:pt x="3386634" y="101600"/>
                </a:cubicBezTo>
                <a:lnTo>
                  <a:pt x="3386634" y="101600"/>
                </a:lnTo>
                <a:cubicBezTo>
                  <a:pt x="3386634" y="73544"/>
                  <a:pt x="3341146" y="50800"/>
                  <a:pt x="3285034" y="50800"/>
                </a:cubicBezTo>
                <a:lnTo>
                  <a:pt x="101600" y="50800"/>
                </a:lnTo>
                <a:cubicBezTo>
                  <a:pt x="45488" y="50800"/>
                  <a:pt x="0" y="73544"/>
                  <a:pt x="0" y="101600"/>
                </a:cubicBezTo>
                <a:close/>
              </a:path>
            </a:pathLst>
          </a:cu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9" name="Google Shape;39;p2"/>
          <p:cNvSpPr/>
          <p:nvPr/>
        </p:nvSpPr>
        <p:spPr>
          <a:xfrm>
            <a:off x="1016000" y="2184400"/>
            <a:ext cx="3069641"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0F766E"/>
              </a:buClr>
              <a:buSzPts val="1200"/>
              <a:buFont typeface="IBM Plex Mono"/>
              <a:buNone/>
            </a:pPr>
            <a:r>
              <a:rPr lang="en-US" sz="1200" b="0" i="0" u="none" strike="noStrike" cap="none">
                <a:solidFill>
                  <a:srgbClr val="0F766E"/>
                </a:solidFill>
                <a:latin typeface="IBM Plex Mono"/>
                <a:ea typeface="IBM Plex Mono"/>
                <a:cs typeface="IBM Plex Mono"/>
                <a:sym typeface="IBM Plex Mono"/>
              </a:rPr>
              <a:t>STEP 1 · EASY</a:t>
            </a:r>
            <a:endParaRPr sz="1200" b="0" i="0" u="none" strike="noStrike" cap="none">
              <a:solidFill>
                <a:schemeClr val="dk1"/>
              </a:solidFill>
              <a:latin typeface="IBM Plex Mono"/>
              <a:ea typeface="IBM Plex Mono"/>
              <a:cs typeface="IBM Plex Mono"/>
              <a:sym typeface="IBM Plex Mono"/>
            </a:endParaRPr>
          </a:p>
        </p:txBody>
      </p:sp>
      <p:sp>
        <p:nvSpPr>
          <p:cNvPr id="40" name="Google Shape;40;p2"/>
          <p:cNvSpPr/>
          <p:nvPr/>
        </p:nvSpPr>
        <p:spPr>
          <a:xfrm>
            <a:off x="1016000" y="2495550"/>
            <a:ext cx="3069641" cy="3429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15000"/>
              </a:lnSpc>
              <a:spcBef>
                <a:spcPts val="0"/>
              </a:spcBef>
              <a:spcAft>
                <a:spcPts val="0"/>
              </a:spcAft>
              <a:buClr>
                <a:srgbClr val="14213D"/>
              </a:buClr>
              <a:buSzPts val="2200"/>
              <a:buFont typeface="Space Grotesk"/>
              <a:buNone/>
            </a:pPr>
            <a:r>
              <a:rPr lang="en-US" sz="2200" b="1" i="0" u="none" strike="noStrike" cap="none">
                <a:solidFill>
                  <a:srgbClr val="14213D"/>
                </a:solidFill>
                <a:latin typeface="Space Grotesk"/>
                <a:ea typeface="Space Grotesk"/>
                <a:cs typeface="Space Grotesk"/>
                <a:sym typeface="Space Grotesk"/>
              </a:rPr>
              <a:t>Understand</a:t>
            </a:r>
            <a:endParaRPr sz="2200" b="0" i="0" u="none" strike="noStrike" cap="none">
              <a:solidFill>
                <a:schemeClr val="dk1"/>
              </a:solidFill>
              <a:latin typeface="IBM Plex Mono"/>
              <a:ea typeface="IBM Plex Mono"/>
              <a:cs typeface="IBM Plex Mono"/>
              <a:sym typeface="IBM Plex Mono"/>
            </a:endParaRPr>
          </a:p>
        </p:txBody>
      </p:sp>
      <p:sp>
        <p:nvSpPr>
          <p:cNvPr id="41" name="Google Shape;41;p2"/>
          <p:cNvSpPr/>
          <p:nvPr/>
        </p:nvSpPr>
        <p:spPr>
          <a:xfrm>
            <a:off x="1016000" y="2914650"/>
            <a:ext cx="2123480" cy="311150"/>
          </a:xfrm>
          <a:prstGeom prst="roundRect">
            <a:avLst>
              <a:gd name="adj" fmla="val 16327"/>
            </a:avLst>
          </a:prstGeom>
          <a:solidFill>
            <a:srgbClr val="FFFDF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42" name="Google Shape;42;p2"/>
          <p:cNvSpPr/>
          <p:nvPr/>
        </p:nvSpPr>
        <p:spPr>
          <a:xfrm>
            <a:off x="1117600" y="2965450"/>
            <a:ext cx="1977888"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14213D"/>
              </a:buClr>
              <a:buSzPts val="1200"/>
              <a:buFont typeface="IBM Plex Mono"/>
              <a:buNone/>
            </a:pPr>
            <a:r>
              <a:rPr lang="en-US" sz="1200" b="0" i="0" u="none" strike="noStrike" cap="none">
                <a:solidFill>
                  <a:srgbClr val="14213D"/>
                </a:solidFill>
                <a:latin typeface="IBM Plex Mono"/>
                <a:ea typeface="IBM Plex Mono"/>
                <a:cs typeface="IBM Plex Mono"/>
                <a:sym typeface="IBM Plex Mono"/>
              </a:rPr>
              <a:t>raw run → clean table</a:t>
            </a:r>
            <a:endParaRPr sz="1200" b="0" i="0" u="none" strike="noStrike" cap="none">
              <a:solidFill>
                <a:schemeClr val="dk1"/>
              </a:solidFill>
              <a:latin typeface="IBM Plex Mono"/>
              <a:ea typeface="IBM Plex Mono"/>
              <a:cs typeface="IBM Plex Mono"/>
              <a:sym typeface="IBM Plex Mono"/>
            </a:endParaRPr>
          </a:p>
        </p:txBody>
      </p:sp>
      <p:sp>
        <p:nvSpPr>
          <p:cNvPr id="43" name="Google Shape;43;p2"/>
          <p:cNvSpPr/>
          <p:nvPr/>
        </p:nvSpPr>
        <p:spPr>
          <a:xfrm>
            <a:off x="1016000" y="3327400"/>
            <a:ext cx="3069641" cy="5842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40000"/>
              </a:lnSpc>
              <a:spcBef>
                <a:spcPts val="0"/>
              </a:spcBef>
              <a:spcAft>
                <a:spcPts val="0"/>
              </a:spcAft>
              <a:buClr>
                <a:srgbClr val="3B4660"/>
              </a:buClr>
              <a:buSzPts val="1600"/>
              <a:buFont typeface="IBM Plex Sans"/>
              <a:buNone/>
            </a:pPr>
            <a:r>
              <a:rPr lang="en-US" sz="1600" b="0" i="0" u="none" strike="noStrike" cap="none">
                <a:solidFill>
                  <a:srgbClr val="3B4660"/>
                </a:solidFill>
                <a:latin typeface="IBM Plex Sans"/>
                <a:ea typeface="IBM Plex Sans"/>
                <a:cs typeface="IBM Plex Sans"/>
                <a:sym typeface="IBM Plex Sans"/>
              </a:rPr>
              <a:t>Clean, synchronise, rank every signal.</a:t>
            </a:r>
            <a:endParaRPr sz="1600" b="0" i="0" u="none" strike="noStrike" cap="none">
              <a:solidFill>
                <a:schemeClr val="dk1"/>
              </a:solidFill>
              <a:latin typeface="IBM Plex Mono"/>
              <a:ea typeface="IBM Plex Mono"/>
              <a:cs typeface="IBM Plex Mono"/>
              <a:sym typeface="IBM Plex Mono"/>
            </a:endParaRPr>
          </a:p>
        </p:txBody>
      </p:sp>
      <p:sp>
        <p:nvSpPr>
          <p:cNvPr id="44" name="Google Shape;44;p2"/>
          <p:cNvSpPr/>
          <p:nvPr/>
        </p:nvSpPr>
        <p:spPr>
          <a:xfrm>
            <a:off x="4402634" y="1930400"/>
            <a:ext cx="3386634" cy="2159000"/>
          </a:xfrm>
          <a:prstGeom prst="roundRect">
            <a:avLst>
              <a:gd name="adj" fmla="val 4706"/>
            </a:avLst>
          </a:prstGeom>
          <a:solidFill>
            <a:srgbClr val="DBE7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45" name="Google Shape;45;p2"/>
          <p:cNvSpPr/>
          <p:nvPr/>
        </p:nvSpPr>
        <p:spPr>
          <a:xfrm>
            <a:off x="4402634" y="1930400"/>
            <a:ext cx="3386634" cy="2159000"/>
          </a:xfrm>
          <a:custGeom>
            <a:avLst/>
            <a:gdLst/>
            <a:ahLst/>
            <a:cxnLst/>
            <a:rect l="l" t="t" r="r" b="b"/>
            <a:pathLst>
              <a:path w="3386634" h="2159000" extrusionOk="0">
                <a:moveTo>
                  <a:pt x="0" y="101600"/>
                </a:moveTo>
                <a:lnTo>
                  <a:pt x="0" y="101600"/>
                </a:lnTo>
                <a:cubicBezTo>
                  <a:pt x="0" y="45488"/>
                  <a:pt x="45488" y="0"/>
                  <a:pt x="101600" y="0"/>
                </a:cubicBezTo>
                <a:lnTo>
                  <a:pt x="3285034" y="0"/>
                </a:lnTo>
                <a:cubicBezTo>
                  <a:pt x="3311980" y="0"/>
                  <a:pt x="3337822" y="10704"/>
                  <a:pt x="3356876" y="29758"/>
                </a:cubicBezTo>
                <a:cubicBezTo>
                  <a:pt x="3375930" y="48812"/>
                  <a:pt x="3386634" y="74654"/>
                  <a:pt x="3386634" y="101600"/>
                </a:cubicBezTo>
                <a:lnTo>
                  <a:pt x="3386634" y="101600"/>
                </a:lnTo>
                <a:cubicBezTo>
                  <a:pt x="3386634" y="73544"/>
                  <a:pt x="3341146" y="50800"/>
                  <a:pt x="3285034" y="50800"/>
                </a:cubicBezTo>
                <a:lnTo>
                  <a:pt x="101600" y="50800"/>
                </a:lnTo>
                <a:cubicBezTo>
                  <a:pt x="45488" y="50800"/>
                  <a:pt x="0" y="73544"/>
                  <a:pt x="0" y="101600"/>
                </a:cubicBezTo>
                <a:close/>
              </a:path>
            </a:pathLst>
          </a:cu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46" name="Google Shape;46;p2"/>
          <p:cNvSpPr/>
          <p:nvPr/>
        </p:nvSpPr>
        <p:spPr>
          <a:xfrm>
            <a:off x="4605834" y="2184400"/>
            <a:ext cx="3069641"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1D4ED8"/>
              </a:buClr>
              <a:buSzPts val="1200"/>
              <a:buFont typeface="IBM Plex Mono"/>
              <a:buNone/>
            </a:pPr>
            <a:r>
              <a:rPr lang="en-US" sz="1200" b="0" i="0" u="none" strike="noStrike" cap="none">
                <a:solidFill>
                  <a:srgbClr val="1D4ED8"/>
                </a:solidFill>
                <a:latin typeface="IBM Plex Mono"/>
                <a:ea typeface="IBM Plex Mono"/>
                <a:cs typeface="IBM Plex Mono"/>
                <a:sym typeface="IBM Plex Mono"/>
              </a:rPr>
              <a:t>STEP 2 · MEDIUM</a:t>
            </a:r>
            <a:endParaRPr sz="1200" b="0" i="0" u="none" strike="noStrike" cap="none">
              <a:solidFill>
                <a:schemeClr val="dk1"/>
              </a:solidFill>
              <a:latin typeface="IBM Plex Mono"/>
              <a:ea typeface="IBM Plex Mono"/>
              <a:cs typeface="IBM Plex Mono"/>
              <a:sym typeface="IBM Plex Mono"/>
            </a:endParaRPr>
          </a:p>
        </p:txBody>
      </p:sp>
      <p:sp>
        <p:nvSpPr>
          <p:cNvPr id="47" name="Google Shape;47;p2"/>
          <p:cNvSpPr/>
          <p:nvPr/>
        </p:nvSpPr>
        <p:spPr>
          <a:xfrm>
            <a:off x="4605834" y="2495550"/>
            <a:ext cx="3069641" cy="3429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15000"/>
              </a:lnSpc>
              <a:spcBef>
                <a:spcPts val="0"/>
              </a:spcBef>
              <a:spcAft>
                <a:spcPts val="0"/>
              </a:spcAft>
              <a:buClr>
                <a:srgbClr val="14213D"/>
              </a:buClr>
              <a:buSzPts val="2200"/>
              <a:buFont typeface="Space Grotesk"/>
              <a:buNone/>
            </a:pPr>
            <a:r>
              <a:rPr lang="en-US" sz="2200" b="1" i="0" u="none" strike="noStrike" cap="none">
                <a:solidFill>
                  <a:srgbClr val="14213D"/>
                </a:solidFill>
                <a:latin typeface="Space Grotesk"/>
                <a:ea typeface="Space Grotesk"/>
                <a:cs typeface="Space Grotesk"/>
                <a:sym typeface="Space Grotesk"/>
              </a:rPr>
              <a:t>Virtual diagnostic</a:t>
            </a:r>
            <a:endParaRPr sz="2200" b="0" i="0" u="none" strike="noStrike" cap="none">
              <a:solidFill>
                <a:schemeClr val="dk1"/>
              </a:solidFill>
              <a:latin typeface="IBM Plex Mono"/>
              <a:ea typeface="IBM Plex Mono"/>
              <a:cs typeface="IBM Plex Mono"/>
              <a:sym typeface="IBM Plex Mono"/>
            </a:endParaRPr>
          </a:p>
        </p:txBody>
      </p:sp>
      <p:sp>
        <p:nvSpPr>
          <p:cNvPr id="48" name="Google Shape;48;p2"/>
          <p:cNvSpPr/>
          <p:nvPr/>
        </p:nvSpPr>
        <p:spPr>
          <a:xfrm>
            <a:off x="4605834" y="2914650"/>
            <a:ext cx="1483420" cy="311150"/>
          </a:xfrm>
          <a:prstGeom prst="roundRect">
            <a:avLst>
              <a:gd name="adj" fmla="val 16327"/>
            </a:avLst>
          </a:prstGeom>
          <a:solidFill>
            <a:srgbClr val="FFFDF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49" name="Google Shape;49;p2"/>
          <p:cNvSpPr/>
          <p:nvPr/>
        </p:nvSpPr>
        <p:spPr>
          <a:xfrm>
            <a:off x="4707434" y="2965450"/>
            <a:ext cx="133102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14213D"/>
              </a:buClr>
              <a:buSzPts val="1200"/>
              <a:buFont typeface="IBM Plex Mono"/>
              <a:buNone/>
            </a:pPr>
            <a:r>
              <a:rPr lang="en-US" sz="1200" b="0" i="0" u="none" strike="noStrike" cap="none">
                <a:solidFill>
                  <a:srgbClr val="14213D"/>
                </a:solidFill>
                <a:latin typeface="IBM Plex Mono"/>
                <a:ea typeface="IBM Plex Mono"/>
                <a:cs typeface="IBM Plex Mono"/>
                <a:sym typeface="IBM Plex Mono"/>
              </a:rPr>
              <a:t>Q[t] = f(X[t])</a:t>
            </a:r>
            <a:endParaRPr sz="1200" b="0" i="0" u="none" strike="noStrike" cap="none">
              <a:solidFill>
                <a:schemeClr val="dk1"/>
              </a:solidFill>
              <a:latin typeface="IBM Plex Mono"/>
              <a:ea typeface="IBM Plex Mono"/>
              <a:cs typeface="IBM Plex Mono"/>
              <a:sym typeface="IBM Plex Mono"/>
            </a:endParaRPr>
          </a:p>
        </p:txBody>
      </p:sp>
      <p:sp>
        <p:nvSpPr>
          <p:cNvPr id="50" name="Google Shape;50;p2"/>
          <p:cNvSpPr/>
          <p:nvPr/>
        </p:nvSpPr>
        <p:spPr>
          <a:xfrm>
            <a:off x="4605834" y="3327400"/>
            <a:ext cx="3069641" cy="5842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40000"/>
              </a:lnSpc>
              <a:spcBef>
                <a:spcPts val="0"/>
              </a:spcBef>
              <a:spcAft>
                <a:spcPts val="0"/>
              </a:spcAft>
              <a:buClr>
                <a:srgbClr val="3B4660"/>
              </a:buClr>
              <a:buSzPts val="1600"/>
              <a:buFont typeface="IBM Plex Sans"/>
              <a:buNone/>
            </a:pPr>
            <a:r>
              <a:rPr lang="en-US" sz="1600" b="0" i="0" u="none" strike="noStrike" cap="none">
                <a:solidFill>
                  <a:srgbClr val="3B4660"/>
                </a:solidFill>
                <a:latin typeface="IBM Plex Sans"/>
                <a:ea typeface="IBM Plex Sans"/>
                <a:cs typeface="IBM Plex Sans"/>
                <a:sym typeface="IBM Plex Sans"/>
              </a:rPr>
              <a:t>This shot's charge from this shot's signals.</a:t>
            </a:r>
            <a:endParaRPr sz="1600" b="0" i="0" u="none" strike="noStrike" cap="none">
              <a:solidFill>
                <a:schemeClr val="dk1"/>
              </a:solidFill>
              <a:latin typeface="IBM Plex Mono"/>
              <a:ea typeface="IBM Plex Mono"/>
              <a:cs typeface="IBM Plex Mono"/>
              <a:sym typeface="IBM Plex Mono"/>
            </a:endParaRPr>
          </a:p>
        </p:txBody>
      </p:sp>
      <p:sp>
        <p:nvSpPr>
          <p:cNvPr id="51" name="Google Shape;51;p2"/>
          <p:cNvSpPr/>
          <p:nvPr/>
        </p:nvSpPr>
        <p:spPr>
          <a:xfrm>
            <a:off x="7992467" y="1930400"/>
            <a:ext cx="3386634" cy="2159000"/>
          </a:xfrm>
          <a:prstGeom prst="roundRect">
            <a:avLst>
              <a:gd name="adj" fmla="val 4706"/>
            </a:avLst>
          </a:prstGeom>
          <a:solidFill>
            <a:srgbClr val="FDE2E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52" name="Google Shape;52;p2"/>
          <p:cNvSpPr/>
          <p:nvPr/>
        </p:nvSpPr>
        <p:spPr>
          <a:xfrm>
            <a:off x="7992467" y="1930400"/>
            <a:ext cx="3386634" cy="2159000"/>
          </a:xfrm>
          <a:custGeom>
            <a:avLst/>
            <a:gdLst/>
            <a:ahLst/>
            <a:cxnLst/>
            <a:rect l="l" t="t" r="r" b="b"/>
            <a:pathLst>
              <a:path w="3386634" h="2159000" extrusionOk="0">
                <a:moveTo>
                  <a:pt x="0" y="101600"/>
                </a:moveTo>
                <a:lnTo>
                  <a:pt x="0" y="101600"/>
                </a:lnTo>
                <a:cubicBezTo>
                  <a:pt x="0" y="45488"/>
                  <a:pt x="45488" y="0"/>
                  <a:pt x="101600" y="0"/>
                </a:cubicBezTo>
                <a:lnTo>
                  <a:pt x="3285034" y="0"/>
                </a:lnTo>
                <a:cubicBezTo>
                  <a:pt x="3311980" y="0"/>
                  <a:pt x="3337822" y="10704"/>
                  <a:pt x="3356876" y="29758"/>
                </a:cubicBezTo>
                <a:cubicBezTo>
                  <a:pt x="3375930" y="48812"/>
                  <a:pt x="3386634" y="74654"/>
                  <a:pt x="3386634" y="101600"/>
                </a:cubicBezTo>
                <a:lnTo>
                  <a:pt x="3386634" y="101600"/>
                </a:lnTo>
                <a:cubicBezTo>
                  <a:pt x="3386634" y="73544"/>
                  <a:pt x="3341146" y="50800"/>
                  <a:pt x="3285034" y="50800"/>
                </a:cubicBezTo>
                <a:lnTo>
                  <a:pt x="101600" y="50800"/>
                </a:lnTo>
                <a:cubicBezTo>
                  <a:pt x="45488" y="50800"/>
                  <a:pt x="0" y="73544"/>
                  <a:pt x="0" y="101600"/>
                </a:cubicBezTo>
                <a:close/>
              </a:path>
            </a:pathLst>
          </a:cu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53" name="Google Shape;53;p2"/>
          <p:cNvSpPr/>
          <p:nvPr/>
        </p:nvSpPr>
        <p:spPr>
          <a:xfrm>
            <a:off x="8195667" y="2184400"/>
            <a:ext cx="3069641"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BE185D"/>
              </a:buClr>
              <a:buSzPts val="1200"/>
              <a:buFont typeface="IBM Plex Mono"/>
              <a:buNone/>
            </a:pPr>
            <a:r>
              <a:rPr lang="en-US" sz="1200" b="0" i="0" u="none" strike="noStrike" cap="none">
                <a:solidFill>
                  <a:srgbClr val="BE185D"/>
                </a:solidFill>
                <a:latin typeface="IBM Plex Mono"/>
                <a:ea typeface="IBM Plex Mono"/>
                <a:cs typeface="IBM Plex Mono"/>
                <a:sym typeface="IBM Plex Mono"/>
              </a:rPr>
              <a:t>STEP 3 · HARD</a:t>
            </a:r>
            <a:endParaRPr sz="1200" b="0" i="0" u="none" strike="noStrike" cap="none">
              <a:solidFill>
                <a:schemeClr val="dk1"/>
              </a:solidFill>
              <a:latin typeface="IBM Plex Mono"/>
              <a:ea typeface="IBM Plex Mono"/>
              <a:cs typeface="IBM Plex Mono"/>
              <a:sym typeface="IBM Plex Mono"/>
            </a:endParaRPr>
          </a:p>
        </p:txBody>
      </p:sp>
      <p:sp>
        <p:nvSpPr>
          <p:cNvPr id="54" name="Google Shape;54;p2"/>
          <p:cNvSpPr/>
          <p:nvPr/>
        </p:nvSpPr>
        <p:spPr>
          <a:xfrm>
            <a:off x="8195667" y="2495550"/>
            <a:ext cx="3069641" cy="3429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15000"/>
              </a:lnSpc>
              <a:spcBef>
                <a:spcPts val="0"/>
              </a:spcBef>
              <a:spcAft>
                <a:spcPts val="0"/>
              </a:spcAft>
              <a:buClr>
                <a:srgbClr val="14213D"/>
              </a:buClr>
              <a:buSzPts val="2200"/>
              <a:buFont typeface="Space Grotesk"/>
              <a:buNone/>
            </a:pPr>
            <a:r>
              <a:rPr lang="en-US" sz="2200" b="1" i="0" u="none" strike="noStrike" cap="none">
                <a:solidFill>
                  <a:srgbClr val="14213D"/>
                </a:solidFill>
                <a:latin typeface="Space Grotesk"/>
                <a:ea typeface="Space Grotesk"/>
                <a:cs typeface="Space Grotesk"/>
                <a:sym typeface="Space Grotesk"/>
              </a:rPr>
              <a:t>Forecast</a:t>
            </a:r>
            <a:endParaRPr sz="2200" b="0" i="0" u="none" strike="noStrike" cap="none">
              <a:solidFill>
                <a:schemeClr val="dk1"/>
              </a:solidFill>
              <a:latin typeface="IBM Plex Mono"/>
              <a:ea typeface="IBM Plex Mono"/>
              <a:cs typeface="IBM Plex Mono"/>
              <a:sym typeface="IBM Plex Mono"/>
            </a:endParaRPr>
          </a:p>
        </p:txBody>
      </p:sp>
      <p:sp>
        <p:nvSpPr>
          <p:cNvPr id="55" name="Google Shape;55;p2"/>
          <p:cNvSpPr/>
          <p:nvPr/>
        </p:nvSpPr>
        <p:spPr>
          <a:xfrm>
            <a:off x="8195667" y="2914650"/>
            <a:ext cx="2763639" cy="311150"/>
          </a:xfrm>
          <a:prstGeom prst="roundRect">
            <a:avLst>
              <a:gd name="adj" fmla="val 16327"/>
            </a:avLst>
          </a:prstGeom>
          <a:solidFill>
            <a:srgbClr val="FFFDF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56" name="Google Shape;56;p2"/>
          <p:cNvSpPr/>
          <p:nvPr/>
        </p:nvSpPr>
        <p:spPr>
          <a:xfrm>
            <a:off x="8297267" y="2965450"/>
            <a:ext cx="2637252"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14213D"/>
              </a:buClr>
              <a:buSzPts val="1200"/>
              <a:buFont typeface="IBM Plex Mono"/>
              <a:buNone/>
            </a:pPr>
            <a:r>
              <a:rPr lang="en-US" sz="1200" b="0" i="0" u="none" strike="noStrike" cap="none">
                <a:solidFill>
                  <a:srgbClr val="14213D"/>
                </a:solidFill>
                <a:latin typeface="IBM Plex Mono"/>
                <a:ea typeface="IBM Plex Mono"/>
                <a:cs typeface="IBM Plex Mono"/>
                <a:sym typeface="IBM Plex Mono"/>
              </a:rPr>
              <a:t>Q[t+1…t+H] = f(X[≤t], Q[≤t])</a:t>
            </a:r>
            <a:endParaRPr sz="1200" b="0" i="0" u="none" strike="noStrike" cap="none">
              <a:solidFill>
                <a:schemeClr val="dk1"/>
              </a:solidFill>
              <a:latin typeface="IBM Plex Mono"/>
              <a:ea typeface="IBM Plex Mono"/>
              <a:cs typeface="IBM Plex Mono"/>
              <a:sym typeface="IBM Plex Mono"/>
            </a:endParaRPr>
          </a:p>
        </p:txBody>
      </p:sp>
      <p:sp>
        <p:nvSpPr>
          <p:cNvPr id="57" name="Google Shape;57;p2"/>
          <p:cNvSpPr/>
          <p:nvPr/>
        </p:nvSpPr>
        <p:spPr>
          <a:xfrm>
            <a:off x="8195667" y="3327400"/>
            <a:ext cx="3069641" cy="5842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40000"/>
              </a:lnSpc>
              <a:spcBef>
                <a:spcPts val="0"/>
              </a:spcBef>
              <a:spcAft>
                <a:spcPts val="0"/>
              </a:spcAft>
              <a:buClr>
                <a:srgbClr val="3B4660"/>
              </a:buClr>
              <a:buSzPts val="1600"/>
              <a:buFont typeface="IBM Plex Sans"/>
              <a:buNone/>
            </a:pPr>
            <a:r>
              <a:rPr lang="en-US" sz="1600" b="0" i="0" u="none" strike="noStrike" cap="none">
                <a:solidFill>
                  <a:srgbClr val="3B4660"/>
                </a:solidFill>
                <a:latin typeface="IBM Plex Sans"/>
                <a:ea typeface="IBM Plex Sans"/>
                <a:cs typeface="IBM Plex Sans"/>
                <a:sym typeface="IBM Plex Sans"/>
              </a:rPr>
              <a:t>The next shots' charge, from the past.</a:t>
            </a:r>
            <a:endParaRPr sz="1600" b="0" i="0" u="none" strike="noStrike" cap="none">
              <a:solidFill>
                <a:schemeClr val="dk1"/>
              </a:solidFill>
              <a:latin typeface="IBM Plex Mono"/>
              <a:ea typeface="IBM Plex Mono"/>
              <a:cs typeface="IBM Plex Mono"/>
              <a:sym typeface="IBM Plex Mono"/>
            </a:endParaRPr>
          </a:p>
        </p:txBody>
      </p:sp>
      <p:sp>
        <p:nvSpPr>
          <p:cNvPr id="58" name="Google Shape;58;p2"/>
          <p:cNvSpPr/>
          <p:nvPr/>
        </p:nvSpPr>
        <p:spPr>
          <a:xfrm>
            <a:off x="812800" y="4394200"/>
            <a:ext cx="10566400" cy="965200"/>
          </a:xfrm>
          <a:prstGeom prst="roundRect">
            <a:avLst>
              <a:gd name="adj" fmla="val 10526"/>
            </a:avLst>
          </a:prstGeom>
          <a:gradFill>
            <a:gsLst>
              <a:gs pos="0">
                <a:srgbClr val="1D4ED8"/>
              </a:gs>
              <a:gs pos="55000">
                <a:srgbClr val="6D28D9"/>
              </a:gs>
              <a:gs pos="100000">
                <a:srgbClr val="BE185D"/>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59" name="Google Shape;59;p2"/>
          <p:cNvSpPr/>
          <p:nvPr/>
        </p:nvSpPr>
        <p:spPr>
          <a:xfrm>
            <a:off x="1066800" y="4772025"/>
            <a:ext cx="166122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DE68A"/>
              </a:buClr>
              <a:buSzPts val="1200"/>
              <a:buFont typeface="IBM Plex Mono"/>
              <a:buNone/>
            </a:pPr>
            <a:r>
              <a:rPr lang="en-US" sz="1200" b="0" i="0" u="none" strike="noStrike" cap="none">
                <a:solidFill>
                  <a:srgbClr val="FDE68A"/>
                </a:solidFill>
                <a:latin typeface="IBM Plex Mono"/>
                <a:ea typeface="IBM Plex Mono"/>
                <a:cs typeface="IBM Plex Mono"/>
                <a:sym typeface="IBM Plex Mono"/>
              </a:rPr>
              <a:t>THEN, OPTIONAL</a:t>
            </a:r>
            <a:endParaRPr sz="1200" b="0" i="0" u="none" strike="noStrike" cap="none">
              <a:solidFill>
                <a:schemeClr val="dk1"/>
              </a:solidFill>
              <a:latin typeface="IBM Plex Mono"/>
              <a:ea typeface="IBM Plex Mono"/>
              <a:cs typeface="IBM Plex Mono"/>
              <a:sym typeface="IBM Plex Mono"/>
            </a:endParaRPr>
          </a:p>
        </p:txBody>
      </p:sp>
      <p:sp>
        <p:nvSpPr>
          <p:cNvPr id="60" name="Google Shape;60;p2"/>
          <p:cNvSpPr/>
          <p:nvPr/>
        </p:nvSpPr>
        <p:spPr>
          <a:xfrm>
            <a:off x="2728020" y="4597400"/>
            <a:ext cx="8649096" cy="58420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40000"/>
              </a:lnSpc>
              <a:spcBef>
                <a:spcPts val="0"/>
              </a:spcBef>
              <a:spcAft>
                <a:spcPts val="0"/>
              </a:spcAft>
              <a:buClr>
                <a:srgbClr val="FFFDF7"/>
              </a:buClr>
              <a:buSzPts val="1600"/>
              <a:buFont typeface="IBM Plex Sans"/>
              <a:buNone/>
            </a:pPr>
            <a:r>
              <a:rPr lang="en-US" sz="1600" b="0" i="0" u="none" strike="noStrike" cap="none">
                <a:solidFill>
                  <a:srgbClr val="FFFDF7"/>
                </a:solidFill>
                <a:latin typeface="IBM Plex Sans"/>
                <a:ea typeface="IBM Plex Sans"/>
                <a:cs typeface="IBM Plex Sans"/>
                <a:sym typeface="IBM Plex Sans"/>
              </a:rPr>
              <a:t>Close the loop with a controller g(x) on laser power or RF phase. </a:t>
            </a:r>
            <a:r>
              <a:rPr lang="en-US" sz="1600" b="1" i="0" u="none" strike="noStrike" cap="none">
                <a:solidFill>
                  <a:srgbClr val="FFFDF7"/>
                </a:solidFill>
                <a:latin typeface="IBM Plex Sans"/>
                <a:ea typeface="IBM Plex Sans"/>
                <a:cs typeface="IBM Plex Sans"/>
                <a:sym typeface="IBM Plex Sans"/>
              </a:rPr>
              <a:t>Extremely promising results can earn real beam time on CLEAR.</a:t>
            </a:r>
            <a:endParaRPr sz="16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h6524a41718b72fa9_0_0"/>
          <p:cNvSpPr txBox="1">
            <a:spLocks noGrp="1"/>
          </p:cNvSpPr>
          <p:nvPr>
            <p:ph type="title"/>
          </p:nvPr>
        </p:nvSpPr>
        <p:spPr>
          <a:xfrm>
            <a:off x="812800" y="1123950"/>
            <a:ext cx="10566300" cy="501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a:t>Outline</a:t>
            </a:r>
            <a:endParaRPr b="1"/>
          </a:p>
        </p:txBody>
      </p:sp>
      <p:sp>
        <p:nvSpPr>
          <p:cNvPr id="66" name="Google Shape;66;h6524a41718b72fa9_0_0"/>
          <p:cNvSpPr txBox="1">
            <a:spLocks noGrp="1"/>
          </p:cNvSpPr>
          <p:nvPr>
            <p:ph type="body" idx="1"/>
          </p:nvPr>
        </p:nvSpPr>
        <p:spPr>
          <a:xfrm>
            <a:off x="812800" y="1930400"/>
            <a:ext cx="5283300" cy="4114800"/>
          </a:xfrm>
          <a:prstGeom prst="rect">
            <a:avLst/>
          </a:prstGeom>
        </p:spPr>
        <p:txBody>
          <a:bodyPr spcFirstLastPara="1" wrap="square" lIns="0" tIns="0" rIns="0" bIns="0" anchor="t" anchorCtr="0">
            <a:noAutofit/>
          </a:bodyPr>
          <a:lstStyle/>
          <a:p>
            <a:pPr marL="228600" lvl="0" indent="-235268" algn="l" rtl="0">
              <a:lnSpc>
                <a:spcPct val="90000"/>
              </a:lnSpc>
              <a:spcBef>
                <a:spcPts val="1000"/>
              </a:spcBef>
              <a:spcAft>
                <a:spcPts val="0"/>
              </a:spcAft>
              <a:buClr>
                <a:srgbClr val="000000"/>
              </a:buClr>
              <a:buSzPts val="1400"/>
              <a:buFont typeface="Space Grotesk"/>
              <a:buChar char="•"/>
            </a:pPr>
            <a:r>
              <a:rPr lang="en-US" sz="1400" b="1">
                <a:solidFill>
                  <a:srgbClr val="000000"/>
                </a:solidFill>
                <a:latin typeface="Space Grotesk"/>
                <a:ea typeface="Space Grotesk"/>
                <a:cs typeface="Space Grotesk"/>
                <a:sym typeface="Space Grotesk"/>
              </a:rPr>
              <a:t>First step:</a:t>
            </a:r>
            <a:endParaRPr sz="28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FF0000"/>
              </a:buClr>
              <a:buSzPts val="1200"/>
              <a:buFont typeface="Space Grotesk"/>
              <a:buChar char="•"/>
            </a:pPr>
            <a:r>
              <a:rPr lang="en-US" sz="1200" b="1">
                <a:solidFill>
                  <a:srgbClr val="FF0000"/>
                </a:solidFill>
                <a:latin typeface="Space Grotesk"/>
                <a:ea typeface="Space Grotesk"/>
                <a:cs typeface="Space Grotesk"/>
                <a:sym typeface="Space Grotesk"/>
              </a:rPr>
              <a:t>Problem description</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Data handling</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Data cleaning </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Main challenges</a:t>
            </a:r>
            <a:endParaRPr sz="2400" b="1">
              <a:solidFill>
                <a:srgbClr val="000000"/>
              </a:solidFill>
              <a:latin typeface="Space Grotesk"/>
              <a:ea typeface="Space Grotesk"/>
              <a:cs typeface="Space Grotesk"/>
              <a:sym typeface="Space Grotesk"/>
            </a:endParaRPr>
          </a:p>
          <a:p>
            <a:pPr marL="228600" lvl="0" indent="-235268" algn="l" rtl="0">
              <a:lnSpc>
                <a:spcPct val="90000"/>
              </a:lnSpc>
              <a:spcBef>
                <a:spcPts val="1000"/>
              </a:spcBef>
              <a:spcAft>
                <a:spcPts val="0"/>
              </a:spcAft>
              <a:buClr>
                <a:srgbClr val="000000"/>
              </a:buClr>
              <a:buSzPts val="1400"/>
              <a:buFont typeface="Space Grotesk"/>
              <a:buChar char="•"/>
            </a:pPr>
            <a:r>
              <a:rPr lang="en-US" sz="1400" b="1">
                <a:solidFill>
                  <a:srgbClr val="000000"/>
                </a:solidFill>
                <a:latin typeface="Space Grotesk"/>
                <a:ea typeface="Space Grotesk"/>
                <a:cs typeface="Space Grotesk"/>
                <a:sym typeface="Space Grotesk"/>
              </a:rPr>
              <a:t>Can we diagnose?	</a:t>
            </a:r>
            <a:endParaRPr sz="28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FF0000"/>
              </a:buClr>
              <a:buSzPts val="1200"/>
              <a:buFont typeface="Space Grotesk"/>
              <a:buChar char="•"/>
            </a:pPr>
            <a:r>
              <a:rPr lang="en-US" sz="1200" b="1">
                <a:solidFill>
                  <a:srgbClr val="FF0000"/>
                </a:solidFill>
                <a:latin typeface="Space Grotesk"/>
                <a:ea typeface="Space Grotesk"/>
                <a:cs typeface="Space Grotesk"/>
                <a:sym typeface="Space Grotesk"/>
              </a:rPr>
              <a:t>Problem description</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Approach used</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Model results</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Main and open challenges</a:t>
            </a:r>
            <a:endParaRPr sz="2400" b="1">
              <a:solidFill>
                <a:srgbClr val="000000"/>
              </a:solidFill>
              <a:latin typeface="Space Grotesk"/>
              <a:ea typeface="Space Grotesk"/>
              <a:cs typeface="Space Grotesk"/>
              <a:sym typeface="Space Grotesk"/>
            </a:endParaRPr>
          </a:p>
          <a:p>
            <a:pPr marL="228600" lvl="0" indent="-235268" algn="l" rtl="0">
              <a:lnSpc>
                <a:spcPct val="90000"/>
              </a:lnSpc>
              <a:spcBef>
                <a:spcPts val="1000"/>
              </a:spcBef>
              <a:spcAft>
                <a:spcPts val="0"/>
              </a:spcAft>
              <a:buClr>
                <a:srgbClr val="000000"/>
              </a:buClr>
              <a:buSzPts val="1400"/>
              <a:buFont typeface="Space Grotesk"/>
              <a:buChar char="•"/>
            </a:pPr>
            <a:r>
              <a:rPr lang="en-US" sz="1400" b="1">
                <a:solidFill>
                  <a:srgbClr val="000000"/>
                </a:solidFill>
                <a:latin typeface="Space Grotesk"/>
                <a:ea typeface="Space Grotesk"/>
                <a:cs typeface="Space Grotesk"/>
                <a:sym typeface="Space Grotesk"/>
              </a:rPr>
              <a:t>Let’s try to go further!	</a:t>
            </a:r>
            <a:endParaRPr sz="28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FF0000"/>
              </a:buClr>
              <a:buSzPts val="1200"/>
              <a:buFont typeface="Space Grotesk"/>
              <a:buChar char="•"/>
            </a:pPr>
            <a:r>
              <a:rPr lang="en-US" sz="1200" b="1">
                <a:solidFill>
                  <a:srgbClr val="FF0000"/>
                </a:solidFill>
                <a:latin typeface="Space Grotesk"/>
                <a:ea typeface="Space Grotesk"/>
                <a:cs typeface="Space Grotesk"/>
                <a:sym typeface="Space Grotesk"/>
              </a:rPr>
              <a:t>Problem description</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Approach used</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Model results</a:t>
            </a:r>
            <a:endParaRPr sz="2400" b="1">
              <a:solidFill>
                <a:srgbClr val="000000"/>
              </a:solidFill>
              <a:latin typeface="Space Grotesk"/>
              <a:ea typeface="Space Grotesk"/>
              <a:cs typeface="Space Grotesk"/>
              <a:sym typeface="Space Grotesk"/>
            </a:endParaRPr>
          </a:p>
          <a:p>
            <a:pPr marL="685800" lvl="1" indent="-234315"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Main and open challenges</a:t>
            </a:r>
            <a:endParaRPr sz="2400" b="1">
              <a:solidFill>
                <a:srgbClr val="000000"/>
              </a:solidFill>
              <a:latin typeface="Space Grotesk"/>
              <a:ea typeface="Space Grotesk"/>
              <a:cs typeface="Space Grotesk"/>
              <a:sym typeface="Space Grotesk"/>
            </a:endParaRPr>
          </a:p>
          <a:p>
            <a:pPr marL="0" lvl="0" indent="0" algn="l" rtl="0">
              <a:lnSpc>
                <a:spcPct val="90000"/>
              </a:lnSpc>
              <a:spcBef>
                <a:spcPts val="1000"/>
              </a:spcBef>
              <a:spcAft>
                <a:spcPts val="0"/>
              </a:spcAft>
              <a:buNone/>
            </a:pPr>
            <a:endParaRPr sz="2000">
              <a:solidFill>
                <a:srgbClr val="000000"/>
              </a:solidFill>
              <a:latin typeface="Arial"/>
              <a:ea typeface="Arial"/>
              <a:cs typeface="Arial"/>
              <a:sym typeface="Arial"/>
            </a:endParaRPr>
          </a:p>
          <a:p>
            <a:pPr marL="0" lvl="0" indent="0" algn="l" rtl="0">
              <a:spcBef>
                <a:spcPts val="0"/>
              </a:spcBef>
              <a:spcAft>
                <a:spcPts val="0"/>
              </a:spcAft>
              <a:buNone/>
            </a:pPr>
            <a:endParaRPr/>
          </a:p>
        </p:txBody>
      </p:sp>
      <p:sp>
        <p:nvSpPr>
          <p:cNvPr id="67" name="Google Shape;67;h6524a41718b72fa9_0_0"/>
          <p:cNvSpPr txBox="1">
            <a:spLocks noGrp="1"/>
          </p:cNvSpPr>
          <p:nvPr>
            <p:ph type="body" idx="1"/>
          </p:nvPr>
        </p:nvSpPr>
        <p:spPr>
          <a:xfrm>
            <a:off x="6096000" y="1930400"/>
            <a:ext cx="5283300" cy="4114800"/>
          </a:xfrm>
          <a:prstGeom prst="rect">
            <a:avLst/>
          </a:prstGeom>
        </p:spPr>
        <p:txBody>
          <a:bodyPr spcFirstLastPara="1" wrap="square" lIns="0" tIns="0" rIns="0" bIns="0" anchor="t" anchorCtr="0">
            <a:noAutofit/>
          </a:bodyPr>
          <a:lstStyle/>
          <a:p>
            <a:pPr marL="228600" lvl="0" indent="-203200" algn="l" rtl="0">
              <a:lnSpc>
                <a:spcPct val="90000"/>
              </a:lnSpc>
              <a:spcBef>
                <a:spcPts val="1000"/>
              </a:spcBef>
              <a:spcAft>
                <a:spcPts val="0"/>
              </a:spcAft>
              <a:buClr>
                <a:srgbClr val="000000"/>
              </a:buClr>
              <a:buSzPts val="1400"/>
              <a:buFont typeface="Space Grotesk"/>
              <a:buChar char="•"/>
            </a:pPr>
            <a:r>
              <a:rPr lang="en-US" sz="1400" b="1">
                <a:solidFill>
                  <a:srgbClr val="000000"/>
                </a:solidFill>
                <a:latin typeface="Space Grotesk"/>
                <a:ea typeface="Space Grotesk"/>
                <a:cs typeface="Space Grotesk"/>
                <a:sym typeface="Space Grotesk"/>
              </a:rPr>
              <a:t>Conclusion &amp; Outlook	</a:t>
            </a:r>
            <a:endParaRPr sz="2800" b="1">
              <a:solidFill>
                <a:srgbClr val="000000"/>
              </a:solidFill>
              <a:latin typeface="Space Grotesk"/>
              <a:ea typeface="Space Grotesk"/>
              <a:cs typeface="Space Grotesk"/>
              <a:sym typeface="Space Grotesk"/>
            </a:endParaRPr>
          </a:p>
          <a:p>
            <a:pPr marL="685800" lvl="1" indent="-190500"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Where we are</a:t>
            </a:r>
            <a:endParaRPr sz="2400" b="1">
              <a:solidFill>
                <a:srgbClr val="000000"/>
              </a:solidFill>
              <a:latin typeface="Space Grotesk"/>
              <a:ea typeface="Space Grotesk"/>
              <a:cs typeface="Space Grotesk"/>
              <a:sym typeface="Space Grotesk"/>
            </a:endParaRPr>
          </a:p>
          <a:p>
            <a:pPr marL="1143000" lvl="2" indent="-184150" algn="l" rtl="0">
              <a:lnSpc>
                <a:spcPct val="90000"/>
              </a:lnSpc>
              <a:spcBef>
                <a:spcPts val="500"/>
              </a:spcBef>
              <a:spcAft>
                <a:spcPts val="0"/>
              </a:spcAft>
              <a:buClr>
                <a:srgbClr val="000000"/>
              </a:buClr>
              <a:buSzPts val="1100"/>
              <a:buFont typeface="Space Grotesk"/>
              <a:buChar char="•"/>
            </a:pPr>
            <a:r>
              <a:rPr lang="en-US" sz="1100" b="1">
                <a:solidFill>
                  <a:srgbClr val="000000"/>
                </a:solidFill>
                <a:latin typeface="Space Grotesk"/>
                <a:ea typeface="Space Grotesk"/>
                <a:cs typeface="Space Grotesk"/>
                <a:sym typeface="Space Grotesk"/>
              </a:rPr>
              <a:t>What was done, what were the main challenges </a:t>
            </a:r>
            <a:endParaRPr sz="2000" b="1">
              <a:solidFill>
                <a:srgbClr val="000000"/>
              </a:solidFill>
              <a:latin typeface="Space Grotesk"/>
              <a:ea typeface="Space Grotesk"/>
              <a:cs typeface="Space Grotesk"/>
              <a:sym typeface="Space Grotesk"/>
            </a:endParaRPr>
          </a:p>
          <a:p>
            <a:pPr marL="1143000" lvl="2" indent="-184150" algn="l" rtl="0">
              <a:lnSpc>
                <a:spcPct val="90000"/>
              </a:lnSpc>
              <a:spcBef>
                <a:spcPts val="500"/>
              </a:spcBef>
              <a:spcAft>
                <a:spcPts val="0"/>
              </a:spcAft>
              <a:buClr>
                <a:srgbClr val="000000"/>
              </a:buClr>
              <a:buSzPts val="1100"/>
              <a:buFont typeface="Space Grotesk"/>
              <a:buChar char="•"/>
            </a:pPr>
            <a:r>
              <a:rPr lang="en-US" sz="1100" b="1">
                <a:solidFill>
                  <a:srgbClr val="000000"/>
                </a:solidFill>
                <a:latin typeface="Space Grotesk"/>
                <a:ea typeface="Space Grotesk"/>
                <a:cs typeface="Space Grotesk"/>
                <a:sym typeface="Space Grotesk"/>
              </a:rPr>
              <a:t>Colorful solution</a:t>
            </a:r>
            <a:endParaRPr sz="2000" b="1">
              <a:solidFill>
                <a:srgbClr val="000000"/>
              </a:solidFill>
              <a:latin typeface="Space Grotesk"/>
              <a:ea typeface="Space Grotesk"/>
              <a:cs typeface="Space Grotesk"/>
              <a:sym typeface="Space Grotesk"/>
            </a:endParaRPr>
          </a:p>
          <a:p>
            <a:pPr marL="1143000" lvl="2" indent="-184150" algn="l" rtl="0">
              <a:lnSpc>
                <a:spcPct val="90000"/>
              </a:lnSpc>
              <a:spcBef>
                <a:spcPts val="500"/>
              </a:spcBef>
              <a:spcAft>
                <a:spcPts val="0"/>
              </a:spcAft>
              <a:buClr>
                <a:srgbClr val="000000"/>
              </a:buClr>
              <a:buSzPts val="1100"/>
              <a:buFont typeface="Space Grotesk"/>
              <a:buChar char="•"/>
            </a:pPr>
            <a:r>
              <a:rPr lang="en-US" sz="1100" b="1">
                <a:solidFill>
                  <a:srgbClr val="000000"/>
                </a:solidFill>
                <a:latin typeface="Space Grotesk"/>
                <a:ea typeface="Space Grotesk"/>
                <a:cs typeface="Space Grotesk"/>
                <a:sym typeface="Space Grotesk"/>
              </a:rPr>
              <a:t>Highlights of the results</a:t>
            </a:r>
            <a:endParaRPr sz="2000" b="1">
              <a:solidFill>
                <a:srgbClr val="000000"/>
              </a:solidFill>
              <a:latin typeface="Space Grotesk"/>
              <a:ea typeface="Space Grotesk"/>
              <a:cs typeface="Space Grotesk"/>
              <a:sym typeface="Space Grotesk"/>
            </a:endParaRPr>
          </a:p>
          <a:p>
            <a:pPr marL="685800" lvl="1" indent="-190500" algn="l" rtl="0">
              <a:lnSpc>
                <a:spcPct val="90000"/>
              </a:lnSpc>
              <a:spcBef>
                <a:spcPts val="500"/>
              </a:spcBef>
              <a:spcAft>
                <a:spcPts val="0"/>
              </a:spcAft>
              <a:buClr>
                <a:srgbClr val="000000"/>
              </a:buClr>
              <a:buSzPts val="1200"/>
              <a:buFont typeface="Space Grotesk"/>
              <a:buChar char="•"/>
            </a:pPr>
            <a:r>
              <a:rPr lang="en-US" sz="1200" b="1">
                <a:solidFill>
                  <a:srgbClr val="000000"/>
                </a:solidFill>
                <a:latin typeface="Space Grotesk"/>
                <a:ea typeface="Space Grotesk"/>
                <a:cs typeface="Space Grotesk"/>
                <a:sym typeface="Space Grotesk"/>
              </a:rPr>
              <a:t>What we plan</a:t>
            </a:r>
            <a:endParaRPr sz="2400" b="1">
              <a:solidFill>
                <a:srgbClr val="000000"/>
              </a:solidFill>
              <a:latin typeface="Space Grotesk"/>
              <a:ea typeface="Space Grotesk"/>
              <a:cs typeface="Space Grotesk"/>
              <a:sym typeface="Space Grotesk"/>
            </a:endParaRPr>
          </a:p>
          <a:p>
            <a:pPr marL="1143000" lvl="2" indent="-184150" algn="l" rtl="0">
              <a:lnSpc>
                <a:spcPct val="90000"/>
              </a:lnSpc>
              <a:spcBef>
                <a:spcPts val="500"/>
              </a:spcBef>
              <a:spcAft>
                <a:spcPts val="0"/>
              </a:spcAft>
              <a:buClr>
                <a:srgbClr val="000000"/>
              </a:buClr>
              <a:buSzPts val="1100"/>
              <a:buFont typeface="Space Grotesk"/>
              <a:buChar char="•"/>
            </a:pPr>
            <a:r>
              <a:rPr lang="en-US" sz="1100" b="1">
                <a:solidFill>
                  <a:srgbClr val="000000"/>
                </a:solidFill>
                <a:latin typeface="Space Grotesk"/>
                <a:ea typeface="Space Grotesk"/>
                <a:cs typeface="Space Grotesk"/>
                <a:sym typeface="Space Grotesk"/>
              </a:rPr>
              <a:t>Challenge identified</a:t>
            </a:r>
            <a:endParaRPr sz="2000" b="1">
              <a:solidFill>
                <a:srgbClr val="000000"/>
              </a:solidFill>
              <a:latin typeface="Space Grotesk"/>
              <a:ea typeface="Space Grotesk"/>
              <a:cs typeface="Space Grotesk"/>
              <a:sym typeface="Space Grotesk"/>
            </a:endParaRPr>
          </a:p>
          <a:p>
            <a:pPr marL="1143000" lvl="2" indent="-184150" algn="l" rtl="0">
              <a:lnSpc>
                <a:spcPct val="90000"/>
              </a:lnSpc>
              <a:spcBef>
                <a:spcPts val="500"/>
              </a:spcBef>
              <a:spcAft>
                <a:spcPts val="0"/>
              </a:spcAft>
              <a:buClr>
                <a:srgbClr val="000000"/>
              </a:buClr>
              <a:buSzPts val="1100"/>
              <a:buFont typeface="Space Grotesk"/>
              <a:buChar char="•"/>
            </a:pPr>
            <a:r>
              <a:rPr lang="en-US" sz="1100" b="1">
                <a:solidFill>
                  <a:srgbClr val="000000"/>
                </a:solidFill>
                <a:latin typeface="Space Grotesk"/>
                <a:ea typeface="Space Grotesk"/>
                <a:cs typeface="Space Grotesk"/>
                <a:sym typeface="Space Grotesk"/>
              </a:rPr>
              <a:t>Future scheduling work</a:t>
            </a:r>
            <a:endParaRPr sz="1400" b="1">
              <a:solidFill>
                <a:srgbClr val="000000"/>
              </a:solidFill>
              <a:latin typeface="Space Grotesk"/>
              <a:ea typeface="Space Grotesk"/>
              <a:cs typeface="Space Grotesk"/>
              <a:sym typeface="Space Grotesk"/>
            </a:endParaRPr>
          </a:p>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72"/>
        <p:cNvGrpSpPr/>
        <p:nvPr/>
      </p:nvGrpSpPr>
      <p:grpSpPr>
        <a:xfrm>
          <a:off x="0" y="0"/>
          <a:ext cx="0" cy="0"/>
          <a:chOff x="0" y="0"/>
          <a:chExt cx="0" cy="0"/>
        </a:xfrm>
      </p:grpSpPr>
      <p:sp>
        <p:nvSpPr>
          <p:cNvPr id="73" name="Google Shape;73;h6524a41718b72fa9_0_20"/>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74" name="Google Shape;74;h6524a41718b72fa9_0_20"/>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Let’s try to understand</a:t>
            </a:r>
            <a:endParaRPr sz="3600"/>
          </a:p>
        </p:txBody>
      </p:sp>
      <p:sp>
        <p:nvSpPr>
          <p:cNvPr id="75" name="Google Shape;75;h6524a41718b72fa9_0_20"/>
          <p:cNvSpPr/>
          <p:nvPr/>
        </p:nvSpPr>
        <p:spPr>
          <a:xfrm>
            <a:off x="815975" y="2295525"/>
            <a:ext cx="5506500" cy="717600"/>
          </a:xfrm>
          <a:prstGeom prst="roundRect">
            <a:avLst>
              <a:gd name="adj" fmla="val 10177"/>
            </a:avLst>
          </a:prstGeom>
          <a:solidFill>
            <a:srgbClr val="FFFDF8"/>
          </a:solidFill>
          <a:ln w="9525" cap="flat" cmpd="sng">
            <a:solidFill>
              <a:srgbClr val="E6E0D2"/>
            </a:solidFill>
            <a:prstDash val="solid"/>
            <a:round/>
            <a:headEnd type="none" w="sm" len="sm"/>
            <a:tailEnd type="none" w="sm" len="sm"/>
          </a:ln>
        </p:spPr>
        <p:txBody>
          <a:bodyPr spcFirstLastPara="1" wrap="square" lIns="134175" tIns="108775" rIns="0" bIns="83375" anchor="t" anchorCtr="0">
            <a:noAutofit/>
          </a:bodyPr>
          <a:lstStyle/>
          <a:p>
            <a:pPr marL="0" marR="0" lvl="0" indent="0" algn="l" rtl="0">
              <a:lnSpc>
                <a:spcPct val="150000"/>
              </a:lnSpc>
              <a:spcBef>
                <a:spcPts val="0"/>
              </a:spcBef>
              <a:spcAft>
                <a:spcPts val="0"/>
              </a:spcAft>
              <a:buClr>
                <a:srgbClr val="14213D"/>
              </a:buClr>
              <a:buSzPts val="1200"/>
              <a:buFont typeface="IBM Plex Mono"/>
              <a:buNone/>
            </a:pPr>
            <a:r>
              <a:rPr lang="en-US" sz="1200">
                <a:solidFill>
                  <a:srgbClr val="14213D"/>
                </a:solidFill>
                <a:latin typeface="IBM Plex Mono"/>
                <a:ea typeface="IBM Plex Mono"/>
                <a:cs typeface="IBM Plex Mono"/>
                <a:sym typeface="IBM Plex Mono"/>
              </a:rPr>
              <a:t>Process our raw material to extract the meaningful, quintessential piece of information</a:t>
            </a:r>
            <a:endParaRPr sz="1200" b="0" i="0" u="none" strike="noStrike" cap="none">
              <a:solidFill>
                <a:schemeClr val="dk1"/>
              </a:solidFill>
              <a:latin typeface="IBM Plex Mono"/>
              <a:ea typeface="IBM Plex Mono"/>
              <a:cs typeface="IBM Plex Mono"/>
              <a:sym typeface="IBM Plex Mono"/>
            </a:endParaRPr>
          </a:p>
        </p:txBody>
      </p:sp>
      <p:sp>
        <p:nvSpPr>
          <p:cNvPr id="76" name="Google Shape;76;h6524a41718b72fa9_0_20"/>
          <p:cNvSpPr/>
          <p:nvPr/>
        </p:nvSpPr>
        <p:spPr>
          <a:xfrm>
            <a:off x="6630491" y="2006600"/>
            <a:ext cx="4748700" cy="3448200"/>
          </a:xfrm>
          <a:prstGeom prst="roundRect">
            <a:avLst>
              <a:gd name="adj" fmla="val 2947"/>
            </a:avLst>
          </a:prstGeom>
          <a:solidFill>
            <a:srgbClr val="DBE7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77" name="Google Shape;77;h6524a41718b72fa9_0_20"/>
          <p:cNvSpPr/>
          <p:nvPr/>
        </p:nvSpPr>
        <p:spPr>
          <a:xfrm>
            <a:off x="6630491" y="2006600"/>
            <a:ext cx="4748709" cy="3448050"/>
          </a:xfrm>
          <a:custGeom>
            <a:avLst/>
            <a:gdLst/>
            <a:ahLst/>
            <a:cxnLst/>
            <a:rect l="l" t="t" r="r" b="b"/>
            <a:pathLst>
              <a:path w="4748709" h="3448050" extrusionOk="0">
                <a:moveTo>
                  <a:pt x="0" y="101600"/>
                </a:moveTo>
                <a:lnTo>
                  <a:pt x="0" y="101600"/>
                </a:lnTo>
                <a:cubicBezTo>
                  <a:pt x="0" y="45488"/>
                  <a:pt x="45488" y="0"/>
                  <a:pt x="101600" y="0"/>
                </a:cubicBezTo>
                <a:lnTo>
                  <a:pt x="4647109" y="0"/>
                </a:lnTo>
                <a:cubicBezTo>
                  <a:pt x="4674055" y="0"/>
                  <a:pt x="4699897" y="10704"/>
                  <a:pt x="4718951" y="29758"/>
                </a:cubicBezTo>
                <a:cubicBezTo>
                  <a:pt x="4738005" y="48812"/>
                  <a:pt x="4748709" y="74654"/>
                  <a:pt x="4748709" y="101600"/>
                </a:cubicBezTo>
                <a:lnTo>
                  <a:pt x="4748709" y="101600"/>
                </a:lnTo>
                <a:cubicBezTo>
                  <a:pt x="4748709" y="73544"/>
                  <a:pt x="4703221" y="50800"/>
                  <a:pt x="4647109" y="50800"/>
                </a:cubicBezTo>
                <a:lnTo>
                  <a:pt x="101600" y="50800"/>
                </a:lnTo>
                <a:cubicBezTo>
                  <a:pt x="45488" y="50800"/>
                  <a:pt x="0" y="73544"/>
                  <a:pt x="0" y="101600"/>
                </a:cubicBezTo>
                <a:close/>
              </a:path>
            </a:pathLst>
          </a:cu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78" name="Google Shape;78;h6524a41718b72fa9_0_20"/>
          <p:cNvSpPr/>
          <p:nvPr/>
        </p:nvSpPr>
        <p:spPr>
          <a:xfrm>
            <a:off x="6884491" y="2311399"/>
            <a:ext cx="4368000" cy="2349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D4ED8"/>
              </a:buClr>
              <a:buSzPts val="1200"/>
              <a:buFont typeface="IBM Plex Mono"/>
              <a:buNone/>
            </a:pPr>
            <a:r>
              <a:rPr lang="en-US" sz="1200" b="0" i="0" u="none" strike="noStrike" cap="none">
                <a:solidFill>
                  <a:srgbClr val="1D4ED8"/>
                </a:solidFill>
                <a:latin typeface="IBM Plex Mono"/>
                <a:ea typeface="IBM Plex Mono"/>
                <a:cs typeface="IBM Plex Mono"/>
                <a:sym typeface="IBM Plex Mono"/>
              </a:rPr>
              <a:t>THE GOAL</a:t>
            </a:r>
            <a:endParaRPr sz="1200" b="0" i="0" u="none" strike="noStrike" cap="none">
              <a:solidFill>
                <a:schemeClr val="dk1"/>
              </a:solidFill>
              <a:latin typeface="IBM Plex Mono"/>
              <a:ea typeface="IBM Plex Mono"/>
              <a:cs typeface="IBM Plex Mono"/>
              <a:sym typeface="IBM Plex Mono"/>
            </a:endParaRPr>
          </a:p>
        </p:txBody>
      </p:sp>
      <p:sp>
        <p:nvSpPr>
          <p:cNvPr id="79" name="Google Shape;79;h6524a41718b72fa9_0_20"/>
          <p:cNvSpPr/>
          <p:nvPr/>
        </p:nvSpPr>
        <p:spPr>
          <a:xfrm>
            <a:off x="6884491" y="2647949"/>
            <a:ext cx="4368000" cy="1914000"/>
          </a:xfrm>
          <a:prstGeom prst="rect">
            <a:avLst/>
          </a:prstGeom>
          <a:noFill/>
          <a:ln>
            <a:noFill/>
          </a:ln>
        </p:spPr>
        <p:txBody>
          <a:bodyPr spcFirstLastPara="1" wrap="square" lIns="0" tIns="0" rIns="0" bIns="0" anchor="t" anchorCtr="0">
            <a:noAutofit/>
          </a:bodyPr>
          <a:lstStyle/>
          <a:p>
            <a:pPr marL="342900" marR="0" lvl="0" indent="-342900" algn="l" rtl="0">
              <a:lnSpc>
                <a:spcPct val="140000"/>
              </a:lnSpc>
              <a:spcBef>
                <a:spcPts val="0"/>
              </a:spcBef>
              <a:spcAft>
                <a:spcPts val="0"/>
              </a:spcAft>
              <a:buClr>
                <a:srgbClr val="14213D"/>
              </a:buClr>
              <a:buSzPts val="1600"/>
              <a:buFont typeface="IBM Plex Mono"/>
              <a:buAutoNum type="arabicPeriod"/>
            </a:pPr>
            <a:r>
              <a:rPr lang="en-US" sz="1600" b="1">
                <a:solidFill>
                  <a:srgbClr val="14213D"/>
                </a:solidFill>
                <a:latin typeface="IBM Plex Mono"/>
                <a:ea typeface="IBM Plex Mono"/>
                <a:cs typeface="IBM Plex Mono"/>
                <a:sym typeface="IBM Plex Mono"/>
              </a:rPr>
              <a:t>Clean</a:t>
            </a:r>
            <a:r>
              <a:rPr lang="en-US" sz="1600">
                <a:solidFill>
                  <a:srgbClr val="14213D"/>
                </a:solidFill>
                <a:latin typeface="IBM Plex Mono"/>
                <a:ea typeface="IBM Plex Mono"/>
                <a:cs typeface="IBM Plex Mono"/>
                <a:sym typeface="IBM Plex Mono"/>
              </a:rPr>
              <a:t> the raw datasets</a:t>
            </a:r>
            <a:endParaRPr sz="1800" i="0" u="none" strike="noStrike" cap="none">
              <a:solidFill>
                <a:schemeClr val="dk1"/>
              </a:solidFill>
              <a:latin typeface="IBM Plex Mono"/>
              <a:ea typeface="IBM Plex Mono"/>
              <a:cs typeface="IBM Plex Mono"/>
              <a:sym typeface="IBM Plex Mono"/>
            </a:endParaRPr>
          </a:p>
          <a:p>
            <a:pPr marL="342900" marR="0" lvl="0" indent="-342900" algn="l" rtl="0">
              <a:lnSpc>
                <a:spcPct val="140000"/>
              </a:lnSpc>
              <a:spcBef>
                <a:spcPts val="0"/>
              </a:spcBef>
              <a:spcAft>
                <a:spcPts val="0"/>
              </a:spcAft>
              <a:buClr>
                <a:srgbClr val="14213D"/>
              </a:buClr>
              <a:buSzPts val="1600"/>
              <a:buFont typeface="IBM Plex Mono"/>
              <a:buAutoNum type="arabicPeriod"/>
            </a:pPr>
            <a:r>
              <a:rPr lang="en-US" sz="1600" b="1">
                <a:solidFill>
                  <a:srgbClr val="14213D"/>
                </a:solidFill>
                <a:latin typeface="IBM Plex Mono"/>
                <a:ea typeface="IBM Plex Mono"/>
                <a:cs typeface="IBM Plex Mono"/>
                <a:sym typeface="IBM Plex Mono"/>
              </a:rPr>
              <a:t>Understand</a:t>
            </a:r>
            <a:r>
              <a:rPr lang="en-US" sz="1600">
                <a:solidFill>
                  <a:srgbClr val="14213D"/>
                </a:solidFill>
                <a:latin typeface="IBM Plex Mono"/>
                <a:ea typeface="IBM Plex Mono"/>
                <a:cs typeface="IBM Plex Mono"/>
                <a:sym typeface="IBM Plex Mono"/>
              </a:rPr>
              <a:t> the weight of each variables in the output charge of CLEAR beam</a:t>
            </a:r>
            <a:endParaRPr sz="1600" i="0" u="none" strike="noStrike" cap="none">
              <a:solidFill>
                <a:schemeClr val="dk1"/>
              </a:solidFill>
              <a:latin typeface="IBM Plex Mono"/>
              <a:ea typeface="IBM Plex Mono"/>
              <a:cs typeface="IBM Plex Mono"/>
              <a:sym typeface="IBM Plex Mono"/>
            </a:endParaRPr>
          </a:p>
        </p:txBody>
      </p:sp>
      <p:sp>
        <p:nvSpPr>
          <p:cNvPr id="80" name="Google Shape;80;h6524a41718b72fa9_0_20"/>
          <p:cNvSpPr/>
          <p:nvPr/>
        </p:nvSpPr>
        <p:spPr>
          <a:xfrm>
            <a:off x="815975" y="3748350"/>
            <a:ext cx="5613000" cy="813600"/>
          </a:xfrm>
          <a:prstGeom prst="rect">
            <a:avLst/>
          </a:prstGeom>
          <a:noFill/>
          <a:ln>
            <a:noFill/>
          </a:ln>
        </p:spPr>
        <p:txBody>
          <a:bodyPr spcFirstLastPara="1" wrap="square" lIns="0" tIns="0" rIns="0" bIns="0" anchor="t" anchorCtr="0">
            <a:noAutofit/>
          </a:bodyPr>
          <a:lstStyle/>
          <a:p>
            <a:pPr marL="457200" marR="0" lvl="0"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In this part, we talk about cutting, stashing, synchronizing and correlating</a:t>
            </a:r>
            <a:endParaRPr sz="1600">
              <a:solidFill>
                <a:srgbClr val="14213D"/>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endParaRPr sz="1600">
              <a:solidFill>
                <a:srgbClr val="14213D"/>
              </a:solidFill>
              <a:latin typeface="IBM Plex Sans"/>
              <a:ea typeface="IBM Plex Sans"/>
              <a:cs typeface="IBM Plex Sans"/>
              <a:sym typeface="IBM Plex Sans"/>
            </a:endParaRPr>
          </a:p>
        </p:txBody>
      </p:sp>
      <p:sp>
        <p:nvSpPr>
          <p:cNvPr id="81" name="Google Shape;81;h6524a41718b72fa9_0_20"/>
          <p:cNvSpPr/>
          <p:nvPr/>
        </p:nvSpPr>
        <p:spPr>
          <a:xfrm>
            <a:off x="812799" y="6242049"/>
            <a:ext cx="7848600" cy="234900"/>
          </a:xfrm>
          <a:prstGeom prst="rect">
            <a:avLst/>
          </a:prstGeom>
          <a:noFill/>
          <a:ln>
            <a:noFill/>
          </a:ln>
        </p:spPr>
        <p:txBody>
          <a:bodyPr spcFirstLastPara="1" wrap="square" lIns="0" tIns="0" rIns="0" bIns="0" anchor="t" anchorCtr="0">
            <a:noAutofit/>
          </a:bodyPr>
          <a:lstStyle/>
          <a:p>
            <a:pPr marL="0" marR="0" lvl="0" indent="0" algn="l" rtl="0">
              <a:lnSpc>
                <a:spcPct val="139916"/>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a:t>
            </a:r>
            <a:endParaRPr sz="1200" b="0" i="0" u="none" strike="noStrike" cap="none">
              <a:solidFill>
                <a:schemeClr val="dk1"/>
              </a:solidFill>
              <a:latin typeface="IBM Plex Mono"/>
              <a:ea typeface="IBM Plex Mono"/>
              <a:cs typeface="IBM Plex Mono"/>
              <a:sym typeface="IBM Plex Mono"/>
            </a:endParaRPr>
          </a:p>
        </p:txBody>
      </p:sp>
      <p:sp>
        <p:nvSpPr>
          <p:cNvPr id="82" name="Google Shape;82;h6524a41718b72fa9_0_20"/>
          <p:cNvSpPr/>
          <p:nvPr/>
        </p:nvSpPr>
        <p:spPr>
          <a:xfrm>
            <a:off x="813816" y="813816"/>
            <a:ext cx="2834700" cy="283500"/>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83" name="Google Shape;83;h6524a41718b72fa9_0_20"/>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4"/>
          <p:cNvSpPr/>
          <p:nvPr/>
        </p:nvSpPr>
        <p:spPr>
          <a:xfrm>
            <a:off x="523250" y="2007635"/>
            <a:ext cx="5894100" cy="3629700"/>
          </a:xfrm>
          <a:prstGeom prst="rect">
            <a:avLst/>
          </a:prstGeom>
          <a:noFill/>
          <a:ln>
            <a:noFill/>
          </a:ln>
        </p:spPr>
        <p:txBody>
          <a:bodyPr spcFirstLastPara="1" wrap="square" lIns="0" tIns="0" rIns="0" bIns="0" anchor="t" anchorCtr="0">
            <a:noAutofit/>
          </a:bodyPr>
          <a:lstStyle/>
          <a:p>
            <a:pPr marL="457200" marR="0" lvl="0" indent="-330200" algn="l" rtl="0">
              <a:lnSpc>
                <a:spcPct val="150000"/>
              </a:lnSpc>
              <a:spcBef>
                <a:spcPts val="100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Every run on a different situation</a:t>
            </a:r>
            <a:endParaRPr sz="1600">
              <a:solidFill>
                <a:srgbClr val="3B4660"/>
              </a:solidFill>
              <a:latin typeface="IBM Plex Mono"/>
              <a:ea typeface="IBM Plex Mono"/>
              <a:cs typeface="IBM Plex Mono"/>
              <a:sym typeface="IBM Plex Mono"/>
            </a:endParaRPr>
          </a:p>
          <a:p>
            <a:pPr marL="457200" marR="0" lvl="0" indent="-330200" algn="l" rtl="0">
              <a:lnSpc>
                <a:spcPct val="150000"/>
              </a:lnSpc>
              <a:spcBef>
                <a:spcPts val="100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Plateaus at </a:t>
            </a:r>
            <a:r>
              <a:rPr lang="en-US" sz="1600" b="1" i="0" u="none" strike="noStrike" cap="none">
                <a:solidFill>
                  <a:srgbClr val="3B4660"/>
                </a:solidFill>
                <a:latin typeface="IBM Plex Mono"/>
                <a:ea typeface="IBM Plex Mono"/>
                <a:cs typeface="IBM Plex Mono"/>
                <a:sym typeface="IBM Plex Mono"/>
              </a:rPr>
              <a:t>0.1, 0.22, 4.8, 5.5 and 10 nC</a:t>
            </a:r>
            <a:r>
              <a:rPr lang="en-US" sz="1600" i="0" u="none" strike="noStrike" cap="none">
                <a:solidFill>
                  <a:srgbClr val="3B4660"/>
                </a:solidFill>
                <a:latin typeface="IBM Plex Mono"/>
                <a:ea typeface="IBM Plex Mono"/>
                <a:cs typeface="IBM Plex Mono"/>
                <a:sym typeface="IBM Plex Mono"/>
              </a:rPr>
              <a:t>, laser scans, and a bunch charge monitor </a:t>
            </a:r>
            <a:r>
              <a:rPr lang="en-US" sz="1600">
                <a:solidFill>
                  <a:srgbClr val="3B4660"/>
                </a:solidFill>
                <a:latin typeface="IBM Plex Mono"/>
                <a:ea typeface="IBM Plex Mono"/>
                <a:cs typeface="IBM Plex Mono"/>
                <a:sym typeface="IBM Plex Mono"/>
              </a:rPr>
              <a:t>(</a:t>
            </a:r>
            <a:r>
              <a:rPr lang="en-US" sz="1600" i="0" u="none" strike="noStrike" cap="none">
                <a:solidFill>
                  <a:srgbClr val="3B4660"/>
                </a:solidFill>
                <a:latin typeface="IBM Plex Mono"/>
                <a:ea typeface="IBM Plex Mono"/>
                <a:cs typeface="IBM Plex Mono"/>
                <a:sym typeface="IBM Plex Mono"/>
              </a:rPr>
              <a:t>BCM) stuck at a 1.67 nC ceiling</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50000"/>
              </a:lnSpc>
              <a:spcBef>
                <a:spcPts val="100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Clean cuts by inspection: 634 chunks, 63,327 shots, 8 contiguous segments in </a:t>
            </a:r>
            <a:r>
              <a:rPr lang="en-US" sz="1600" b="1" i="0" u="none" strike="noStrike" cap="none">
                <a:solidFill>
                  <a:srgbClr val="3B4660"/>
                </a:solidFill>
                <a:latin typeface="IBM Plex Mono"/>
                <a:ea typeface="IBM Plex Mono"/>
                <a:cs typeface="IBM Plex Mono"/>
                <a:sym typeface="IBM Plex Mono"/>
              </a:rPr>
              <a:t>3 regimes</a:t>
            </a:r>
            <a:r>
              <a:rPr lang="en-US" sz="1600" i="0" u="none" strike="noStrike" cap="none">
                <a:solidFill>
                  <a:srgbClr val="3B4660"/>
                </a:solidFill>
                <a:latin typeface="IBM Plex Mono"/>
                <a:ea typeface="IBM Plex Mono"/>
                <a:cs typeface="IBM Plex Mono"/>
                <a:sym typeface="IBM Plex Mono"/>
              </a:rPr>
              <a:t>:</a:t>
            </a:r>
            <a:endParaRPr sz="1600" i="0" u="none" strike="noStrike" cap="none">
              <a:solidFill>
                <a:srgbClr val="3B4660"/>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Low charge (0.1 - 0.5 nC)</a:t>
            </a:r>
            <a:endParaRPr sz="1600" b="1" i="0" u="none" strike="noStrike" cap="none">
              <a:solidFill>
                <a:srgbClr val="3B4660"/>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High charge (5 - 20 nC), relatively stable</a:t>
            </a:r>
            <a:endParaRPr sz="1600" b="1" i="0" u="none" strike="noStrike" cap="none">
              <a:solidFill>
                <a:srgbClr val="3B4660"/>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High charge (5 - 20 nC), periodic drifts</a:t>
            </a:r>
            <a:endParaRPr sz="1600" b="1" i="0" u="none" strike="noStrike" cap="none">
              <a:solidFill>
                <a:schemeClr val="dk1"/>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endParaRPr sz="1600" i="0" u="none" strike="noStrike" cap="none">
              <a:solidFill>
                <a:schemeClr val="dk1"/>
              </a:solidFill>
              <a:latin typeface="IBM Plex Mono"/>
              <a:ea typeface="IBM Plex Mono"/>
              <a:cs typeface="IBM Plex Mono"/>
              <a:sym typeface="IBM Plex Mono"/>
            </a:endParaRPr>
          </a:p>
        </p:txBody>
      </p:sp>
      <p:sp>
        <p:nvSpPr>
          <p:cNvPr id="90" name="Google Shape;90;p4"/>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91" name="Google Shape;91;p4"/>
          <p:cNvSpPr/>
          <p:nvPr/>
        </p:nvSpPr>
        <p:spPr>
          <a:xfrm>
            <a:off x="813816" y="813816"/>
            <a:ext cx="2834640" cy="283464"/>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92" name="Google Shape;92;p4"/>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93" name="Google Shape;93;p4"/>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Run regimes, clean cuts and bad shots</a:t>
            </a:r>
            <a:endParaRPr sz="3600"/>
          </a:p>
        </p:txBody>
      </p:sp>
      <p:sp>
        <p:nvSpPr>
          <p:cNvPr id="94" name="Google Shape;94;p4"/>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21</a:t>
            </a:r>
            <a:endParaRPr sz="1200" b="0" i="0" u="none" strike="noStrike" cap="none">
              <a:solidFill>
                <a:schemeClr val="dk1"/>
              </a:solidFill>
              <a:latin typeface="IBM Plex Mono"/>
              <a:ea typeface="IBM Plex Mono"/>
              <a:cs typeface="IBM Plex Mono"/>
              <a:sym typeface="IBM Plex Mono"/>
            </a:endParaRPr>
          </a:p>
        </p:txBody>
      </p:sp>
      <p:pic>
        <p:nvPicPr>
          <p:cNvPr id="95" name="Google Shape;95;p4" descr="bcm_runs.png"/>
          <p:cNvPicPr preferRelativeResize="0"/>
          <p:nvPr/>
        </p:nvPicPr>
        <p:blipFill rotWithShape="1">
          <a:blip r:embed="rId3">
            <a:alphaModFix/>
          </a:blip>
          <a:srcRect/>
          <a:stretch/>
        </p:blipFill>
        <p:spPr>
          <a:xfrm>
            <a:off x="6482213" y="1743856"/>
            <a:ext cx="5369814" cy="3370301"/>
          </a:xfrm>
          <a:prstGeom prst="rect">
            <a:avLst/>
          </a:prstGeom>
          <a:noFill/>
          <a:ln>
            <a:noFill/>
          </a:ln>
        </p:spPr>
      </p:pic>
      <p:pic>
        <p:nvPicPr>
          <p:cNvPr id="96" name="Google Shape;96;p4" descr="stitched_bcm.png"/>
          <p:cNvPicPr preferRelativeResize="0"/>
          <p:nvPr/>
        </p:nvPicPr>
        <p:blipFill rotWithShape="1">
          <a:blip r:embed="rId4">
            <a:alphaModFix/>
          </a:blip>
          <a:srcRect/>
          <a:stretch/>
        </p:blipFill>
        <p:spPr>
          <a:xfrm>
            <a:off x="6595900" y="5114156"/>
            <a:ext cx="5142429" cy="1631875"/>
          </a:xfrm>
          <a:prstGeom prst="rect">
            <a:avLst/>
          </a:prstGeom>
          <a:noFill/>
          <a:ln>
            <a:noFill/>
          </a:ln>
        </p:spPr>
      </p:pic>
      <p:sp>
        <p:nvSpPr>
          <p:cNvPr id="97" name="Google Shape;97;p4"/>
          <p:cNvSpPr/>
          <p:nvPr/>
        </p:nvSpPr>
        <p:spPr>
          <a:xfrm>
            <a:off x="9889189" y="1530622"/>
            <a:ext cx="1704600" cy="274200"/>
          </a:xfrm>
          <a:prstGeom prst="rect">
            <a:avLst/>
          </a:prstGeom>
          <a:noFill/>
          <a:ln>
            <a:noFill/>
          </a:ln>
        </p:spPr>
        <p:txBody>
          <a:bodyPr spcFirstLastPara="1" wrap="square" lIns="0" tIns="0" rIns="0" bIns="0" anchor="t" anchorCtr="0">
            <a:normAutofit/>
          </a:bodyPr>
          <a:lstStyle/>
          <a:p>
            <a:pPr marL="0" marR="0" lvl="0" indent="0" algn="l" rtl="0">
              <a:lnSpc>
                <a:spcPct val="199857"/>
              </a:lnSpc>
              <a:spcBef>
                <a:spcPts val="0"/>
              </a:spcBef>
              <a:spcAft>
                <a:spcPts val="0"/>
              </a:spcAft>
              <a:buClr>
                <a:srgbClr val="14213D"/>
              </a:buClr>
              <a:buSzPts val="700"/>
              <a:buFont typeface="IBM Plex Sans"/>
              <a:buNone/>
            </a:pPr>
            <a:r>
              <a:rPr lang="en-US" sz="700" b="1" i="0" u="none" strike="noStrike" cap="none">
                <a:solidFill>
                  <a:srgbClr val="14213D"/>
                </a:solidFill>
                <a:latin typeface="IBM Plex Sans"/>
                <a:ea typeface="IBM Plex Sans"/>
                <a:cs typeface="IBM Plex Sans"/>
                <a:sym typeface="IBM Plex Sans"/>
              </a:rPr>
              <a:t>All useful datasets stitched together</a:t>
            </a:r>
            <a:endParaRPr sz="700" b="1"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5"/>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04" name="Google Shape;104;p5"/>
          <p:cNvSpPr/>
          <p:nvPr/>
        </p:nvSpPr>
        <p:spPr>
          <a:xfrm>
            <a:off x="813816" y="813816"/>
            <a:ext cx="2834640" cy="283464"/>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05" name="Google Shape;105;p5"/>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106" name="Google Shape;106;p5"/>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sz="3600" b="1" i="0">
                <a:solidFill>
                  <a:srgbClr val="14213D"/>
                </a:solidFill>
                <a:latin typeface="Space Grotesk"/>
                <a:ea typeface="Space Grotesk"/>
                <a:cs typeface="Space Grotesk"/>
                <a:sym typeface="Space Grotesk"/>
              </a:rPr>
              <a:t>Synchronisation on the Beam pulse</a:t>
            </a:r>
            <a:endParaRPr sz="3600"/>
          </a:p>
        </p:txBody>
      </p:sp>
      <p:sp>
        <p:nvSpPr>
          <p:cNvPr id="107" name="Google Shape;107;p5"/>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22</a:t>
            </a:r>
            <a:endParaRPr sz="1200" b="0" i="0" u="none" strike="noStrike" cap="none">
              <a:solidFill>
                <a:schemeClr val="dk1"/>
              </a:solidFill>
              <a:latin typeface="IBM Plex Mono"/>
              <a:ea typeface="IBM Plex Mono"/>
              <a:cs typeface="IBM Plex Mono"/>
              <a:sym typeface="IBM Plex Mono"/>
            </a:endParaRPr>
          </a:p>
        </p:txBody>
      </p:sp>
      <p:sp>
        <p:nvSpPr>
          <p:cNvPr id="108" name="Google Shape;108;p5"/>
          <p:cNvSpPr/>
          <p:nvPr/>
        </p:nvSpPr>
        <p:spPr>
          <a:xfrm>
            <a:off x="813816" y="1783080"/>
            <a:ext cx="10881360" cy="320040"/>
          </a:xfrm>
          <a:prstGeom prst="rect">
            <a:avLst/>
          </a:prstGeom>
          <a:noFill/>
          <a:ln>
            <a:noFill/>
          </a:ln>
        </p:spPr>
        <p:txBody>
          <a:bodyPr spcFirstLastPara="1" wrap="square" lIns="0" tIns="0" rIns="0" bIns="0" anchor="t" anchorCtr="0">
            <a:normAutofit fontScale="92500" lnSpcReduction="20000"/>
          </a:bodyPr>
          <a:lstStyle/>
          <a:p>
            <a:pPr marL="0" marR="0" lvl="0" indent="0" algn="l" rtl="0">
              <a:lnSpc>
                <a:spcPct val="140000"/>
              </a:lnSpc>
              <a:spcBef>
                <a:spcPts val="0"/>
              </a:spcBef>
              <a:spcAft>
                <a:spcPts val="0"/>
              </a:spcAft>
              <a:buClr>
                <a:srgbClr val="14213D"/>
              </a:buClr>
              <a:buSzPts val="1600"/>
              <a:buFont typeface="IBM Plex Sans"/>
              <a:buNone/>
            </a:pPr>
            <a:r>
              <a:rPr lang="en-US" sz="1800" b="1">
                <a:solidFill>
                  <a:srgbClr val="14213D"/>
                </a:solidFill>
                <a:latin typeface="Space Grotesk"/>
                <a:ea typeface="Space Grotesk"/>
                <a:cs typeface="Space Grotesk"/>
                <a:sym typeface="Space Grotesk"/>
              </a:rPr>
              <a:t>Each variable has its own timestamp so we need to match them</a:t>
            </a:r>
            <a:endParaRPr sz="1800" b="1" i="0" u="none" strike="noStrike" cap="none">
              <a:solidFill>
                <a:schemeClr val="dk1"/>
              </a:solidFill>
              <a:latin typeface="Space Grotesk"/>
              <a:ea typeface="Space Grotesk"/>
              <a:cs typeface="Space Grotesk"/>
              <a:sym typeface="Space Grotesk"/>
            </a:endParaRPr>
          </a:p>
        </p:txBody>
      </p:sp>
      <p:sp>
        <p:nvSpPr>
          <p:cNvPr id="109" name="Google Shape;109;p5"/>
          <p:cNvSpPr/>
          <p:nvPr/>
        </p:nvSpPr>
        <p:spPr>
          <a:xfrm>
            <a:off x="7596850" y="4279525"/>
            <a:ext cx="4010400" cy="48930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000"/>
              <a:buFont typeface="IBM Plex Sans"/>
              <a:buNone/>
            </a:pPr>
            <a:r>
              <a:rPr lang="en-US" sz="1200" i="0" u="none" strike="noStrike" cap="none">
                <a:solidFill>
                  <a:srgbClr val="14213D"/>
                </a:solidFill>
                <a:latin typeface="IBM Plex Mono"/>
                <a:ea typeface="IBM Plex Mono"/>
                <a:cs typeface="IBM Plex Mono"/>
                <a:sym typeface="IBM Plex Mono"/>
              </a:rPr>
              <a:t>Laser vs charge over a run, scatter, and the lag scan peaking at +1 row</a:t>
            </a:r>
            <a:endParaRPr sz="1200" i="0" u="none" strike="noStrike" cap="none">
              <a:solidFill>
                <a:schemeClr val="dk1"/>
              </a:solidFill>
              <a:latin typeface="IBM Plex Mono"/>
              <a:ea typeface="IBM Plex Mono"/>
              <a:cs typeface="IBM Plex Mono"/>
              <a:sym typeface="IBM Plex Mono"/>
            </a:endParaRPr>
          </a:p>
        </p:txBody>
      </p:sp>
      <p:pic>
        <p:nvPicPr>
          <p:cNvPr id="110" name="Google Shape;110;p5" descr="03_laser_scope_cell10.png"/>
          <p:cNvPicPr preferRelativeResize="0"/>
          <p:nvPr/>
        </p:nvPicPr>
        <p:blipFill rotWithShape="1">
          <a:blip r:embed="rId3">
            <a:alphaModFix/>
          </a:blip>
          <a:srcRect/>
          <a:stretch/>
        </p:blipFill>
        <p:spPr>
          <a:xfrm>
            <a:off x="5079979" y="4817352"/>
            <a:ext cx="6873626" cy="1902125"/>
          </a:xfrm>
          <a:prstGeom prst="rect">
            <a:avLst/>
          </a:prstGeom>
          <a:noFill/>
          <a:ln>
            <a:noFill/>
          </a:ln>
        </p:spPr>
      </p:pic>
      <p:graphicFrame>
        <p:nvGraphicFramePr>
          <p:cNvPr id="111" name="Google Shape;111;p5"/>
          <p:cNvGraphicFramePr/>
          <p:nvPr/>
        </p:nvGraphicFramePr>
        <p:xfrm>
          <a:off x="6902188" y="2365719"/>
          <a:ext cx="3000000" cy="3000000"/>
        </p:xfrm>
        <a:graphic>
          <a:graphicData uri="http://schemas.openxmlformats.org/drawingml/2006/table">
            <a:tbl>
              <a:tblPr firstRow="1" bandRow="1">
                <a:noFill/>
                <a:tableStyleId>{112CE20D-767B-464B-9DCB-EA9EB6AF2ED4}</a:tableStyleId>
              </a:tblPr>
              <a:tblGrid>
                <a:gridCol w="1843425">
                  <a:extLst>
                    <a:ext uri="{9D8B030D-6E8A-4147-A177-3AD203B41FA5}">
                      <a16:colId xmlns:a16="http://schemas.microsoft.com/office/drawing/2014/main" val="20000"/>
                    </a:ext>
                  </a:extLst>
                </a:gridCol>
                <a:gridCol w="655450">
                  <a:extLst>
                    <a:ext uri="{9D8B030D-6E8A-4147-A177-3AD203B41FA5}">
                      <a16:colId xmlns:a16="http://schemas.microsoft.com/office/drawing/2014/main" val="20001"/>
                    </a:ext>
                  </a:extLst>
                </a:gridCol>
                <a:gridCol w="655450">
                  <a:extLst>
                    <a:ext uri="{9D8B030D-6E8A-4147-A177-3AD203B41FA5}">
                      <a16:colId xmlns:a16="http://schemas.microsoft.com/office/drawing/2014/main" val="20002"/>
                    </a:ext>
                  </a:extLst>
                </a:gridCol>
                <a:gridCol w="655450">
                  <a:extLst>
                    <a:ext uri="{9D8B030D-6E8A-4147-A177-3AD203B41FA5}">
                      <a16:colId xmlns:a16="http://schemas.microsoft.com/office/drawing/2014/main" val="20003"/>
                    </a:ext>
                  </a:extLst>
                </a:gridCol>
                <a:gridCol w="655450">
                  <a:extLst>
                    <a:ext uri="{9D8B030D-6E8A-4147-A177-3AD203B41FA5}">
                      <a16:colId xmlns:a16="http://schemas.microsoft.com/office/drawing/2014/main" val="20004"/>
                    </a:ext>
                  </a:extLst>
                </a:gridCol>
                <a:gridCol w="655450">
                  <a:extLst>
                    <a:ext uri="{9D8B030D-6E8A-4147-A177-3AD203B41FA5}">
                      <a16:colId xmlns:a16="http://schemas.microsoft.com/office/drawing/2014/main" val="20005"/>
                    </a:ext>
                  </a:extLst>
                </a:gridCol>
              </a:tblGrid>
              <a:tr h="274325">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ridge test R² (common rows)</a:t>
                      </a:r>
                      <a:endParaRPr u="none" strike="noStrike" cap="none">
                        <a:latin typeface="Arial"/>
                        <a:ea typeface="Arial"/>
                        <a:cs typeface="Arial"/>
                        <a:sym typeface="Arial"/>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seg 3</a:t>
                      </a:r>
                      <a:endParaRPr u="none" strike="noStrike" cap="none">
                        <a:latin typeface="Arial"/>
                        <a:ea typeface="Arial"/>
                        <a:cs typeface="Arial"/>
                        <a:sym typeface="Arial"/>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seg 4</a:t>
                      </a:r>
                      <a:endParaRPr u="none" strike="noStrike" cap="none">
                        <a:latin typeface="Arial"/>
                        <a:ea typeface="Arial"/>
                        <a:cs typeface="Arial"/>
                        <a:sym typeface="Arial"/>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seg 5</a:t>
                      </a:r>
                      <a:endParaRPr u="none" strike="noStrike" cap="none">
                        <a:latin typeface="Arial"/>
                        <a:ea typeface="Arial"/>
                        <a:cs typeface="Arial"/>
                        <a:sym typeface="Arial"/>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seg 1</a:t>
                      </a:r>
                      <a:endParaRPr u="none" strike="noStrike" cap="none">
                        <a:latin typeface="Arial"/>
                        <a:ea typeface="Arial"/>
                        <a:cs typeface="Arial"/>
                        <a:sym typeface="Arial"/>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seg 7</a:t>
                      </a:r>
                      <a:endParaRPr u="none" strike="noStrike" cap="none">
                        <a:latin typeface="Arial"/>
                        <a:ea typeface="Arial"/>
                        <a:cs typeface="Arial"/>
                        <a:sym typeface="Arial"/>
                      </a:endParaRPr>
                    </a:p>
                  </a:txBody>
                  <a:tcPr marL="45725" marR="45725" marT="18300" marB="18300">
                    <a:solidFill>
                      <a:srgbClr val="E6E0D2"/>
                    </a:solidFill>
                  </a:tcPr>
                </a:tc>
                <a:extLst>
                  <a:ext uri="{0D108BD9-81ED-4DB2-BD59-A6C34878D82A}">
                    <a16:rowId xmlns:a16="http://schemas.microsoft.com/office/drawing/2014/main" val="10000"/>
                  </a:ext>
                </a:extLst>
              </a:tr>
              <a:tr h="274325">
                <a:tc>
                  <a:txBody>
                    <a:bodyPr/>
                    <a:lstStyle/>
                    <a:p>
                      <a:pPr marL="0" marR="0" lvl="0" indent="0" algn="l" rtl="0">
                        <a:spcBef>
                          <a:spcPts val="0"/>
                        </a:spcBef>
                        <a:spcAft>
                          <a:spcPts val="0"/>
                        </a:spcAft>
                        <a:buNone/>
                      </a:pPr>
                      <a:r>
                        <a:rPr lang="en-US" b="1" u="none" strike="noStrike" cap="none">
                          <a:solidFill>
                            <a:srgbClr val="14213D"/>
                          </a:solidFill>
                          <a:latin typeface="Arial"/>
                          <a:ea typeface="Arial"/>
                          <a:cs typeface="Arial"/>
                          <a:sym typeface="Arial"/>
                        </a:rPr>
                        <a:t>row-shifted datasets</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0.19</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0.54</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0.65</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0.44</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0.38</a:t>
                      </a:r>
                      <a:endParaRPr u="none" strike="noStrike" cap="none">
                        <a:latin typeface="Arial"/>
                        <a:ea typeface="Arial"/>
                        <a:cs typeface="Arial"/>
                        <a:sym typeface="Arial"/>
                      </a:endParaRPr>
                    </a:p>
                  </a:txBody>
                  <a:tcPr marL="45725" marR="45725" marT="18300" marB="18300">
                    <a:solidFill>
                      <a:srgbClr val="FFFDF8"/>
                    </a:solidFill>
                  </a:tcPr>
                </a:tc>
                <a:extLst>
                  <a:ext uri="{0D108BD9-81ED-4DB2-BD59-A6C34878D82A}">
                    <a16:rowId xmlns:a16="http://schemas.microsoft.com/office/drawing/2014/main" val="10001"/>
                  </a:ext>
                </a:extLst>
              </a:tr>
              <a:tr h="274325">
                <a:tc>
                  <a:txBody>
                    <a:bodyPr/>
                    <a:lstStyle/>
                    <a:p>
                      <a:pPr marL="0" marR="0" lvl="0" indent="0" algn="l" rtl="0">
                        <a:spcBef>
                          <a:spcPts val="0"/>
                        </a:spcBef>
                        <a:spcAft>
                          <a:spcPts val="0"/>
                        </a:spcAft>
                        <a:buNone/>
                      </a:pPr>
                      <a:r>
                        <a:rPr lang="en-US" b="1" u="none" strike="noStrike" cap="none">
                          <a:solidFill>
                            <a:srgbClr val="14213D"/>
                          </a:solidFill>
                          <a:latin typeface="Arial"/>
                          <a:ea typeface="Arial"/>
                          <a:cs typeface="Arial"/>
                          <a:sym typeface="Arial"/>
                        </a:rPr>
                        <a:t>pulse-aligned datasets</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0.25</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0.41</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0.89</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0.38</a:t>
                      </a:r>
                      <a:endParaRPr u="none" strike="noStrike" cap="none">
                        <a:latin typeface="Arial"/>
                        <a:ea typeface="Arial"/>
                        <a:cs typeface="Arial"/>
                        <a:sym typeface="Arial"/>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u="none" strike="noStrike" cap="none">
                          <a:solidFill>
                            <a:srgbClr val="14213D"/>
                          </a:solidFill>
                          <a:latin typeface="Arial"/>
                          <a:ea typeface="Arial"/>
                          <a:cs typeface="Arial"/>
                          <a:sym typeface="Arial"/>
                        </a:rPr>
                        <a:t>0.76</a:t>
                      </a:r>
                      <a:endParaRPr u="none" strike="noStrike" cap="none">
                        <a:latin typeface="Arial"/>
                        <a:ea typeface="Arial"/>
                        <a:cs typeface="Arial"/>
                        <a:sym typeface="Arial"/>
                      </a:endParaRPr>
                    </a:p>
                  </a:txBody>
                  <a:tcPr marL="45725" marR="45725" marT="18300" marB="18300">
                    <a:solidFill>
                      <a:srgbClr val="FFFDF8"/>
                    </a:solidFill>
                  </a:tcPr>
                </a:tc>
                <a:extLst>
                  <a:ext uri="{0D108BD9-81ED-4DB2-BD59-A6C34878D82A}">
                    <a16:rowId xmlns:a16="http://schemas.microsoft.com/office/drawing/2014/main" val="10002"/>
                  </a:ext>
                </a:extLst>
              </a:tr>
            </a:tbl>
          </a:graphicData>
        </a:graphic>
      </p:graphicFrame>
      <p:sp>
        <p:nvSpPr>
          <p:cNvPr id="112" name="Google Shape;112;p5"/>
          <p:cNvSpPr/>
          <p:nvPr/>
        </p:nvSpPr>
        <p:spPr>
          <a:xfrm>
            <a:off x="337575" y="2317750"/>
            <a:ext cx="6330000" cy="2851800"/>
          </a:xfrm>
          <a:prstGeom prst="rect">
            <a:avLst/>
          </a:prstGeom>
          <a:noFill/>
          <a:ln>
            <a:noFill/>
          </a:ln>
        </p:spPr>
        <p:txBody>
          <a:bodyPr spcFirstLastPara="1" wrap="square" lIns="0" tIns="0" rIns="0" bIns="0" anchor="t" anchorCtr="0">
            <a:normAutofit lnSpcReduction="10000"/>
          </a:bodyPr>
          <a:lstStyle/>
          <a:p>
            <a:pPr marL="196342" marR="0" lvl="0" indent="-215392"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Lag scans: </a:t>
            </a:r>
            <a:r>
              <a:rPr lang="en-US" sz="1600" b="1" i="0" u="none" strike="noStrike" cap="none">
                <a:solidFill>
                  <a:srgbClr val="3B4660"/>
                </a:solidFill>
                <a:latin typeface="IBM Plex Mono"/>
                <a:ea typeface="IBM Plex Mono"/>
                <a:cs typeface="IBM Plex Mono"/>
                <a:sym typeface="IBM Plex Mono"/>
              </a:rPr>
              <a:t>lab laser vs charge</a:t>
            </a:r>
            <a:r>
              <a:rPr lang="en-US" sz="1600" i="0" u="none" strike="noStrike" cap="none">
                <a:solidFill>
                  <a:srgbClr val="3B4660"/>
                </a:solidFill>
                <a:latin typeface="IBM Plex Mono"/>
                <a:ea typeface="IBM Plex Mono"/>
                <a:cs typeface="IBM Plex Mono"/>
                <a:sym typeface="IBM Plex Mono"/>
              </a:rPr>
              <a:t>:</a:t>
            </a:r>
            <a:endParaRPr sz="1600"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at </a:t>
            </a:r>
            <a:r>
              <a:rPr lang="en-US" b="1">
                <a:solidFill>
                  <a:srgbClr val="3B4660"/>
                </a:solidFill>
                <a:latin typeface="IBM Plex Mono"/>
                <a:ea typeface="IBM Plex Mono"/>
                <a:cs typeface="IBM Plex Mono"/>
                <a:sym typeface="IBM Plex Mono"/>
              </a:rPr>
              <a:t>lag = 0: R</a:t>
            </a:r>
            <a:r>
              <a:rPr lang="en-US" b="1" i="0" u="none" strike="noStrike" cap="none">
                <a:solidFill>
                  <a:srgbClr val="3B4660"/>
                </a:solidFill>
                <a:latin typeface="IBM Plex Mono"/>
                <a:ea typeface="IBM Plex Mono"/>
                <a:cs typeface="IBM Plex Mono"/>
                <a:sym typeface="IBM Plex Mono"/>
              </a:rPr>
              <a:t> = 0.17</a:t>
            </a:r>
            <a:endParaRPr b="1">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at </a:t>
            </a:r>
            <a:r>
              <a:rPr lang="en-US" b="1">
                <a:solidFill>
                  <a:srgbClr val="3B4660"/>
                </a:solidFill>
                <a:latin typeface="IBM Plex Mono"/>
                <a:ea typeface="IBM Plex Mono"/>
                <a:cs typeface="IBM Plex Mono"/>
                <a:sym typeface="IBM Plex Mono"/>
              </a:rPr>
              <a:t>lag = +1: R =</a:t>
            </a:r>
            <a:r>
              <a:rPr lang="en-US" b="1" i="0" u="none" strike="noStrike" cap="none">
                <a:solidFill>
                  <a:srgbClr val="3B4660"/>
                </a:solidFill>
                <a:latin typeface="IBM Plex Mono"/>
                <a:ea typeface="IBM Plex Mono"/>
                <a:cs typeface="IBM Plex Mono"/>
                <a:sym typeface="IBM Plex Mono"/>
              </a:rPr>
              <a:t> 0.83</a:t>
            </a:r>
            <a:r>
              <a:rPr lang="en-US" i="0" u="none" strike="noStrike" cap="none">
                <a:solidFill>
                  <a:srgbClr val="3B4660"/>
                </a:solidFill>
                <a:latin typeface="IBM Plex Mono"/>
                <a:ea typeface="IBM Plex Mono"/>
                <a:cs typeface="IBM Plex Mono"/>
                <a:sym typeface="IBM Plex Mono"/>
              </a:rPr>
              <a:t> </a:t>
            </a:r>
            <a:endParaRPr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camera peaks at lag 0</a:t>
            </a:r>
            <a:endParaRPr i="0" u="none" strike="noStrike" cap="none">
              <a:solidFill>
                <a:schemeClr val="dk1"/>
              </a:solidFill>
              <a:latin typeface="IBM Plex Mono"/>
              <a:ea typeface="IBM Plex Mono"/>
              <a:cs typeface="IBM Plex Mono"/>
              <a:sym typeface="IBM Plex Mono"/>
            </a:endParaRPr>
          </a:p>
          <a:p>
            <a:pPr marL="196342" marR="0" lvl="0" indent="-215392" algn="l" rtl="0">
              <a:lnSpc>
                <a:spcPct val="140000"/>
              </a:lnSpc>
              <a:spcBef>
                <a:spcPts val="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Laser diode sensor repeat</a:t>
            </a:r>
            <a:r>
              <a:rPr lang="en-US" sz="1600" i="0" u="none" strike="noStrike" cap="none">
                <a:solidFill>
                  <a:srgbClr val="3B4660"/>
                </a:solidFill>
                <a:latin typeface="IBM Plex Mono"/>
                <a:ea typeface="IBM Plex Mono"/>
                <a:cs typeface="IBM Plex Mono"/>
                <a:sym typeface="IBM Plex Mono"/>
              </a:rPr>
              <a:t> the previous pulse when read </a:t>
            </a:r>
            <a:r>
              <a:rPr lang="en-US" sz="1600">
                <a:solidFill>
                  <a:srgbClr val="3B4660"/>
                </a:solidFill>
                <a:latin typeface="IBM Plex Mono"/>
                <a:ea typeface="IBM Plex Mono"/>
                <a:cs typeface="IBM Plex Mono"/>
                <a:sym typeface="IBM Plex Mono"/>
              </a:rPr>
              <a:t>before</a:t>
            </a:r>
            <a:r>
              <a:rPr lang="en-US" sz="1600" i="0" u="none" strike="noStrike" cap="none">
                <a:solidFill>
                  <a:srgbClr val="3B4660"/>
                </a:solidFill>
                <a:latin typeface="IBM Plex Mono"/>
                <a:ea typeface="IBM Plex Mono"/>
                <a:cs typeface="IBM Plex Mono"/>
                <a:sym typeface="IBM Plex Mono"/>
              </a:rPr>
              <a:t> 2.2 s after the trigger</a:t>
            </a:r>
            <a:endParaRPr sz="1600" i="0" u="none" strike="noStrike" cap="none">
              <a:solidFill>
                <a:schemeClr val="dk1"/>
              </a:solidFill>
              <a:latin typeface="IBM Plex Mono"/>
              <a:ea typeface="IBM Plex Mono"/>
              <a:cs typeface="IBM Plex Mono"/>
              <a:sym typeface="IBM Plex Mono"/>
            </a:endParaRPr>
          </a:p>
          <a:p>
            <a:pPr marL="196342" marR="0" lvl="0" indent="-215392"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RF traces</a:t>
            </a:r>
            <a:r>
              <a:rPr lang="en-US" sz="1600">
                <a:solidFill>
                  <a:srgbClr val="3B4660"/>
                </a:solidFill>
                <a:latin typeface="IBM Plex Mono"/>
                <a:ea typeface="IBM Plex Mono"/>
                <a:cs typeface="IBM Plex Mono"/>
                <a:sym typeface="IBM Plex Mono"/>
              </a:rPr>
              <a:t> displays a +1 lag compared to their respective stamp</a:t>
            </a:r>
            <a:r>
              <a:rPr lang="en-US" sz="1600" i="0" u="none" strike="noStrike" cap="none">
                <a:solidFill>
                  <a:srgbClr val="3B4660"/>
                </a:solidFill>
                <a:latin typeface="IBM Plex Mono"/>
                <a:ea typeface="IBM Plex Mono"/>
                <a:cs typeface="IBM Plex Mono"/>
                <a:sym typeface="IBM Plex Mono"/>
              </a:rPr>
              <a:t>; the camera stamp is one pulse late on 15 % of shots</a:t>
            </a:r>
            <a:endParaRPr sz="1300" i="0" u="none" strike="noStrike" cap="none">
              <a:solidFill>
                <a:schemeClr val="dk1"/>
              </a:solidFill>
              <a:latin typeface="IBM Plex Mono"/>
              <a:ea typeface="IBM Plex Mono"/>
              <a:cs typeface="IBM Plex Mono"/>
              <a:sym typeface="IBM Plex Mono"/>
            </a:endParaRPr>
          </a:p>
        </p:txBody>
      </p:sp>
      <p:sp>
        <p:nvSpPr>
          <p:cNvPr id="113" name="Google Shape;113;p5"/>
          <p:cNvSpPr txBox="1"/>
          <p:nvPr/>
        </p:nvSpPr>
        <p:spPr>
          <a:xfrm>
            <a:off x="138550" y="5481200"/>
            <a:ext cx="4941300" cy="1116900"/>
          </a:xfrm>
          <a:prstGeom prst="rect">
            <a:avLst/>
          </a:prstGeom>
          <a:noFill/>
          <a:ln>
            <a:noFill/>
          </a:ln>
        </p:spPr>
        <p:txBody>
          <a:bodyPr spcFirstLastPara="1" wrap="square" lIns="91425" tIns="91425" rIns="91425" bIns="91425" anchor="t" anchorCtr="0">
            <a:noAutofit/>
          </a:bodyPr>
          <a:lstStyle/>
          <a:p>
            <a:pPr marL="196342" lvl="0" indent="-215392" algn="l" rtl="0">
              <a:lnSpc>
                <a:spcPct val="140000"/>
              </a:lnSpc>
              <a:spcBef>
                <a:spcPts val="0"/>
              </a:spcBef>
              <a:spcAft>
                <a:spcPts val="0"/>
              </a:spcAft>
              <a:buClr>
                <a:srgbClr val="3B4660"/>
              </a:buClr>
              <a:buSzPts val="1600"/>
              <a:buFont typeface="Space Grotesk"/>
              <a:buChar char="➔"/>
            </a:pPr>
            <a:r>
              <a:rPr lang="en-US" sz="1600" b="1">
                <a:solidFill>
                  <a:srgbClr val="3B4660"/>
                </a:solidFill>
                <a:latin typeface="Space Grotesk"/>
                <a:ea typeface="Space Grotesk"/>
                <a:cs typeface="Space Grotesk"/>
                <a:sym typeface="Space Grotesk"/>
              </a:rPr>
              <a:t>Building of synchronized datasets : readings of unrecorded pulses become NaN instead of a neighbour's value</a:t>
            </a:r>
            <a:endParaRPr sz="1900" b="1">
              <a:solidFill>
                <a:srgbClr val="14213D"/>
              </a:solidFill>
              <a:latin typeface="Space Grotesk"/>
              <a:ea typeface="Space Grotesk"/>
              <a:cs typeface="Space Grotesk"/>
              <a:sym typeface="Space Grotesk"/>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3"/>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20" name="Google Shape;120;p3"/>
          <p:cNvSpPr/>
          <p:nvPr/>
        </p:nvSpPr>
        <p:spPr>
          <a:xfrm>
            <a:off x="813816" y="813816"/>
            <a:ext cx="2834700" cy="283500"/>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21" name="Google Shape;121;p3"/>
          <p:cNvSpPr/>
          <p:nvPr/>
        </p:nvSpPr>
        <p:spPr>
          <a:xfrm>
            <a:off x="914400" y="850392"/>
            <a:ext cx="2743200" cy="23760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122" name="Google Shape;122;p3"/>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The first step</a:t>
            </a:r>
            <a:endParaRPr sz="3600"/>
          </a:p>
        </p:txBody>
      </p:sp>
      <p:sp>
        <p:nvSpPr>
          <p:cNvPr id="123" name="Google Shape;123;p3"/>
          <p:cNvSpPr/>
          <p:nvPr/>
        </p:nvSpPr>
        <p:spPr>
          <a:xfrm>
            <a:off x="813825" y="2298550"/>
            <a:ext cx="5997600" cy="2272800"/>
          </a:xfrm>
          <a:prstGeom prst="rect">
            <a:avLst/>
          </a:prstGeom>
          <a:noFill/>
          <a:ln>
            <a:noFill/>
          </a:ln>
        </p:spPr>
        <p:txBody>
          <a:bodyPr spcFirstLastPara="1" wrap="square" lIns="0" tIns="0" rIns="0" bIns="0" anchor="t" anchorCtr="0">
            <a:normAutofit fontScale="70000" lnSpcReduction="20000"/>
          </a:bodyPr>
          <a:lstStyle/>
          <a:p>
            <a:pPr marL="457200" marR="0" lvl="0" indent="-342900" algn="l" rtl="0">
              <a:lnSpc>
                <a:spcPct val="150000"/>
              </a:lnSpc>
              <a:spcBef>
                <a:spcPts val="1000"/>
              </a:spcBef>
              <a:spcAft>
                <a:spcPts val="0"/>
              </a:spcAft>
              <a:buClr>
                <a:schemeClr val="dk1"/>
              </a:buClr>
              <a:buSzPts val="1800"/>
              <a:buFont typeface="IBM Plex Mono"/>
              <a:buChar char="➢"/>
            </a:pPr>
            <a:r>
              <a:rPr lang="en-US" sz="1800">
                <a:solidFill>
                  <a:schemeClr val="dk1"/>
                </a:solidFill>
                <a:latin typeface="IBM Plex Mono"/>
                <a:ea typeface="IBM Plex Mono"/>
                <a:cs typeface="IBM Plex Mono"/>
                <a:sym typeface="IBM Plex Mono"/>
              </a:rPr>
              <a:t>~120 k shots, stored in 100 shot chunks </a:t>
            </a:r>
            <a:endParaRPr sz="1800">
              <a:solidFill>
                <a:schemeClr val="dk1"/>
              </a:solidFill>
              <a:latin typeface="IBM Plex Mono"/>
              <a:ea typeface="IBM Plex Mono"/>
              <a:cs typeface="IBM Plex Mono"/>
              <a:sym typeface="IBM Plex Mono"/>
            </a:endParaRPr>
          </a:p>
          <a:p>
            <a:pPr marL="457200" marR="0" lvl="0" indent="-342900" algn="l" rtl="0">
              <a:lnSpc>
                <a:spcPct val="150000"/>
              </a:lnSpc>
              <a:spcBef>
                <a:spcPts val="1000"/>
              </a:spcBef>
              <a:spcAft>
                <a:spcPts val="0"/>
              </a:spcAft>
              <a:buClr>
                <a:schemeClr val="dk1"/>
              </a:buClr>
              <a:buSzPts val="1800"/>
              <a:buFont typeface="IBM Plex Mono"/>
              <a:buChar char="➢"/>
            </a:pPr>
            <a:r>
              <a:rPr lang="en-US" sz="1800">
                <a:solidFill>
                  <a:schemeClr val="dk1"/>
                </a:solidFill>
                <a:latin typeface="IBM Plex Mono"/>
                <a:ea typeface="IBM Plex Mono"/>
                <a:cs typeface="IBM Plex Mono"/>
                <a:sym typeface="IBM Plex Mono"/>
              </a:rPr>
              <a:t>Very heterogeneous datasets:</a:t>
            </a:r>
            <a:endParaRPr sz="1800">
              <a:solidFill>
                <a:schemeClr val="dk1"/>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chemeClr val="dk1"/>
              </a:buClr>
              <a:buSzPts val="1600"/>
              <a:buFont typeface="IBM Plex Mono"/>
              <a:buChar char="○"/>
            </a:pPr>
            <a:r>
              <a:rPr lang="en-US" sz="1600">
                <a:solidFill>
                  <a:schemeClr val="dk1"/>
                </a:solidFill>
                <a:latin typeface="IBM Plex Mono"/>
                <a:ea typeface="IBM Plex Mono"/>
                <a:cs typeface="IBM Plex Mono"/>
                <a:sym typeface="IBM Plex Mono"/>
              </a:rPr>
              <a:t>1 series of image (BTV)</a:t>
            </a:r>
            <a:endParaRPr sz="1600">
              <a:solidFill>
                <a:schemeClr val="dk1"/>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chemeClr val="dk1"/>
              </a:buClr>
              <a:buSzPts val="1600"/>
              <a:buFont typeface="IBM Plex Mono"/>
              <a:buChar char="○"/>
            </a:pPr>
            <a:r>
              <a:rPr lang="en-US" sz="1600">
                <a:solidFill>
                  <a:schemeClr val="dk1"/>
                </a:solidFill>
                <a:latin typeface="IBM Plex Mono"/>
                <a:ea typeface="IBM Plex Mono"/>
                <a:cs typeface="IBM Plex Mono"/>
                <a:sym typeface="IBM Plex Mono"/>
              </a:rPr>
              <a:t>72 series of scalars</a:t>
            </a:r>
            <a:endParaRPr sz="1600">
              <a:solidFill>
                <a:schemeClr val="dk1"/>
              </a:solidFill>
              <a:latin typeface="IBM Plex Mono"/>
              <a:ea typeface="IBM Plex Mono"/>
              <a:cs typeface="IBM Plex Mono"/>
              <a:sym typeface="IBM Plex Mono"/>
            </a:endParaRPr>
          </a:p>
          <a:p>
            <a:pPr marL="914400" marR="0" lvl="1" indent="-330200" algn="l" rtl="0">
              <a:lnSpc>
                <a:spcPct val="150000"/>
              </a:lnSpc>
              <a:spcBef>
                <a:spcPts val="1000"/>
              </a:spcBef>
              <a:spcAft>
                <a:spcPts val="0"/>
              </a:spcAft>
              <a:buClr>
                <a:schemeClr val="dk1"/>
              </a:buClr>
              <a:buSzPts val="1600"/>
              <a:buFont typeface="IBM Plex Mono"/>
              <a:buChar char="○"/>
            </a:pPr>
            <a:r>
              <a:rPr lang="en-US" sz="1600">
                <a:solidFill>
                  <a:schemeClr val="dk1"/>
                </a:solidFill>
                <a:latin typeface="IBM Plex Mono"/>
                <a:ea typeface="IBM Plex Mono"/>
                <a:cs typeface="IBM Plex Mono"/>
                <a:sym typeface="IBM Plex Mono"/>
              </a:rPr>
              <a:t>19 series of waveforms</a:t>
            </a:r>
            <a:endParaRPr sz="1600">
              <a:solidFill>
                <a:schemeClr val="dk1"/>
              </a:solidFill>
              <a:latin typeface="IBM Plex Mono"/>
              <a:ea typeface="IBM Plex Mono"/>
              <a:cs typeface="IBM Plex Mono"/>
              <a:sym typeface="IBM Plex Mono"/>
            </a:endParaRPr>
          </a:p>
          <a:p>
            <a:pPr marL="457200" marR="0" lvl="0" indent="-342900" algn="l" rtl="0">
              <a:lnSpc>
                <a:spcPct val="150000"/>
              </a:lnSpc>
              <a:spcBef>
                <a:spcPts val="1000"/>
              </a:spcBef>
              <a:spcAft>
                <a:spcPts val="0"/>
              </a:spcAft>
              <a:buClr>
                <a:schemeClr val="dk1"/>
              </a:buClr>
              <a:buSzPts val="1800"/>
              <a:buFont typeface="IBM Plex Mono"/>
              <a:buChar char="➢"/>
            </a:pPr>
            <a:r>
              <a:rPr lang="en-US" sz="1800">
                <a:solidFill>
                  <a:schemeClr val="dk1"/>
                </a:solidFill>
                <a:latin typeface="IBM Plex Mono"/>
                <a:ea typeface="IBM Plex Mono"/>
                <a:cs typeface="IBM Plex Mono"/>
                <a:sym typeface="IBM Plex Mono"/>
              </a:rPr>
              <a:t>Unequal quality of the measurements</a:t>
            </a:r>
            <a:endParaRPr sz="1800">
              <a:solidFill>
                <a:schemeClr val="dk1"/>
              </a:solidFill>
              <a:latin typeface="IBM Plex Mono"/>
              <a:ea typeface="IBM Plex Mono"/>
              <a:cs typeface="IBM Plex Mono"/>
              <a:sym typeface="IBM Plex Mono"/>
            </a:endParaRPr>
          </a:p>
        </p:txBody>
      </p:sp>
      <p:pic>
        <p:nvPicPr>
          <p:cNvPr id="124" name="Google Shape;124;p3" descr="04_btv0125_cell5.png"/>
          <p:cNvPicPr preferRelativeResize="0"/>
          <p:nvPr/>
        </p:nvPicPr>
        <p:blipFill rotWithShape="1">
          <a:blip r:embed="rId3">
            <a:alphaModFix/>
          </a:blip>
          <a:srcRect t="4680" r="49597"/>
          <a:stretch/>
        </p:blipFill>
        <p:spPr>
          <a:xfrm>
            <a:off x="6897525" y="278908"/>
            <a:ext cx="3703574" cy="3061500"/>
          </a:xfrm>
          <a:prstGeom prst="rect">
            <a:avLst/>
          </a:prstGeom>
          <a:noFill/>
          <a:ln>
            <a:noFill/>
          </a:ln>
        </p:spPr>
      </p:pic>
      <p:sp>
        <p:nvSpPr>
          <p:cNvPr id="125" name="Google Shape;125;p3"/>
          <p:cNvSpPr txBox="1"/>
          <p:nvPr/>
        </p:nvSpPr>
        <p:spPr>
          <a:xfrm>
            <a:off x="2142275" y="5744275"/>
            <a:ext cx="8154300" cy="416700"/>
          </a:xfrm>
          <a:prstGeom prst="rect">
            <a:avLst/>
          </a:prstGeom>
          <a:noFill/>
          <a:ln>
            <a:noFill/>
          </a:ln>
        </p:spPr>
        <p:txBody>
          <a:bodyPr spcFirstLastPara="1" wrap="square" lIns="91425" tIns="91425" rIns="91425" bIns="91425" anchor="t" anchorCtr="0">
            <a:noAutofit/>
          </a:bodyPr>
          <a:lstStyle/>
          <a:p>
            <a:pPr marL="457200" lvl="0" indent="-355600" algn="l" rtl="0">
              <a:spcBef>
                <a:spcPts val="0"/>
              </a:spcBef>
              <a:spcAft>
                <a:spcPts val="0"/>
              </a:spcAft>
              <a:buClr>
                <a:srgbClr val="14213D"/>
              </a:buClr>
              <a:buSzPts val="2000"/>
              <a:buFont typeface="Space Grotesk"/>
              <a:buChar char="➔"/>
            </a:pPr>
            <a:r>
              <a:rPr lang="en-US" sz="2000" b="1">
                <a:solidFill>
                  <a:srgbClr val="14213D"/>
                </a:solidFill>
                <a:latin typeface="Space Grotesk"/>
                <a:ea typeface="Space Grotesk"/>
                <a:cs typeface="Space Grotesk"/>
                <a:sym typeface="Space Grotesk"/>
              </a:rPr>
              <a:t>Need for a selection of representative situations to work on</a:t>
            </a:r>
            <a:endParaRPr sz="2000" b="1">
              <a:solidFill>
                <a:srgbClr val="14213D"/>
              </a:solidFill>
              <a:latin typeface="Space Grotesk"/>
              <a:ea typeface="Space Grotesk"/>
              <a:cs typeface="Space Grotesk"/>
              <a:sym typeface="Space Grotesk"/>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6"/>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32" name="Google Shape;132;p6"/>
          <p:cNvSpPr/>
          <p:nvPr/>
        </p:nvSpPr>
        <p:spPr>
          <a:xfrm>
            <a:off x="813816" y="813816"/>
            <a:ext cx="2834640" cy="283464"/>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33" name="Google Shape;133;p6"/>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134" name="Google Shape;134;p6"/>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Independent variables?</a:t>
            </a:r>
            <a:endParaRPr sz="3600"/>
          </a:p>
        </p:txBody>
      </p:sp>
      <p:sp>
        <p:nvSpPr>
          <p:cNvPr id="135" name="Google Shape;135;p6"/>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Space Grotesk"/>
                <a:ea typeface="Space Grotesk"/>
                <a:cs typeface="Space Grotesk"/>
                <a:sym typeface="Space Grotesk"/>
              </a:rPr>
              <a:t>Pearson</a:t>
            </a:r>
            <a:r>
              <a:rPr lang="en-US" sz="1600" b="1">
                <a:solidFill>
                  <a:srgbClr val="14213D"/>
                </a:solidFill>
                <a:latin typeface="Space Grotesk"/>
                <a:ea typeface="Space Grotesk"/>
                <a:cs typeface="Space Grotesk"/>
                <a:sym typeface="Space Grotesk"/>
              </a:rPr>
              <a:t> Cross Correlation (R) enters </a:t>
            </a:r>
            <a:endParaRPr sz="1600" b="1" i="0" u="none" strike="noStrike" cap="none">
              <a:solidFill>
                <a:schemeClr val="dk1"/>
              </a:solidFill>
              <a:latin typeface="Space Grotesk"/>
              <a:ea typeface="Space Grotesk"/>
              <a:cs typeface="Space Grotesk"/>
              <a:sym typeface="Space Grotesk"/>
            </a:endParaRPr>
          </a:p>
        </p:txBody>
      </p:sp>
      <p:sp>
        <p:nvSpPr>
          <p:cNvPr id="136" name="Google Shape;136;p6"/>
          <p:cNvSpPr/>
          <p:nvPr/>
        </p:nvSpPr>
        <p:spPr>
          <a:xfrm>
            <a:off x="710050" y="2159000"/>
            <a:ext cx="5810400" cy="2412900"/>
          </a:xfrm>
          <a:prstGeom prst="rect">
            <a:avLst/>
          </a:prstGeom>
          <a:noFill/>
          <a:ln>
            <a:noFill/>
          </a:ln>
        </p:spPr>
        <p:txBody>
          <a:bodyPr spcFirstLastPara="1" wrap="square" lIns="0" tIns="0" rIns="0" bIns="0" anchor="t" anchorCtr="0">
            <a:normAutofit fontScale="92500" lnSpcReduction="10000"/>
          </a:bodyPr>
          <a:lstStyle/>
          <a:p>
            <a:pPr marL="457200" marR="0" lvl="0" indent="-317500" algn="l" rtl="0">
              <a:lnSpc>
                <a:spcPct val="140000"/>
              </a:lnSpc>
              <a:spcBef>
                <a:spcPts val="0"/>
              </a:spcBef>
              <a:spcAft>
                <a:spcPts val="0"/>
              </a:spcAft>
              <a:buClr>
                <a:srgbClr val="3B4660"/>
              </a:buClr>
              <a:buSzPts val="1400"/>
              <a:buFont typeface="IBM Plex Mono"/>
              <a:buChar char="➢"/>
            </a:pPr>
            <a:r>
              <a:rPr lang="en-US" b="1" i="0" u="none" strike="noStrike" cap="none">
                <a:solidFill>
                  <a:srgbClr val="3B4660"/>
                </a:solidFill>
                <a:latin typeface="IBM Plex Mono"/>
                <a:ea typeface="IBM Plex Mono"/>
                <a:cs typeface="IBM Plex Mono"/>
                <a:sym typeface="IBM Plex Mono"/>
              </a:rPr>
              <a:t>Strongest</a:t>
            </a:r>
            <a:r>
              <a:rPr lang="en-US" i="0" u="none" strike="noStrike" cap="none">
                <a:solidFill>
                  <a:srgbClr val="3B4660"/>
                </a:solidFill>
                <a:latin typeface="IBM Plex Mono"/>
                <a:ea typeface="IBM Plex Mono"/>
                <a:cs typeface="IBM Plex Mono"/>
                <a:sym typeface="IBM Plex Mono"/>
              </a:rPr>
              <a:t>: lab </a:t>
            </a:r>
            <a:r>
              <a:rPr lang="en-US" b="1" i="0" u="none" strike="noStrike" cap="none">
                <a:solidFill>
                  <a:srgbClr val="3B4660"/>
                </a:solidFill>
                <a:latin typeface="IBM Plex Mono"/>
                <a:ea typeface="IBM Plex Mono"/>
                <a:cs typeface="IBM Plex Mono"/>
                <a:sym typeface="IBM Plex Mono"/>
              </a:rPr>
              <a:t>laser power, camera intensity (0.79), PCA PC3, laser scope amplitude</a:t>
            </a:r>
            <a:endParaRPr b="1" i="0" u="none" strike="noStrike" cap="none">
              <a:solidFill>
                <a:schemeClr val="dk1"/>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Klystron, magnets and climate: </a:t>
            </a:r>
            <a:r>
              <a:rPr lang="en-US" b="1" i="0" u="none" strike="noStrike" cap="none">
                <a:solidFill>
                  <a:srgbClr val="3B4660"/>
                </a:solidFill>
                <a:latin typeface="IBM Plex Mono"/>
                <a:ea typeface="IBM Plex Mono"/>
                <a:cs typeface="IBM Plex Mono"/>
                <a:sym typeface="IBM Plex Mono"/>
              </a:rPr>
              <a:t>|</a:t>
            </a:r>
            <a:r>
              <a:rPr lang="en-US" b="1">
                <a:solidFill>
                  <a:srgbClr val="3B4660"/>
                </a:solidFill>
                <a:latin typeface="IBM Plex Mono"/>
                <a:ea typeface="IBM Plex Mono"/>
                <a:cs typeface="IBM Plex Mono"/>
                <a:sym typeface="IBM Plex Mono"/>
              </a:rPr>
              <a:t>R</a:t>
            </a:r>
            <a:r>
              <a:rPr lang="en-US" b="1" i="0" u="none" strike="noStrike" cap="none">
                <a:solidFill>
                  <a:srgbClr val="3B4660"/>
                </a:solidFill>
                <a:latin typeface="IBM Plex Mono"/>
                <a:ea typeface="IBM Plex Mono"/>
                <a:cs typeface="IBM Plex Mono"/>
                <a:sym typeface="IBM Plex Mono"/>
              </a:rPr>
              <a:t>| &lt; 0.1</a:t>
            </a:r>
            <a:r>
              <a:rPr lang="en-US" i="0" u="none" strike="noStrike" cap="none">
                <a:solidFill>
                  <a:srgbClr val="3B4660"/>
                </a:solidFill>
                <a:latin typeface="IBM Plex Mono"/>
                <a:ea typeface="IBM Plex Mono"/>
                <a:cs typeface="IBM Plex Mono"/>
                <a:sym typeface="IBM Plex Mono"/>
              </a:rPr>
              <a:t>; </a:t>
            </a:r>
            <a:r>
              <a:rPr lang="en-US" b="1" i="0" u="none" strike="noStrike" cap="none">
                <a:solidFill>
                  <a:srgbClr val="3B4660"/>
                </a:solidFill>
                <a:latin typeface="IBM Plex Mono"/>
                <a:ea typeface="IBM Plex Mono"/>
                <a:cs typeface="IBM Plex Mono"/>
                <a:sym typeface="IBM Plex Mono"/>
              </a:rPr>
              <a:t>ridge</a:t>
            </a:r>
            <a:r>
              <a:rPr lang="en-US" i="0" u="none" strike="noStrike" cap="none">
                <a:solidFill>
                  <a:srgbClr val="3B4660"/>
                </a:solidFill>
                <a:latin typeface="IBM Plex Mono"/>
                <a:ea typeface="IBM Plex Mono"/>
                <a:cs typeface="IBM Plex Mono"/>
                <a:sym typeface="IBM Plex Mono"/>
              </a:rPr>
              <a:t> on all </a:t>
            </a:r>
            <a:r>
              <a:rPr lang="en-US" b="1" i="0" u="none" strike="noStrike" cap="none">
                <a:solidFill>
                  <a:srgbClr val="3B4660"/>
                </a:solidFill>
                <a:latin typeface="IBM Plex Mono"/>
                <a:ea typeface="IBM Plex Mono"/>
                <a:cs typeface="IBM Plex Mono"/>
                <a:sym typeface="IBM Plex Mono"/>
              </a:rPr>
              <a:t>klystron samples has CV R² ≈ 0</a:t>
            </a:r>
            <a:endParaRPr b="1" i="0" u="none" strike="noStrike" cap="none">
              <a:solidFill>
                <a:schemeClr val="dk1"/>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b="1">
                <a:solidFill>
                  <a:srgbClr val="3B4660"/>
                </a:solidFill>
                <a:latin typeface="IBM Plex Mono"/>
                <a:ea typeface="IBM Plex Mono"/>
                <a:cs typeface="IBM Plex Mono"/>
                <a:sym typeface="IBM Plex Mono"/>
              </a:rPr>
              <a:t>RF</a:t>
            </a:r>
            <a:r>
              <a:rPr lang="en-US" b="1" i="0" u="none" strike="noStrike" cap="none">
                <a:solidFill>
                  <a:srgbClr val="3B4660"/>
                </a:solidFill>
                <a:latin typeface="IBM Plex Mono"/>
                <a:ea typeface="IBM Plex Mono"/>
                <a:cs typeface="IBM Plex Mono"/>
                <a:sym typeface="IBM Plex Mono"/>
              </a:rPr>
              <a:t> beam-loading dip</a:t>
            </a:r>
            <a:r>
              <a:rPr lang="en-US" i="0" u="none" strike="noStrike" cap="none">
                <a:solidFill>
                  <a:srgbClr val="3B4660"/>
                </a:solidFill>
                <a:latin typeface="IBM Plex Mono"/>
                <a:ea typeface="IBM Plex Mono"/>
                <a:cs typeface="IBM Plex Mono"/>
                <a:sym typeface="IBM Plex Mono"/>
              </a:rPr>
              <a:t> (~7 mV, samples 631→636) is </a:t>
            </a:r>
            <a:r>
              <a:rPr lang="en-US" b="1" i="0" u="none" strike="noStrike" cap="none">
                <a:solidFill>
                  <a:srgbClr val="3B4660"/>
                </a:solidFill>
                <a:latin typeface="IBM Plex Mono"/>
                <a:ea typeface="IBM Plex Mono"/>
                <a:cs typeface="IBM Plex Mono"/>
                <a:sym typeface="IBM Plex Mono"/>
              </a:rPr>
              <a:t>linear in charge 0.3–10.4 nC</a:t>
            </a:r>
            <a:r>
              <a:rPr lang="en-US" i="0" u="none" strike="noStrike" cap="none">
                <a:solidFill>
                  <a:srgbClr val="3B4660"/>
                </a:solidFill>
                <a:latin typeface="IBM Plex Mono"/>
                <a:ea typeface="IBM Plex Mono"/>
                <a:cs typeface="IBM Plex Mono"/>
                <a:sym typeface="IBM Plex Mono"/>
              </a:rPr>
              <a:t>: a second charge monitor</a:t>
            </a:r>
            <a:endParaRPr i="0" u="none" strike="noStrike" cap="none">
              <a:solidFill>
                <a:schemeClr val="dk1"/>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b="1" i="0" u="none" strike="noStrike" cap="none">
                <a:solidFill>
                  <a:srgbClr val="3B4660"/>
                </a:solidFill>
                <a:latin typeface="IBM Plex Mono"/>
                <a:ea typeface="IBM Plex Mono"/>
                <a:cs typeface="IBM Plex Mono"/>
                <a:sym typeface="IBM Plex Mono"/>
              </a:rPr>
              <a:t>Charge is very persistent</a:t>
            </a:r>
            <a:r>
              <a:rPr lang="en-US" i="0" u="none" strike="noStrike" cap="none">
                <a:solidFill>
                  <a:srgbClr val="3B4660"/>
                </a:solidFill>
                <a:latin typeface="IBM Plex Mono"/>
                <a:ea typeface="IBM Plex Mono"/>
                <a:cs typeface="IBM Plex Mono"/>
                <a:sym typeface="IBM Plex Mono"/>
              </a:rPr>
              <a:t>: "same as previous shot" R² = 0.96; shot-to-shot autocorrelation</a:t>
            </a:r>
            <a:r>
              <a:rPr lang="en-US" b="1" i="0" u="none" strike="noStrike" cap="none">
                <a:solidFill>
                  <a:srgbClr val="3B4660"/>
                </a:solidFill>
                <a:latin typeface="IBM Plex Mono"/>
                <a:ea typeface="IBM Plex Mono"/>
                <a:cs typeface="IBM Plex Mono"/>
                <a:sym typeface="IBM Plex Mono"/>
              </a:rPr>
              <a:t> 0.67 </a:t>
            </a:r>
            <a:r>
              <a:rPr lang="en-US" i="0" u="none" strike="noStrike" cap="none">
                <a:solidFill>
                  <a:srgbClr val="3B4660"/>
                </a:solidFill>
                <a:latin typeface="IBM Plex Mono"/>
                <a:ea typeface="IBM Plex Mono"/>
                <a:cs typeface="IBM Plex Mono"/>
                <a:sym typeface="IBM Plex Mono"/>
              </a:rPr>
              <a:t>at lag 1</a:t>
            </a:r>
            <a:r>
              <a:rPr lang="en-US" b="1" i="0" u="none" strike="noStrike" cap="none">
                <a:solidFill>
                  <a:srgbClr val="3B4660"/>
                </a:solidFill>
                <a:latin typeface="IBM Plex Mono"/>
                <a:ea typeface="IBM Plex Mono"/>
                <a:cs typeface="IBM Plex Mono"/>
                <a:sym typeface="IBM Plex Mono"/>
              </a:rPr>
              <a:t>, 0 </a:t>
            </a:r>
            <a:r>
              <a:rPr lang="en-US" i="0" u="none" strike="noStrike" cap="none">
                <a:solidFill>
                  <a:srgbClr val="3B4660"/>
                </a:solidFill>
                <a:latin typeface="IBM Plex Mono"/>
                <a:ea typeface="IBM Plex Mono"/>
                <a:cs typeface="IBM Plex Mono"/>
                <a:sym typeface="IBM Plex Mono"/>
              </a:rPr>
              <a:t>by lag 10</a:t>
            </a:r>
            <a:endParaRPr i="0" u="none" strike="noStrike" cap="none">
              <a:solidFill>
                <a:schemeClr val="dk1"/>
              </a:solidFill>
              <a:latin typeface="IBM Plex Mono"/>
              <a:ea typeface="IBM Plex Mono"/>
              <a:cs typeface="IBM Plex Mono"/>
              <a:sym typeface="IBM Plex Mono"/>
            </a:endParaRPr>
          </a:p>
        </p:txBody>
      </p:sp>
      <p:pic>
        <p:nvPicPr>
          <p:cNvPr id="137" name="Google Shape;137;p6" descr="02_extract_waveforms_cell5.png"/>
          <p:cNvPicPr preferRelativeResize="0"/>
          <p:nvPr/>
        </p:nvPicPr>
        <p:blipFill rotWithShape="1">
          <a:blip r:embed="rId3">
            <a:alphaModFix/>
          </a:blip>
          <a:srcRect/>
          <a:stretch/>
        </p:blipFill>
        <p:spPr>
          <a:xfrm>
            <a:off x="336150" y="5284698"/>
            <a:ext cx="4705591" cy="1489525"/>
          </a:xfrm>
          <a:prstGeom prst="rect">
            <a:avLst/>
          </a:prstGeom>
          <a:noFill/>
          <a:ln>
            <a:noFill/>
          </a:ln>
        </p:spPr>
      </p:pic>
      <p:pic>
        <p:nvPicPr>
          <p:cNvPr id="138" name="Google Shape;138;p6"/>
          <p:cNvPicPr preferRelativeResize="0"/>
          <p:nvPr/>
        </p:nvPicPr>
        <p:blipFill rotWithShape="1">
          <a:blip r:embed="rId4">
            <a:alphaModFix/>
          </a:blip>
          <a:srcRect/>
          <a:stretch/>
        </p:blipFill>
        <p:spPr>
          <a:xfrm>
            <a:off x="6730451" y="813826"/>
            <a:ext cx="5303525" cy="4470869"/>
          </a:xfrm>
          <a:prstGeom prst="rect">
            <a:avLst/>
          </a:prstGeom>
          <a:noFill/>
          <a:ln>
            <a:noFill/>
          </a:ln>
        </p:spPr>
      </p:pic>
      <p:sp>
        <p:nvSpPr>
          <p:cNvPr id="139" name="Google Shape;139;p6"/>
          <p:cNvSpPr/>
          <p:nvPr/>
        </p:nvSpPr>
        <p:spPr>
          <a:xfrm>
            <a:off x="5169475" y="5512113"/>
            <a:ext cx="1653900" cy="1034700"/>
          </a:xfrm>
          <a:prstGeom prst="rect">
            <a:avLst/>
          </a:prstGeom>
          <a:noFill/>
          <a:ln>
            <a:noFill/>
          </a:ln>
        </p:spPr>
        <p:txBody>
          <a:bodyPr spcFirstLastPara="1" wrap="square" lIns="0" tIns="0" rIns="0" bIns="0" anchor="t" anchorCtr="0">
            <a:normAutofit lnSpcReduction="10000"/>
          </a:bodyPr>
          <a:lstStyle/>
          <a:p>
            <a:pPr marL="0" marR="0" lvl="0" indent="0" algn="l" rtl="0">
              <a:lnSpc>
                <a:spcPct val="139900"/>
              </a:lnSpc>
              <a:spcBef>
                <a:spcPts val="0"/>
              </a:spcBef>
              <a:spcAft>
                <a:spcPts val="0"/>
              </a:spcAft>
              <a:buClr>
                <a:srgbClr val="14213D"/>
              </a:buClr>
              <a:buSzPts val="1000"/>
              <a:buFont typeface="IBM Plex Sans"/>
              <a:buNone/>
            </a:pPr>
            <a:r>
              <a:rPr lang="en-US" sz="1000" b="1" i="0" u="none" strike="noStrike" cap="none">
                <a:solidFill>
                  <a:srgbClr val="14213D"/>
                </a:solidFill>
                <a:latin typeface="IBM Plex Sans"/>
                <a:ea typeface="IBM Plex Sans"/>
                <a:cs typeface="IBM Plex Sans"/>
                <a:sym typeface="IBM Plex Sans"/>
              </a:rPr>
              <a:t>RF forward power. Left: full trace; Right: beam loading (peak-to-peak) could be used as proxy for bunch charge.</a:t>
            </a:r>
            <a:endParaRPr sz="1000" b="1" i="0" u="none" strike="noStrike" cap="none">
              <a:solidFill>
                <a:schemeClr val="dk1"/>
              </a:solidFill>
              <a:latin typeface="IBM Plex Mono"/>
              <a:ea typeface="IBM Plex Mono"/>
              <a:cs typeface="IBM Plex Mono"/>
              <a:sym typeface="IBM Plex Mono"/>
            </a:endParaRPr>
          </a:p>
        </p:txBody>
      </p:sp>
      <p:sp>
        <p:nvSpPr>
          <p:cNvPr id="140" name="Google Shape;140;p6"/>
          <p:cNvSpPr/>
          <p:nvPr/>
        </p:nvSpPr>
        <p:spPr>
          <a:xfrm>
            <a:off x="7563976" y="5412213"/>
            <a:ext cx="4374600" cy="702300"/>
          </a:xfrm>
          <a:prstGeom prst="rect">
            <a:avLst/>
          </a:prstGeom>
          <a:noFill/>
          <a:ln>
            <a:noFill/>
          </a:ln>
        </p:spPr>
        <p:txBody>
          <a:bodyPr spcFirstLastPara="1" wrap="square" lIns="0" tIns="0" rIns="0" bIns="0" anchor="t" anchorCtr="0">
            <a:normAutofit/>
          </a:bodyPr>
          <a:lstStyle/>
          <a:p>
            <a:pPr marL="0" marR="0" lvl="0" indent="0" algn="l" rtl="0">
              <a:lnSpc>
                <a:spcPct val="139900"/>
              </a:lnSpc>
              <a:spcBef>
                <a:spcPts val="0"/>
              </a:spcBef>
              <a:spcAft>
                <a:spcPts val="0"/>
              </a:spcAft>
              <a:buClr>
                <a:srgbClr val="14213D"/>
              </a:buClr>
              <a:buSzPts val="1000"/>
              <a:buFont typeface="IBM Plex Sans"/>
              <a:buNone/>
            </a:pPr>
            <a:r>
              <a:rPr lang="en-US" sz="1000" b="1" i="0" u="none" strike="noStrike" cap="none">
                <a:solidFill>
                  <a:srgbClr val="14213D"/>
                </a:solidFill>
                <a:latin typeface="IBM Plex Sans"/>
                <a:ea typeface="IBM Plex Sans"/>
                <a:cs typeface="IBM Plex Sans"/>
                <a:sym typeface="IBM Plex Sans"/>
              </a:rPr>
              <a:t>Pearson R between all variables in the dataset: BCM_GUN (leftmost column) is the target</a:t>
            </a:r>
            <a:endParaRPr sz="1000" b="1"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7"/>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47" name="Google Shape;147;p7"/>
          <p:cNvSpPr/>
          <p:nvPr/>
        </p:nvSpPr>
        <p:spPr>
          <a:xfrm>
            <a:off x="813816" y="813816"/>
            <a:ext cx="2834640" cy="283464"/>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48" name="Google Shape;148;p7"/>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149" name="Google Shape;149;p7"/>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Camera input: PCA, SVD, AE?</a:t>
            </a:r>
            <a:endParaRPr b="1"/>
          </a:p>
        </p:txBody>
      </p:sp>
      <p:sp>
        <p:nvSpPr>
          <p:cNvPr id="150" name="Google Shape;150;p7"/>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Beyond peak and integral: what i</a:t>
            </a:r>
            <a:r>
              <a:rPr lang="en-US" sz="1600" b="1">
                <a:solidFill>
                  <a:srgbClr val="14213D"/>
                </a:solidFill>
                <a:latin typeface="IBM Plex Sans"/>
                <a:ea typeface="IBM Plex Sans"/>
                <a:cs typeface="IBM Plex Sans"/>
                <a:sym typeface="IBM Plex Sans"/>
              </a:rPr>
              <a:t>nformation drive the output charge?</a:t>
            </a:r>
            <a:endParaRPr sz="1600" b="1" i="0" u="none" strike="noStrike" cap="none">
              <a:solidFill>
                <a:schemeClr val="dk1"/>
              </a:solidFill>
              <a:latin typeface="IBM Plex Mono"/>
              <a:ea typeface="IBM Plex Mono"/>
              <a:cs typeface="IBM Plex Mono"/>
              <a:sym typeface="IBM Plex Mono"/>
            </a:endParaRPr>
          </a:p>
        </p:txBody>
      </p:sp>
      <p:sp>
        <p:nvSpPr>
          <p:cNvPr id="151" name="Google Shape;151;p7"/>
          <p:cNvSpPr/>
          <p:nvPr/>
        </p:nvSpPr>
        <p:spPr>
          <a:xfrm>
            <a:off x="493575" y="3183051"/>
            <a:ext cx="6961800" cy="3424200"/>
          </a:xfrm>
          <a:prstGeom prst="rect">
            <a:avLst/>
          </a:prstGeom>
          <a:noFill/>
          <a:ln>
            <a:noFill/>
          </a:ln>
        </p:spPr>
        <p:txBody>
          <a:bodyPr spcFirstLastPara="1" wrap="square" lIns="0" tIns="0" rIns="0" bIns="0" anchor="t" anchorCtr="0">
            <a:normAutofit lnSpcReduction="10000"/>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Classic moments after ROI, background and median filter: intensity, centroid, sizes, tilt</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PCA over all shots: PC1 81.5 %, 6 PCs 97.5 % of variance </a:t>
            </a:r>
            <a:r>
              <a:rPr lang="en-US" sz="1600">
                <a:solidFill>
                  <a:srgbClr val="3B4660"/>
                </a:solidFill>
                <a:latin typeface="IBM Plex Mono"/>
                <a:ea typeface="IBM Plex Mono"/>
                <a:cs typeface="IBM Plex Mono"/>
                <a:sym typeface="IBM Plex Mono"/>
              </a:rPr>
              <a:t>explainability:</a:t>
            </a:r>
            <a:endParaRPr sz="16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PC1–2 = centroid motion,</a:t>
            </a:r>
            <a:endParaRPr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PC3–4 = brightness and size</a:t>
            </a:r>
            <a:endParaRPr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Per-image SVD: </a:t>
            </a:r>
            <a:endParaRPr sz="1600"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s1 ≈ brightness (r = 0.98 with intensity)</a:t>
            </a:r>
            <a:endParaRPr>
              <a:solidFill>
                <a:srgbClr val="3B4660"/>
              </a:solidFill>
              <a:latin typeface="IBM Plex Mono"/>
              <a:ea typeface="IBM Plex Mono"/>
              <a:cs typeface="IBM Plex Mono"/>
              <a:sym typeface="IBM Plex Mono"/>
            </a:endParaRPr>
          </a:p>
          <a:p>
            <a:pPr marL="1371600" marR="0" lvl="2" indent="-304800" algn="l" rtl="0">
              <a:lnSpc>
                <a:spcPct val="140000"/>
              </a:lnSpc>
              <a:spcBef>
                <a:spcPts val="0"/>
              </a:spcBef>
              <a:spcAft>
                <a:spcPts val="0"/>
              </a:spcAft>
              <a:buClr>
                <a:srgbClr val="3B4660"/>
              </a:buClr>
              <a:buSzPts val="1200"/>
              <a:buFont typeface="IBM Plex Mono"/>
              <a:buChar char="■"/>
            </a:pPr>
            <a:r>
              <a:rPr lang="en-US" sz="1200" i="0" u="none" strike="noStrike" cap="none">
                <a:solidFill>
                  <a:srgbClr val="3B4660"/>
                </a:solidFill>
                <a:latin typeface="IBM Plex Mono"/>
                <a:ea typeface="IBM Plex Mono"/>
                <a:cs typeface="IBM Plex Mono"/>
                <a:sym typeface="IBM Plex Mono"/>
              </a:rPr>
              <a:t>no basis fitted across shots, so no leakage</a:t>
            </a:r>
            <a:endParaRPr sz="1200" i="0" u="none" strike="noStrike" cap="none">
              <a:solidFill>
                <a:schemeClr val="dk1"/>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Greedy selection keeps 10 features: </a:t>
            </a:r>
            <a:endParaRPr i="0" u="none" strike="noStrike" cap="none">
              <a:solidFill>
                <a:srgbClr val="3B4660"/>
              </a:solidFill>
              <a:latin typeface="IBM Plex Mono"/>
              <a:ea typeface="IBM Plex Mono"/>
              <a:cs typeface="IBM Plex Mono"/>
              <a:sym typeface="IBM Plex Mono"/>
            </a:endParaRPr>
          </a:p>
          <a:p>
            <a:pPr marL="1371600" marR="0" lvl="2" indent="-304800" algn="l" rtl="0">
              <a:lnSpc>
                <a:spcPct val="140000"/>
              </a:lnSpc>
              <a:spcBef>
                <a:spcPts val="0"/>
              </a:spcBef>
              <a:spcAft>
                <a:spcPts val="0"/>
              </a:spcAft>
              <a:buClr>
                <a:srgbClr val="3B4660"/>
              </a:buClr>
              <a:buSzPts val="1200"/>
              <a:buFont typeface="IBM Plex Mono"/>
              <a:buChar char="■"/>
            </a:pPr>
            <a:r>
              <a:rPr lang="en-US" sz="1200" i="0" u="none" strike="noStrike" cap="none">
                <a:solidFill>
                  <a:srgbClr val="3B4660"/>
                </a:solidFill>
                <a:latin typeface="IBM Plex Mono"/>
                <a:ea typeface="IBM Plex Mono"/>
                <a:cs typeface="IBM Plex Mono"/>
                <a:sym typeface="IBM Plex Mono"/>
              </a:rPr>
              <a:t>lab laser, </a:t>
            </a:r>
            <a:r>
              <a:rPr lang="en-US" sz="1200">
                <a:solidFill>
                  <a:srgbClr val="3B4660"/>
                </a:solidFill>
                <a:latin typeface="IBM Plex Mono"/>
                <a:ea typeface="IBM Plex Mono"/>
                <a:cs typeface="IBM Plex Mono"/>
                <a:sym typeface="IBM Plex Mono"/>
              </a:rPr>
              <a:t>RF beam loading</a:t>
            </a:r>
            <a:r>
              <a:rPr lang="en-US" sz="1200" i="0" u="none" strike="noStrike" cap="none">
                <a:solidFill>
                  <a:srgbClr val="3B4660"/>
                </a:solidFill>
                <a:latin typeface="IBM Plex Mono"/>
                <a:ea typeface="IBM Plex Mono"/>
                <a:cs typeface="IBM Plex Mono"/>
                <a:sym typeface="IBM Plex Mono"/>
              </a:rPr>
              <a:t>, SVD s1/s4–s6, camera intensity, </a:t>
            </a:r>
            <a:r>
              <a:rPr lang="en-US" sz="1200">
                <a:solidFill>
                  <a:srgbClr val="3B4660"/>
                </a:solidFill>
                <a:latin typeface="IBM Plex Mono"/>
                <a:ea typeface="IBM Plex Mono"/>
                <a:cs typeface="IBM Plex Mono"/>
                <a:sym typeface="IBM Plex Mono"/>
              </a:rPr>
              <a:t>Klystron power delivery</a:t>
            </a:r>
            <a:r>
              <a:rPr lang="en-US" sz="1200" i="0" u="none" strike="noStrike" cap="none">
                <a:solidFill>
                  <a:srgbClr val="3B4660"/>
                </a:solidFill>
                <a:latin typeface="IBM Plex Mono"/>
                <a:ea typeface="IBM Plex Mono"/>
                <a:cs typeface="IBM Plex Mono"/>
                <a:sym typeface="IBM Plex Mono"/>
              </a:rPr>
              <a:t>, tilt, x</a:t>
            </a:r>
            <a:endParaRPr sz="1200" i="0" u="none" strike="noStrike" cap="none">
              <a:solidFill>
                <a:schemeClr val="dk1"/>
              </a:solidFill>
              <a:latin typeface="IBM Plex Mono"/>
              <a:ea typeface="IBM Plex Mono"/>
              <a:cs typeface="IBM Plex Mono"/>
              <a:sym typeface="IBM Plex Mono"/>
            </a:endParaRPr>
          </a:p>
        </p:txBody>
      </p:sp>
      <p:pic>
        <p:nvPicPr>
          <p:cNvPr id="152" name="Google Shape;152;p7" descr="04_1_btv0125_pca_cell7.png"/>
          <p:cNvPicPr preferRelativeResize="0"/>
          <p:nvPr/>
        </p:nvPicPr>
        <p:blipFill rotWithShape="1">
          <a:blip r:embed="rId3">
            <a:alphaModFix/>
          </a:blip>
          <a:srcRect/>
          <a:stretch/>
        </p:blipFill>
        <p:spPr>
          <a:xfrm>
            <a:off x="822960" y="2048907"/>
            <a:ext cx="10698482" cy="1100117"/>
          </a:xfrm>
          <a:prstGeom prst="rect">
            <a:avLst/>
          </a:prstGeom>
          <a:noFill/>
          <a:ln>
            <a:noFill/>
          </a:ln>
        </p:spPr>
      </p:pic>
      <p:pic>
        <p:nvPicPr>
          <p:cNvPr id="153" name="Google Shape;153;p7" descr="shape_svd_vs_classic.png"/>
          <p:cNvPicPr preferRelativeResize="0"/>
          <p:nvPr/>
        </p:nvPicPr>
        <p:blipFill rotWithShape="1">
          <a:blip r:embed="rId4">
            <a:alphaModFix/>
          </a:blip>
          <a:srcRect/>
          <a:stretch/>
        </p:blipFill>
        <p:spPr>
          <a:xfrm>
            <a:off x="6970575" y="3429000"/>
            <a:ext cx="5162251" cy="1900438"/>
          </a:xfrm>
          <a:prstGeom prst="rect">
            <a:avLst/>
          </a:prstGeom>
          <a:noFill/>
          <a:ln>
            <a:noFill/>
          </a:ln>
        </p:spPr>
      </p:pic>
      <p:sp>
        <p:nvSpPr>
          <p:cNvPr id="154" name="Google Shape;154;p7"/>
          <p:cNvSpPr txBox="1"/>
          <p:nvPr/>
        </p:nvSpPr>
        <p:spPr>
          <a:xfrm>
            <a:off x="6892643" y="5455236"/>
            <a:ext cx="4675800" cy="630900"/>
          </a:xfrm>
          <a:prstGeom prst="rect">
            <a:avLst/>
          </a:prstGeom>
          <a:noFill/>
          <a:ln>
            <a:noFill/>
          </a:ln>
        </p:spPr>
        <p:txBody>
          <a:bodyPr spcFirstLastPara="1" wrap="square" lIns="91425" tIns="91425" rIns="91425" bIns="91425" anchor="t" anchorCtr="0">
            <a:noAutofit/>
          </a:bodyPr>
          <a:lstStyle/>
          <a:p>
            <a:pPr marL="457200" lvl="0" indent="-330200" algn="l" rtl="0">
              <a:lnSpc>
                <a:spcPct val="140000"/>
              </a:lnSpc>
              <a:spcBef>
                <a:spcPts val="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CNN autoencoder (16-d latent) + LSTM on the latent sequence: prototype, no charge result yet</a:t>
            </a:r>
            <a:endParaRPr sz="1800">
              <a:solidFill>
                <a:srgbClr val="14213D"/>
              </a:solidFill>
              <a:latin typeface="IBM Plex Mono"/>
              <a:ea typeface="IBM Plex Mono"/>
              <a:cs typeface="IBM Plex Mono"/>
              <a:sym typeface="IBM Plex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8"/>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61" name="Google Shape;161;p8"/>
          <p:cNvSpPr/>
          <p:nvPr/>
        </p:nvSpPr>
        <p:spPr>
          <a:xfrm>
            <a:off x="813816" y="813816"/>
            <a:ext cx="2834640" cy="283464"/>
          </a:xfrm>
          <a:prstGeom prst="roundRect">
            <a:avLst>
              <a:gd name="adj" fmla="val 17778"/>
            </a:avLst>
          </a:prstGeom>
          <a:solidFill>
            <a:srgbClr val="0F766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62" name="Google Shape;162;p8"/>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1 · EASY · RESULTS</a:t>
            </a:r>
            <a:endParaRPr sz="1200" b="0" i="0" u="none" strike="noStrike" cap="none">
              <a:solidFill>
                <a:schemeClr val="dk1"/>
              </a:solidFill>
              <a:latin typeface="IBM Plex Mono"/>
              <a:ea typeface="IBM Plex Mono"/>
              <a:cs typeface="IBM Plex Mono"/>
              <a:sym typeface="IBM Plex Mono"/>
            </a:endParaRPr>
          </a:p>
        </p:txBody>
      </p:sp>
      <p:sp>
        <p:nvSpPr>
          <p:cNvPr id="163" name="Google Shape;163;p8"/>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Structure across runs: t-SNE of the 16 features</a:t>
            </a:r>
            <a:endParaRPr sz="3600"/>
          </a:p>
        </p:txBody>
      </p:sp>
      <p:sp>
        <p:nvSpPr>
          <p:cNvPr id="164" name="Google Shape;164;p8"/>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Space Grotesk"/>
                <a:ea typeface="Space Grotesk"/>
                <a:cs typeface="Space Grotesk"/>
                <a:sym typeface="Space Grotesk"/>
              </a:rPr>
              <a:t>Shots cluster by run and charge level; the features themselves carry little memory.</a:t>
            </a:r>
            <a:endParaRPr sz="1600" b="1" i="0" u="none" strike="noStrike" cap="none">
              <a:solidFill>
                <a:schemeClr val="dk1"/>
              </a:solidFill>
              <a:latin typeface="Space Grotesk"/>
              <a:ea typeface="Space Grotesk"/>
              <a:cs typeface="Space Grotesk"/>
              <a:sym typeface="Space Grotesk"/>
            </a:endParaRPr>
          </a:p>
        </p:txBody>
      </p:sp>
      <p:sp>
        <p:nvSpPr>
          <p:cNvPr id="165" name="Google Shape;165;p8"/>
          <p:cNvSpPr/>
          <p:nvPr/>
        </p:nvSpPr>
        <p:spPr>
          <a:xfrm>
            <a:off x="868675" y="5224152"/>
            <a:ext cx="10607100" cy="1017900"/>
          </a:xfrm>
          <a:prstGeom prst="rect">
            <a:avLst/>
          </a:prstGeom>
          <a:noFill/>
          <a:ln>
            <a:noFill/>
          </a:ln>
        </p:spPr>
        <p:txBody>
          <a:bodyPr spcFirstLastPara="1" wrap="square" lIns="0" tIns="0" rIns="0" bIns="0" anchor="t" anchorCtr="0">
            <a:normAutofit lnSpcReduction="10000"/>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Segments 5 and 6 (both ~5.5 nC) overlap, segment 7 (10 nC) sits apart, the low-charge segments merge</a:t>
            </a:r>
            <a:endParaRPr sz="1600" b="1"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Predicting a feature from its previous shot: </a:t>
            </a:r>
            <a:r>
              <a:rPr lang="en-US" sz="1600" b="1" i="0" u="none" strike="noStrike" cap="none">
                <a:solidFill>
                  <a:srgbClr val="3B4660"/>
                </a:solidFill>
                <a:latin typeface="IBM Plex Mono"/>
                <a:ea typeface="IBM Plex Mono"/>
                <a:cs typeface="IBM Plex Mono"/>
                <a:sym typeface="IBM Plex Mono"/>
              </a:rPr>
              <a:t>R² between −0.15 and 0.18</a:t>
            </a:r>
            <a:r>
              <a:rPr lang="en-US" sz="1600" i="0" u="none" strike="noStrike" cap="none">
                <a:solidFill>
                  <a:srgbClr val="3B4660"/>
                </a:solidFill>
                <a:latin typeface="IBM Plex Mono"/>
                <a:ea typeface="IBM Plex Mono"/>
                <a:cs typeface="IBM Plex Mono"/>
                <a:sym typeface="IBM Plex Mono"/>
              </a:rPr>
              <a:t>, </a:t>
            </a:r>
            <a:endParaRPr sz="1600">
              <a:solidFill>
                <a:srgbClr val="3B4660"/>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endParaRPr sz="1600" i="0" u="none" strike="noStrike" cap="none">
              <a:solidFill>
                <a:schemeClr val="dk1"/>
              </a:solidFill>
              <a:latin typeface="IBM Plex Mono"/>
              <a:ea typeface="IBM Plex Mono"/>
              <a:cs typeface="IBM Plex Mono"/>
              <a:sym typeface="IBM Plex Mono"/>
            </a:endParaRPr>
          </a:p>
        </p:txBody>
      </p:sp>
      <p:sp>
        <p:nvSpPr>
          <p:cNvPr id="166" name="Google Shape;166;p8"/>
          <p:cNvSpPr/>
          <p:nvPr/>
        </p:nvSpPr>
        <p:spPr>
          <a:xfrm>
            <a:off x="4160556" y="2159000"/>
            <a:ext cx="3870900" cy="274200"/>
          </a:xfrm>
          <a:prstGeom prst="rect">
            <a:avLst/>
          </a:prstGeom>
          <a:noFill/>
          <a:ln>
            <a:noFill/>
          </a:ln>
        </p:spPr>
        <p:txBody>
          <a:bodyPr spcFirstLastPara="1" wrap="square" lIns="0" tIns="0" rIns="0" bIns="0" anchor="t" anchorCtr="0">
            <a:normAutofit/>
          </a:bodyPr>
          <a:lstStyle/>
          <a:p>
            <a:pPr marL="0" marR="0" lvl="0" indent="0" algn="l" rtl="0">
              <a:lnSpc>
                <a:spcPct val="140000"/>
              </a:lnSpc>
              <a:spcBef>
                <a:spcPts val="0"/>
              </a:spcBef>
              <a:spcAft>
                <a:spcPts val="0"/>
              </a:spcAft>
              <a:buClr>
                <a:srgbClr val="14213D"/>
              </a:buClr>
              <a:buSzPts val="1000"/>
              <a:buFont typeface="IBM Plex Sans"/>
              <a:buNone/>
            </a:pPr>
            <a:r>
              <a:rPr lang="en-US" sz="1000" b="0" i="0" u="none" strike="noStrike" cap="none">
                <a:solidFill>
                  <a:srgbClr val="14213D"/>
                </a:solidFill>
                <a:latin typeface="IBM Plex Sans"/>
                <a:ea typeface="IBM Plex Sans"/>
                <a:cs typeface="IBM Plex Sans"/>
                <a:sym typeface="IBM Plex Sans"/>
              </a:rPr>
              <a:t>10,500 shots, coloured by segment, by time and by charge.</a:t>
            </a:r>
            <a:endParaRPr sz="1000" b="0" i="0" u="none" strike="noStrike" cap="none">
              <a:solidFill>
                <a:schemeClr val="dk1"/>
              </a:solidFill>
              <a:latin typeface="IBM Plex Mono"/>
              <a:ea typeface="IBM Plex Mono"/>
              <a:cs typeface="IBM Plex Mono"/>
              <a:sym typeface="IBM Plex Mono"/>
            </a:endParaRPr>
          </a:p>
        </p:txBody>
      </p:sp>
      <p:pic>
        <p:nvPicPr>
          <p:cNvPr id="167" name="Google Shape;167;p8" descr="tsne_all_segments.png"/>
          <p:cNvPicPr preferRelativeResize="0"/>
          <p:nvPr/>
        </p:nvPicPr>
        <p:blipFill rotWithShape="1">
          <a:blip r:embed="rId3">
            <a:alphaModFix/>
          </a:blip>
          <a:srcRect/>
          <a:stretch/>
        </p:blipFill>
        <p:spPr>
          <a:xfrm>
            <a:off x="2017176" y="2418576"/>
            <a:ext cx="8157648" cy="2611899"/>
          </a:xfrm>
          <a:prstGeom prst="rect">
            <a:avLst/>
          </a:prstGeom>
          <a:noFill/>
          <a:ln>
            <a:noFill/>
          </a:ln>
        </p:spPr>
      </p:pic>
      <p:sp>
        <p:nvSpPr>
          <p:cNvPr id="168" name="Google Shape;168;p8"/>
          <p:cNvSpPr txBox="1"/>
          <p:nvPr/>
        </p:nvSpPr>
        <p:spPr>
          <a:xfrm>
            <a:off x="2866075" y="6199475"/>
            <a:ext cx="8083500" cy="320100"/>
          </a:xfrm>
          <a:prstGeom prst="rect">
            <a:avLst/>
          </a:prstGeom>
          <a:noFill/>
          <a:ln>
            <a:noFill/>
          </a:ln>
        </p:spPr>
        <p:txBody>
          <a:bodyPr spcFirstLastPara="1" wrap="square" lIns="91425" tIns="91425" rIns="91425" bIns="91425" anchor="t" anchorCtr="0">
            <a:noAutofit/>
          </a:bodyPr>
          <a:lstStyle/>
          <a:p>
            <a:pPr marL="45720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The past adds little beyond the charge history</a:t>
            </a:r>
            <a:endParaRPr sz="1600" b="1">
              <a:solidFill>
                <a:schemeClr val="dk1"/>
              </a:solidFill>
              <a:latin typeface="IBM Plex Mono"/>
              <a:ea typeface="IBM Plex Mono"/>
              <a:cs typeface="IBM Plex Mono"/>
              <a:sym typeface="IBM Plex Mono"/>
            </a:endParaRPr>
          </a:p>
          <a:p>
            <a:pPr marL="0" lvl="0" indent="0" algn="l" rtl="0">
              <a:spcBef>
                <a:spcPts val="0"/>
              </a:spcBef>
              <a:spcAft>
                <a:spcPts val="0"/>
              </a:spcAft>
              <a:buNone/>
            </a:pPr>
            <a:endParaRPr sz="1600">
              <a:solidFill>
                <a:srgbClr val="14213D"/>
              </a:solidFill>
              <a:latin typeface="IBM Plex Mono"/>
              <a:ea typeface="IBM Plex Mono"/>
              <a:cs typeface="IBM Plex Mono"/>
              <a:sym typeface="IBM Plex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173"/>
        <p:cNvGrpSpPr/>
        <p:nvPr/>
      </p:nvGrpSpPr>
      <p:grpSpPr>
        <a:xfrm>
          <a:off x="0" y="0"/>
          <a:ext cx="0" cy="0"/>
          <a:chOff x="0" y="0"/>
          <a:chExt cx="0" cy="0"/>
        </a:xfrm>
      </p:grpSpPr>
      <p:sp>
        <p:nvSpPr>
          <p:cNvPr id="174" name="Google Shape;174;p9"/>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75" name="Google Shape;175;p9"/>
          <p:cNvSpPr/>
          <p:nvPr/>
        </p:nvSpPr>
        <p:spPr>
          <a:xfrm>
            <a:off x="812800" y="812800"/>
            <a:ext cx="1765300" cy="285750"/>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76" name="Google Shape;176;p9"/>
          <p:cNvSpPr/>
          <p:nvPr/>
        </p:nvSpPr>
        <p:spPr>
          <a:xfrm>
            <a:off x="914400" y="850900"/>
            <a:ext cx="16129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a:t>
            </a:r>
            <a:endParaRPr sz="1200" b="0" i="0" u="none" strike="noStrike" cap="none">
              <a:solidFill>
                <a:schemeClr val="dk1"/>
              </a:solidFill>
              <a:latin typeface="IBM Plex Mono"/>
              <a:ea typeface="IBM Plex Mono"/>
              <a:cs typeface="IBM Plex Mono"/>
              <a:sym typeface="IBM Plex Mono"/>
            </a:endParaRPr>
          </a:p>
        </p:txBody>
      </p:sp>
      <p:sp>
        <p:nvSpPr>
          <p:cNvPr id="177" name="Google Shape;177;p9"/>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Can we diagnose?</a:t>
            </a:r>
            <a:endParaRPr sz="3600"/>
          </a:p>
        </p:txBody>
      </p:sp>
      <p:sp>
        <p:nvSpPr>
          <p:cNvPr id="178" name="Google Shape;178;p9"/>
          <p:cNvSpPr/>
          <p:nvPr/>
        </p:nvSpPr>
        <p:spPr>
          <a:xfrm>
            <a:off x="815975" y="2295525"/>
            <a:ext cx="5506541" cy="717550"/>
          </a:xfrm>
          <a:prstGeom prst="roundRect">
            <a:avLst>
              <a:gd name="adj" fmla="val 10177"/>
            </a:avLst>
          </a:prstGeom>
          <a:solidFill>
            <a:srgbClr val="FFFDF8"/>
          </a:solidFill>
          <a:ln w="9525" cap="flat" cmpd="sng">
            <a:solidFill>
              <a:srgbClr val="E6E0D2"/>
            </a:solidFill>
            <a:prstDash val="solid"/>
            <a:round/>
            <a:headEnd type="none" w="sm" len="sm"/>
            <a:tailEnd type="none" w="sm" len="sm"/>
          </a:ln>
        </p:spPr>
        <p:txBody>
          <a:bodyPr spcFirstLastPara="1" wrap="square" lIns="134175" tIns="108775" rIns="0" bIns="83375" anchor="t" anchorCtr="0">
            <a:normAutofit fontScale="92500" lnSpcReduction="10000"/>
          </a:bodyPr>
          <a:lstStyle/>
          <a:p>
            <a:pPr marL="0" marR="0" lvl="0" indent="0" algn="l" rtl="0">
              <a:lnSpc>
                <a:spcPct val="150000"/>
              </a:lnSpc>
              <a:spcBef>
                <a:spcPts val="0"/>
              </a:spcBef>
              <a:spcAft>
                <a:spcPts val="0"/>
              </a:spcAft>
              <a:buClr>
                <a:srgbClr val="14213D"/>
              </a:buClr>
              <a:buSzPts val="1200"/>
              <a:buFont typeface="IBM Plex Mono"/>
              <a:buNone/>
            </a:pPr>
            <a:r>
              <a:rPr lang="en-US" sz="1200" b="0" i="0" u="none" strike="noStrike" cap="none">
                <a:solidFill>
                  <a:srgbClr val="14213D"/>
                </a:solidFill>
                <a:latin typeface="IBM Plex Mono"/>
                <a:ea typeface="IBM Plex Mono"/>
                <a:cs typeface="IBM Plex Mono"/>
                <a:sym typeface="IBM Plex Mono"/>
              </a:rPr>
              <a:t>Examine the performance of various models and try with and without BCM_GUN in the loop </a:t>
            </a:r>
            <a:endParaRPr sz="1200" b="0" i="0" u="none" strike="noStrike" cap="none">
              <a:solidFill>
                <a:schemeClr val="dk1"/>
              </a:solidFill>
              <a:latin typeface="IBM Plex Mono"/>
              <a:ea typeface="IBM Plex Mono"/>
              <a:cs typeface="IBM Plex Mono"/>
              <a:sym typeface="IBM Plex Mono"/>
            </a:endParaRPr>
          </a:p>
        </p:txBody>
      </p:sp>
      <p:sp>
        <p:nvSpPr>
          <p:cNvPr id="179" name="Google Shape;179;p9"/>
          <p:cNvSpPr/>
          <p:nvPr/>
        </p:nvSpPr>
        <p:spPr>
          <a:xfrm>
            <a:off x="6630491" y="2006600"/>
            <a:ext cx="4748709" cy="3448050"/>
          </a:xfrm>
          <a:prstGeom prst="roundRect">
            <a:avLst>
              <a:gd name="adj" fmla="val 2947"/>
            </a:avLst>
          </a:prstGeom>
          <a:solidFill>
            <a:srgbClr val="DBE7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80" name="Google Shape;180;p9"/>
          <p:cNvSpPr/>
          <p:nvPr/>
        </p:nvSpPr>
        <p:spPr>
          <a:xfrm>
            <a:off x="6630491" y="2006600"/>
            <a:ext cx="4748709" cy="3448050"/>
          </a:xfrm>
          <a:custGeom>
            <a:avLst/>
            <a:gdLst/>
            <a:ahLst/>
            <a:cxnLst/>
            <a:rect l="l" t="t" r="r" b="b"/>
            <a:pathLst>
              <a:path w="4748709" h="3448050" extrusionOk="0">
                <a:moveTo>
                  <a:pt x="0" y="101600"/>
                </a:moveTo>
                <a:lnTo>
                  <a:pt x="0" y="101600"/>
                </a:lnTo>
                <a:cubicBezTo>
                  <a:pt x="0" y="45488"/>
                  <a:pt x="45488" y="0"/>
                  <a:pt x="101600" y="0"/>
                </a:cubicBezTo>
                <a:lnTo>
                  <a:pt x="4647109" y="0"/>
                </a:lnTo>
                <a:cubicBezTo>
                  <a:pt x="4674055" y="0"/>
                  <a:pt x="4699897" y="10704"/>
                  <a:pt x="4718951" y="29758"/>
                </a:cubicBezTo>
                <a:cubicBezTo>
                  <a:pt x="4738005" y="48812"/>
                  <a:pt x="4748709" y="74654"/>
                  <a:pt x="4748709" y="101600"/>
                </a:cubicBezTo>
                <a:lnTo>
                  <a:pt x="4748709" y="101600"/>
                </a:lnTo>
                <a:cubicBezTo>
                  <a:pt x="4748709" y="73544"/>
                  <a:pt x="4703221" y="50800"/>
                  <a:pt x="4647109" y="50800"/>
                </a:cubicBezTo>
                <a:lnTo>
                  <a:pt x="101600" y="50800"/>
                </a:lnTo>
                <a:cubicBezTo>
                  <a:pt x="45488" y="50800"/>
                  <a:pt x="0" y="73544"/>
                  <a:pt x="0" y="101600"/>
                </a:cubicBezTo>
                <a:close/>
              </a:path>
            </a:pathLst>
          </a:cu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81" name="Google Shape;181;p9"/>
          <p:cNvSpPr/>
          <p:nvPr/>
        </p:nvSpPr>
        <p:spPr>
          <a:xfrm>
            <a:off x="6884491" y="2311399"/>
            <a:ext cx="436793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1D4ED8"/>
              </a:buClr>
              <a:buSzPts val="1200"/>
              <a:buFont typeface="IBM Plex Mono"/>
              <a:buNone/>
            </a:pPr>
            <a:r>
              <a:rPr lang="en-US" sz="1200" b="0" i="0" u="none" strike="noStrike" cap="none">
                <a:solidFill>
                  <a:srgbClr val="1D4ED8"/>
                </a:solidFill>
                <a:latin typeface="IBM Plex Mono"/>
                <a:ea typeface="IBM Plex Mono"/>
                <a:cs typeface="IBM Plex Mono"/>
                <a:sym typeface="IBM Plex Mono"/>
              </a:rPr>
              <a:t>THE GOAL</a:t>
            </a:r>
            <a:endParaRPr sz="1200" b="0" i="0" u="none" strike="noStrike" cap="none">
              <a:solidFill>
                <a:schemeClr val="dk1"/>
              </a:solidFill>
              <a:latin typeface="IBM Plex Mono"/>
              <a:ea typeface="IBM Plex Mono"/>
              <a:cs typeface="IBM Plex Mono"/>
              <a:sym typeface="IBM Plex Mono"/>
            </a:endParaRPr>
          </a:p>
        </p:txBody>
      </p:sp>
      <p:sp>
        <p:nvSpPr>
          <p:cNvPr id="182" name="Google Shape;182;p9"/>
          <p:cNvSpPr/>
          <p:nvPr/>
        </p:nvSpPr>
        <p:spPr>
          <a:xfrm>
            <a:off x="6884491" y="2647949"/>
            <a:ext cx="4367930" cy="1913890"/>
          </a:xfrm>
          <a:prstGeom prst="rect">
            <a:avLst/>
          </a:prstGeom>
          <a:noFill/>
          <a:ln>
            <a:noFill/>
          </a:ln>
        </p:spPr>
        <p:txBody>
          <a:bodyPr spcFirstLastPara="1" wrap="square" lIns="0" tIns="0" rIns="0" bIns="0" anchor="t" anchorCtr="0">
            <a:normAutofit lnSpcReduction="10000"/>
          </a:bodyPr>
          <a:lstStyle/>
          <a:p>
            <a:pPr marL="342900" marR="0" lvl="0" indent="-342900" algn="l" rtl="0">
              <a:lnSpc>
                <a:spcPct val="140000"/>
              </a:lnSpc>
              <a:spcBef>
                <a:spcPts val="0"/>
              </a:spcBef>
              <a:spcAft>
                <a:spcPts val="0"/>
              </a:spcAft>
              <a:buClr>
                <a:srgbClr val="14213D"/>
              </a:buClr>
              <a:buSzPts val="1600"/>
              <a:buFont typeface="IBM Plex Mono"/>
              <a:buAutoNum type="arabicPeriod"/>
            </a:pPr>
            <a:r>
              <a:rPr lang="en-US" sz="1600" b="1" i="0" u="none" strike="noStrike" cap="none">
                <a:solidFill>
                  <a:srgbClr val="14213D"/>
                </a:solidFill>
                <a:latin typeface="IBM Plex Mono"/>
                <a:ea typeface="IBM Plex Mono"/>
                <a:cs typeface="IBM Plex Mono"/>
                <a:sym typeface="IBM Plex Mono"/>
              </a:rPr>
              <a:t>Obtain good performance</a:t>
            </a:r>
            <a:r>
              <a:rPr lang="en-US" sz="1600" i="0" u="none" strike="noStrike" cap="none">
                <a:solidFill>
                  <a:srgbClr val="14213D"/>
                </a:solidFill>
                <a:latin typeface="IBM Plex Mono"/>
                <a:ea typeface="IBM Plex Mono"/>
                <a:cs typeface="IBM Plex Mono"/>
                <a:sym typeface="IBM Plex Mono"/>
              </a:rPr>
              <a:t> in the virtual diagnostic fashion.</a:t>
            </a:r>
            <a:endParaRPr sz="1800" i="0" u="none" strike="noStrike" cap="none">
              <a:solidFill>
                <a:schemeClr val="dk1"/>
              </a:solidFill>
              <a:latin typeface="IBM Plex Mono"/>
              <a:ea typeface="IBM Plex Mono"/>
              <a:cs typeface="IBM Plex Mono"/>
              <a:sym typeface="IBM Plex Mono"/>
            </a:endParaRPr>
          </a:p>
          <a:p>
            <a:pPr marL="342900" marR="0" lvl="0" indent="-342900" algn="l" rtl="0">
              <a:lnSpc>
                <a:spcPct val="140000"/>
              </a:lnSpc>
              <a:spcBef>
                <a:spcPts val="0"/>
              </a:spcBef>
              <a:spcAft>
                <a:spcPts val="0"/>
              </a:spcAft>
              <a:buClr>
                <a:srgbClr val="14213D"/>
              </a:buClr>
              <a:buSzPts val="1600"/>
              <a:buFont typeface="IBM Plex Mono"/>
              <a:buAutoNum type="arabicPeriod"/>
            </a:pPr>
            <a:r>
              <a:rPr lang="en-US" sz="1600" b="1" i="0" u="none" strike="noStrike" cap="none">
                <a:solidFill>
                  <a:srgbClr val="14213D"/>
                </a:solidFill>
                <a:latin typeface="IBM Plex Mono"/>
                <a:ea typeface="IBM Plex Mono"/>
                <a:cs typeface="IBM Plex Mono"/>
                <a:sym typeface="IBM Plex Mono"/>
              </a:rPr>
              <a:t>Identify the right metric</a:t>
            </a:r>
            <a:r>
              <a:rPr lang="en-US" sz="1600" i="0" u="none" strike="noStrike" cap="none">
                <a:solidFill>
                  <a:srgbClr val="14213D"/>
                </a:solidFill>
                <a:latin typeface="IBM Plex Mono"/>
                <a:ea typeface="IBM Plex Mono"/>
                <a:cs typeface="IBM Plex Mono"/>
                <a:sym typeface="IBM Plex Mono"/>
              </a:rPr>
              <a:t> and </a:t>
            </a:r>
            <a:r>
              <a:rPr lang="en-US" sz="1600" b="1" i="0" u="none" strike="noStrike" cap="none">
                <a:solidFill>
                  <a:srgbClr val="14213D"/>
                </a:solidFill>
                <a:latin typeface="IBM Plex Mono"/>
                <a:ea typeface="IBM Plex Mono"/>
                <a:cs typeface="IBM Plex Mono"/>
                <a:sym typeface="IBM Plex Mono"/>
              </a:rPr>
              <a:t>try some basic model</a:t>
            </a:r>
            <a:r>
              <a:rPr lang="en-US" sz="1600" i="0" u="none" strike="noStrike" cap="none">
                <a:solidFill>
                  <a:srgbClr val="14213D"/>
                </a:solidFill>
                <a:latin typeface="IBM Plex Mono"/>
                <a:ea typeface="IBM Plex Mono"/>
                <a:cs typeface="IBM Plex Mono"/>
                <a:sym typeface="IBM Plex Mono"/>
              </a:rPr>
              <a:t> (</a:t>
            </a:r>
            <a:r>
              <a:rPr lang="en-US" sz="1600">
                <a:solidFill>
                  <a:srgbClr val="14213D"/>
                </a:solidFill>
                <a:latin typeface="IBM Plex Mono"/>
                <a:ea typeface="IBM Plex Mono"/>
                <a:cs typeface="IBM Plex Mono"/>
                <a:sym typeface="IBM Plex Mono"/>
              </a:rPr>
              <a:t>Linear Regression</a:t>
            </a:r>
            <a:r>
              <a:rPr lang="en-US" sz="1600" i="0" u="none" strike="noStrike" cap="none">
                <a:solidFill>
                  <a:srgbClr val="14213D"/>
                </a:solidFill>
                <a:latin typeface="IBM Plex Mono"/>
                <a:ea typeface="IBM Plex Mono"/>
                <a:cs typeface="IBM Plex Mono"/>
                <a:sym typeface="IBM Plex Mono"/>
              </a:rPr>
              <a:t>, Random Forest, XGBoost and MLP).</a:t>
            </a:r>
            <a:endParaRPr sz="1600" i="0" u="none" strike="noStrike" cap="none">
              <a:solidFill>
                <a:schemeClr val="dk1"/>
              </a:solidFill>
              <a:latin typeface="IBM Plex Mono"/>
              <a:ea typeface="IBM Plex Mono"/>
              <a:cs typeface="IBM Plex Mono"/>
              <a:sym typeface="IBM Plex Mono"/>
            </a:endParaRPr>
          </a:p>
        </p:txBody>
      </p:sp>
      <p:sp>
        <p:nvSpPr>
          <p:cNvPr id="183" name="Google Shape;183;p9"/>
          <p:cNvSpPr/>
          <p:nvPr/>
        </p:nvSpPr>
        <p:spPr>
          <a:xfrm>
            <a:off x="870450" y="3219450"/>
            <a:ext cx="5613000" cy="2679300"/>
          </a:xfrm>
          <a:prstGeom prst="rect">
            <a:avLst/>
          </a:prstGeom>
          <a:noFill/>
          <a:ln>
            <a:noFill/>
          </a:ln>
        </p:spPr>
        <p:txBody>
          <a:bodyPr spcFirstLastPara="1" wrap="square" lIns="0" tIns="0" rIns="0" bIns="0" anchor="t" anchorCtr="0">
            <a:normAutofit/>
          </a:bodyPr>
          <a:lstStyle/>
          <a:p>
            <a:pPr marL="457200" marR="0" lvl="0" indent="-330200" algn="l" rtl="0">
              <a:lnSpc>
                <a:spcPct val="140000"/>
              </a:lnSpc>
              <a:spcBef>
                <a:spcPts val="0"/>
              </a:spcBef>
              <a:spcAft>
                <a:spcPts val="0"/>
              </a:spcAft>
              <a:buClr>
                <a:schemeClr val="dk1"/>
              </a:buClr>
              <a:buSzPts val="1600"/>
              <a:buFont typeface="IBM Plex Mono"/>
              <a:buChar char="➢"/>
            </a:pPr>
            <a:r>
              <a:rPr lang="en-US" sz="1600">
                <a:solidFill>
                  <a:srgbClr val="14213D"/>
                </a:solidFill>
                <a:latin typeface="IBM Plex Mono"/>
                <a:ea typeface="IBM Plex Mono"/>
                <a:cs typeface="IBM Plex Mono"/>
                <a:sym typeface="IBM Plex Mono"/>
              </a:rPr>
              <a:t>Models tried: </a:t>
            </a:r>
            <a:endParaRPr sz="1600">
              <a:solidFill>
                <a:srgbClr val="14213D"/>
              </a:solidFill>
              <a:latin typeface="IBM Plex Mono"/>
              <a:ea typeface="IBM Plex Mono"/>
              <a:cs typeface="IBM Plex Mono"/>
              <a:sym typeface="IBM Plex Mono"/>
            </a:endParaRPr>
          </a:p>
          <a:p>
            <a:pPr marL="914400" marR="0" lvl="1"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linear regression</a:t>
            </a:r>
            <a:endParaRPr sz="1600">
              <a:solidFill>
                <a:srgbClr val="14213D"/>
              </a:solidFill>
              <a:latin typeface="IBM Plex Mono"/>
              <a:ea typeface="IBM Plex Mono"/>
              <a:cs typeface="IBM Plex Mono"/>
              <a:sym typeface="IBM Plex Mono"/>
            </a:endParaRPr>
          </a:p>
          <a:p>
            <a:pPr marL="914400" marR="0" lvl="1"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random forest + xgboost</a:t>
            </a:r>
            <a:endParaRPr sz="1600">
              <a:solidFill>
                <a:srgbClr val="14213D"/>
              </a:solidFill>
              <a:latin typeface="IBM Plex Mono"/>
              <a:ea typeface="IBM Plex Mono"/>
              <a:cs typeface="IBM Plex Mono"/>
              <a:sym typeface="IBM Plex Mono"/>
            </a:endParaRPr>
          </a:p>
          <a:p>
            <a:pPr marL="914400" marR="0" lvl="1"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mlp</a:t>
            </a:r>
            <a:endParaRPr sz="1600">
              <a:solidFill>
                <a:srgbClr val="14213D"/>
              </a:solidFill>
              <a:latin typeface="IBM Plex Mono"/>
              <a:ea typeface="IBM Plex Mono"/>
              <a:cs typeface="IBM Plex Mono"/>
              <a:sym typeface="IBM Plex Mono"/>
            </a:endParaRPr>
          </a:p>
          <a:p>
            <a:pPr marL="914400" marR="0" lvl="1"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CNN: AE for images and temporal for history</a:t>
            </a:r>
            <a:endParaRPr sz="1600">
              <a:solidFill>
                <a:srgbClr val="14213D"/>
              </a:solidFill>
              <a:latin typeface="IBM Plex Mono"/>
              <a:ea typeface="IBM Plex Mono"/>
              <a:cs typeface="IBM Plex Mono"/>
              <a:sym typeface="IBM Plex Mono"/>
            </a:endParaRPr>
          </a:p>
          <a:p>
            <a:pPr marL="914400" marR="0" lvl="1" indent="-330200" algn="l" rtl="0">
              <a:lnSpc>
                <a:spcPct val="140000"/>
              </a:lnSpc>
              <a:spcBef>
                <a:spcPts val="0"/>
              </a:spcBef>
              <a:spcAft>
                <a:spcPts val="0"/>
              </a:spcAft>
              <a:buClr>
                <a:srgbClr val="14213D"/>
              </a:buClr>
              <a:buSzPts val="1600"/>
              <a:buFont typeface="IBM Plex Mono"/>
              <a:buChar char="○"/>
            </a:pPr>
            <a:r>
              <a:rPr lang="en-US" sz="1600">
                <a:solidFill>
                  <a:srgbClr val="14213D"/>
                </a:solidFill>
                <a:latin typeface="IBM Plex Mono"/>
                <a:ea typeface="IBM Plex Mono"/>
                <a:cs typeface="IBM Plex Mono"/>
                <a:sym typeface="IBM Plex Mono"/>
              </a:rPr>
              <a:t>RNNs: LSTMs, GRUs</a:t>
            </a:r>
            <a:endParaRPr sz="1600">
              <a:solidFill>
                <a:srgbClr val="14213D"/>
              </a:solidFill>
              <a:latin typeface="IBM Plex Mono"/>
              <a:ea typeface="IBM Plex Mono"/>
              <a:cs typeface="IBM Plex Mono"/>
              <a:sym typeface="IBM Plex Mono"/>
            </a:endParaRPr>
          </a:p>
          <a:p>
            <a:pPr marL="914400" marR="0" lvl="0" indent="0" algn="l" rtl="0">
              <a:lnSpc>
                <a:spcPct val="140000"/>
              </a:lnSpc>
              <a:spcBef>
                <a:spcPts val="0"/>
              </a:spcBef>
              <a:spcAft>
                <a:spcPts val="0"/>
              </a:spcAft>
              <a:buNone/>
            </a:pPr>
            <a:endParaRPr sz="1600">
              <a:solidFill>
                <a:srgbClr val="14213D"/>
              </a:solidFill>
              <a:latin typeface="IBM Plex Sans"/>
              <a:ea typeface="IBM Plex Sans"/>
              <a:cs typeface="IBM Plex Sans"/>
              <a:sym typeface="IBM Plex Sans"/>
            </a:endParaRPr>
          </a:p>
        </p:txBody>
      </p:sp>
      <p:sp>
        <p:nvSpPr>
          <p:cNvPr id="184" name="Google Shape;184;p9"/>
          <p:cNvSpPr/>
          <p:nvPr/>
        </p:nvSpPr>
        <p:spPr>
          <a:xfrm>
            <a:off x="812799" y="6242049"/>
            <a:ext cx="7848599" cy="234949"/>
          </a:xfrm>
          <a:prstGeom prst="rect">
            <a:avLst/>
          </a:prstGeom>
          <a:noFill/>
          <a:ln>
            <a:noFill/>
          </a:ln>
        </p:spPr>
        <p:txBody>
          <a:bodyPr spcFirstLastPara="1" wrap="square" lIns="0" tIns="0" rIns="0" bIns="0" anchor="t" anchorCtr="0">
            <a:normAutofit fontScale="92500"/>
          </a:bodyPr>
          <a:lstStyle/>
          <a:p>
            <a:pPr marL="0" marR="0" lvl="0" indent="0" algn="l" rtl="0">
              <a:lnSpc>
                <a:spcPct val="139916"/>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a:t>
            </a:r>
            <a:endParaRPr sz="12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0"/>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91" name="Google Shape;191;p10"/>
          <p:cNvSpPr/>
          <p:nvPr/>
        </p:nvSpPr>
        <p:spPr>
          <a:xfrm>
            <a:off x="813816" y="813816"/>
            <a:ext cx="2834640" cy="283464"/>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192" name="Google Shape;192;p10"/>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193" name="Google Shape;193;p10"/>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Vanilla models</a:t>
            </a:r>
            <a:endParaRPr sz="3600"/>
          </a:p>
        </p:txBody>
      </p:sp>
      <p:sp>
        <p:nvSpPr>
          <p:cNvPr id="194" name="Google Shape;194;p10"/>
          <p:cNvSpPr/>
          <p:nvPr/>
        </p:nvSpPr>
        <p:spPr>
          <a:xfrm>
            <a:off x="812800" y="6242050"/>
            <a:ext cx="78486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 </a:t>
            </a:r>
            <a:endParaRPr sz="1200" b="0" i="0" u="none" strike="noStrike" cap="none">
              <a:solidFill>
                <a:schemeClr val="dk1"/>
              </a:solidFill>
              <a:latin typeface="IBM Plex Mono"/>
              <a:ea typeface="IBM Plex Mono"/>
              <a:cs typeface="IBM Plex Mono"/>
              <a:sym typeface="IBM Plex Mono"/>
            </a:endParaRPr>
          </a:p>
        </p:txBody>
      </p:sp>
      <p:sp>
        <p:nvSpPr>
          <p:cNvPr id="195" name="Google Shape;195;p10"/>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a:solidFill>
                  <a:srgbClr val="14213D"/>
                </a:solidFill>
                <a:latin typeface="Space Grotesk"/>
                <a:ea typeface="Space Grotesk"/>
                <a:cs typeface="Space Grotesk"/>
                <a:sym typeface="Space Grotesk"/>
              </a:rPr>
              <a:t>How the different models behave on our data?</a:t>
            </a:r>
            <a:endParaRPr sz="1600" b="1" i="0" u="none" strike="noStrike" cap="none">
              <a:solidFill>
                <a:schemeClr val="dk1"/>
              </a:solidFill>
              <a:latin typeface="Space Grotesk"/>
              <a:ea typeface="Space Grotesk"/>
              <a:cs typeface="Space Grotesk"/>
              <a:sym typeface="Space Grotesk"/>
            </a:endParaRPr>
          </a:p>
        </p:txBody>
      </p:sp>
      <p:graphicFrame>
        <p:nvGraphicFramePr>
          <p:cNvPr id="196" name="Google Shape;196;p10"/>
          <p:cNvGraphicFramePr/>
          <p:nvPr/>
        </p:nvGraphicFramePr>
        <p:xfrm>
          <a:off x="813825" y="2317738"/>
          <a:ext cx="3000000" cy="3000000"/>
        </p:xfrm>
        <a:graphic>
          <a:graphicData uri="http://schemas.openxmlformats.org/drawingml/2006/table">
            <a:tbl>
              <a:tblPr>
                <a:noFill/>
                <a:tableStyleId>{8D058665-8FE9-45B2-BE9A-A264AC7DD316}</a:tableStyleId>
              </a:tblPr>
              <a:tblGrid>
                <a:gridCol w="806250">
                  <a:extLst>
                    <a:ext uri="{9D8B030D-6E8A-4147-A177-3AD203B41FA5}">
                      <a16:colId xmlns:a16="http://schemas.microsoft.com/office/drawing/2014/main" val="20000"/>
                    </a:ext>
                  </a:extLst>
                </a:gridCol>
                <a:gridCol w="2331150">
                  <a:extLst>
                    <a:ext uri="{9D8B030D-6E8A-4147-A177-3AD203B41FA5}">
                      <a16:colId xmlns:a16="http://schemas.microsoft.com/office/drawing/2014/main" val="20001"/>
                    </a:ext>
                  </a:extLst>
                </a:gridCol>
                <a:gridCol w="1174325">
                  <a:extLst>
                    <a:ext uri="{9D8B030D-6E8A-4147-A177-3AD203B41FA5}">
                      <a16:colId xmlns:a16="http://schemas.microsoft.com/office/drawing/2014/main" val="20002"/>
                    </a:ext>
                  </a:extLst>
                </a:gridCol>
                <a:gridCol w="1174325">
                  <a:extLst>
                    <a:ext uri="{9D8B030D-6E8A-4147-A177-3AD203B41FA5}">
                      <a16:colId xmlns:a16="http://schemas.microsoft.com/office/drawing/2014/main" val="20003"/>
                    </a:ext>
                  </a:extLst>
                </a:gridCol>
                <a:gridCol w="1261975">
                  <a:extLst>
                    <a:ext uri="{9D8B030D-6E8A-4147-A177-3AD203B41FA5}">
                      <a16:colId xmlns:a16="http://schemas.microsoft.com/office/drawing/2014/main" val="20004"/>
                    </a:ext>
                  </a:extLst>
                </a:gridCol>
                <a:gridCol w="1332075">
                  <a:extLst>
                    <a:ext uri="{9D8B030D-6E8A-4147-A177-3AD203B41FA5}">
                      <a16:colId xmlns:a16="http://schemas.microsoft.com/office/drawing/2014/main" val="20005"/>
                    </a:ext>
                  </a:extLst>
                </a:gridCol>
                <a:gridCol w="1367125">
                  <a:extLst>
                    <a:ext uri="{9D8B030D-6E8A-4147-A177-3AD203B41FA5}">
                      <a16:colId xmlns:a16="http://schemas.microsoft.com/office/drawing/2014/main" val="20006"/>
                    </a:ext>
                  </a:extLst>
                </a:gridCol>
                <a:gridCol w="1297050">
                  <a:extLst>
                    <a:ext uri="{9D8B030D-6E8A-4147-A177-3AD203B41FA5}">
                      <a16:colId xmlns:a16="http://schemas.microsoft.com/office/drawing/2014/main" val="20007"/>
                    </a:ext>
                  </a:extLst>
                </a:gridCol>
              </a:tblGrid>
              <a:tr h="659050">
                <a:tc>
                  <a:txBody>
                    <a:bodyPr/>
                    <a:lstStyle/>
                    <a:p>
                      <a:pPr marL="0" lvl="0" indent="0" algn="ctr" rtl="0">
                        <a:lnSpc>
                          <a:spcPct val="115000"/>
                        </a:lnSpc>
                        <a:spcBef>
                          <a:spcPts val="0"/>
                        </a:spcBef>
                        <a:spcAft>
                          <a:spcPts val="0"/>
                        </a:spcAft>
                        <a:buNone/>
                      </a:pPr>
                      <a:r>
                        <a:rPr lang="en-US" b="1">
                          <a:solidFill>
                            <a:srgbClr val="14213D"/>
                          </a:solidFill>
                        </a:rPr>
                        <a:t>seg</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regime</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mean pC</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std pC</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linear</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random forest</a:t>
                      </a:r>
                      <a:endParaRPr b="1">
                        <a:solidFill>
                          <a:srgbClr val="14213D"/>
                        </a:solidFill>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XGBoost</a:t>
                      </a:r>
                      <a:endParaRPr b="1">
                        <a:solidFill>
                          <a:srgbClr val="14213D"/>
                        </a:solidFill>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MLP (32-16)</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extLst>
                  <a:ext uri="{0D108BD9-81ED-4DB2-BD59-A6C34878D82A}">
                    <a16:rowId xmlns:a16="http://schemas.microsoft.com/office/drawing/2014/main" val="10000"/>
                  </a:ext>
                </a:extLst>
              </a:tr>
              <a:tr h="436400">
                <a:tc>
                  <a:txBody>
                    <a:bodyPr/>
                    <a:lstStyle/>
                    <a:p>
                      <a:pPr marL="0" lvl="0" indent="0" algn="ctr" rtl="0">
                        <a:lnSpc>
                          <a:spcPct val="115000"/>
                        </a:lnSpc>
                        <a:spcBef>
                          <a:spcPts val="0"/>
                        </a:spcBef>
                        <a:spcAft>
                          <a:spcPts val="0"/>
                        </a:spcAft>
                        <a:buNone/>
                      </a:pPr>
                      <a:r>
                        <a:rPr lang="en-US" b="1">
                          <a:solidFill>
                            <a:srgbClr val="14213D"/>
                          </a:solidFill>
                        </a:rPr>
                        <a:t>0</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251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23.3</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13.4</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12.0</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16.8</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11.2</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1"/>
                  </a:ext>
                </a:extLst>
              </a:tr>
              <a:tr h="436400">
                <a:tc>
                  <a:txBody>
                    <a:bodyPr/>
                    <a:lstStyle/>
                    <a:p>
                      <a:pPr marL="0" lvl="0" indent="0" algn="ctr" rtl="0">
                        <a:lnSpc>
                          <a:spcPct val="115000"/>
                        </a:lnSpc>
                        <a:spcBef>
                          <a:spcPts val="0"/>
                        </a:spcBef>
                        <a:spcAft>
                          <a:spcPts val="0"/>
                        </a:spcAft>
                        <a:buNone/>
                      </a:pPr>
                      <a:r>
                        <a:rPr lang="en-US" b="1">
                          <a:solidFill>
                            <a:srgbClr val="14213D"/>
                          </a:solidFill>
                        </a:rPr>
                        <a:t>3</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126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20.6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11.0</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10.1</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10.7</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9.9</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2"/>
                  </a:ext>
                </a:extLst>
              </a:tr>
              <a:tr h="436400">
                <a:tc>
                  <a:txBody>
                    <a:bodyPr/>
                    <a:lstStyle/>
                    <a:p>
                      <a:pPr marL="0" lvl="0" indent="0" algn="ctr" rtl="0">
                        <a:lnSpc>
                          <a:spcPct val="115000"/>
                        </a:lnSpc>
                        <a:spcBef>
                          <a:spcPts val="0"/>
                        </a:spcBef>
                        <a:spcAft>
                          <a:spcPts val="0"/>
                        </a:spcAft>
                        <a:buNone/>
                      </a:pPr>
                      <a:r>
                        <a:rPr lang="en-US" b="1">
                          <a:solidFill>
                            <a:srgbClr val="14213D"/>
                          </a:solidFill>
                        </a:rPr>
                        <a:t>4</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107</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21.2</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9.5</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9.3</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9.2</a:t>
                      </a:r>
                      <a:endParaRPr b="1">
                        <a:solidFill>
                          <a:srgbClr val="14213D"/>
                        </a:solidFill>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9.6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436400">
                <a:tc>
                  <a:txBody>
                    <a:bodyPr/>
                    <a:lstStyle/>
                    <a:p>
                      <a:pPr marL="0" lvl="0" indent="0" algn="ctr" rtl="0">
                        <a:lnSpc>
                          <a:spcPct val="115000"/>
                        </a:lnSpc>
                        <a:spcBef>
                          <a:spcPts val="0"/>
                        </a:spcBef>
                        <a:spcAft>
                          <a:spcPts val="0"/>
                        </a:spcAft>
                        <a:buNone/>
                      </a:pPr>
                      <a:r>
                        <a:rPr lang="en-US" b="1">
                          <a:solidFill>
                            <a:srgbClr val="14213D"/>
                          </a:solidFill>
                        </a:rPr>
                        <a:t>5</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5583</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427</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143</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96.1</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90.7</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85.7</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4"/>
                  </a:ext>
                </a:extLst>
              </a:tr>
              <a:tr h="436400">
                <a:tc>
                  <a:txBody>
                    <a:bodyPr/>
                    <a:lstStyle/>
                    <a:p>
                      <a:pPr marL="0" lvl="0" indent="0" algn="ctr" rtl="0">
                        <a:lnSpc>
                          <a:spcPct val="115000"/>
                        </a:lnSpc>
                        <a:spcBef>
                          <a:spcPts val="0"/>
                        </a:spcBef>
                        <a:spcAft>
                          <a:spcPts val="0"/>
                        </a:spcAft>
                        <a:buNone/>
                      </a:pPr>
                      <a:r>
                        <a:rPr lang="en-US" b="1">
                          <a:solidFill>
                            <a:srgbClr val="14213D"/>
                          </a:solidFill>
                        </a:rPr>
                        <a:t>1</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4862</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376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166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134</a:t>
                      </a:r>
                      <a:endParaRPr b="1">
                        <a:solidFill>
                          <a:srgbClr val="14213D"/>
                        </a:solidFill>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185</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141</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436400">
                <a:tc>
                  <a:txBody>
                    <a:bodyPr/>
                    <a:lstStyle/>
                    <a:p>
                      <a:pPr marL="0" lvl="0" indent="0" algn="ctr" rtl="0">
                        <a:lnSpc>
                          <a:spcPct val="115000"/>
                        </a:lnSpc>
                        <a:spcBef>
                          <a:spcPts val="0"/>
                        </a:spcBef>
                        <a:spcAft>
                          <a:spcPts val="0"/>
                        </a:spcAft>
                        <a:buNone/>
                      </a:pPr>
                      <a:r>
                        <a:rPr lang="en-US" b="1">
                          <a:solidFill>
                            <a:srgbClr val="14213D"/>
                          </a:solidFill>
                        </a:rPr>
                        <a:t>6</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5571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191</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47.8</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63.8</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57.2</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50.4</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6"/>
                  </a:ext>
                </a:extLst>
              </a:tr>
              <a:tr h="436400">
                <a:tc>
                  <a:txBody>
                    <a:bodyPr/>
                    <a:lstStyle/>
                    <a:p>
                      <a:pPr marL="0" lvl="0" indent="0" algn="ctr" rtl="0">
                        <a:lnSpc>
                          <a:spcPct val="115000"/>
                        </a:lnSpc>
                        <a:spcBef>
                          <a:spcPts val="0"/>
                        </a:spcBef>
                        <a:spcAft>
                          <a:spcPts val="0"/>
                        </a:spcAft>
                        <a:buNone/>
                      </a:pPr>
                      <a:r>
                        <a:rPr lang="en-US" b="1">
                          <a:solidFill>
                            <a:srgbClr val="14213D"/>
                          </a:solidFill>
                        </a:rPr>
                        <a:t>7</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10106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1024</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278</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265</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247</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211</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pic>
        <p:nvPicPr>
          <p:cNvPr id="201" name="Google Shape;201;h6524a41718b72fa9_1_5"/>
          <p:cNvPicPr preferRelativeResize="0"/>
          <p:nvPr/>
        </p:nvPicPr>
        <p:blipFill>
          <a:blip r:embed="rId3">
            <a:alphaModFix/>
          </a:blip>
          <a:stretch>
            <a:fillRect/>
          </a:stretch>
        </p:blipFill>
        <p:spPr>
          <a:xfrm>
            <a:off x="596704" y="1727250"/>
            <a:ext cx="7501844" cy="4934101"/>
          </a:xfrm>
          <a:prstGeom prst="rect">
            <a:avLst/>
          </a:prstGeom>
          <a:noFill/>
          <a:ln>
            <a:noFill/>
          </a:ln>
        </p:spPr>
      </p:pic>
      <p:sp>
        <p:nvSpPr>
          <p:cNvPr id="202" name="Google Shape;202;h6524a41718b72fa9_1_5"/>
          <p:cNvSpPr/>
          <p:nvPr/>
        </p:nvSpPr>
        <p:spPr>
          <a:xfrm>
            <a:off x="8314500" y="1639525"/>
            <a:ext cx="3436500" cy="4934100"/>
          </a:xfrm>
          <a:prstGeom prst="rect">
            <a:avLst/>
          </a:prstGeom>
          <a:noFill/>
          <a:ln>
            <a:noFill/>
          </a:ln>
        </p:spPr>
        <p:txBody>
          <a:bodyPr spcFirstLastPara="1" wrap="square" lIns="0" tIns="0" rIns="0" bIns="0" anchor="t" anchorCtr="0">
            <a:noAutofit/>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Visual inspection shows that the </a:t>
            </a:r>
            <a:r>
              <a:rPr lang="en-US" sz="1600" b="1">
                <a:solidFill>
                  <a:srgbClr val="3B4660"/>
                </a:solidFill>
                <a:latin typeface="IBM Plex Mono"/>
                <a:ea typeface="IBM Plex Mono"/>
                <a:cs typeface="IBM Plex Mono"/>
                <a:sym typeface="IBM Plex Mono"/>
              </a:rPr>
              <a:t>models have learned to predict the BCM from the features</a:t>
            </a:r>
            <a:endParaRPr sz="1600" b="1">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Outliers</a:t>
            </a:r>
            <a:r>
              <a:rPr lang="en-US" sz="1600">
                <a:solidFill>
                  <a:srgbClr val="3B4660"/>
                </a:solidFill>
                <a:latin typeface="IBM Plex Mono"/>
                <a:ea typeface="IBM Plex Mono"/>
                <a:cs typeface="IBM Plex Mono"/>
                <a:sym typeface="IBM Plex Mono"/>
              </a:rPr>
              <a:t> still </a:t>
            </a:r>
            <a:r>
              <a:rPr lang="en-US" sz="1600" b="1">
                <a:solidFill>
                  <a:srgbClr val="3B4660"/>
                </a:solidFill>
                <a:latin typeface="IBM Plex Mono"/>
                <a:ea typeface="IBM Plex Mono"/>
                <a:cs typeface="IBM Plex Mono"/>
                <a:sym typeface="IBM Plex Mono"/>
              </a:rPr>
              <a:t>penalize</a:t>
            </a:r>
            <a:r>
              <a:rPr lang="en-US" sz="1600">
                <a:solidFill>
                  <a:srgbClr val="3B4660"/>
                </a:solidFill>
                <a:latin typeface="IBM Plex Mono"/>
                <a:ea typeface="IBM Plex Mono"/>
                <a:cs typeface="IBM Plex Mono"/>
                <a:sym typeface="IBM Plex Mono"/>
              </a:rPr>
              <a:t> a lot the models </a:t>
            </a:r>
            <a:r>
              <a:rPr lang="en-US" sz="1600" b="1">
                <a:solidFill>
                  <a:srgbClr val="3B4660"/>
                </a:solidFill>
                <a:latin typeface="IBM Plex Mono"/>
                <a:ea typeface="IBM Plex Mono"/>
                <a:cs typeface="IBM Plex Mono"/>
                <a:sym typeface="IBM Plex Mono"/>
              </a:rPr>
              <a:t>performances</a:t>
            </a:r>
            <a:r>
              <a:rPr lang="en-US" sz="1600">
                <a:solidFill>
                  <a:srgbClr val="3B4660"/>
                </a:solidFill>
                <a:latin typeface="IBM Plex Mono"/>
                <a:ea typeface="IBM Plex Mono"/>
                <a:cs typeface="IBM Plex Mono"/>
                <a:sym typeface="IBM Plex Mono"/>
              </a:rPr>
              <a:t> as seen on the correlation plot</a:t>
            </a:r>
            <a:endParaRPr sz="16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The trend is well matched </a:t>
            </a:r>
            <a:endParaRPr>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Data might need better cleaning :</a:t>
            </a:r>
            <a:endParaRPr sz="1600" b="1">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Use of robust method such as </a:t>
            </a:r>
            <a:r>
              <a:rPr lang="en-US" b="1">
                <a:solidFill>
                  <a:srgbClr val="3B4660"/>
                </a:solidFill>
                <a:latin typeface="IBM Plex Mono"/>
                <a:ea typeface="IBM Plex Mono"/>
                <a:cs typeface="IBM Plex Mono"/>
                <a:sym typeface="IBM Plex Mono"/>
              </a:rPr>
              <a:t>MedianAE</a:t>
            </a:r>
            <a:endParaRPr b="1">
              <a:solidFill>
                <a:srgbClr val="3B4660"/>
              </a:solidFill>
              <a:latin typeface="IBM Plex Mono"/>
              <a:ea typeface="IBM Plex Mono"/>
              <a:cs typeface="IBM Plex Mono"/>
              <a:sym typeface="IBM Plex Mono"/>
            </a:endParaRPr>
          </a:p>
        </p:txBody>
      </p:sp>
      <p:sp>
        <p:nvSpPr>
          <p:cNvPr id="203" name="Google Shape;203;h6524a41718b72fa9_1_5"/>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04" name="Google Shape;204;h6524a41718b72fa9_1_5"/>
          <p:cNvSpPr/>
          <p:nvPr/>
        </p:nvSpPr>
        <p:spPr>
          <a:xfrm>
            <a:off x="813816" y="813816"/>
            <a:ext cx="2834700" cy="283500"/>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05" name="Google Shape;205;h6524a41718b72fa9_1_5"/>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06" name="Google Shape;206;h6524a41718b72fa9_1_5"/>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Vanilla models</a:t>
            </a:r>
            <a:endParaRPr sz="36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h6524a41718b72fa9_1_20"/>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13" name="Google Shape;213;h6524a41718b72fa9_1_20"/>
          <p:cNvSpPr/>
          <p:nvPr/>
        </p:nvSpPr>
        <p:spPr>
          <a:xfrm>
            <a:off x="813816" y="813816"/>
            <a:ext cx="2834700" cy="283500"/>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14" name="Google Shape;214;h6524a41718b72fa9_1_20"/>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15" name="Google Shape;215;h6524a41718b72fa9_1_20"/>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Detrending</a:t>
            </a:r>
            <a:endParaRPr sz="3600"/>
          </a:p>
        </p:txBody>
      </p:sp>
      <p:sp>
        <p:nvSpPr>
          <p:cNvPr id="216" name="Google Shape;216;h6524a41718b72fa9_1_20"/>
          <p:cNvSpPr/>
          <p:nvPr/>
        </p:nvSpPr>
        <p:spPr>
          <a:xfrm>
            <a:off x="812800" y="6242050"/>
            <a:ext cx="7848600" cy="2349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 </a:t>
            </a:r>
            <a:endParaRPr sz="1200" b="0" i="0" u="none" strike="noStrike" cap="none">
              <a:solidFill>
                <a:schemeClr val="dk1"/>
              </a:solidFill>
              <a:latin typeface="IBM Plex Mono"/>
              <a:ea typeface="IBM Plex Mono"/>
              <a:cs typeface="IBM Plex Mono"/>
              <a:sym typeface="IBM Plex Mono"/>
            </a:endParaRPr>
          </a:p>
        </p:txBody>
      </p:sp>
      <p:sp>
        <p:nvSpPr>
          <p:cNvPr id="217" name="Google Shape;217;h6524a41718b72fa9_1_20"/>
          <p:cNvSpPr/>
          <p:nvPr/>
        </p:nvSpPr>
        <p:spPr>
          <a:xfrm>
            <a:off x="813816" y="1783080"/>
            <a:ext cx="10881300" cy="320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4213D"/>
              </a:buClr>
              <a:buSzPts val="1600"/>
              <a:buFont typeface="IBM Plex Sans"/>
              <a:buNone/>
            </a:pPr>
            <a:r>
              <a:rPr lang="en-US" sz="1600" b="1">
                <a:solidFill>
                  <a:srgbClr val="14213D"/>
                </a:solidFill>
                <a:latin typeface="Space Grotesk"/>
                <a:ea typeface="Space Grotesk"/>
                <a:cs typeface="Space Grotesk"/>
                <a:sym typeface="Space Grotesk"/>
              </a:rPr>
              <a:t>What happen when we introduce the trend followed by the BCM?</a:t>
            </a:r>
            <a:endParaRPr sz="1600" b="1" i="0" u="none" strike="noStrike" cap="none">
              <a:solidFill>
                <a:schemeClr val="dk1"/>
              </a:solidFill>
              <a:latin typeface="Space Grotesk"/>
              <a:ea typeface="Space Grotesk"/>
              <a:cs typeface="Space Grotesk"/>
              <a:sym typeface="Space Grotesk"/>
            </a:endParaRPr>
          </a:p>
        </p:txBody>
      </p:sp>
      <p:graphicFrame>
        <p:nvGraphicFramePr>
          <p:cNvPr id="218" name="Google Shape;218;h6524a41718b72fa9_1_20"/>
          <p:cNvGraphicFramePr/>
          <p:nvPr/>
        </p:nvGraphicFramePr>
        <p:xfrm>
          <a:off x="813825" y="2317888"/>
          <a:ext cx="3000000" cy="3000000"/>
        </p:xfrm>
        <a:graphic>
          <a:graphicData uri="http://schemas.openxmlformats.org/drawingml/2006/table">
            <a:tbl>
              <a:tblPr>
                <a:noFill/>
                <a:tableStyleId>{8D058665-8FE9-45B2-BE9A-A264AC7DD316}</a:tableStyleId>
              </a:tblPr>
              <a:tblGrid>
                <a:gridCol w="795200">
                  <a:extLst>
                    <a:ext uri="{9D8B030D-6E8A-4147-A177-3AD203B41FA5}">
                      <a16:colId xmlns:a16="http://schemas.microsoft.com/office/drawing/2014/main" val="20000"/>
                    </a:ext>
                  </a:extLst>
                </a:gridCol>
                <a:gridCol w="2347525">
                  <a:extLst>
                    <a:ext uri="{9D8B030D-6E8A-4147-A177-3AD203B41FA5}">
                      <a16:colId xmlns:a16="http://schemas.microsoft.com/office/drawing/2014/main" val="20001"/>
                    </a:ext>
                  </a:extLst>
                </a:gridCol>
                <a:gridCol w="1168075">
                  <a:extLst>
                    <a:ext uri="{9D8B030D-6E8A-4147-A177-3AD203B41FA5}">
                      <a16:colId xmlns:a16="http://schemas.microsoft.com/office/drawing/2014/main" val="20002"/>
                    </a:ext>
                  </a:extLst>
                </a:gridCol>
                <a:gridCol w="1184925">
                  <a:extLst>
                    <a:ext uri="{9D8B030D-6E8A-4147-A177-3AD203B41FA5}">
                      <a16:colId xmlns:a16="http://schemas.microsoft.com/office/drawing/2014/main" val="20003"/>
                    </a:ext>
                  </a:extLst>
                </a:gridCol>
                <a:gridCol w="1335325">
                  <a:extLst>
                    <a:ext uri="{9D8B030D-6E8A-4147-A177-3AD203B41FA5}">
                      <a16:colId xmlns:a16="http://schemas.microsoft.com/office/drawing/2014/main" val="20004"/>
                    </a:ext>
                  </a:extLst>
                </a:gridCol>
                <a:gridCol w="1289975">
                  <a:extLst>
                    <a:ext uri="{9D8B030D-6E8A-4147-A177-3AD203B41FA5}">
                      <a16:colId xmlns:a16="http://schemas.microsoft.com/office/drawing/2014/main" val="20005"/>
                    </a:ext>
                  </a:extLst>
                </a:gridCol>
                <a:gridCol w="1260825">
                  <a:extLst>
                    <a:ext uri="{9D8B030D-6E8A-4147-A177-3AD203B41FA5}">
                      <a16:colId xmlns:a16="http://schemas.microsoft.com/office/drawing/2014/main" val="20006"/>
                    </a:ext>
                  </a:extLst>
                </a:gridCol>
                <a:gridCol w="1363825">
                  <a:extLst>
                    <a:ext uri="{9D8B030D-6E8A-4147-A177-3AD203B41FA5}">
                      <a16:colId xmlns:a16="http://schemas.microsoft.com/office/drawing/2014/main" val="20007"/>
                    </a:ext>
                  </a:extLst>
                </a:gridCol>
              </a:tblGrid>
              <a:tr h="659025">
                <a:tc>
                  <a:txBody>
                    <a:bodyPr/>
                    <a:lstStyle/>
                    <a:p>
                      <a:pPr marL="0" lvl="0" indent="0" algn="ctr" rtl="0">
                        <a:lnSpc>
                          <a:spcPct val="115000"/>
                        </a:lnSpc>
                        <a:spcBef>
                          <a:spcPts val="0"/>
                        </a:spcBef>
                        <a:spcAft>
                          <a:spcPts val="0"/>
                        </a:spcAft>
                        <a:buNone/>
                      </a:pPr>
                      <a:r>
                        <a:rPr lang="en-US" b="1">
                          <a:solidFill>
                            <a:srgbClr val="14213D"/>
                          </a:solidFill>
                        </a:rPr>
                        <a:t>seg</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regime</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mean pC</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std pC</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linear</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random forest</a:t>
                      </a:r>
                      <a:endParaRPr b="1">
                        <a:solidFill>
                          <a:srgbClr val="14213D"/>
                        </a:solidFill>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XGBoost</a:t>
                      </a:r>
                      <a:endParaRPr b="1">
                        <a:solidFill>
                          <a:srgbClr val="14213D"/>
                        </a:solidFill>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MLP (32-16)</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extLst>
                  <a:ext uri="{0D108BD9-81ED-4DB2-BD59-A6C34878D82A}">
                    <a16:rowId xmlns:a16="http://schemas.microsoft.com/office/drawing/2014/main" val="10000"/>
                  </a:ext>
                </a:extLst>
              </a:tr>
              <a:tr h="436375">
                <a:tc>
                  <a:txBody>
                    <a:bodyPr/>
                    <a:lstStyle/>
                    <a:p>
                      <a:pPr marL="0" lvl="0" indent="0" algn="ctr" rtl="0">
                        <a:lnSpc>
                          <a:spcPct val="115000"/>
                        </a:lnSpc>
                        <a:spcBef>
                          <a:spcPts val="0"/>
                        </a:spcBef>
                        <a:spcAft>
                          <a:spcPts val="0"/>
                        </a:spcAft>
                        <a:buNone/>
                      </a:pPr>
                      <a:r>
                        <a:rPr lang="en-US" b="1">
                          <a:solidFill>
                            <a:srgbClr val="14213D"/>
                          </a:solidFill>
                        </a:rPr>
                        <a:t>0</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251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23.3</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10.8</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9.9</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10.0</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9.7</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1"/>
                  </a:ext>
                </a:extLst>
              </a:tr>
              <a:tr h="436375">
                <a:tc>
                  <a:txBody>
                    <a:bodyPr/>
                    <a:lstStyle/>
                    <a:p>
                      <a:pPr marL="0" lvl="0" indent="0" algn="ctr" rtl="0">
                        <a:lnSpc>
                          <a:spcPct val="115000"/>
                        </a:lnSpc>
                        <a:spcBef>
                          <a:spcPts val="0"/>
                        </a:spcBef>
                        <a:spcAft>
                          <a:spcPts val="0"/>
                        </a:spcAft>
                        <a:buNone/>
                      </a:pPr>
                      <a:r>
                        <a:rPr lang="en-US" b="1">
                          <a:solidFill>
                            <a:srgbClr val="14213D"/>
                          </a:solidFill>
                        </a:rPr>
                        <a:t>3</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126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20.6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10.8</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10.4</a:t>
                      </a:r>
                      <a:endParaRPr b="1">
                        <a:solidFill>
                          <a:srgbClr val="14213D"/>
                        </a:solidFill>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b="1">
                          <a:solidFill>
                            <a:srgbClr val="14213D"/>
                          </a:solidFill>
                        </a:rPr>
                        <a:t>10.4</a:t>
                      </a:r>
                      <a:endParaRPr b="1">
                        <a:solidFill>
                          <a:srgbClr val="14213D"/>
                        </a:solidFill>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b="1">
                          <a:solidFill>
                            <a:srgbClr val="14213D"/>
                          </a:solidFill>
                        </a:rPr>
                        <a:t>10.4</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2"/>
                  </a:ext>
                </a:extLst>
              </a:tr>
              <a:tr h="436375">
                <a:tc>
                  <a:txBody>
                    <a:bodyPr/>
                    <a:lstStyle/>
                    <a:p>
                      <a:pPr marL="0" lvl="0" indent="0" algn="ctr" rtl="0">
                        <a:lnSpc>
                          <a:spcPct val="115000"/>
                        </a:lnSpc>
                        <a:spcBef>
                          <a:spcPts val="0"/>
                        </a:spcBef>
                        <a:spcAft>
                          <a:spcPts val="0"/>
                        </a:spcAft>
                        <a:buNone/>
                      </a:pPr>
                      <a:r>
                        <a:rPr lang="en-US" b="1">
                          <a:solidFill>
                            <a:srgbClr val="14213D"/>
                          </a:solidFill>
                        </a:rPr>
                        <a:t>4</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107</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21.2</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9.5</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8.7</a:t>
                      </a:r>
                      <a:endParaRPr b="1">
                        <a:solidFill>
                          <a:srgbClr val="14213D"/>
                        </a:solidFill>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8.8</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8.9</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436375">
                <a:tc>
                  <a:txBody>
                    <a:bodyPr/>
                    <a:lstStyle/>
                    <a:p>
                      <a:pPr marL="0" lvl="0" indent="0" algn="ctr" rtl="0">
                        <a:lnSpc>
                          <a:spcPct val="115000"/>
                        </a:lnSpc>
                        <a:spcBef>
                          <a:spcPts val="0"/>
                        </a:spcBef>
                        <a:spcAft>
                          <a:spcPts val="0"/>
                        </a:spcAft>
                        <a:buNone/>
                      </a:pPr>
                      <a:r>
                        <a:rPr lang="en-US" b="1">
                          <a:solidFill>
                            <a:srgbClr val="14213D"/>
                          </a:solidFill>
                        </a:rPr>
                        <a:t>5</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5583</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427</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131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90.4</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87.6</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86.6</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4"/>
                  </a:ext>
                </a:extLst>
              </a:tr>
              <a:tr h="436375">
                <a:tc>
                  <a:txBody>
                    <a:bodyPr/>
                    <a:lstStyle/>
                    <a:p>
                      <a:pPr marL="0" lvl="0" indent="0" algn="ctr" rtl="0">
                        <a:lnSpc>
                          <a:spcPct val="115000"/>
                        </a:lnSpc>
                        <a:spcBef>
                          <a:spcPts val="0"/>
                        </a:spcBef>
                        <a:spcAft>
                          <a:spcPts val="0"/>
                        </a:spcAft>
                        <a:buNone/>
                      </a:pPr>
                      <a:r>
                        <a:rPr lang="en-US" b="1">
                          <a:solidFill>
                            <a:srgbClr val="14213D"/>
                          </a:solidFill>
                        </a:rPr>
                        <a:t>1</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4862</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376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130</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96.5</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97.3</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92.7</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5"/>
                  </a:ext>
                </a:extLst>
              </a:tr>
              <a:tr h="436375">
                <a:tc>
                  <a:txBody>
                    <a:bodyPr/>
                    <a:lstStyle/>
                    <a:p>
                      <a:pPr marL="0" lvl="0" indent="0" algn="ctr" rtl="0">
                        <a:lnSpc>
                          <a:spcPct val="115000"/>
                        </a:lnSpc>
                        <a:spcBef>
                          <a:spcPts val="0"/>
                        </a:spcBef>
                        <a:spcAft>
                          <a:spcPts val="0"/>
                        </a:spcAft>
                        <a:buNone/>
                      </a:pPr>
                      <a:r>
                        <a:rPr lang="en-US" b="1">
                          <a:solidFill>
                            <a:srgbClr val="14213D"/>
                          </a:solidFill>
                        </a:rPr>
                        <a:t>6</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5571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191</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29.1</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43.0</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33.6</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29.1</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6"/>
                  </a:ext>
                </a:extLst>
              </a:tr>
              <a:tr h="436375">
                <a:tc>
                  <a:txBody>
                    <a:bodyPr/>
                    <a:lstStyle/>
                    <a:p>
                      <a:pPr marL="0" lvl="0" indent="0" algn="ctr" rtl="0">
                        <a:lnSpc>
                          <a:spcPct val="115000"/>
                        </a:lnSpc>
                        <a:spcBef>
                          <a:spcPts val="0"/>
                        </a:spcBef>
                        <a:spcAft>
                          <a:spcPts val="0"/>
                        </a:spcAft>
                        <a:buNone/>
                      </a:pPr>
                      <a:r>
                        <a:rPr lang="en-US" b="1">
                          <a:solidFill>
                            <a:srgbClr val="14213D"/>
                          </a:solidFill>
                        </a:rPr>
                        <a:t>7</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10106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1024</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279</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250</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rPr>
                        <a:t>242</a:t>
                      </a:r>
                      <a:endParaRPr>
                        <a:solidFill>
                          <a:srgbClr val="14213D"/>
                        </a:solidFill>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rPr>
                        <a:t>199</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h6524a41718b72fa9_1_33"/>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25" name="Google Shape;225;h6524a41718b72fa9_1_33"/>
          <p:cNvSpPr/>
          <p:nvPr/>
        </p:nvSpPr>
        <p:spPr>
          <a:xfrm>
            <a:off x="813816" y="813816"/>
            <a:ext cx="2834700" cy="283500"/>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26" name="Google Shape;226;h6524a41718b72fa9_1_33"/>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27" name="Google Shape;227;h6524a41718b72fa9_1_33"/>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Sequence models</a:t>
            </a:r>
            <a:endParaRPr sz="3600"/>
          </a:p>
        </p:txBody>
      </p:sp>
      <p:sp>
        <p:nvSpPr>
          <p:cNvPr id="228" name="Google Shape;228;h6524a41718b72fa9_1_33"/>
          <p:cNvSpPr/>
          <p:nvPr/>
        </p:nvSpPr>
        <p:spPr>
          <a:xfrm>
            <a:off x="812800" y="6242050"/>
            <a:ext cx="7848600" cy="2349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 </a:t>
            </a:r>
            <a:endParaRPr sz="1200" b="0" i="0" u="none" strike="noStrike" cap="none">
              <a:solidFill>
                <a:schemeClr val="dk1"/>
              </a:solidFill>
              <a:latin typeface="IBM Plex Mono"/>
              <a:ea typeface="IBM Plex Mono"/>
              <a:cs typeface="IBM Plex Mono"/>
              <a:sym typeface="IBM Plex Mono"/>
            </a:endParaRPr>
          </a:p>
        </p:txBody>
      </p:sp>
      <p:sp>
        <p:nvSpPr>
          <p:cNvPr id="229" name="Google Shape;229;h6524a41718b72fa9_1_33"/>
          <p:cNvSpPr/>
          <p:nvPr/>
        </p:nvSpPr>
        <p:spPr>
          <a:xfrm>
            <a:off x="813816" y="1783080"/>
            <a:ext cx="10881300" cy="320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4213D"/>
              </a:buClr>
              <a:buSzPts val="1600"/>
              <a:buFont typeface="IBM Plex Sans"/>
              <a:buNone/>
            </a:pPr>
            <a:r>
              <a:rPr lang="en-US" sz="1600" b="1">
                <a:solidFill>
                  <a:srgbClr val="14213D"/>
                </a:solidFill>
                <a:latin typeface="Space Grotesk"/>
                <a:ea typeface="Space Grotesk"/>
                <a:cs typeface="Space Grotesk"/>
                <a:sym typeface="Space Grotesk"/>
              </a:rPr>
              <a:t>How LSTM applied on a CNN2D latentspace and a temporalCNN compare? </a:t>
            </a:r>
            <a:endParaRPr sz="1600" b="1" i="0" u="none" strike="noStrike" cap="none">
              <a:solidFill>
                <a:schemeClr val="dk1"/>
              </a:solidFill>
              <a:latin typeface="Space Grotesk"/>
              <a:ea typeface="Space Grotesk"/>
              <a:cs typeface="Space Grotesk"/>
              <a:sym typeface="Space Grotesk"/>
            </a:endParaRPr>
          </a:p>
        </p:txBody>
      </p:sp>
      <p:graphicFrame>
        <p:nvGraphicFramePr>
          <p:cNvPr id="230" name="Google Shape;230;h6524a41718b72fa9_1_33"/>
          <p:cNvGraphicFramePr/>
          <p:nvPr/>
        </p:nvGraphicFramePr>
        <p:xfrm>
          <a:off x="813825" y="2327350"/>
          <a:ext cx="3000000" cy="3000000"/>
        </p:xfrm>
        <a:graphic>
          <a:graphicData uri="http://schemas.openxmlformats.org/drawingml/2006/table">
            <a:tbl>
              <a:tblPr>
                <a:noFill/>
                <a:tableStyleId>{8D058665-8FE9-45B2-BE9A-A264AC7DD316}</a:tableStyleId>
              </a:tblPr>
              <a:tblGrid>
                <a:gridCol w="847700">
                  <a:extLst>
                    <a:ext uri="{9D8B030D-6E8A-4147-A177-3AD203B41FA5}">
                      <a16:colId xmlns:a16="http://schemas.microsoft.com/office/drawing/2014/main" val="20000"/>
                    </a:ext>
                  </a:extLst>
                </a:gridCol>
                <a:gridCol w="2379850">
                  <a:extLst>
                    <a:ext uri="{9D8B030D-6E8A-4147-A177-3AD203B41FA5}">
                      <a16:colId xmlns:a16="http://schemas.microsoft.com/office/drawing/2014/main" val="20001"/>
                    </a:ext>
                  </a:extLst>
                </a:gridCol>
                <a:gridCol w="1374150">
                  <a:extLst>
                    <a:ext uri="{9D8B030D-6E8A-4147-A177-3AD203B41FA5}">
                      <a16:colId xmlns:a16="http://schemas.microsoft.com/office/drawing/2014/main" val="20002"/>
                    </a:ext>
                  </a:extLst>
                </a:gridCol>
                <a:gridCol w="884900">
                  <a:extLst>
                    <a:ext uri="{9D8B030D-6E8A-4147-A177-3AD203B41FA5}">
                      <a16:colId xmlns:a16="http://schemas.microsoft.com/office/drawing/2014/main" val="20003"/>
                    </a:ext>
                  </a:extLst>
                </a:gridCol>
                <a:gridCol w="2730725">
                  <a:extLst>
                    <a:ext uri="{9D8B030D-6E8A-4147-A177-3AD203B41FA5}">
                      <a16:colId xmlns:a16="http://schemas.microsoft.com/office/drawing/2014/main" val="20004"/>
                    </a:ext>
                  </a:extLst>
                </a:gridCol>
                <a:gridCol w="2498900">
                  <a:extLst>
                    <a:ext uri="{9D8B030D-6E8A-4147-A177-3AD203B41FA5}">
                      <a16:colId xmlns:a16="http://schemas.microsoft.com/office/drawing/2014/main" val="20005"/>
                    </a:ext>
                  </a:extLst>
                </a:gridCol>
              </a:tblGrid>
              <a:tr h="684325">
                <a:tc>
                  <a:txBody>
                    <a:bodyPr/>
                    <a:lstStyle/>
                    <a:p>
                      <a:pPr marL="0" lvl="0" indent="0" algn="ctr" rtl="0">
                        <a:lnSpc>
                          <a:spcPct val="115000"/>
                        </a:lnSpc>
                        <a:spcBef>
                          <a:spcPts val="0"/>
                        </a:spcBef>
                        <a:spcAft>
                          <a:spcPts val="0"/>
                        </a:spcAft>
                        <a:buNone/>
                      </a:pPr>
                      <a:r>
                        <a:rPr lang="en-US" b="1">
                          <a:solidFill>
                            <a:srgbClr val="14213D"/>
                          </a:solidFill>
                        </a:rPr>
                        <a:t>seg</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regime</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mean pC</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BCM std pC</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temporal CNN (L = 50)</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rPr>
                        <a:t>latent + features LSTM</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chemeClr val="lt2"/>
                    </a:solidFill>
                  </a:tcPr>
                </a:tc>
                <a:extLst>
                  <a:ext uri="{0D108BD9-81ED-4DB2-BD59-A6C34878D82A}">
                    <a16:rowId xmlns:a16="http://schemas.microsoft.com/office/drawing/2014/main" val="10000"/>
                  </a:ext>
                </a:extLst>
              </a:tr>
              <a:tr h="403950">
                <a:tc>
                  <a:txBody>
                    <a:bodyPr/>
                    <a:lstStyle/>
                    <a:p>
                      <a:pPr marL="0" lvl="0" indent="0" algn="ctr" rtl="0">
                        <a:lnSpc>
                          <a:spcPct val="115000"/>
                        </a:lnSpc>
                        <a:spcBef>
                          <a:spcPts val="0"/>
                        </a:spcBef>
                        <a:spcAft>
                          <a:spcPts val="0"/>
                        </a:spcAft>
                        <a:buNone/>
                      </a:pPr>
                      <a:r>
                        <a:rPr lang="en-US" b="1">
                          <a:solidFill>
                            <a:srgbClr val="14213D"/>
                          </a:solidFill>
                        </a:rPr>
                        <a:t>0</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251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23.3</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13.1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10.2</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1"/>
                  </a:ext>
                </a:extLst>
              </a:tr>
              <a:tr h="403950">
                <a:tc>
                  <a:txBody>
                    <a:bodyPr/>
                    <a:lstStyle/>
                    <a:p>
                      <a:pPr marL="0" lvl="0" indent="0" algn="ctr" rtl="0">
                        <a:lnSpc>
                          <a:spcPct val="115000"/>
                        </a:lnSpc>
                        <a:spcBef>
                          <a:spcPts val="0"/>
                        </a:spcBef>
                        <a:spcAft>
                          <a:spcPts val="0"/>
                        </a:spcAft>
                        <a:buNone/>
                      </a:pPr>
                      <a:r>
                        <a:rPr lang="en-US" b="1">
                          <a:solidFill>
                            <a:srgbClr val="14213D"/>
                          </a:solidFill>
                        </a:rPr>
                        <a:t>3</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126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20.6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9.6</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9.7</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403950">
                <a:tc>
                  <a:txBody>
                    <a:bodyPr/>
                    <a:lstStyle/>
                    <a:p>
                      <a:pPr marL="0" lvl="0" indent="0" algn="ctr" rtl="0">
                        <a:lnSpc>
                          <a:spcPct val="115000"/>
                        </a:lnSpc>
                        <a:spcBef>
                          <a:spcPts val="0"/>
                        </a:spcBef>
                        <a:spcAft>
                          <a:spcPts val="0"/>
                        </a:spcAft>
                        <a:buNone/>
                      </a:pPr>
                      <a:r>
                        <a:rPr lang="en-US" b="1">
                          <a:solidFill>
                            <a:srgbClr val="14213D"/>
                          </a:solidFill>
                        </a:rPr>
                        <a:t>4</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low charge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107</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21.2</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8.9</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8.7</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3"/>
                  </a:ext>
                </a:extLst>
              </a:tr>
              <a:tr h="403950">
                <a:tc>
                  <a:txBody>
                    <a:bodyPr/>
                    <a:lstStyle/>
                    <a:p>
                      <a:pPr marL="0" lvl="0" indent="0" algn="ctr" rtl="0">
                        <a:lnSpc>
                          <a:spcPct val="115000"/>
                        </a:lnSpc>
                        <a:spcBef>
                          <a:spcPts val="0"/>
                        </a:spcBef>
                        <a:spcAft>
                          <a:spcPts val="0"/>
                        </a:spcAft>
                        <a:buNone/>
                      </a:pPr>
                      <a:r>
                        <a:rPr lang="en-US" b="1">
                          <a:solidFill>
                            <a:srgbClr val="14213D"/>
                          </a:solidFill>
                        </a:rPr>
                        <a:t>5</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5583</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427</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84.2</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b="1">
                          <a:solidFill>
                            <a:srgbClr val="14213D"/>
                          </a:solidFill>
                        </a:rPr>
                        <a:t>81.7</a:t>
                      </a:r>
                      <a:endParaRPr b="1">
                        <a:solidFill>
                          <a:srgbClr val="14213D"/>
                        </a:solidFill>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4"/>
                  </a:ext>
                </a:extLst>
              </a:tr>
              <a:tr h="403950">
                <a:tc>
                  <a:txBody>
                    <a:bodyPr/>
                    <a:lstStyle/>
                    <a:p>
                      <a:pPr marL="0" lvl="0" indent="0" algn="ctr" rtl="0">
                        <a:lnSpc>
                          <a:spcPct val="115000"/>
                        </a:lnSpc>
                        <a:spcBef>
                          <a:spcPts val="0"/>
                        </a:spcBef>
                        <a:spcAft>
                          <a:spcPts val="0"/>
                        </a:spcAft>
                        <a:buNone/>
                      </a:pPr>
                      <a:r>
                        <a:rPr lang="en-US" b="1">
                          <a:solidFill>
                            <a:srgbClr val="14213D"/>
                          </a:solidFill>
                        </a:rPr>
                        <a:t>1</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4862</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376</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119</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205</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403950">
                <a:tc>
                  <a:txBody>
                    <a:bodyPr/>
                    <a:lstStyle/>
                    <a:p>
                      <a:pPr marL="0" lvl="0" indent="0" algn="ctr" rtl="0">
                        <a:lnSpc>
                          <a:spcPct val="115000"/>
                        </a:lnSpc>
                        <a:spcBef>
                          <a:spcPts val="0"/>
                        </a:spcBef>
                        <a:spcAft>
                          <a:spcPts val="0"/>
                        </a:spcAft>
                        <a:buNone/>
                      </a:pPr>
                      <a:r>
                        <a:rPr lang="en-US" b="1">
                          <a:solidFill>
                            <a:srgbClr val="14213D"/>
                          </a:solidFill>
                        </a:rPr>
                        <a:t>6</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5571</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191</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63.5</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155</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6"/>
                  </a:ext>
                </a:extLst>
              </a:tr>
              <a:tr h="403950">
                <a:tc>
                  <a:txBody>
                    <a:bodyPr/>
                    <a:lstStyle/>
                    <a:p>
                      <a:pPr marL="0" lvl="0" indent="0" algn="ctr" rtl="0">
                        <a:lnSpc>
                          <a:spcPct val="115000"/>
                        </a:lnSpc>
                        <a:spcBef>
                          <a:spcPts val="0"/>
                        </a:spcBef>
                        <a:spcAft>
                          <a:spcPts val="0"/>
                        </a:spcAft>
                        <a:buNone/>
                      </a:pPr>
                      <a:r>
                        <a:rPr lang="en-US" b="1">
                          <a:solidFill>
                            <a:srgbClr val="14213D"/>
                          </a:solidFill>
                        </a:rPr>
                        <a:t>7</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high, non-repetitive</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rPr>
                        <a:t>10106</a:t>
                      </a:r>
                      <a:endParaRPr>
                        <a:solidFill>
                          <a:srgbClr val="14213D"/>
                        </a:solidFill>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rPr>
                        <a:t>1024</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b="1">
                          <a:solidFill>
                            <a:srgbClr val="14213D"/>
                          </a:solidFill>
                        </a:rPr>
                        <a:t>270</a:t>
                      </a:r>
                      <a:endParaRPr b="1">
                        <a:solidFill>
                          <a:srgbClr val="14213D"/>
                        </a:solidFill>
                      </a:endParaRPr>
                    </a:p>
                  </a:txBody>
                  <a:tcPr marL="91425" marR="91425" marT="91425" marB="91425">
                    <a:lnL w="9525" cap="flat" cmpd="sng">
                      <a:solidFill>
                        <a:srgbClr val="000000"/>
                      </a:solidFill>
                      <a:prstDash val="solid"/>
                      <a:round/>
                      <a:headEnd type="none" w="sm" len="sm"/>
                      <a:tailEnd type="none" w="sm" len="sm"/>
                    </a:lnL>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rPr>
                        <a:t>404</a:t>
                      </a:r>
                      <a:endParaRPr>
                        <a:solidFill>
                          <a:srgbClr val="14213D"/>
                        </a:solidFill>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7"/>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11"/>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37" name="Google Shape;237;p11"/>
          <p:cNvSpPr/>
          <p:nvPr/>
        </p:nvSpPr>
        <p:spPr>
          <a:xfrm>
            <a:off x="813816" y="813816"/>
            <a:ext cx="2834640" cy="283464"/>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38" name="Google Shape;238;p11"/>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39" name="Google Shape;239;p11"/>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Slow level + shot-to-shot model</a:t>
            </a:r>
            <a:endParaRPr sz="3600"/>
          </a:p>
        </p:txBody>
      </p:sp>
      <p:graphicFrame>
        <p:nvGraphicFramePr>
          <p:cNvPr id="240" name="Google Shape;240;p11"/>
          <p:cNvGraphicFramePr/>
          <p:nvPr/>
        </p:nvGraphicFramePr>
        <p:xfrm>
          <a:off x="289500" y="1915925"/>
          <a:ext cx="3000000" cy="3000000"/>
        </p:xfrm>
        <a:graphic>
          <a:graphicData uri="http://schemas.openxmlformats.org/drawingml/2006/table">
            <a:tbl>
              <a:tblPr>
                <a:noFill/>
                <a:tableStyleId>{8D058665-8FE9-45B2-BE9A-A264AC7DD316}</a:tableStyleId>
              </a:tblPr>
              <a:tblGrid>
                <a:gridCol w="538300">
                  <a:extLst>
                    <a:ext uri="{9D8B030D-6E8A-4147-A177-3AD203B41FA5}">
                      <a16:colId xmlns:a16="http://schemas.microsoft.com/office/drawing/2014/main" val="20000"/>
                    </a:ext>
                  </a:extLst>
                </a:gridCol>
                <a:gridCol w="1603950">
                  <a:extLst>
                    <a:ext uri="{9D8B030D-6E8A-4147-A177-3AD203B41FA5}">
                      <a16:colId xmlns:a16="http://schemas.microsoft.com/office/drawing/2014/main" val="20001"/>
                    </a:ext>
                  </a:extLst>
                </a:gridCol>
                <a:gridCol w="1045800">
                  <a:extLst>
                    <a:ext uri="{9D8B030D-6E8A-4147-A177-3AD203B41FA5}">
                      <a16:colId xmlns:a16="http://schemas.microsoft.com/office/drawing/2014/main" val="20002"/>
                    </a:ext>
                  </a:extLst>
                </a:gridCol>
                <a:gridCol w="769000">
                  <a:extLst>
                    <a:ext uri="{9D8B030D-6E8A-4147-A177-3AD203B41FA5}">
                      <a16:colId xmlns:a16="http://schemas.microsoft.com/office/drawing/2014/main" val="20003"/>
                    </a:ext>
                  </a:extLst>
                </a:gridCol>
                <a:gridCol w="996250">
                  <a:extLst>
                    <a:ext uri="{9D8B030D-6E8A-4147-A177-3AD203B41FA5}">
                      <a16:colId xmlns:a16="http://schemas.microsoft.com/office/drawing/2014/main" val="20004"/>
                    </a:ext>
                  </a:extLst>
                </a:gridCol>
                <a:gridCol w="1732000">
                  <a:extLst>
                    <a:ext uri="{9D8B030D-6E8A-4147-A177-3AD203B41FA5}">
                      <a16:colId xmlns:a16="http://schemas.microsoft.com/office/drawing/2014/main" val="20005"/>
                    </a:ext>
                  </a:extLst>
                </a:gridCol>
                <a:gridCol w="1651550">
                  <a:extLst>
                    <a:ext uri="{9D8B030D-6E8A-4147-A177-3AD203B41FA5}">
                      <a16:colId xmlns:a16="http://schemas.microsoft.com/office/drawing/2014/main" val="20006"/>
                    </a:ext>
                  </a:extLst>
                </a:gridCol>
                <a:gridCol w="1616325">
                  <a:extLst>
                    <a:ext uri="{9D8B030D-6E8A-4147-A177-3AD203B41FA5}">
                      <a16:colId xmlns:a16="http://schemas.microsoft.com/office/drawing/2014/main" val="20007"/>
                    </a:ext>
                  </a:extLst>
                </a:gridCol>
                <a:gridCol w="1416775">
                  <a:extLst>
                    <a:ext uri="{9D8B030D-6E8A-4147-A177-3AD203B41FA5}">
                      <a16:colId xmlns:a16="http://schemas.microsoft.com/office/drawing/2014/main" val="20008"/>
                    </a:ext>
                  </a:extLst>
                </a:gridCol>
              </a:tblGrid>
              <a:tr h="64665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seg</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regime</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BCM mean pC</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BCM std pC</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Trailing level only</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Ridge, current shot</a:t>
                      </a:r>
                      <a:endParaRPr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GRU, window 16</a:t>
                      </a:r>
                      <a:endParaRPr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Ridge + past BCM + GRU (64)</a:t>
                      </a:r>
                      <a:endParaRPr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457200" lvl="0" indent="-317500" algn="ctr" rtl="0">
                        <a:lnSpc>
                          <a:spcPct val="115000"/>
                        </a:lnSpc>
                        <a:spcBef>
                          <a:spcPts val="0"/>
                        </a:spcBef>
                        <a:spcAft>
                          <a:spcPts val="0"/>
                        </a:spcAft>
                        <a:buClr>
                          <a:srgbClr val="14213D"/>
                        </a:buClr>
                        <a:buSzPts val="1400"/>
                        <a:buFont typeface="IBM Plex Sans"/>
                        <a:buChar char="+"/>
                      </a:pPr>
                      <a:r>
                        <a:rPr lang="en-US" b="1">
                          <a:solidFill>
                            <a:srgbClr val="14213D"/>
                          </a:solidFill>
                          <a:latin typeface="IBM Plex Sans"/>
                          <a:ea typeface="IBM Plex Sans"/>
                          <a:cs typeface="IBM Plex Sans"/>
                          <a:sym typeface="IBM Plex Sans"/>
                        </a:rPr>
                        <a:t>online refit</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chemeClr val="lt2"/>
                    </a:solidFill>
                  </a:tcPr>
                </a:tc>
                <a:extLst>
                  <a:ext uri="{0D108BD9-81ED-4DB2-BD59-A6C34878D82A}">
                    <a16:rowId xmlns:a16="http://schemas.microsoft.com/office/drawing/2014/main" val="10000"/>
                  </a:ext>
                </a:extLst>
              </a:tr>
              <a:tr h="41050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0</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low charge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251</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23.3</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18.2</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10.0</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9.1</a:t>
                      </a:r>
                      <a:endParaRPr b="1">
                        <a:solidFill>
                          <a:srgbClr val="14213D"/>
                        </a:solidFill>
                        <a:latin typeface="IBM Plex Sans"/>
                        <a:ea typeface="IBM Plex Sans"/>
                        <a:cs typeface="IBM Plex Sans"/>
                        <a:sym typeface="IBM Plex Sans"/>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9.2</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9.1</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1"/>
                  </a:ext>
                </a:extLst>
              </a:tr>
              <a:tr h="41050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3</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low charge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126</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20.6</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12.4</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9.4</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9.2</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9.1</a:t>
                      </a:r>
                      <a:endParaRPr b="1">
                        <a:solidFill>
                          <a:srgbClr val="14213D"/>
                        </a:solidFill>
                        <a:latin typeface="IBM Plex Sans"/>
                        <a:ea typeface="IBM Plex Sans"/>
                        <a:cs typeface="IBM Plex Sans"/>
                        <a:sym typeface="IBM Plex Sans"/>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9.2</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41050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4</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low charge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107</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21.2</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11.7</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8.9</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8.1</a:t>
                      </a:r>
                      <a:endParaRPr b="1">
                        <a:solidFill>
                          <a:srgbClr val="14213D"/>
                        </a:solidFill>
                        <a:latin typeface="IBM Plex Sans"/>
                        <a:ea typeface="IBM Plex Sans"/>
                        <a:cs typeface="IBM Plex Sans"/>
                        <a:sym typeface="IBM Plex Sans"/>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8.1</a:t>
                      </a:r>
                      <a:endParaRPr b="1">
                        <a:solidFill>
                          <a:srgbClr val="14213D"/>
                        </a:solidFill>
                        <a:latin typeface="IBM Plex Sans"/>
                        <a:ea typeface="IBM Plex Sans"/>
                        <a:cs typeface="IBM Plex Sans"/>
                        <a:sym typeface="IBM Plex Sans"/>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8.1</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3"/>
                  </a:ext>
                </a:extLst>
              </a:tr>
              <a:tr h="41050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5</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high, repetitive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5583</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427</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145.5</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69.5</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42.1</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40.8</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40.7</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4"/>
                  </a:ext>
                </a:extLst>
              </a:tr>
              <a:tr h="64665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1</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high, non- repetitive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4862</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376</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143.3</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84.6</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47.2</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45.7</a:t>
                      </a:r>
                      <a:endParaRPr b="1">
                        <a:solidFill>
                          <a:srgbClr val="14213D"/>
                        </a:solidFill>
                        <a:latin typeface="IBM Plex Sans"/>
                        <a:ea typeface="IBM Plex Sans"/>
                        <a:cs typeface="IBM Plex Sans"/>
                        <a:sym typeface="IBM Plex Sans"/>
                      </a:endParaRPr>
                    </a:p>
                  </a:txBody>
                  <a:tcPr marL="91425" marR="91425" marT="91425" marB="91425">
                    <a:solidFill>
                      <a:srgbClr val="93C47D"/>
                    </a:solidFil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45.8</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64665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6</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high, non-repetitive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5571</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191</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122.2</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57.0</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31.2</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31.0</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27.8</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6"/>
                  </a:ext>
                </a:extLst>
              </a:tr>
              <a:tr h="646650">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7</a:t>
                      </a:r>
                      <a:endParaRPr b="1">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high, non-repetitive</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10106</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1024</a:t>
                      </a:r>
                      <a:endParaRPr>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428.1</a:t>
                      </a:r>
                      <a:endParaRPr>
                        <a:solidFill>
                          <a:srgbClr val="14213D"/>
                        </a:solidFill>
                        <a:latin typeface="IBM Plex Sans"/>
                        <a:ea typeface="IBM Plex Sans"/>
                        <a:cs typeface="IBM Plex Sans"/>
                        <a:sym typeface="IBM Plex Sans"/>
                      </a:endParaRPr>
                    </a:p>
                  </a:txBody>
                  <a:tcPr marL="91425" marR="91425" marT="91425" marB="91425">
                    <a:lnL w="9525" cap="flat" cmpd="sng">
                      <a:solidFill>
                        <a:srgbClr val="000000"/>
                      </a:solidFill>
                      <a:prstDash val="solid"/>
                      <a:round/>
                      <a:headEnd type="none" w="sm" len="sm"/>
                      <a:tailEnd type="none" w="sm" len="sm"/>
                    </a:lnL>
                  </a:tcPr>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174.4</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226.3</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a:solidFill>
                            <a:srgbClr val="14213D"/>
                          </a:solidFill>
                          <a:latin typeface="IBM Plex Sans"/>
                          <a:ea typeface="IBM Plex Sans"/>
                          <a:cs typeface="IBM Plex Sans"/>
                          <a:sym typeface="IBM Plex Sans"/>
                        </a:rPr>
                        <a:t>147.0</a:t>
                      </a:r>
                      <a:endParaRPr>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b="1">
                          <a:solidFill>
                            <a:srgbClr val="14213D"/>
                          </a:solidFill>
                          <a:latin typeface="IBM Plex Sans"/>
                          <a:ea typeface="IBM Plex Sans"/>
                          <a:cs typeface="IBM Plex Sans"/>
                          <a:sym typeface="IBM Plex Sans"/>
                        </a:rPr>
                        <a:t>133.2</a:t>
                      </a:r>
                      <a:endParaRPr b="1">
                        <a:solidFill>
                          <a:srgbClr val="14213D"/>
                        </a:solidFill>
                        <a:latin typeface="IBM Plex Sans"/>
                        <a:ea typeface="IBM Plex Sans"/>
                        <a:cs typeface="IBM Plex Sans"/>
                        <a:sym typeface="IBM Plex Sans"/>
                      </a:endParaRPr>
                    </a:p>
                  </a:txBody>
                  <a:tcPr marL="91425" marR="91425" marT="91425" marB="91425">
                    <a:lnR w="9525" cap="flat" cmpd="sng">
                      <a:solidFill>
                        <a:srgbClr val="000000"/>
                      </a:solidFill>
                      <a:prstDash val="solid"/>
                      <a:round/>
                      <a:headEnd type="none" w="sm" len="sm"/>
                      <a:tailEnd type="none" w="sm" len="sm"/>
                    </a:lnR>
                    <a:solidFill>
                      <a:srgbClr val="93C47D"/>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pic>
        <p:nvPicPr>
          <p:cNvPr id="245" name="Google Shape;245;h6524a41718b72fa9_0_38" descr="jitter_sequence_crop.png"/>
          <p:cNvPicPr preferRelativeResize="0"/>
          <p:nvPr/>
        </p:nvPicPr>
        <p:blipFill rotWithShape="1">
          <a:blip r:embed="rId3">
            <a:alphaModFix/>
          </a:blip>
          <a:srcRect/>
          <a:stretch/>
        </p:blipFill>
        <p:spPr>
          <a:xfrm>
            <a:off x="218022" y="2361450"/>
            <a:ext cx="7387852" cy="3546175"/>
          </a:xfrm>
          <a:prstGeom prst="rect">
            <a:avLst/>
          </a:prstGeom>
          <a:noFill/>
          <a:ln>
            <a:noFill/>
          </a:ln>
        </p:spPr>
      </p:pic>
      <p:sp>
        <p:nvSpPr>
          <p:cNvPr id="246" name="Google Shape;246;h6524a41718b72fa9_0_38"/>
          <p:cNvSpPr/>
          <p:nvPr/>
        </p:nvSpPr>
        <p:spPr>
          <a:xfrm>
            <a:off x="7508450" y="1836350"/>
            <a:ext cx="4430100" cy="4977000"/>
          </a:xfrm>
          <a:prstGeom prst="rect">
            <a:avLst/>
          </a:prstGeom>
          <a:noFill/>
          <a:ln>
            <a:noFill/>
          </a:ln>
        </p:spPr>
        <p:txBody>
          <a:bodyPr spcFirstLastPara="1" wrap="square" lIns="0" tIns="0" rIns="0" bIns="0" anchor="t" anchorCtr="0">
            <a:noAutofit/>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Trailing level: baseline from 50 shot MA (zero jitter)</a:t>
            </a:r>
            <a:endParaRPr sz="1600">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Ridge: predicts jitter from multiple instruments</a:t>
            </a:r>
            <a:endParaRPr sz="1600" b="1">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GRU</a:t>
            </a:r>
            <a:r>
              <a:rPr lang="en-US" sz="1600">
                <a:solidFill>
                  <a:srgbClr val="3B4660"/>
                </a:solidFill>
                <a:latin typeface="IBM Plex Mono"/>
                <a:ea typeface="IBM Plex Mono"/>
                <a:cs typeface="IBM Plex Mono"/>
                <a:sym typeface="IBM Plex Mono"/>
              </a:rPr>
              <a:t>: can </a:t>
            </a:r>
            <a:r>
              <a:rPr lang="en-US" sz="1600" b="1">
                <a:solidFill>
                  <a:srgbClr val="3B4660"/>
                </a:solidFill>
                <a:latin typeface="IBM Plex Mono"/>
                <a:ea typeface="IBM Plex Mono"/>
                <a:cs typeface="IBM Plex Mono"/>
                <a:sym typeface="IBM Plex Mono"/>
              </a:rPr>
              <a:t>capture nonlinear effects beyond Ridge</a:t>
            </a:r>
            <a:endParaRPr sz="1600" b="1">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Ridge+past BCM+GRU</a:t>
            </a:r>
            <a:r>
              <a:rPr lang="en-US" sz="1600">
                <a:solidFill>
                  <a:srgbClr val="3B4660"/>
                </a:solidFill>
                <a:latin typeface="IBM Plex Mono"/>
                <a:ea typeface="IBM Plex Mono"/>
                <a:cs typeface="IBM Plex Mono"/>
                <a:sym typeface="IBM Plex Mono"/>
              </a:rPr>
              <a:t>: two stages – </a:t>
            </a:r>
            <a:r>
              <a:rPr lang="en-US" sz="1600" b="1">
                <a:solidFill>
                  <a:srgbClr val="3B4660"/>
                </a:solidFill>
                <a:latin typeface="IBM Plex Mono"/>
                <a:ea typeface="IBM Plex Mono"/>
                <a:cs typeface="IBM Plex Mono"/>
                <a:sym typeface="IBM Plex Mono"/>
              </a:rPr>
              <a:t>ridge plus 16 jitter values</a:t>
            </a:r>
            <a:r>
              <a:rPr lang="en-US" sz="1600">
                <a:solidFill>
                  <a:srgbClr val="3B4660"/>
                </a:solidFill>
                <a:latin typeface="IBM Plex Mono"/>
                <a:ea typeface="IBM Plex Mono"/>
                <a:cs typeface="IBM Plex Mono"/>
                <a:sym typeface="IBM Plex Mono"/>
              </a:rPr>
              <a:t>, then </a:t>
            </a:r>
            <a:r>
              <a:rPr lang="en-US" sz="1600" b="1">
                <a:solidFill>
                  <a:srgbClr val="3B4660"/>
                </a:solidFill>
                <a:latin typeface="IBM Plex Mono"/>
                <a:ea typeface="IBM Plex Mono"/>
                <a:cs typeface="IBM Plex Mono"/>
                <a:sym typeface="IBM Plex Mono"/>
              </a:rPr>
              <a:t>64-window GRU for the nonlinear correction</a:t>
            </a:r>
            <a:endParaRPr sz="16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(good for combining jumps with jitter)</a:t>
            </a:r>
            <a:endParaRPr>
              <a:solidFill>
                <a:srgbClr val="3B4660"/>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a:solidFill>
                  <a:srgbClr val="3B4660"/>
                </a:solidFill>
                <a:latin typeface="IBM Plex Mono"/>
                <a:ea typeface="IBM Plex Mono"/>
                <a:cs typeface="IBM Plex Mono"/>
                <a:sym typeface="IBM Plex Mono"/>
              </a:rPr>
              <a:t>+online refit</a:t>
            </a:r>
            <a:r>
              <a:rPr lang="en-US" sz="1600">
                <a:solidFill>
                  <a:srgbClr val="3B4660"/>
                </a:solidFill>
                <a:latin typeface="IBM Plex Mono"/>
                <a:ea typeface="IBM Plex Mono"/>
                <a:cs typeface="IBM Plex Mono"/>
                <a:sym typeface="IBM Plex Mono"/>
              </a:rPr>
              <a:t>: same as above, with </a:t>
            </a:r>
            <a:r>
              <a:rPr lang="en-US" sz="1600" b="1">
                <a:solidFill>
                  <a:srgbClr val="3B4660"/>
                </a:solidFill>
                <a:latin typeface="IBM Plex Mono"/>
                <a:ea typeface="IBM Plex Mono"/>
                <a:cs typeface="IBM Plex Mono"/>
                <a:sym typeface="IBM Plex Mono"/>
              </a:rPr>
              <a:t>weighted ridge based on recent errors</a:t>
            </a:r>
            <a:endParaRPr sz="1600" b="1">
              <a:solidFill>
                <a:srgbClr val="3B4660"/>
              </a:solidFill>
              <a:latin typeface="IBM Plex Mono"/>
              <a:ea typeface="IBM Plex Mono"/>
              <a:cs typeface="IBM Plex Mono"/>
              <a:sym typeface="IBM Plex Mono"/>
            </a:endParaRPr>
          </a:p>
        </p:txBody>
      </p:sp>
      <p:sp>
        <p:nvSpPr>
          <p:cNvPr id="247" name="Google Shape;247;h6524a41718b72fa9_0_38"/>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48" name="Google Shape;248;h6524a41718b72fa9_0_38"/>
          <p:cNvSpPr/>
          <p:nvPr/>
        </p:nvSpPr>
        <p:spPr>
          <a:xfrm>
            <a:off x="813816" y="813816"/>
            <a:ext cx="2834700" cy="283500"/>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49" name="Google Shape;249;h6524a41718b72fa9_0_38"/>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50" name="Google Shape;250;h6524a41718b72fa9_0_38"/>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sz="3600" b="1" i="0">
                <a:solidFill>
                  <a:srgbClr val="14213D"/>
                </a:solidFill>
                <a:latin typeface="Space Grotesk"/>
                <a:ea typeface="Space Grotesk"/>
                <a:cs typeface="Space Grotesk"/>
                <a:sym typeface="Space Grotesk"/>
              </a:rPr>
              <a:t>Slow level + shot-to-shot model</a:t>
            </a:r>
            <a:endParaRPr sz="36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12"/>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57" name="Google Shape;257;p12"/>
          <p:cNvSpPr/>
          <p:nvPr/>
        </p:nvSpPr>
        <p:spPr>
          <a:xfrm>
            <a:off x="813816" y="813816"/>
            <a:ext cx="2834640" cy="283464"/>
          </a:xfrm>
          <a:prstGeom prst="roundRect">
            <a:avLst>
              <a:gd name="adj" fmla="val 17778"/>
            </a:avLst>
          </a:prstGeom>
          <a:solidFill>
            <a:srgbClr val="1D4E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58" name="Google Shape;258;p12"/>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2 · MEDIUM · RESULTS</a:t>
            </a:r>
            <a:endParaRPr sz="1200" b="0" i="0" u="none" strike="noStrike" cap="none">
              <a:solidFill>
                <a:schemeClr val="dk1"/>
              </a:solidFill>
              <a:latin typeface="IBM Plex Mono"/>
              <a:ea typeface="IBM Plex Mono"/>
              <a:cs typeface="IBM Plex Mono"/>
              <a:sym typeface="IBM Plex Mono"/>
            </a:endParaRPr>
          </a:p>
        </p:txBody>
      </p:sp>
      <p:sp>
        <p:nvSpPr>
          <p:cNvPr id="259" name="Google Shape;259;p12"/>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Nine model families converge</a:t>
            </a:r>
            <a:endParaRPr sz="3600"/>
          </a:p>
        </p:txBody>
      </p:sp>
      <p:sp>
        <p:nvSpPr>
          <p:cNvPr id="260" name="Google Shape;260;p12"/>
          <p:cNvSpPr/>
          <p:nvPr/>
        </p:nvSpPr>
        <p:spPr>
          <a:xfrm>
            <a:off x="812800" y="6242050"/>
            <a:ext cx="78486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 </a:t>
            </a:r>
            <a:endParaRPr sz="1200" b="0" i="0" u="none" strike="noStrike" cap="none">
              <a:solidFill>
                <a:schemeClr val="dk1"/>
              </a:solidFill>
              <a:latin typeface="IBM Plex Mono"/>
              <a:ea typeface="IBM Plex Mono"/>
              <a:cs typeface="IBM Plex Mono"/>
              <a:sym typeface="IBM Plex Mono"/>
            </a:endParaRPr>
          </a:p>
        </p:txBody>
      </p:sp>
      <p:sp>
        <p:nvSpPr>
          <p:cNvPr id="261" name="Google Shape;261;p12"/>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Space Grotesk"/>
                <a:ea typeface="Space Grotesk"/>
                <a:cs typeface="Space Grotesk"/>
                <a:sym typeface="Space Grotesk"/>
              </a:rPr>
              <a:t>Linear, ridge, random forest, XGBoost, MLP, RNN, GRU, LSTM, sparse GP and ensembles; MAE in % of the level.</a:t>
            </a:r>
            <a:endParaRPr sz="1600" b="1" i="0" u="none" strike="noStrike" cap="none">
              <a:solidFill>
                <a:schemeClr val="dk1"/>
              </a:solidFill>
              <a:latin typeface="Space Grotesk"/>
              <a:ea typeface="Space Grotesk"/>
              <a:cs typeface="Space Grotesk"/>
              <a:sym typeface="Space Grotesk"/>
            </a:endParaRPr>
          </a:p>
        </p:txBody>
      </p:sp>
      <p:sp>
        <p:nvSpPr>
          <p:cNvPr id="262" name="Google Shape;262;p12"/>
          <p:cNvSpPr/>
          <p:nvPr/>
        </p:nvSpPr>
        <p:spPr>
          <a:xfrm>
            <a:off x="868675" y="2286000"/>
            <a:ext cx="10607100" cy="1180800"/>
          </a:xfrm>
          <a:prstGeom prst="rect">
            <a:avLst/>
          </a:prstGeom>
          <a:noFill/>
          <a:ln>
            <a:noFill/>
          </a:ln>
        </p:spPr>
        <p:txBody>
          <a:bodyPr spcFirstLastPara="1" wrap="square" lIns="0" tIns="0" rIns="0" bIns="0" anchor="t" anchorCtr="0">
            <a:normAutofit fontScale="70000" lnSpcReduction="20000"/>
          </a:bodyPr>
          <a:lstStyle/>
          <a:p>
            <a:pPr marL="196342" marR="0" lvl="0" indent="-215392"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Outlier-robust preparation brings all families within ~10 %</a:t>
            </a:r>
            <a:r>
              <a:rPr lang="en-US" sz="1600" i="0" u="none" strike="noStrike" cap="none">
                <a:solidFill>
                  <a:srgbClr val="3B4660"/>
                </a:solidFill>
                <a:latin typeface="IBM Plex Mono"/>
                <a:ea typeface="IBM Plex Mono"/>
                <a:cs typeface="IBM Plex Mono"/>
                <a:sym typeface="IBM Plex Mono"/>
              </a:rPr>
              <a:t>: </a:t>
            </a:r>
            <a:endParaRPr sz="1600"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squared-loss models were chasing camera spikes (seg 1 ridge 2.86 → 1.12 %)</a:t>
            </a:r>
            <a:endParaRPr i="0" u="none" strike="noStrike" cap="none">
              <a:solidFill>
                <a:schemeClr val="dk1"/>
              </a:solidFill>
              <a:latin typeface="IBM Plex Mono"/>
              <a:ea typeface="IBM Plex Mono"/>
              <a:cs typeface="IBM Plex Mono"/>
              <a:sym typeface="IBM Plex Mono"/>
            </a:endParaRPr>
          </a:p>
          <a:p>
            <a:pPr marL="196342" marR="0" lvl="0" indent="-215392"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Pulse alignment helps the nonlinear models</a:t>
            </a:r>
            <a:r>
              <a:rPr lang="en-US" sz="1600" i="0" u="none" strike="noStrike" cap="none">
                <a:solidFill>
                  <a:srgbClr val="3B4660"/>
                </a:solidFill>
                <a:latin typeface="IBM Plex Mono"/>
                <a:ea typeface="IBM Plex Mono"/>
                <a:cs typeface="IBM Plex Mono"/>
                <a:sym typeface="IBM Plex Mono"/>
              </a:rPr>
              <a:t>: </a:t>
            </a:r>
            <a:endParaRPr sz="1600" i="0" u="none" strike="noStrike" cap="none">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XGBoost: </a:t>
            </a:r>
            <a:r>
              <a:rPr lang="en-US" b="1">
                <a:solidFill>
                  <a:srgbClr val="3B4660"/>
                </a:solidFill>
                <a:latin typeface="IBM Plex Mono"/>
                <a:ea typeface="IBM Plex Mono"/>
                <a:cs typeface="IBM Plex Mono"/>
                <a:sym typeface="IBM Plex Mono"/>
              </a:rPr>
              <a:t>MAE = </a:t>
            </a:r>
            <a:r>
              <a:rPr lang="en-US" b="1" i="0" u="none" strike="noStrike" cap="none">
                <a:solidFill>
                  <a:srgbClr val="3B4660"/>
                </a:solidFill>
                <a:latin typeface="IBM Plex Mono"/>
                <a:ea typeface="IBM Plex Mono"/>
                <a:cs typeface="IBM Plex Mono"/>
                <a:sym typeface="IBM Plex Mono"/>
              </a:rPr>
              <a:t>1.26 → 0.95 %</a:t>
            </a:r>
            <a:endParaRPr>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best LSTM: </a:t>
            </a:r>
            <a:r>
              <a:rPr lang="en-US" b="1" i="0" u="none" strike="noStrike" cap="none">
                <a:solidFill>
                  <a:srgbClr val="3B4660"/>
                </a:solidFill>
                <a:latin typeface="IBM Plex Mono"/>
                <a:ea typeface="IBM Plex Mono"/>
                <a:cs typeface="IBM Plex Mono"/>
                <a:sym typeface="IBM Plex Mono"/>
              </a:rPr>
              <a:t>MAE = 0.87 %</a:t>
            </a:r>
            <a:endParaRPr>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b="1" i="0" u="none" strike="noStrike" cap="none">
                <a:solidFill>
                  <a:srgbClr val="3B4660"/>
                </a:solidFill>
                <a:latin typeface="IBM Plex Mono"/>
                <a:ea typeface="IBM Plex Mono"/>
                <a:cs typeface="IBM Plex Mono"/>
                <a:sym typeface="IBM Plex Mono"/>
              </a:rPr>
              <a:t>GRU / GP beat ridge by 11–22 %</a:t>
            </a:r>
            <a:r>
              <a:rPr lang="en-US" i="0" u="none" strike="noStrike" cap="none">
                <a:solidFill>
                  <a:srgbClr val="3B4660"/>
                </a:solidFill>
                <a:latin typeface="IBM Plex Mono"/>
                <a:ea typeface="IBM Plex Mono"/>
                <a:cs typeface="IBM Plex Mono"/>
                <a:sym typeface="IBM Plex Mono"/>
              </a:rPr>
              <a:t> </a:t>
            </a:r>
            <a:r>
              <a:rPr lang="en-US">
                <a:solidFill>
                  <a:srgbClr val="3B4660"/>
                </a:solidFill>
                <a:latin typeface="IBM Plex Mono"/>
                <a:ea typeface="IBM Plex Mono"/>
                <a:cs typeface="IBM Plex Mono"/>
                <a:sym typeface="IBM Plex Mono"/>
              </a:rPr>
              <a:t>in</a:t>
            </a:r>
            <a:r>
              <a:rPr lang="en-US" i="0" u="none" strike="noStrike" cap="none">
                <a:solidFill>
                  <a:srgbClr val="3B4660"/>
                </a:solidFill>
                <a:latin typeface="IBM Plex Mono"/>
                <a:ea typeface="IBM Plex Mono"/>
                <a:cs typeface="IBM Plex Mono"/>
                <a:sym typeface="IBM Plex Mono"/>
              </a:rPr>
              <a:t> high charge regime</a:t>
            </a:r>
            <a:endParaRPr i="0" u="none" strike="noStrike" cap="none">
              <a:solidFill>
                <a:schemeClr val="dk1"/>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endParaRPr sz="1300" b="0" i="0" u="none" strike="noStrike" cap="none">
              <a:solidFill>
                <a:schemeClr val="dk1"/>
              </a:solidFill>
              <a:latin typeface="IBM Plex Mono"/>
              <a:ea typeface="IBM Plex Mono"/>
              <a:cs typeface="IBM Plex Mono"/>
              <a:sym typeface="IBM Plex Mono"/>
            </a:endParaRPr>
          </a:p>
        </p:txBody>
      </p:sp>
      <p:pic>
        <p:nvPicPr>
          <p:cNvPr id="263" name="Google Shape;263;p12" descr="11_robust_preparation_cell7.png"/>
          <p:cNvPicPr preferRelativeResize="0"/>
          <p:nvPr/>
        </p:nvPicPr>
        <p:blipFill rotWithShape="1">
          <a:blip r:embed="rId3">
            <a:alphaModFix/>
          </a:blip>
          <a:srcRect/>
          <a:stretch/>
        </p:blipFill>
        <p:spPr>
          <a:xfrm>
            <a:off x="120112" y="4228013"/>
            <a:ext cx="11576077" cy="250561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268"/>
        <p:cNvGrpSpPr/>
        <p:nvPr/>
      </p:nvGrpSpPr>
      <p:grpSpPr>
        <a:xfrm>
          <a:off x="0" y="0"/>
          <a:ext cx="0" cy="0"/>
          <a:chOff x="0" y="0"/>
          <a:chExt cx="0" cy="0"/>
        </a:xfrm>
      </p:grpSpPr>
      <p:sp>
        <p:nvSpPr>
          <p:cNvPr id="269" name="Google Shape;269;p15"/>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70" name="Google Shape;270;p15"/>
          <p:cNvSpPr/>
          <p:nvPr/>
        </p:nvSpPr>
        <p:spPr>
          <a:xfrm>
            <a:off x="812800" y="812800"/>
            <a:ext cx="1557039" cy="285750"/>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71" name="Google Shape;271;p15"/>
          <p:cNvSpPr/>
          <p:nvPr/>
        </p:nvSpPr>
        <p:spPr>
          <a:xfrm>
            <a:off x="914400" y="850900"/>
            <a:ext cx="140464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a:t>
            </a:r>
            <a:endParaRPr sz="1200" b="0" i="0" u="none" strike="noStrike" cap="none">
              <a:solidFill>
                <a:schemeClr val="dk1"/>
              </a:solidFill>
              <a:latin typeface="IBM Plex Mono"/>
              <a:ea typeface="IBM Plex Mono"/>
              <a:cs typeface="IBM Plex Mono"/>
              <a:sym typeface="IBM Plex Mono"/>
            </a:endParaRPr>
          </a:p>
        </p:txBody>
      </p:sp>
      <p:sp>
        <p:nvSpPr>
          <p:cNvPr id="272" name="Google Shape;272;p15"/>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Forecasting</a:t>
            </a:r>
            <a:endParaRPr sz="3600"/>
          </a:p>
        </p:txBody>
      </p:sp>
      <p:sp>
        <p:nvSpPr>
          <p:cNvPr id="273" name="Google Shape;273;p15"/>
          <p:cNvSpPr/>
          <p:nvPr/>
        </p:nvSpPr>
        <p:spPr>
          <a:xfrm>
            <a:off x="815975" y="2295525"/>
            <a:ext cx="5506541" cy="717550"/>
          </a:xfrm>
          <a:prstGeom prst="roundRect">
            <a:avLst>
              <a:gd name="adj" fmla="val 10177"/>
            </a:avLst>
          </a:prstGeom>
          <a:solidFill>
            <a:srgbClr val="FFFDF8"/>
          </a:solidFill>
          <a:ln w="9525" cap="flat" cmpd="sng">
            <a:solidFill>
              <a:srgbClr val="E6E0D2"/>
            </a:solidFill>
            <a:prstDash val="solid"/>
            <a:round/>
            <a:headEnd type="none" w="sm" len="sm"/>
            <a:tailEnd type="none" w="sm" len="sm"/>
          </a:ln>
        </p:spPr>
        <p:txBody>
          <a:bodyPr spcFirstLastPara="1" wrap="square" lIns="134175" tIns="108775" rIns="0" bIns="83375" anchor="t" anchorCtr="0">
            <a:normAutofit fontScale="92500" lnSpcReduction="10000"/>
          </a:bodyPr>
          <a:lstStyle/>
          <a:p>
            <a:pPr marL="0" marR="0" lvl="0" indent="0" algn="l" rtl="0">
              <a:lnSpc>
                <a:spcPct val="150000"/>
              </a:lnSpc>
              <a:spcBef>
                <a:spcPts val="0"/>
              </a:spcBef>
              <a:spcAft>
                <a:spcPts val="0"/>
              </a:spcAft>
              <a:buClr>
                <a:srgbClr val="14213D"/>
              </a:buClr>
              <a:buSzPts val="1200"/>
              <a:buFont typeface="IBM Plex Mono"/>
              <a:buNone/>
            </a:pPr>
            <a:r>
              <a:rPr lang="en-US" sz="1200" b="0" i="0" u="none" strike="noStrike" cap="none">
                <a:solidFill>
                  <a:srgbClr val="14213D"/>
                </a:solidFill>
                <a:latin typeface="IBM Plex Mono"/>
                <a:ea typeface="IBM Plex Mono"/>
                <a:cs typeface="IBM Plex Mono"/>
                <a:sym typeface="IBM Plex Mono"/>
              </a:rPr>
              <a:t>Repeat what has be</a:t>
            </a:r>
            <a:r>
              <a:rPr lang="en-US" sz="1200">
                <a:solidFill>
                  <a:srgbClr val="14213D"/>
                </a:solidFill>
                <a:latin typeface="IBM Plex Mono"/>
                <a:ea typeface="IBM Plex Mono"/>
                <a:cs typeface="IBM Plex Mono"/>
                <a:sym typeface="IBM Plex Mono"/>
              </a:rPr>
              <a:t>en </a:t>
            </a:r>
            <a:r>
              <a:rPr lang="en-US" sz="1200" b="0" i="0" u="none" strike="noStrike" cap="none">
                <a:solidFill>
                  <a:srgbClr val="14213D"/>
                </a:solidFill>
                <a:latin typeface="IBM Plex Mono"/>
                <a:ea typeface="IBM Plex Mono"/>
                <a:cs typeface="IBM Plex Mono"/>
                <a:sym typeface="IBM Plex Mono"/>
              </a:rPr>
              <a:t>done for virtual diagnostic in a more complex scenario</a:t>
            </a:r>
            <a:endParaRPr sz="1200" b="0" i="0" u="none" strike="noStrike" cap="none">
              <a:solidFill>
                <a:schemeClr val="dk1"/>
              </a:solidFill>
              <a:latin typeface="IBM Plex Mono"/>
              <a:ea typeface="IBM Plex Mono"/>
              <a:cs typeface="IBM Plex Mono"/>
              <a:sym typeface="IBM Plex Mono"/>
            </a:endParaRPr>
          </a:p>
        </p:txBody>
      </p:sp>
      <p:sp>
        <p:nvSpPr>
          <p:cNvPr id="274" name="Google Shape;274;p15"/>
          <p:cNvSpPr/>
          <p:nvPr/>
        </p:nvSpPr>
        <p:spPr>
          <a:xfrm>
            <a:off x="870457" y="3219449"/>
            <a:ext cx="5613000" cy="1981200"/>
          </a:xfrm>
          <a:prstGeom prst="rect">
            <a:avLst/>
          </a:prstGeom>
          <a:noFill/>
          <a:ln>
            <a:noFill/>
          </a:ln>
        </p:spPr>
        <p:txBody>
          <a:bodyPr spcFirstLastPara="1" wrap="square" lIns="0" tIns="0" rIns="0" bIns="0" anchor="t" anchorCtr="0">
            <a:normAutofit/>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One step ahead, then up to 50 shots</a:t>
            </a:r>
            <a:endParaRPr sz="1600" b="1"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At least one sequence model: TFT, DeepAR, LSTM/GRU or a time-series foundation model</a:t>
            </a:r>
            <a:endParaRPr sz="1600" b="1"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Tune the context window and show its effect</a:t>
            </a:r>
            <a:endParaRPr sz="1600" b="1" i="0" u="none" strike="noStrike" cap="none">
              <a:solidFill>
                <a:schemeClr val="dk1"/>
              </a:solidFill>
              <a:latin typeface="IBM Plex Mono"/>
              <a:ea typeface="IBM Plex Mono"/>
              <a:cs typeface="IBM Plex Mono"/>
              <a:sym typeface="IBM Plex Mono"/>
            </a:endParaRPr>
          </a:p>
        </p:txBody>
      </p:sp>
      <p:sp>
        <p:nvSpPr>
          <p:cNvPr id="275" name="Google Shape;275;p15"/>
          <p:cNvSpPr/>
          <p:nvPr/>
        </p:nvSpPr>
        <p:spPr>
          <a:xfrm>
            <a:off x="6630491" y="2006600"/>
            <a:ext cx="4748709" cy="3168649"/>
          </a:xfrm>
          <a:prstGeom prst="roundRect">
            <a:avLst>
              <a:gd name="adj" fmla="val 3206"/>
            </a:avLst>
          </a:prstGeom>
          <a:solidFill>
            <a:srgbClr val="FDE2E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76" name="Google Shape;276;p15"/>
          <p:cNvSpPr/>
          <p:nvPr/>
        </p:nvSpPr>
        <p:spPr>
          <a:xfrm>
            <a:off x="6630491" y="2006600"/>
            <a:ext cx="4748709" cy="3168649"/>
          </a:xfrm>
          <a:custGeom>
            <a:avLst/>
            <a:gdLst/>
            <a:ahLst/>
            <a:cxnLst/>
            <a:rect l="l" t="t" r="r" b="b"/>
            <a:pathLst>
              <a:path w="4748709" h="3168650" extrusionOk="0">
                <a:moveTo>
                  <a:pt x="0" y="101600"/>
                </a:moveTo>
                <a:lnTo>
                  <a:pt x="0" y="101600"/>
                </a:lnTo>
                <a:cubicBezTo>
                  <a:pt x="0" y="45488"/>
                  <a:pt x="45488" y="0"/>
                  <a:pt x="101600" y="0"/>
                </a:cubicBezTo>
                <a:lnTo>
                  <a:pt x="4647109" y="0"/>
                </a:lnTo>
                <a:cubicBezTo>
                  <a:pt x="4674055" y="0"/>
                  <a:pt x="4699897" y="10704"/>
                  <a:pt x="4718951" y="29758"/>
                </a:cubicBezTo>
                <a:cubicBezTo>
                  <a:pt x="4738005" y="48812"/>
                  <a:pt x="4748709" y="74654"/>
                  <a:pt x="4748709" y="101600"/>
                </a:cubicBezTo>
                <a:lnTo>
                  <a:pt x="4748709" y="101600"/>
                </a:lnTo>
                <a:cubicBezTo>
                  <a:pt x="4748709" y="73544"/>
                  <a:pt x="4703221" y="50800"/>
                  <a:pt x="4647109" y="50800"/>
                </a:cubicBezTo>
                <a:lnTo>
                  <a:pt x="101600" y="50800"/>
                </a:lnTo>
                <a:cubicBezTo>
                  <a:pt x="45488" y="50800"/>
                  <a:pt x="0" y="73544"/>
                  <a:pt x="0" y="101600"/>
                </a:cubicBezTo>
                <a:close/>
              </a:path>
            </a:pathLst>
          </a:cu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77" name="Google Shape;277;p15"/>
          <p:cNvSpPr/>
          <p:nvPr/>
        </p:nvSpPr>
        <p:spPr>
          <a:xfrm>
            <a:off x="6884491" y="2311399"/>
            <a:ext cx="436793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BE185D"/>
              </a:buClr>
              <a:buSzPts val="1200"/>
              <a:buFont typeface="IBM Plex Mono"/>
              <a:buNone/>
            </a:pPr>
            <a:r>
              <a:rPr lang="en-US" sz="1200" b="0" i="0" u="none" strike="noStrike" cap="none">
                <a:solidFill>
                  <a:srgbClr val="BE185D"/>
                </a:solidFill>
                <a:latin typeface="IBM Plex Mono"/>
                <a:ea typeface="IBM Plex Mono"/>
                <a:cs typeface="IBM Plex Mono"/>
                <a:sym typeface="IBM Plex Mono"/>
              </a:rPr>
              <a:t>THE GOAL</a:t>
            </a:r>
            <a:endParaRPr sz="1200" b="0" i="0" u="none" strike="noStrike" cap="none">
              <a:solidFill>
                <a:schemeClr val="dk1"/>
              </a:solidFill>
              <a:latin typeface="IBM Plex Mono"/>
              <a:ea typeface="IBM Plex Mono"/>
              <a:cs typeface="IBM Plex Mono"/>
              <a:sym typeface="IBM Plex Mono"/>
            </a:endParaRPr>
          </a:p>
        </p:txBody>
      </p:sp>
      <p:sp>
        <p:nvSpPr>
          <p:cNvPr id="278" name="Google Shape;278;p15"/>
          <p:cNvSpPr/>
          <p:nvPr/>
        </p:nvSpPr>
        <p:spPr>
          <a:xfrm>
            <a:off x="6913265" y="2647949"/>
            <a:ext cx="4331536" cy="1802130"/>
          </a:xfrm>
          <a:prstGeom prst="rect">
            <a:avLst/>
          </a:prstGeom>
          <a:noFill/>
          <a:ln>
            <a:noFill/>
          </a:ln>
        </p:spPr>
        <p:txBody>
          <a:bodyPr spcFirstLastPara="1" wrap="square" lIns="0" tIns="0" rIns="0" bIns="0" anchor="t" anchorCtr="0">
            <a:normAutofit/>
          </a:bodyPr>
          <a:lstStyle/>
          <a:p>
            <a:pPr marL="225227" marR="0" lvl="0" indent="-225227" algn="l" rtl="0">
              <a:lnSpc>
                <a:spcPct val="140000"/>
              </a:lnSpc>
              <a:spcBef>
                <a:spcPts val="0"/>
              </a:spcBef>
              <a:spcAft>
                <a:spcPts val="0"/>
              </a:spcAft>
              <a:buClr>
                <a:srgbClr val="14213D"/>
              </a:buClr>
              <a:buSzPts val="1600"/>
              <a:buFont typeface="IBM Plex Mono"/>
              <a:buAutoNum type="arabicPeriod"/>
            </a:pPr>
            <a:r>
              <a:rPr lang="en-US" sz="1600" b="1" i="0" u="none" strike="noStrike" cap="none">
                <a:solidFill>
                  <a:srgbClr val="14213D"/>
                </a:solidFill>
                <a:latin typeface="IBM Plex Mono"/>
                <a:ea typeface="IBM Plex Mono"/>
                <a:cs typeface="IBM Plex Mono"/>
                <a:sym typeface="IBM Plex Mono"/>
              </a:rPr>
              <a:t>Identify the right metric</a:t>
            </a:r>
            <a:r>
              <a:rPr lang="en-US" sz="1600" i="0" u="none" strike="noStrike" cap="none">
                <a:solidFill>
                  <a:srgbClr val="14213D"/>
                </a:solidFill>
                <a:latin typeface="IBM Plex Mono"/>
                <a:ea typeface="IBM Plex Mono"/>
                <a:cs typeface="IBM Plex Mono"/>
                <a:sym typeface="IBM Plex Mono"/>
              </a:rPr>
              <a:t> and </a:t>
            </a:r>
            <a:r>
              <a:rPr lang="en-US" sz="1600" b="1" i="0" u="none" strike="noStrike" cap="none">
                <a:solidFill>
                  <a:srgbClr val="14213D"/>
                </a:solidFill>
                <a:latin typeface="IBM Plex Mono"/>
                <a:ea typeface="IBM Plex Mono"/>
                <a:cs typeface="IBM Plex Mono"/>
                <a:sym typeface="IBM Plex Mono"/>
              </a:rPr>
              <a:t>try some basic model</a:t>
            </a:r>
            <a:r>
              <a:rPr lang="en-US" sz="1600" i="0" u="none" strike="noStrike" cap="none">
                <a:solidFill>
                  <a:srgbClr val="14213D"/>
                </a:solidFill>
                <a:latin typeface="IBM Plex Mono"/>
                <a:ea typeface="IBM Plex Mono"/>
                <a:cs typeface="IBM Plex Mono"/>
                <a:sym typeface="IBM Plex Mono"/>
              </a:rPr>
              <a:t> </a:t>
            </a:r>
            <a:endParaRPr sz="1800" i="0" u="none" strike="noStrike" cap="none">
              <a:solidFill>
                <a:schemeClr val="dk1"/>
              </a:solidFill>
              <a:latin typeface="IBM Plex Mono"/>
              <a:ea typeface="IBM Plex Mono"/>
              <a:cs typeface="IBM Plex Mono"/>
              <a:sym typeface="IBM Plex Mono"/>
            </a:endParaRPr>
          </a:p>
          <a:p>
            <a:pPr marL="225227" marR="0" lvl="0" indent="-225227" algn="l" rtl="0">
              <a:lnSpc>
                <a:spcPct val="140000"/>
              </a:lnSpc>
              <a:spcBef>
                <a:spcPts val="0"/>
              </a:spcBef>
              <a:spcAft>
                <a:spcPts val="0"/>
              </a:spcAft>
              <a:buClr>
                <a:srgbClr val="14213D"/>
              </a:buClr>
              <a:buSzPts val="1600"/>
              <a:buFont typeface="IBM Plex Mono"/>
              <a:buAutoNum type="arabicPeriod"/>
            </a:pPr>
            <a:r>
              <a:rPr lang="en-US" sz="1600" b="1" i="0" u="none" strike="noStrike" cap="none">
                <a:solidFill>
                  <a:srgbClr val="14213D"/>
                </a:solidFill>
                <a:latin typeface="IBM Plex Mono"/>
                <a:ea typeface="IBM Plex Mono"/>
                <a:cs typeface="IBM Plex Mono"/>
                <a:sym typeface="IBM Plex Mono"/>
              </a:rPr>
              <a:t>Beat</a:t>
            </a:r>
            <a:r>
              <a:rPr lang="en-US" sz="1600" i="0" u="none" strike="noStrike" cap="none">
                <a:solidFill>
                  <a:srgbClr val="14213D"/>
                </a:solidFill>
                <a:latin typeface="IBM Plex Mono"/>
                <a:ea typeface="IBM Plex Mono"/>
                <a:cs typeface="IBM Plex Mono"/>
                <a:sym typeface="IBM Plex Mono"/>
              </a:rPr>
              <a:t> the rolling mean</a:t>
            </a:r>
            <a:endParaRPr sz="1800" i="0" u="none" strike="noStrike" cap="none">
              <a:solidFill>
                <a:schemeClr val="dk1"/>
              </a:solidFill>
              <a:latin typeface="IBM Plex Mono"/>
              <a:ea typeface="IBM Plex Mono"/>
              <a:cs typeface="IBM Plex Mono"/>
              <a:sym typeface="IBM Plex Mono"/>
            </a:endParaRPr>
          </a:p>
          <a:p>
            <a:pPr marL="225227" marR="0" lvl="0" indent="-225227" algn="l" rtl="0">
              <a:lnSpc>
                <a:spcPct val="140000"/>
              </a:lnSpc>
              <a:spcBef>
                <a:spcPts val="0"/>
              </a:spcBef>
              <a:spcAft>
                <a:spcPts val="0"/>
              </a:spcAft>
              <a:buClr>
                <a:srgbClr val="14213D"/>
              </a:buClr>
              <a:buSzPts val="1600"/>
              <a:buFont typeface="IBM Plex Mono"/>
              <a:buAutoNum type="arabicPeriod"/>
            </a:pPr>
            <a:r>
              <a:rPr lang="en-US" sz="1600" b="1" i="0" u="none" strike="noStrike" cap="none">
                <a:solidFill>
                  <a:srgbClr val="14213D"/>
                </a:solidFill>
                <a:latin typeface="IBM Plex Mono"/>
                <a:ea typeface="IBM Plex Mono"/>
                <a:cs typeface="IBM Plex Mono"/>
                <a:sym typeface="IBM Plex Mono"/>
              </a:rPr>
              <a:t>Deploy</a:t>
            </a:r>
            <a:r>
              <a:rPr lang="en-US" sz="1600" i="0" u="none" strike="noStrike" cap="none">
                <a:solidFill>
                  <a:srgbClr val="14213D"/>
                </a:solidFill>
                <a:latin typeface="IBM Plex Mono"/>
                <a:ea typeface="IBM Plex Mono"/>
                <a:cs typeface="IBM Plex Mono"/>
                <a:sym typeface="IBM Plex Mono"/>
              </a:rPr>
              <a:t> in the machine the model </a:t>
            </a:r>
            <a:endParaRPr sz="1800" i="0" u="none" strike="noStrike" cap="none">
              <a:solidFill>
                <a:schemeClr val="dk1"/>
              </a:solidFill>
              <a:latin typeface="IBM Plex Mono"/>
              <a:ea typeface="IBM Plex Mono"/>
              <a:cs typeface="IBM Plex Mono"/>
              <a:sym typeface="IBM Plex Mono"/>
            </a:endParaRPr>
          </a:p>
        </p:txBody>
      </p:sp>
      <p:sp>
        <p:nvSpPr>
          <p:cNvPr id="279" name="Google Shape;279;p15"/>
          <p:cNvSpPr/>
          <p:nvPr/>
        </p:nvSpPr>
        <p:spPr>
          <a:xfrm>
            <a:off x="812800" y="6242050"/>
            <a:ext cx="7848600"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Forecasting the CLEAR beam charge</a:t>
            </a:r>
            <a:endParaRPr sz="12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16"/>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86" name="Google Shape;286;p16"/>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287" name="Google Shape;287;p16"/>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288" name="Google Shape;288;p16"/>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Next shot: beating the rolling mean of 9</a:t>
            </a:r>
            <a:endParaRPr sz="3600"/>
          </a:p>
        </p:txBody>
      </p:sp>
      <p:sp>
        <p:nvSpPr>
          <p:cNvPr id="289" name="Google Shape;289;p16"/>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33</a:t>
            </a:r>
            <a:endParaRPr sz="1200" b="0" i="0" u="none" strike="noStrike" cap="none">
              <a:solidFill>
                <a:schemeClr val="dk1"/>
              </a:solidFill>
              <a:latin typeface="IBM Plex Mono"/>
              <a:ea typeface="IBM Plex Mono"/>
              <a:cs typeface="IBM Plex Mono"/>
              <a:sym typeface="IBM Plex Mono"/>
            </a:endParaRPr>
          </a:p>
        </p:txBody>
      </p:sp>
      <p:sp>
        <p:nvSpPr>
          <p:cNvPr id="290" name="Google Shape;290;p16"/>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Space Grotesk"/>
                <a:ea typeface="Space Grotesk"/>
                <a:cs typeface="Space Grotesk"/>
                <a:sym typeface="Space Grotesk"/>
              </a:rPr>
              <a:t>Charge of shot n+1 from everything up to shot n; last 10 % of each run.</a:t>
            </a:r>
            <a:endParaRPr sz="1600" b="1" i="0" u="none" strike="noStrike" cap="none">
              <a:solidFill>
                <a:schemeClr val="dk1"/>
              </a:solidFill>
              <a:latin typeface="Space Grotesk"/>
              <a:ea typeface="Space Grotesk"/>
              <a:cs typeface="Space Grotesk"/>
              <a:sym typeface="Space Grotesk"/>
            </a:endParaRPr>
          </a:p>
        </p:txBody>
      </p:sp>
      <p:sp>
        <p:nvSpPr>
          <p:cNvPr id="291" name="Google Shape;291;p16"/>
          <p:cNvSpPr/>
          <p:nvPr/>
        </p:nvSpPr>
        <p:spPr>
          <a:xfrm>
            <a:off x="386150" y="4024525"/>
            <a:ext cx="5217300" cy="2169000"/>
          </a:xfrm>
          <a:prstGeom prst="rect">
            <a:avLst/>
          </a:prstGeom>
          <a:noFill/>
          <a:ln>
            <a:noFill/>
          </a:ln>
        </p:spPr>
        <p:txBody>
          <a:bodyPr spcFirstLastPara="1" wrap="square" lIns="0" tIns="0" rIns="0" bIns="0" anchor="t" anchorCtr="0">
            <a:normAutofit fontScale="92500" lnSpcReduction="20000"/>
          </a:bodyPr>
          <a:lstStyle/>
          <a:p>
            <a:pPr marL="457200" marR="0" lvl="0" indent="-330200" algn="l" rtl="0">
              <a:lnSpc>
                <a:spcPct val="140000"/>
              </a:lnSpc>
              <a:spcBef>
                <a:spcPts val="0"/>
              </a:spcBef>
              <a:spcAft>
                <a:spcPts val="0"/>
              </a:spcAft>
              <a:buClr>
                <a:srgbClr val="3B4660"/>
              </a:buClr>
              <a:buSzPts val="1600"/>
              <a:buFont typeface="IBM Plex Mono"/>
              <a:buChar char="➢"/>
            </a:pPr>
            <a:r>
              <a:rPr lang="en-US" sz="1600" b="1" i="0" u="none" strike="noStrike" cap="none">
                <a:solidFill>
                  <a:srgbClr val="3B4660"/>
                </a:solidFill>
                <a:latin typeface="IBM Plex Mono"/>
                <a:ea typeface="IBM Plex Mono"/>
                <a:cs typeface="IBM Plex Mono"/>
                <a:sym typeface="IBM Plex Mono"/>
              </a:rPr>
              <a:t>GRU significantly better</a:t>
            </a:r>
            <a:r>
              <a:rPr lang="en-US" sz="1600" i="0" u="none" strike="noStrike" cap="none">
                <a:solidFill>
                  <a:srgbClr val="3B4660"/>
                </a:solidFill>
                <a:latin typeface="IBM Plex Mono"/>
                <a:ea typeface="IBM Plex Mono"/>
                <a:cs typeface="IBM Plex Mono"/>
                <a:sym typeface="IBM Plex Mono"/>
              </a:rPr>
              <a:t> on all 5 runs (block bootstrap*)</a:t>
            </a:r>
            <a:endParaRPr sz="16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persistence is 25 % worse</a:t>
            </a:r>
            <a:endParaRPr i="0" u="none" strike="noStrike" cap="none">
              <a:solidFill>
                <a:schemeClr val="dk1"/>
              </a:solidFill>
              <a:latin typeface="IBM Plex Mono"/>
              <a:ea typeface="IBM Plex Mono"/>
              <a:cs typeface="IBM Plex Mono"/>
              <a:sym typeface="IBM Plex Mono"/>
            </a:endParaRPr>
          </a:p>
          <a:p>
            <a:pPr marL="457200" marR="0" lvl="0" indent="-311150" algn="l" rtl="0">
              <a:lnSpc>
                <a:spcPct val="140000"/>
              </a:lnSpc>
              <a:spcBef>
                <a:spcPts val="0"/>
              </a:spcBef>
              <a:spcAft>
                <a:spcPts val="0"/>
              </a:spcAft>
              <a:buClr>
                <a:srgbClr val="3B4660"/>
              </a:buClr>
              <a:buSzPts val="1300"/>
              <a:buFont typeface="IBM Plex Mono"/>
              <a:buChar char="➢"/>
            </a:pPr>
            <a:r>
              <a:rPr lang="en-US" sz="1600" i="0" u="none" strike="noStrike" cap="none">
                <a:solidFill>
                  <a:srgbClr val="3B4660"/>
                </a:solidFill>
                <a:latin typeface="IBM Plex Mono"/>
                <a:ea typeface="IBM Plex Mono"/>
                <a:cs typeface="IBM Plex Mono"/>
                <a:sym typeface="IBM Plex Mono"/>
              </a:rPr>
              <a:t>Run 1's gain is mostly its final level jump</a:t>
            </a:r>
            <a:r>
              <a:rPr lang="en-US" sz="1300" i="0" u="none" strike="noStrike" cap="none">
                <a:solidFill>
                  <a:srgbClr val="3B4660"/>
                </a:solidFill>
                <a:latin typeface="IBM Plex Mono"/>
                <a:ea typeface="IBM Plex Mono"/>
                <a:cs typeface="IBM Plex Mono"/>
                <a:sym typeface="IBM Plex Mono"/>
              </a:rPr>
              <a:t> </a:t>
            </a:r>
            <a:endParaRPr sz="13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(3.6 % on its stable shots)</a:t>
            </a:r>
            <a:endParaRPr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Context window 8–256 shots:∆ ≤ 1.3 pC </a:t>
            </a:r>
            <a:endParaRPr sz="1600">
              <a:solidFill>
                <a:srgbClr val="3B4660"/>
              </a:solidFill>
              <a:latin typeface="IBM Plex Mono"/>
              <a:ea typeface="IBM Plex Mono"/>
              <a:cs typeface="IBM Plex Mono"/>
              <a:sym typeface="IBM Plex Mono"/>
            </a:endParaRPr>
          </a:p>
          <a:p>
            <a:pPr marL="914400" marR="0" lvl="1"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laser and other inputs add nothing</a:t>
            </a:r>
            <a:endParaRPr i="0" u="none" strike="noStrike" cap="none">
              <a:solidFill>
                <a:schemeClr val="dk1"/>
              </a:solidFill>
              <a:latin typeface="IBM Plex Mono"/>
              <a:ea typeface="IBM Plex Mono"/>
              <a:cs typeface="IBM Plex Mono"/>
              <a:sym typeface="IBM Plex Mono"/>
            </a:endParaRPr>
          </a:p>
        </p:txBody>
      </p:sp>
      <p:pic>
        <p:nvPicPr>
          <p:cNvPr id="292" name="Google Shape;292;p16" descr="gru_2026-10-08_00-08-19_crop.png"/>
          <p:cNvPicPr preferRelativeResize="0"/>
          <p:nvPr/>
        </p:nvPicPr>
        <p:blipFill rotWithShape="1">
          <a:blip r:embed="rId3">
            <a:alphaModFix/>
          </a:blip>
          <a:srcRect/>
          <a:stretch/>
        </p:blipFill>
        <p:spPr>
          <a:xfrm>
            <a:off x="5490425" y="4343025"/>
            <a:ext cx="6685874" cy="2204351"/>
          </a:xfrm>
          <a:prstGeom prst="rect">
            <a:avLst/>
          </a:prstGeom>
          <a:noFill/>
          <a:ln>
            <a:noFill/>
          </a:ln>
        </p:spPr>
      </p:pic>
      <p:graphicFrame>
        <p:nvGraphicFramePr>
          <p:cNvPr id="293" name="Google Shape;293;p16"/>
          <p:cNvGraphicFramePr/>
          <p:nvPr/>
        </p:nvGraphicFramePr>
        <p:xfrm>
          <a:off x="868680" y="2120145"/>
          <a:ext cx="3000000" cy="3000000"/>
        </p:xfrm>
        <a:graphic>
          <a:graphicData uri="http://schemas.openxmlformats.org/drawingml/2006/table">
            <a:tbl>
              <a:tblPr firstRow="1" bandRow="1">
                <a:noFill/>
                <a:tableStyleId>{112CE20D-767B-464B-9DCB-EA9EB6AF2ED4}</a:tableStyleId>
              </a:tblPr>
              <a:tblGrid>
                <a:gridCol w="1638200">
                  <a:extLst>
                    <a:ext uri="{9D8B030D-6E8A-4147-A177-3AD203B41FA5}">
                      <a16:colId xmlns:a16="http://schemas.microsoft.com/office/drawing/2014/main" val="20000"/>
                    </a:ext>
                  </a:extLst>
                </a:gridCol>
                <a:gridCol w="2067325">
                  <a:extLst>
                    <a:ext uri="{9D8B030D-6E8A-4147-A177-3AD203B41FA5}">
                      <a16:colId xmlns:a16="http://schemas.microsoft.com/office/drawing/2014/main" val="20001"/>
                    </a:ext>
                  </a:extLst>
                </a:gridCol>
                <a:gridCol w="881025">
                  <a:extLst>
                    <a:ext uri="{9D8B030D-6E8A-4147-A177-3AD203B41FA5}">
                      <a16:colId xmlns:a16="http://schemas.microsoft.com/office/drawing/2014/main" val="20002"/>
                    </a:ext>
                  </a:extLst>
                </a:gridCol>
                <a:gridCol w="735075">
                  <a:extLst>
                    <a:ext uri="{9D8B030D-6E8A-4147-A177-3AD203B41FA5}">
                      <a16:colId xmlns:a16="http://schemas.microsoft.com/office/drawing/2014/main" val="20003"/>
                    </a:ext>
                  </a:extLst>
                </a:gridCol>
                <a:gridCol w="752300">
                  <a:extLst>
                    <a:ext uri="{9D8B030D-6E8A-4147-A177-3AD203B41FA5}">
                      <a16:colId xmlns:a16="http://schemas.microsoft.com/office/drawing/2014/main" val="20004"/>
                    </a:ext>
                  </a:extLst>
                </a:gridCol>
                <a:gridCol w="778025">
                  <a:extLst>
                    <a:ext uri="{9D8B030D-6E8A-4147-A177-3AD203B41FA5}">
                      <a16:colId xmlns:a16="http://schemas.microsoft.com/office/drawing/2014/main" val="20005"/>
                    </a:ext>
                  </a:extLst>
                </a:gridCol>
                <a:gridCol w="1087000">
                  <a:extLst>
                    <a:ext uri="{9D8B030D-6E8A-4147-A177-3AD203B41FA5}">
                      <a16:colId xmlns:a16="http://schemas.microsoft.com/office/drawing/2014/main" val="20006"/>
                    </a:ext>
                  </a:extLst>
                </a:gridCol>
              </a:tblGrid>
              <a:tr h="329175">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MAE vs 9-shot mean</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000">
                          <a:solidFill>
                            <a:srgbClr val="14213D"/>
                          </a:solidFill>
                          <a:latin typeface="IBM Plex Sans"/>
                          <a:ea typeface="IBM Plex Sans"/>
                          <a:cs typeface="IBM Plex Sans"/>
                          <a:sym typeface="IBM Plex Sans"/>
                        </a:rPr>
                        <a:t>Explanation</a:t>
                      </a:r>
                      <a:endParaRPr sz="1000" b="1" u="none" strike="noStrike" cap="none">
                        <a:solidFill>
                          <a:srgbClr val="14213D"/>
                        </a:solidFill>
                        <a:latin typeface="IBM Plex Sans"/>
                        <a:ea typeface="IBM Plex Sans"/>
                        <a:cs typeface="IBM Plex Sans"/>
                        <a:sym typeface="IBM Plex Sans"/>
                      </a:endParaRPr>
                    </a:p>
                  </a:txBody>
                  <a:tcPr marL="45725" marR="45725" marT="18300" marB="18300">
                    <a:solidFill>
                      <a:srgbClr val="E6E0D2"/>
                    </a:solidFill>
                  </a:tcPr>
                </a:tc>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run 1 (10 nC)</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run 2 (5.5)</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run 3 (4.8)</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run 4 (0.2)</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run 5 (0.1)</a:t>
                      </a:r>
                      <a:endParaRPr sz="1800" u="none" strike="noStrike" cap="none"/>
                    </a:p>
                  </a:txBody>
                  <a:tcPr marL="45725" marR="45725" marT="18300" marB="18300">
                    <a:solidFill>
                      <a:srgbClr val="E6E0D2"/>
                    </a:solidFill>
                  </a:tcPr>
                </a:tc>
                <a:extLst>
                  <a:ext uri="{0D108BD9-81ED-4DB2-BD59-A6C34878D82A}">
                    <a16:rowId xmlns:a16="http://schemas.microsoft.com/office/drawing/2014/main" val="10000"/>
                  </a:ext>
                </a:extLst>
              </a:tr>
              <a:tr h="329175">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9-shot mean (nC)</a:t>
                      </a:r>
                      <a:endParaRPr sz="1800" u="none" strike="noStrike" cap="none"/>
                    </a:p>
                  </a:txBody>
                  <a:tcPr marL="45725" marR="45725" marT="18300" marB="18300">
                    <a:solidFill>
                      <a:srgbClr val="FFFDF8"/>
                    </a:solidFill>
                  </a:tcPr>
                </a:tc>
                <a:tc>
                  <a:txBody>
                    <a:bodyPr/>
                    <a:lstStyle/>
                    <a:p>
                      <a:pPr marL="0" lvl="0" indent="0" algn="l" rtl="0">
                        <a:spcBef>
                          <a:spcPts val="0"/>
                        </a:spcBef>
                        <a:spcAft>
                          <a:spcPts val="0"/>
                        </a:spcAft>
                        <a:buNone/>
                      </a:pPr>
                      <a:r>
                        <a:rPr lang="en-US" sz="1000">
                          <a:latin typeface="IBM Plex Sans"/>
                          <a:ea typeface="IBM Plex Sans"/>
                          <a:cs typeface="IBM Plex Sans"/>
                          <a:sym typeface="IBM Plex Sans"/>
                        </a:rPr>
                        <a:t>Used by operators – the target to beat</a:t>
                      </a:r>
                      <a:endParaRPr sz="1000" b="1">
                        <a:solidFill>
                          <a:srgbClr val="14213D"/>
                        </a:solidFill>
                        <a:latin typeface="IBM Plex Sans"/>
                        <a:ea typeface="IBM Plex Sans"/>
                        <a:cs typeface="IBM Plex Sans"/>
                        <a:sym typeface="IBM Plex Sans"/>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0.343</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0.144</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0.141</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0.0195</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0.0122</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1"/>
                  </a:ext>
                </a:extLst>
              </a:tr>
              <a:tr h="329175">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hybrid level</a:t>
                      </a:r>
                      <a:endParaRPr sz="1800" u="none" strike="noStrike" cap="none"/>
                    </a:p>
                  </a:txBody>
                  <a:tcPr marL="45725" marR="45725" marT="18300" marB="18300">
                    <a:solidFill>
                      <a:srgbClr val="FFFDF8"/>
                    </a:solidFill>
                  </a:tcPr>
                </a:tc>
                <a:tc>
                  <a:txBody>
                    <a:bodyPr/>
                    <a:lstStyle/>
                    <a:p>
                      <a:pPr marL="0" lvl="0" indent="0" algn="l" rtl="0">
                        <a:spcBef>
                          <a:spcPts val="0"/>
                        </a:spcBef>
                        <a:spcAft>
                          <a:spcPts val="0"/>
                        </a:spcAft>
                        <a:buNone/>
                      </a:pPr>
                      <a:r>
                        <a:rPr lang="en-US" sz="1000">
                          <a:latin typeface="IBM Plex Sans"/>
                          <a:ea typeface="IBM Plex Sans"/>
                          <a:cs typeface="IBM Plex Sans"/>
                          <a:sym typeface="IBM Plex Sans"/>
                        </a:rPr>
                        <a:t>Same as above, but with a reset after a level change (deviation by 6x jitter, dropout, etc.)</a:t>
                      </a:r>
                      <a:endParaRPr sz="1000" b="1">
                        <a:solidFill>
                          <a:srgbClr val="14213D"/>
                        </a:solidFill>
                        <a:latin typeface="IBM Plex Sans"/>
                        <a:ea typeface="IBM Plex Sans"/>
                        <a:cs typeface="IBM Plex Sans"/>
                        <a:sym typeface="IBM Plex Sans"/>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−8.0 %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−1.9 %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−1.6 %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−1.7 %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−2.5 %</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2"/>
                  </a:ext>
                </a:extLst>
              </a:tr>
              <a:tr h="329175">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GRU, pooled runs</a:t>
                      </a:r>
                      <a:endParaRPr sz="1800" u="none" strike="noStrike" cap="none"/>
                    </a:p>
                  </a:txBody>
                  <a:tcPr marL="45725" marR="45725" marT="18300" marB="18300">
                    <a:solidFill>
                      <a:srgbClr val="FFFDF8"/>
                    </a:solidFill>
                  </a:tcPr>
                </a:tc>
                <a:tc>
                  <a:txBody>
                    <a:bodyPr/>
                    <a:lstStyle/>
                    <a:p>
                      <a:pPr marL="0" lvl="0" indent="0" algn="l" rtl="0">
                        <a:spcBef>
                          <a:spcPts val="0"/>
                        </a:spcBef>
                        <a:spcAft>
                          <a:spcPts val="0"/>
                        </a:spcAft>
                        <a:buNone/>
                      </a:pPr>
                      <a:r>
                        <a:rPr lang="en-US" sz="1000">
                          <a:latin typeface="IBM Plex Sans"/>
                          <a:ea typeface="IBM Plex Sans"/>
                          <a:cs typeface="IBM Plex Sans"/>
                          <a:sym typeface="IBM Plex Sans"/>
                        </a:rPr>
                        <a:t>GRU trained on first 90% of all 5 runs, tested on last 10%</a:t>
                      </a:r>
                      <a:endParaRPr sz="1000" b="1">
                        <a:solidFill>
                          <a:srgbClr val="14213D"/>
                        </a:solidFill>
                        <a:latin typeface="IBM Plex Sans"/>
                        <a:ea typeface="IBM Plex Sans"/>
                        <a:cs typeface="IBM Plex Sans"/>
                        <a:sym typeface="IBM Plex Sans"/>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−9.2 %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−3.0 %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−3.9 %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−4.6 %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−3.3 %</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3"/>
                  </a:ext>
                </a:extLst>
              </a:tr>
              <a:tr h="329175">
                <a:tc>
                  <a:txBody>
                    <a:bodyPr/>
                    <a:lstStyle/>
                    <a:p>
                      <a:pPr marL="0" marR="0" lvl="0" indent="0" algn="l" rtl="0">
                        <a:spcBef>
                          <a:spcPts val="0"/>
                        </a:spcBef>
                        <a:spcAft>
                          <a:spcPts val="0"/>
                        </a:spcAft>
                        <a:buNone/>
                      </a:pPr>
                      <a:r>
                        <a:rPr lang="en-US" sz="1000" b="1" u="none" strike="noStrike" cap="none">
                          <a:solidFill>
                            <a:srgbClr val="14213D"/>
                          </a:solidFill>
                          <a:latin typeface="IBM Plex Sans"/>
                          <a:ea typeface="IBM Plex Sans"/>
                          <a:cs typeface="IBM Plex Sans"/>
                          <a:sym typeface="IBM Plex Sans"/>
                        </a:rPr>
                        <a:t>GRU, other runs only</a:t>
                      </a:r>
                      <a:endParaRPr sz="1800" u="none" strike="noStrike" cap="none"/>
                    </a:p>
                  </a:txBody>
                  <a:tcPr marL="45725" marR="45725" marT="18300" marB="18300">
                    <a:solidFill>
                      <a:srgbClr val="FFFDF8"/>
                    </a:solidFill>
                  </a:tcPr>
                </a:tc>
                <a:tc>
                  <a:txBody>
                    <a:bodyPr/>
                    <a:lstStyle/>
                    <a:p>
                      <a:pPr marL="0" lvl="0" indent="0" algn="l" rtl="0">
                        <a:spcBef>
                          <a:spcPts val="0"/>
                        </a:spcBef>
                        <a:spcAft>
                          <a:spcPts val="0"/>
                        </a:spcAft>
                        <a:buNone/>
                      </a:pPr>
                      <a:r>
                        <a:rPr lang="en-US" sz="1000">
                          <a:latin typeface="IBM Plex Sans"/>
                          <a:ea typeface="IBM Plex Sans"/>
                          <a:cs typeface="IBM Plex Sans"/>
                          <a:sym typeface="IBM Plex Sans"/>
                        </a:rPr>
                        <a:t>GRU trained on four runs and tested on the remaining one</a:t>
                      </a:r>
                      <a:endParaRPr sz="1000" b="1">
                        <a:solidFill>
                          <a:srgbClr val="14213D"/>
                        </a:solidFill>
                        <a:latin typeface="IBM Plex Sans"/>
                        <a:ea typeface="IBM Plex Sans"/>
                        <a:cs typeface="IBM Plex Sans"/>
                        <a:sym typeface="IBM Plex Sans"/>
                      </a:endParaRPr>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−8.8 %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−2.3 %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−3.1 %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−4.8 %</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000" b="0" u="none" strike="noStrike" cap="none">
                          <a:solidFill>
                            <a:srgbClr val="14213D"/>
                          </a:solidFill>
                          <a:latin typeface="IBM Plex Sans"/>
                          <a:ea typeface="IBM Plex Sans"/>
                          <a:cs typeface="IBM Plex Sans"/>
                          <a:sym typeface="IBM Plex Sans"/>
                        </a:rPr>
                        <a:t>−3.6 %</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4"/>
                  </a:ext>
                </a:extLst>
              </a:tr>
            </a:tbl>
          </a:graphicData>
        </a:graphic>
      </p:graphicFrame>
      <p:graphicFrame>
        <p:nvGraphicFramePr>
          <p:cNvPr id="294" name="Google Shape;294;p16"/>
          <p:cNvGraphicFramePr/>
          <p:nvPr/>
        </p:nvGraphicFramePr>
        <p:xfrm>
          <a:off x="9886780" y="2240280"/>
          <a:ext cx="3000000" cy="3000000"/>
        </p:xfrm>
        <a:graphic>
          <a:graphicData uri="http://schemas.openxmlformats.org/drawingml/2006/table">
            <a:tbl>
              <a:tblPr firstRow="1" bandRow="1">
                <a:noFill/>
                <a:tableStyleId>{112CE20D-767B-464B-9DCB-EA9EB6AF2ED4}</a:tableStyleId>
              </a:tblPr>
              <a:tblGrid>
                <a:gridCol w="2025400">
                  <a:extLst>
                    <a:ext uri="{9D8B030D-6E8A-4147-A177-3AD203B41FA5}">
                      <a16:colId xmlns:a16="http://schemas.microsoft.com/office/drawing/2014/main" val="20000"/>
                    </a:ext>
                  </a:extLst>
                </a:gridCol>
              </a:tblGrid>
              <a:tr h="329175">
                <a:tc>
                  <a:txBody>
                    <a:bodyPr/>
                    <a:lstStyle/>
                    <a:p>
                      <a:pPr marL="0" marR="0" lvl="0" indent="0" algn="l" rtl="0">
                        <a:spcBef>
                          <a:spcPts val="0"/>
                        </a:spcBef>
                        <a:spcAft>
                          <a:spcPts val="0"/>
                        </a:spcAft>
                        <a:buNone/>
                      </a:pPr>
                      <a:r>
                        <a:rPr lang="en-US" sz="1000">
                          <a:solidFill>
                            <a:srgbClr val="14213D"/>
                          </a:solidFill>
                          <a:latin typeface="IBM Plex Sans"/>
                          <a:ea typeface="IBM Plex Sans"/>
                          <a:cs typeface="IBM Plex Sans"/>
                          <a:sym typeface="IBM Plex Sans"/>
                        </a:rPr>
                        <a:t>Block bootstrap*</a:t>
                      </a:r>
                      <a:endParaRPr sz="1800" u="none" strike="noStrike" cap="none"/>
                    </a:p>
                  </a:txBody>
                  <a:tcPr marL="45725" marR="45725" marT="18300" marB="18300">
                    <a:solidFill>
                      <a:srgbClr val="E6E0D2"/>
                    </a:solidFill>
                  </a:tcPr>
                </a:tc>
                <a:extLst>
                  <a:ext uri="{0D108BD9-81ED-4DB2-BD59-A6C34878D82A}">
                    <a16:rowId xmlns:a16="http://schemas.microsoft.com/office/drawing/2014/main" val="10000"/>
                  </a:ext>
                </a:extLst>
              </a:tr>
              <a:tr h="329175">
                <a:tc>
                  <a:txBody>
                    <a:bodyPr/>
                    <a:lstStyle/>
                    <a:p>
                      <a:pPr marL="0" marR="0" lvl="0" indent="0" algn="l" rtl="0">
                        <a:spcBef>
                          <a:spcPts val="0"/>
                        </a:spcBef>
                        <a:spcAft>
                          <a:spcPts val="0"/>
                        </a:spcAft>
                        <a:buNone/>
                      </a:pPr>
                      <a:r>
                        <a:rPr lang="en-US" sz="1000">
                          <a:solidFill>
                            <a:srgbClr val="14213D"/>
                          </a:solidFill>
                          <a:latin typeface="IBM Plex Sans"/>
                          <a:ea typeface="IBM Plex Sans"/>
                          <a:cs typeface="IBM Plex Sans"/>
                          <a:sym typeface="IBM Plex Sans"/>
                        </a:rPr>
                        <a:t>Fake additional data by drawing from error of GRU and 9-shot mean</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1"/>
                  </a:ext>
                </a:extLst>
              </a:tr>
              <a:tr h="329175">
                <a:tc>
                  <a:txBody>
                    <a:bodyPr/>
                    <a:lstStyle/>
                    <a:p>
                      <a:pPr marL="0" marR="0" lvl="0" indent="0" algn="l" rtl="0">
                        <a:spcBef>
                          <a:spcPts val="0"/>
                        </a:spcBef>
                        <a:spcAft>
                          <a:spcPts val="0"/>
                        </a:spcAft>
                        <a:buNone/>
                      </a:pPr>
                      <a:r>
                        <a:rPr lang="en-US" sz="1000">
                          <a:solidFill>
                            <a:srgbClr val="14213D"/>
                          </a:solidFill>
                          <a:latin typeface="IBM Plex Sans"/>
                          <a:ea typeface="IBM Plex Sans"/>
                          <a:cs typeface="IBM Plex Sans"/>
                          <a:sym typeface="IBM Plex Sans"/>
                        </a:rPr>
                        <a:t>Since consecutive errors are related, we randomize them in blocks of 50 shots</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h6524a41718b72fa9_1_47"/>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01" name="Google Shape;301;h6524a41718b72fa9_1_47"/>
          <p:cNvSpPr/>
          <p:nvPr/>
        </p:nvSpPr>
        <p:spPr>
          <a:xfrm>
            <a:off x="813816" y="813816"/>
            <a:ext cx="2834700" cy="283500"/>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02" name="Google Shape;302;h6524a41718b72fa9_1_47"/>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03" name="Google Shape;303;h6524a41718b72fa9_1_47"/>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sz="3600" b="1" i="0">
                <a:solidFill>
                  <a:srgbClr val="14213D"/>
                </a:solidFill>
                <a:latin typeface="Space Grotesk"/>
                <a:ea typeface="Space Grotesk"/>
                <a:cs typeface="Space Grotesk"/>
                <a:sym typeface="Space Grotesk"/>
              </a:rPr>
              <a:t>Next shot: </a:t>
            </a:r>
            <a:r>
              <a:rPr lang="en-US" b="1"/>
              <a:t>the models from Tier 2</a:t>
            </a:r>
            <a:endParaRPr sz="3600"/>
          </a:p>
        </p:txBody>
      </p:sp>
      <p:sp>
        <p:nvSpPr>
          <p:cNvPr id="304" name="Google Shape;304;h6524a41718b72fa9_1_47"/>
          <p:cNvSpPr/>
          <p:nvPr/>
        </p:nvSpPr>
        <p:spPr>
          <a:xfrm>
            <a:off x="813816" y="1783080"/>
            <a:ext cx="10881300" cy="320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14213D"/>
              </a:buClr>
              <a:buSzPts val="1600"/>
              <a:buFont typeface="IBM Plex Sans"/>
              <a:buNone/>
            </a:pPr>
            <a:r>
              <a:rPr lang="en-US" sz="1600" b="1">
                <a:solidFill>
                  <a:srgbClr val="14213D"/>
                </a:solidFill>
                <a:latin typeface="Space Grotesk"/>
                <a:ea typeface="Space Grotesk"/>
                <a:cs typeface="Space Grotesk"/>
                <a:sym typeface="Space Grotesk"/>
              </a:rPr>
              <a:t>The last 5 BCMs + the current features and the L=50 temporal CNN</a:t>
            </a:r>
            <a:endParaRPr sz="1600" b="1" i="0" u="none" strike="noStrike" cap="none">
              <a:solidFill>
                <a:schemeClr val="dk1"/>
              </a:solidFill>
              <a:latin typeface="Space Grotesk"/>
              <a:ea typeface="Space Grotesk"/>
              <a:cs typeface="Space Grotesk"/>
              <a:sym typeface="Space Grotesk"/>
            </a:endParaRPr>
          </a:p>
        </p:txBody>
      </p:sp>
      <p:sp>
        <p:nvSpPr>
          <p:cNvPr id="305" name="Google Shape;305;h6524a41718b72fa9_1_47"/>
          <p:cNvSpPr/>
          <p:nvPr/>
        </p:nvSpPr>
        <p:spPr>
          <a:xfrm>
            <a:off x="813825" y="5392125"/>
            <a:ext cx="10641900" cy="1970100"/>
          </a:xfrm>
          <a:prstGeom prst="rect">
            <a:avLst/>
          </a:prstGeom>
          <a:noFill/>
          <a:ln>
            <a:noFill/>
          </a:ln>
        </p:spPr>
        <p:txBody>
          <a:bodyPr spcFirstLastPara="1" wrap="square" lIns="0" tIns="0" rIns="0" bIns="0" anchor="t" anchorCtr="0">
            <a:noAutofit/>
          </a:bodyPr>
          <a:lstStyle/>
          <a:p>
            <a:pPr marL="457200" marR="0" lvl="0" indent="-317500" algn="l" rtl="0">
              <a:lnSpc>
                <a:spcPct val="140000"/>
              </a:lnSpc>
              <a:spcBef>
                <a:spcPts val="0"/>
              </a:spcBef>
              <a:spcAft>
                <a:spcPts val="0"/>
              </a:spcAft>
              <a:buClr>
                <a:srgbClr val="3B4660"/>
              </a:buClr>
              <a:buSzPts val="1400"/>
              <a:buFont typeface="IBM Plex Mono"/>
              <a:buChar char="➢"/>
            </a:pPr>
            <a:r>
              <a:rPr lang="en-US" b="1">
                <a:solidFill>
                  <a:srgbClr val="3B4660"/>
                </a:solidFill>
                <a:latin typeface="IBM Plex Mono"/>
                <a:ea typeface="IBM Plex Mono"/>
                <a:cs typeface="IBM Plex Mono"/>
                <a:sym typeface="IBM Plex Mono"/>
              </a:rPr>
              <a:t>Mean of last 50 performs approximately the same as any model</a:t>
            </a:r>
            <a:r>
              <a:rPr lang="en-US">
                <a:solidFill>
                  <a:srgbClr val="3B4660"/>
                </a:solidFill>
                <a:latin typeface="IBM Plex Mono"/>
                <a:ea typeface="IBM Plex Mono"/>
                <a:cs typeface="IBM Plex Mono"/>
                <a:sym typeface="IBM Plex Mono"/>
              </a:rPr>
              <a:t>, meaning that the there is little extra information available</a:t>
            </a:r>
            <a:endParaRPr>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b="1">
                <a:solidFill>
                  <a:srgbClr val="3B4660"/>
                </a:solidFill>
                <a:latin typeface="IBM Plex Mono"/>
                <a:ea typeface="IBM Plex Mono"/>
                <a:cs typeface="IBM Plex Mono"/>
                <a:sym typeface="IBM Plex Mono"/>
              </a:rPr>
              <a:t>Temporal CNN basically performs as well as the rolling average</a:t>
            </a:r>
            <a:endParaRPr>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a:solidFill>
                  <a:srgbClr val="3B4660"/>
                </a:solidFill>
                <a:latin typeface="IBM Plex Mono"/>
                <a:ea typeface="IBM Plex Mono"/>
                <a:cs typeface="IBM Plex Mono"/>
                <a:sym typeface="IBM Plex Mono"/>
              </a:rPr>
              <a:t>Note: no hyperparameter search was performed - these are vanilla models with default hyperparameter values</a:t>
            </a:r>
            <a:endParaRPr>
              <a:solidFill>
                <a:srgbClr val="3B4660"/>
              </a:solidFill>
              <a:latin typeface="IBM Plex Mono"/>
              <a:ea typeface="IBM Plex Mono"/>
              <a:cs typeface="IBM Plex Mono"/>
              <a:sym typeface="IBM Plex Mono"/>
            </a:endParaRPr>
          </a:p>
        </p:txBody>
      </p:sp>
      <p:graphicFrame>
        <p:nvGraphicFramePr>
          <p:cNvPr id="306" name="Google Shape;306;h6524a41718b72fa9_1_47"/>
          <p:cNvGraphicFramePr/>
          <p:nvPr/>
        </p:nvGraphicFramePr>
        <p:xfrm>
          <a:off x="812800" y="2159000"/>
          <a:ext cx="3000000" cy="3000000"/>
        </p:xfrm>
        <a:graphic>
          <a:graphicData uri="http://schemas.openxmlformats.org/drawingml/2006/table">
            <a:tbl>
              <a:tblPr>
                <a:noFill/>
                <a:tableStyleId>{8D058665-8FE9-45B2-BE9A-A264AC7DD316}</a:tableStyleId>
              </a:tblPr>
              <a:tblGrid>
                <a:gridCol w="504825">
                  <a:extLst>
                    <a:ext uri="{9D8B030D-6E8A-4147-A177-3AD203B41FA5}">
                      <a16:colId xmlns:a16="http://schemas.microsoft.com/office/drawing/2014/main" val="20000"/>
                    </a:ext>
                  </a:extLst>
                </a:gridCol>
                <a:gridCol w="1457325">
                  <a:extLst>
                    <a:ext uri="{9D8B030D-6E8A-4147-A177-3AD203B41FA5}">
                      <a16:colId xmlns:a16="http://schemas.microsoft.com/office/drawing/2014/main" val="20001"/>
                    </a:ext>
                  </a:extLst>
                </a:gridCol>
                <a:gridCol w="790575">
                  <a:extLst>
                    <a:ext uri="{9D8B030D-6E8A-4147-A177-3AD203B41FA5}">
                      <a16:colId xmlns:a16="http://schemas.microsoft.com/office/drawing/2014/main" val="20002"/>
                    </a:ext>
                  </a:extLst>
                </a:gridCol>
                <a:gridCol w="790575">
                  <a:extLst>
                    <a:ext uri="{9D8B030D-6E8A-4147-A177-3AD203B41FA5}">
                      <a16:colId xmlns:a16="http://schemas.microsoft.com/office/drawing/2014/main" val="20003"/>
                    </a:ext>
                  </a:extLst>
                </a:gridCol>
                <a:gridCol w="962025">
                  <a:extLst>
                    <a:ext uri="{9D8B030D-6E8A-4147-A177-3AD203B41FA5}">
                      <a16:colId xmlns:a16="http://schemas.microsoft.com/office/drawing/2014/main" val="20004"/>
                    </a:ext>
                  </a:extLst>
                </a:gridCol>
                <a:gridCol w="962025">
                  <a:extLst>
                    <a:ext uri="{9D8B030D-6E8A-4147-A177-3AD203B41FA5}">
                      <a16:colId xmlns:a16="http://schemas.microsoft.com/office/drawing/2014/main" val="20005"/>
                    </a:ext>
                  </a:extLst>
                </a:gridCol>
                <a:gridCol w="971550">
                  <a:extLst>
                    <a:ext uri="{9D8B030D-6E8A-4147-A177-3AD203B41FA5}">
                      <a16:colId xmlns:a16="http://schemas.microsoft.com/office/drawing/2014/main" val="20006"/>
                    </a:ext>
                  </a:extLst>
                </a:gridCol>
                <a:gridCol w="990600">
                  <a:extLst>
                    <a:ext uri="{9D8B030D-6E8A-4147-A177-3AD203B41FA5}">
                      <a16:colId xmlns:a16="http://schemas.microsoft.com/office/drawing/2014/main" val="20007"/>
                    </a:ext>
                  </a:extLst>
                </a:gridCol>
                <a:gridCol w="1009650">
                  <a:extLst>
                    <a:ext uri="{9D8B030D-6E8A-4147-A177-3AD203B41FA5}">
                      <a16:colId xmlns:a16="http://schemas.microsoft.com/office/drawing/2014/main" val="20008"/>
                    </a:ext>
                  </a:extLst>
                </a:gridCol>
                <a:gridCol w="981075">
                  <a:extLst>
                    <a:ext uri="{9D8B030D-6E8A-4147-A177-3AD203B41FA5}">
                      <a16:colId xmlns:a16="http://schemas.microsoft.com/office/drawing/2014/main" val="20009"/>
                    </a:ext>
                  </a:extLst>
                </a:gridCol>
                <a:gridCol w="1009650">
                  <a:extLst>
                    <a:ext uri="{9D8B030D-6E8A-4147-A177-3AD203B41FA5}">
                      <a16:colId xmlns:a16="http://schemas.microsoft.com/office/drawing/2014/main" val="20010"/>
                    </a:ext>
                  </a:extLst>
                </a:gridCol>
              </a:tblGrid>
              <a:tr h="381000">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seg</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regime</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BCM mean pC</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BCM std pC</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mean of last 9</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mean of last 50</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linear</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random forest</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XGBoost</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MLP (32-16)</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temporal CNN (L = 50)</a:t>
                      </a:r>
                      <a:endParaRPr sz="1100" b="1">
                        <a:solidFill>
                          <a:srgbClr val="14213D"/>
                        </a:solidFill>
                        <a:latin typeface="IBM Plex Sans"/>
                        <a:ea typeface="IBM Plex Sans"/>
                        <a:cs typeface="IBM Plex Sans"/>
                        <a:sym typeface="IBM Plex Sans"/>
                      </a:endParaRPr>
                    </a:p>
                  </a:txBody>
                  <a:tcPr marL="91425" marR="91425" marT="91425" marB="91425">
                    <a:solidFill>
                      <a:schemeClr val="lt2"/>
                    </a:solidFill>
                  </a:tcPr>
                </a:tc>
                <a:extLst>
                  <a:ext uri="{0D108BD9-81ED-4DB2-BD59-A6C34878D82A}">
                    <a16:rowId xmlns:a16="http://schemas.microsoft.com/office/drawing/2014/main" val="10000"/>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0</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low charge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251</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23.3</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18.6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17.6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17.5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17.4</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17.6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17.5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17.6</a:t>
                      </a:r>
                      <a:endParaRPr sz="1100">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1"/>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3</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low charge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127</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16.2</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12.2</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12.1</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2"/>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4</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low charge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107</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21.2</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12.1</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12.0</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12.0</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11.9</a:t>
                      </a:r>
                      <a:endParaRPr sz="1100" b="1">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3"/>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5</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high, repetitive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5583</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427.1</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146.5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147.4</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141.7</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141.7</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142.0</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141.7</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142.4</a:t>
                      </a:r>
                      <a:endParaRPr sz="1100">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4"/>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high, non-repetitive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4862</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375.9</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141.8</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142.5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136.2</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136.0</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136.6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137.6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136.7</a:t>
                      </a:r>
                      <a:endParaRPr sz="1100">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5"/>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6</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high, non-repetitive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5571</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190.8</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118.0</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114.4</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111.2</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111.4</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113.7</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113.9</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112.2</a:t>
                      </a:r>
                      <a:endParaRPr sz="1100">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6"/>
                  </a:ext>
                </a:extLst>
              </a:tr>
              <a:tr h="276225">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7</a:t>
                      </a:r>
                      <a:endParaRPr sz="1100" b="1">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high, non-repetitive</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10086</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680.3</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340.5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337.7</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335.0</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340.9</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338.3</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a:solidFill>
                            <a:srgbClr val="14213D"/>
                          </a:solidFill>
                          <a:latin typeface="IBM Plex Sans"/>
                          <a:ea typeface="IBM Plex Sans"/>
                          <a:cs typeface="IBM Plex Sans"/>
                          <a:sym typeface="IBM Plex Sans"/>
                        </a:rPr>
                        <a:t>344.5</a:t>
                      </a:r>
                      <a:endParaRPr sz="1100">
                        <a:solidFill>
                          <a:srgbClr val="14213D"/>
                        </a:solidFill>
                        <a:latin typeface="IBM Plex Sans"/>
                        <a:ea typeface="IBM Plex Sans"/>
                        <a:cs typeface="IBM Plex Sans"/>
                        <a:sym typeface="IBM Plex Sans"/>
                      </a:endParaRPr>
                    </a:p>
                  </a:txBody>
                  <a:tcPr marL="91425" marR="91425" marT="91425" marB="91425"/>
                </a:tc>
                <a:tc>
                  <a:txBody>
                    <a:bodyPr/>
                    <a:lstStyle/>
                    <a:p>
                      <a:pPr marL="0" lvl="0" indent="0" algn="ctr" rtl="0">
                        <a:lnSpc>
                          <a:spcPct val="115000"/>
                        </a:lnSpc>
                        <a:spcBef>
                          <a:spcPts val="0"/>
                        </a:spcBef>
                        <a:spcAft>
                          <a:spcPts val="0"/>
                        </a:spcAft>
                        <a:buNone/>
                      </a:pPr>
                      <a:r>
                        <a:rPr lang="en-US" sz="1100" b="1">
                          <a:solidFill>
                            <a:srgbClr val="14213D"/>
                          </a:solidFill>
                          <a:latin typeface="IBM Plex Sans"/>
                          <a:ea typeface="IBM Plex Sans"/>
                          <a:cs typeface="IBM Plex Sans"/>
                          <a:sym typeface="IBM Plex Sans"/>
                        </a:rPr>
                        <a:t>333.4</a:t>
                      </a:r>
                      <a:endParaRPr sz="1100" b="1">
                        <a:solidFill>
                          <a:srgbClr val="14213D"/>
                        </a:solidFill>
                        <a:latin typeface="IBM Plex Sans"/>
                        <a:ea typeface="IBM Plex Sans"/>
                        <a:cs typeface="IBM Plex Sans"/>
                        <a:sym typeface="IBM Plex Sans"/>
                      </a:endParaRPr>
                    </a:p>
                  </a:txBody>
                  <a:tcPr marL="91425" marR="91425" marT="91425" marB="91425"/>
                </a:tc>
                <a:extLst>
                  <a:ext uri="{0D108BD9-81ED-4DB2-BD59-A6C34878D82A}">
                    <a16:rowId xmlns:a16="http://schemas.microsoft.com/office/drawing/2014/main" val="10007"/>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17"/>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13" name="Google Shape;313;p17"/>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14" name="Google Shape;314;p17"/>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15" name="Google Shape;315;p17"/>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Further ahead, smaller gains</a:t>
            </a:r>
            <a:endParaRPr sz="3600"/>
          </a:p>
        </p:txBody>
      </p:sp>
      <p:sp>
        <p:nvSpPr>
          <p:cNvPr id="316" name="Google Shape;316;p17"/>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34</a:t>
            </a:r>
            <a:endParaRPr sz="1200" b="0" i="0" u="none" strike="noStrike" cap="none">
              <a:solidFill>
                <a:schemeClr val="dk1"/>
              </a:solidFill>
              <a:latin typeface="IBM Plex Mono"/>
              <a:ea typeface="IBM Plex Mono"/>
              <a:cs typeface="IBM Plex Mono"/>
              <a:sym typeface="IBM Plex Mono"/>
            </a:endParaRPr>
          </a:p>
        </p:txBody>
      </p:sp>
      <p:sp>
        <p:nvSpPr>
          <p:cNvPr id="317" name="Google Shape;317;p17"/>
          <p:cNvSpPr/>
          <p:nvPr/>
        </p:nvSpPr>
        <p:spPr>
          <a:xfrm>
            <a:off x="813825" y="1783075"/>
            <a:ext cx="11312700" cy="353400"/>
          </a:xfrm>
          <a:prstGeom prst="rect">
            <a:avLst/>
          </a:prstGeom>
          <a:noFill/>
          <a:ln>
            <a:noFill/>
          </a:ln>
        </p:spPr>
        <p:txBody>
          <a:bodyPr spcFirstLastPara="1" wrap="square" lIns="0" tIns="0" rIns="0" bIns="0" anchor="t" anchorCtr="0">
            <a:normAutofit/>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Space Grotesk"/>
                <a:ea typeface="Space Grotesk"/>
                <a:cs typeface="Space Grotesk"/>
                <a:sym typeface="Space Grotesk"/>
              </a:rPr>
              <a:t>Multi-step forecasts </a:t>
            </a:r>
            <a:r>
              <a:rPr lang="en-US" sz="1600" b="1">
                <a:solidFill>
                  <a:srgbClr val="14213D"/>
                </a:solidFill>
                <a:latin typeface="Space Grotesk"/>
                <a:ea typeface="Space Grotesk"/>
                <a:cs typeface="Space Grotesk"/>
                <a:sym typeface="Space Grotesk"/>
              </a:rPr>
              <a:t>vs</a:t>
            </a:r>
            <a:r>
              <a:rPr lang="en-US" sz="1600" b="1" i="0" u="none" strike="noStrike" cap="none">
                <a:solidFill>
                  <a:srgbClr val="14213D"/>
                </a:solidFill>
                <a:latin typeface="Space Grotesk"/>
                <a:ea typeface="Space Grotesk"/>
                <a:cs typeface="Space Grotesk"/>
                <a:sym typeface="Space Grotesk"/>
              </a:rPr>
              <a:t> the 9-shot mean </a:t>
            </a:r>
            <a:r>
              <a:rPr lang="en-US" sz="1600" b="1">
                <a:solidFill>
                  <a:srgbClr val="14213D"/>
                </a:solidFill>
                <a:latin typeface="Space Grotesk"/>
                <a:ea typeface="Space Grotesk"/>
                <a:cs typeface="Space Grotesk"/>
                <a:sym typeface="Space Grotesk"/>
              </a:rPr>
              <a:t>&amp;</a:t>
            </a:r>
            <a:r>
              <a:rPr lang="en-US" sz="1600" b="1" i="0" u="none" strike="noStrike" cap="none">
                <a:solidFill>
                  <a:srgbClr val="14213D"/>
                </a:solidFill>
                <a:latin typeface="Space Grotesk"/>
                <a:ea typeface="Space Grotesk"/>
                <a:cs typeface="Space Grotesk"/>
                <a:sym typeface="Space Grotesk"/>
              </a:rPr>
              <a:t> the oracle floor (slow trend + random noise </a:t>
            </a:r>
            <a:r>
              <a:rPr lang="en-US" sz="1600" b="1">
                <a:solidFill>
                  <a:srgbClr val="14213D"/>
                </a:solidFill>
                <a:latin typeface="Space Grotesk"/>
                <a:ea typeface="Space Grotesk"/>
                <a:cs typeface="Space Grotesk"/>
                <a:sym typeface="Space Grotesk"/>
              </a:rPr>
              <a:t>from both past and future)</a:t>
            </a:r>
            <a:r>
              <a:rPr lang="en-US" sz="1600" b="1" i="0" u="none" strike="noStrike" cap="none">
                <a:solidFill>
                  <a:srgbClr val="14213D"/>
                </a:solidFill>
                <a:latin typeface="Space Grotesk"/>
                <a:ea typeface="Space Grotesk"/>
                <a:cs typeface="Space Grotesk"/>
                <a:sym typeface="Space Grotesk"/>
              </a:rPr>
              <a:t>.</a:t>
            </a:r>
            <a:endParaRPr sz="1600" b="1" i="0" u="none" strike="noStrike" cap="none">
              <a:solidFill>
                <a:schemeClr val="dk1"/>
              </a:solidFill>
              <a:latin typeface="Space Grotesk"/>
              <a:ea typeface="Space Grotesk"/>
              <a:cs typeface="Space Grotesk"/>
              <a:sym typeface="Space Grotesk"/>
            </a:endParaRPr>
          </a:p>
        </p:txBody>
      </p:sp>
      <p:sp>
        <p:nvSpPr>
          <p:cNvPr id="318" name="Google Shape;318;p17"/>
          <p:cNvSpPr/>
          <p:nvPr/>
        </p:nvSpPr>
        <p:spPr>
          <a:xfrm>
            <a:off x="877275" y="4126200"/>
            <a:ext cx="6177000" cy="2268900"/>
          </a:xfrm>
          <a:prstGeom prst="rect">
            <a:avLst/>
          </a:prstGeom>
          <a:noFill/>
          <a:ln>
            <a:noFill/>
          </a:ln>
        </p:spPr>
        <p:txBody>
          <a:bodyPr spcFirstLastPara="1" wrap="square" lIns="0" tIns="0" rIns="0" bIns="0" anchor="t" anchorCtr="0">
            <a:normAutofit lnSpcReduction="10000"/>
          </a:bodyPr>
          <a:lstStyle/>
          <a:p>
            <a:pPr marL="457200" marR="0" lvl="0" indent="-317500" algn="l" rtl="0">
              <a:lnSpc>
                <a:spcPct val="140000"/>
              </a:lnSpc>
              <a:spcBef>
                <a:spcPts val="0"/>
              </a:spcBef>
              <a:spcAft>
                <a:spcPts val="0"/>
              </a:spcAft>
              <a:buClr>
                <a:srgbClr val="3B4660"/>
              </a:buClr>
              <a:buSzPts val="1400"/>
              <a:buFont typeface="IBM Plex Sans"/>
              <a:buChar char="➢"/>
            </a:pPr>
            <a:r>
              <a:rPr lang="en-US" b="1" i="0" u="none" strike="noStrike" cap="none">
                <a:solidFill>
                  <a:srgbClr val="3B4660"/>
                </a:solidFill>
                <a:latin typeface="IBM Plex Mono"/>
                <a:ea typeface="IBM Plex Mono"/>
                <a:cs typeface="IBM Plex Mono"/>
                <a:sym typeface="IBM Plex Mono"/>
              </a:rPr>
              <a:t>h = 1–5: 1.5–7 % better than the 9-shot mean</a:t>
            </a:r>
            <a:r>
              <a:rPr lang="en-US" i="0" u="none" strike="noStrike" cap="none">
                <a:solidFill>
                  <a:srgbClr val="3B4660"/>
                </a:solidFill>
                <a:latin typeface="IBM Plex Mono"/>
                <a:ea typeface="IBM Plex Mono"/>
                <a:cs typeface="IBM Plex Mono"/>
                <a:sym typeface="IBM Plex Mono"/>
              </a:rPr>
              <a:t>, significant on 5–7 of 7 segments; h = 50 mostly not</a:t>
            </a:r>
            <a:endParaRPr i="0" u="none" strike="noStrike" cap="none">
              <a:solidFill>
                <a:schemeClr val="dk1"/>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b="1" i="0" u="none" strike="noStrike" cap="none">
                <a:solidFill>
                  <a:srgbClr val="3B4660"/>
                </a:solidFill>
                <a:latin typeface="IBM Plex Mono"/>
                <a:ea typeface="IBM Plex Mono"/>
                <a:cs typeface="IBM Plex Mono"/>
                <a:sym typeface="IBM Plex Mono"/>
              </a:rPr>
              <a:t>Ensemble at the floor up to N ≈ 2, +6 % at N = 10, +22 % at N = 100</a:t>
            </a:r>
            <a:endParaRPr b="1" i="0" u="none" strike="noStrike" cap="none">
              <a:solidFill>
                <a:schemeClr val="dk1"/>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i="0" u="none" strike="noStrike" cap="none">
                <a:solidFill>
                  <a:srgbClr val="3B4660"/>
                </a:solidFill>
                <a:latin typeface="IBM Plex Mono"/>
                <a:ea typeface="IBM Plex Mono"/>
                <a:cs typeface="IBM Plex Mono"/>
                <a:sym typeface="IBM Plex Mono"/>
              </a:rPr>
              <a:t>Instruments add ~0.5–1 point: </a:t>
            </a:r>
            <a:r>
              <a:rPr lang="en-US" b="1" i="0" u="none" strike="noStrike" cap="none">
                <a:solidFill>
                  <a:srgbClr val="3B4660"/>
                </a:solidFill>
                <a:latin typeface="IBM Plex Mono"/>
                <a:ea typeface="IBM Plex Mono"/>
                <a:cs typeface="IBM Plex Mono"/>
                <a:sym typeface="IBM Plex Mono"/>
              </a:rPr>
              <a:t>the next laser pulse is not predictable (R² ≤ 0.35)</a:t>
            </a:r>
            <a:endParaRPr b="1">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Sans"/>
              <a:buChar char="➢"/>
            </a:pPr>
            <a:r>
              <a:rPr lang="en-US">
                <a:solidFill>
                  <a:srgbClr val="3B4660"/>
                </a:solidFill>
                <a:latin typeface="IBM Plex Mono"/>
                <a:ea typeface="IBM Plex Mono"/>
                <a:cs typeface="IBM Plex Mono"/>
                <a:sym typeface="IBM Plex Mono"/>
              </a:rPr>
              <a:t>Simple and exponential </a:t>
            </a:r>
            <a:r>
              <a:rPr lang="en-US" b="1">
                <a:solidFill>
                  <a:srgbClr val="3B4660"/>
                </a:solidFill>
                <a:latin typeface="IBM Plex Mono"/>
                <a:ea typeface="IBM Plex Mono"/>
                <a:cs typeface="IBM Plex Mono"/>
                <a:sym typeface="IBM Plex Mono"/>
              </a:rPr>
              <a:t>moving average give ~5% excess error.</a:t>
            </a:r>
            <a:endParaRPr sz="1300">
              <a:solidFill>
                <a:srgbClr val="3B4660"/>
              </a:solidFill>
              <a:latin typeface="IBM Plex Sans"/>
              <a:ea typeface="IBM Plex Sans"/>
              <a:cs typeface="IBM Plex Sans"/>
              <a:sym typeface="IBM Plex Sans"/>
            </a:endParaRPr>
          </a:p>
        </p:txBody>
      </p:sp>
      <p:pic>
        <p:nvPicPr>
          <p:cNvPr id="319" name="Google Shape;319;p17" descr="15_alignment_significance_intervals_cell16.png"/>
          <p:cNvPicPr preferRelativeResize="0"/>
          <p:nvPr/>
        </p:nvPicPr>
        <p:blipFill rotWithShape="1">
          <a:blip r:embed="rId3">
            <a:alphaModFix/>
          </a:blip>
          <a:srcRect/>
          <a:stretch/>
        </p:blipFill>
        <p:spPr>
          <a:xfrm>
            <a:off x="1051411" y="2136485"/>
            <a:ext cx="10327775" cy="1920240"/>
          </a:xfrm>
          <a:prstGeom prst="rect">
            <a:avLst/>
          </a:prstGeom>
          <a:noFill/>
          <a:ln>
            <a:noFill/>
          </a:ln>
        </p:spPr>
      </p:pic>
      <p:pic>
        <p:nvPicPr>
          <p:cNvPr id="320" name="Google Shape;320;p17" descr="excess_over_floor.png"/>
          <p:cNvPicPr preferRelativeResize="0"/>
          <p:nvPr/>
        </p:nvPicPr>
        <p:blipFill rotWithShape="1">
          <a:blip r:embed="rId4">
            <a:alphaModFix/>
          </a:blip>
          <a:srcRect/>
          <a:stretch/>
        </p:blipFill>
        <p:spPr>
          <a:xfrm>
            <a:off x="7090979" y="4160528"/>
            <a:ext cx="4871274" cy="2509951"/>
          </a:xfrm>
          <a:prstGeom prst="rect">
            <a:avLst/>
          </a:prstGeom>
          <a:noFill/>
          <a:ln>
            <a:noFill/>
          </a:ln>
        </p:spPr>
      </p:pic>
      <p:graphicFrame>
        <p:nvGraphicFramePr>
          <p:cNvPr id="321" name="Google Shape;321;p17"/>
          <p:cNvGraphicFramePr/>
          <p:nvPr/>
        </p:nvGraphicFramePr>
        <p:xfrm>
          <a:off x="8547355" y="129430"/>
          <a:ext cx="3000000" cy="3000000"/>
        </p:xfrm>
        <a:graphic>
          <a:graphicData uri="http://schemas.openxmlformats.org/drawingml/2006/table">
            <a:tbl>
              <a:tblPr firstRow="1" bandRow="1">
                <a:noFill/>
                <a:tableStyleId>{112CE20D-767B-464B-9DCB-EA9EB6AF2ED4}</a:tableStyleId>
              </a:tblPr>
              <a:tblGrid>
                <a:gridCol w="3579175">
                  <a:extLst>
                    <a:ext uri="{9D8B030D-6E8A-4147-A177-3AD203B41FA5}">
                      <a16:colId xmlns:a16="http://schemas.microsoft.com/office/drawing/2014/main" val="20000"/>
                    </a:ext>
                  </a:extLst>
                </a:gridCol>
              </a:tblGrid>
              <a:tr h="329175">
                <a:tc>
                  <a:txBody>
                    <a:bodyPr/>
                    <a:lstStyle/>
                    <a:p>
                      <a:pPr marL="0" marR="0" lvl="0" indent="0" algn="l" rtl="0">
                        <a:spcBef>
                          <a:spcPts val="0"/>
                        </a:spcBef>
                        <a:spcAft>
                          <a:spcPts val="0"/>
                        </a:spcAft>
                        <a:buNone/>
                      </a:pPr>
                      <a:r>
                        <a:rPr lang="en-US" sz="1000">
                          <a:solidFill>
                            <a:srgbClr val="14213D"/>
                          </a:solidFill>
                          <a:latin typeface="IBM Plex Sans"/>
                          <a:ea typeface="IBM Plex Sans"/>
                          <a:cs typeface="IBM Plex Sans"/>
                          <a:sym typeface="IBM Plex Sans"/>
                        </a:rPr>
                        <a:t>Model used</a:t>
                      </a:r>
                      <a:endParaRPr sz="1800" u="none" strike="noStrike" cap="none"/>
                    </a:p>
                  </a:txBody>
                  <a:tcPr marL="45725" marR="45725" marT="18300" marB="18300">
                    <a:solidFill>
                      <a:srgbClr val="E6E0D2"/>
                    </a:solidFill>
                  </a:tcPr>
                </a:tc>
                <a:extLst>
                  <a:ext uri="{0D108BD9-81ED-4DB2-BD59-A6C34878D82A}">
                    <a16:rowId xmlns:a16="http://schemas.microsoft.com/office/drawing/2014/main" val="10000"/>
                  </a:ext>
                </a:extLst>
              </a:tr>
              <a:tr h="329175">
                <a:tc>
                  <a:txBody>
                    <a:bodyPr/>
                    <a:lstStyle/>
                    <a:p>
                      <a:pPr marL="0" marR="0" lvl="0" indent="0" algn="l" rtl="0">
                        <a:spcBef>
                          <a:spcPts val="0"/>
                        </a:spcBef>
                        <a:spcAft>
                          <a:spcPts val="0"/>
                        </a:spcAft>
                        <a:buNone/>
                      </a:pPr>
                      <a:r>
                        <a:rPr lang="en-US" sz="1000" b="1">
                          <a:solidFill>
                            <a:srgbClr val="14213D"/>
                          </a:solidFill>
                          <a:latin typeface="IBM Plex Sans"/>
                          <a:ea typeface="IBM Plex Sans"/>
                          <a:cs typeface="IBM Plex Sans"/>
                          <a:sym typeface="IBM Plex Sans"/>
                        </a:rPr>
                        <a:t>Ridge, past charge only (blue)</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1"/>
                  </a:ext>
                </a:extLst>
              </a:tr>
              <a:tr h="329175">
                <a:tc>
                  <a:txBody>
                    <a:bodyPr/>
                    <a:lstStyle/>
                    <a:p>
                      <a:pPr marL="0" marR="0" lvl="0" indent="0" algn="l" rtl="0">
                        <a:spcBef>
                          <a:spcPts val="0"/>
                        </a:spcBef>
                        <a:spcAft>
                          <a:spcPts val="0"/>
                        </a:spcAft>
                        <a:buNone/>
                      </a:pPr>
                      <a:r>
                        <a:rPr lang="en-US" sz="1000" b="1">
                          <a:solidFill>
                            <a:srgbClr val="14213D"/>
                          </a:solidFill>
                          <a:latin typeface="IBM Plex Sans"/>
                          <a:ea typeface="IBM Plex Sans"/>
                          <a:cs typeface="IBM Plex Sans"/>
                          <a:sym typeface="IBM Plex Sans"/>
                        </a:rPr>
                        <a:t>Ridge, past charge plus other diagnostics (orange)</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2"/>
                  </a:ext>
                </a:extLst>
              </a:tr>
              <a:tr h="329175">
                <a:tc>
                  <a:txBody>
                    <a:bodyPr/>
                    <a:lstStyle/>
                    <a:p>
                      <a:pPr marL="0" marR="0" lvl="0" indent="0" algn="l" rtl="0">
                        <a:spcBef>
                          <a:spcPts val="0"/>
                        </a:spcBef>
                        <a:spcAft>
                          <a:spcPts val="0"/>
                        </a:spcAft>
                        <a:buNone/>
                      </a:pPr>
                      <a:r>
                        <a:rPr lang="en-US" sz="1000" b="1">
                          <a:solidFill>
                            <a:srgbClr val="14213D"/>
                          </a:solidFill>
                          <a:latin typeface="IBM Plex Sans"/>
                          <a:ea typeface="IBM Plex Sans"/>
                          <a:cs typeface="IBM Plex Sans"/>
                          <a:sym typeface="IBM Plex Sans"/>
                        </a:rPr>
                        <a:t>GRU, past charge plus other diagnostics (red)</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3"/>
                  </a:ext>
                </a:extLst>
              </a:tr>
            </a:tbl>
          </a:graphicData>
        </a:graphic>
      </p:graphicFrame>
      <p:sp>
        <p:nvSpPr>
          <p:cNvPr id="322" name="Google Shape;322;p17"/>
          <p:cNvSpPr txBox="1"/>
          <p:nvPr/>
        </p:nvSpPr>
        <p:spPr>
          <a:xfrm>
            <a:off x="2454200" y="6332850"/>
            <a:ext cx="5526300" cy="437700"/>
          </a:xfrm>
          <a:prstGeom prst="rect">
            <a:avLst/>
          </a:prstGeom>
          <a:noFill/>
          <a:ln>
            <a:noFill/>
          </a:ln>
        </p:spPr>
        <p:txBody>
          <a:bodyPr spcFirstLastPara="1" wrap="square" lIns="91425" tIns="91425" rIns="91425" bIns="91425" anchor="t" anchorCtr="0">
            <a:noAutofit/>
          </a:bodyPr>
          <a:lstStyle/>
          <a:p>
            <a:pPr marL="457200" lvl="0" indent="-330200" algn="l" rtl="0">
              <a:lnSpc>
                <a:spcPct val="140000"/>
              </a:lnSpc>
              <a:spcBef>
                <a:spcPts val="0"/>
              </a:spcBef>
              <a:spcAft>
                <a:spcPts val="0"/>
              </a:spcAft>
              <a:buClr>
                <a:srgbClr val="3B4660"/>
              </a:buClr>
              <a:buSzPts val="1600"/>
              <a:buFont typeface="IBM Plex Mono"/>
              <a:buChar char="➔"/>
            </a:pPr>
            <a:r>
              <a:rPr lang="en-US" sz="1600">
                <a:solidFill>
                  <a:srgbClr val="3B4660"/>
                </a:solidFill>
                <a:latin typeface="IBM Plex Mono"/>
                <a:ea typeface="IBM Plex Mono"/>
                <a:cs typeface="IBM Plex Mono"/>
                <a:sym typeface="IBM Plex Mono"/>
              </a:rPr>
              <a:t>The </a:t>
            </a:r>
            <a:r>
              <a:rPr lang="en-US" sz="1600" b="1">
                <a:solidFill>
                  <a:srgbClr val="3B4660"/>
                </a:solidFill>
                <a:latin typeface="IBM Plex Mono"/>
                <a:ea typeface="IBM Plex Mono"/>
                <a:cs typeface="IBM Plex Mono"/>
                <a:sym typeface="IBM Plex Mono"/>
              </a:rPr>
              <a:t>heavier models help, but not by much</a:t>
            </a:r>
            <a:endParaRPr sz="1600" b="1">
              <a:solidFill>
                <a:srgbClr val="3B4660"/>
              </a:solidFill>
              <a:latin typeface="IBM Plex Mono"/>
              <a:ea typeface="IBM Plex Mono"/>
              <a:cs typeface="IBM Plex Mono"/>
              <a:sym typeface="IBM Plex Mono"/>
            </a:endParaRPr>
          </a:p>
          <a:p>
            <a:pPr marL="0" lvl="0" indent="0" algn="l" rtl="0">
              <a:spcBef>
                <a:spcPts val="0"/>
              </a:spcBef>
              <a:spcAft>
                <a:spcPts val="0"/>
              </a:spcAft>
              <a:buNone/>
            </a:pPr>
            <a:endParaRPr sz="1600">
              <a:solidFill>
                <a:srgbClr val="14213D"/>
              </a:solidFill>
              <a:latin typeface="IBM Plex Mono"/>
              <a:ea typeface="IBM Plex Mono"/>
              <a:cs typeface="IBM Plex Mono"/>
              <a:sym typeface="IBM Plex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21"/>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29" name="Google Shape;329;p21"/>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30" name="Google Shape;330;p21"/>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31" name="Google Shape;331;p21"/>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Summary: what worked and what did not</a:t>
            </a:r>
            <a:endParaRPr sz="3600"/>
          </a:p>
        </p:txBody>
      </p:sp>
      <p:sp>
        <p:nvSpPr>
          <p:cNvPr id="332" name="Google Shape;332;p21"/>
          <p:cNvSpPr/>
          <p:nvPr/>
        </p:nvSpPr>
        <p:spPr>
          <a:xfrm>
            <a:off x="868680" y="2377440"/>
            <a:ext cx="5120640" cy="3474720"/>
          </a:xfrm>
          <a:prstGeom prst="rect">
            <a:avLst/>
          </a:prstGeom>
          <a:noFill/>
          <a:ln>
            <a:noFill/>
          </a:ln>
        </p:spPr>
        <p:txBody>
          <a:bodyPr spcFirstLastPara="1" wrap="square" lIns="0" tIns="0" rIns="0" bIns="0" anchor="t" anchorCtr="0">
            <a:normAutofit/>
          </a:bodyPr>
          <a:lstStyle/>
          <a:p>
            <a:pPr marL="0" marR="0" lvl="0" indent="0" algn="l" rtl="0">
              <a:lnSpc>
                <a:spcPct val="140000"/>
              </a:lnSpc>
              <a:spcBef>
                <a:spcPts val="0"/>
              </a:spcBef>
              <a:spcAft>
                <a:spcPts val="0"/>
              </a:spcAft>
              <a:buNone/>
            </a:pPr>
            <a:r>
              <a:rPr lang="en-US" sz="1800" b="1" i="0" u="none" strike="noStrike" cap="none">
                <a:solidFill>
                  <a:srgbClr val="3B4660"/>
                </a:solidFill>
                <a:latin typeface="IBM Plex Mono"/>
                <a:ea typeface="IBM Plex Mono"/>
                <a:cs typeface="IBM Plex Mono"/>
                <a:sym typeface="IBM Plex Mono"/>
              </a:rPr>
              <a:t>Worked</a:t>
            </a:r>
            <a:endParaRPr sz="1800" b="1"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Pulse-grid alignment of every reading</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Slow + fast split: trailing level + GRU, at the noise floor on 3 segments</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Beating the 9-shot mean on every run (−2 to −9 %)</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Measured BCM noise for honest intervals</a:t>
            </a:r>
            <a:endParaRPr sz="1600" i="0" u="none" strike="noStrike" cap="none">
              <a:solidFill>
                <a:schemeClr val="dk1"/>
              </a:solidFill>
              <a:latin typeface="IBM Plex Mono"/>
              <a:ea typeface="IBM Plex Mono"/>
              <a:cs typeface="IBM Plex Mono"/>
              <a:sym typeface="IBM Plex Mono"/>
            </a:endParaRPr>
          </a:p>
        </p:txBody>
      </p:sp>
      <p:sp>
        <p:nvSpPr>
          <p:cNvPr id="333" name="Google Shape;333;p21"/>
          <p:cNvSpPr/>
          <p:nvPr/>
        </p:nvSpPr>
        <p:spPr>
          <a:xfrm>
            <a:off x="6355080" y="2377440"/>
            <a:ext cx="5120640" cy="3474720"/>
          </a:xfrm>
          <a:prstGeom prst="rect">
            <a:avLst/>
          </a:prstGeom>
          <a:noFill/>
          <a:ln>
            <a:noFill/>
          </a:ln>
        </p:spPr>
        <p:txBody>
          <a:bodyPr spcFirstLastPara="1" wrap="square" lIns="0" tIns="0" rIns="0" bIns="0" anchor="t" anchorCtr="0">
            <a:normAutofit/>
          </a:bodyPr>
          <a:lstStyle/>
          <a:p>
            <a:pPr marL="0" marR="0" lvl="0" indent="0" algn="l" rtl="0">
              <a:lnSpc>
                <a:spcPct val="140000"/>
              </a:lnSpc>
              <a:spcBef>
                <a:spcPts val="0"/>
              </a:spcBef>
              <a:spcAft>
                <a:spcPts val="0"/>
              </a:spcAft>
              <a:buNone/>
            </a:pPr>
            <a:r>
              <a:rPr lang="en-US" sz="1800" b="1" i="0" u="none" strike="noStrike" cap="none">
                <a:solidFill>
                  <a:srgbClr val="3B4660"/>
                </a:solidFill>
                <a:latin typeface="IBM Plex Mono"/>
                <a:ea typeface="IBM Plex Mono"/>
                <a:cs typeface="IBM Plex Mono"/>
                <a:sym typeface="IBM Plex Mono"/>
              </a:rPr>
              <a:t>Did not help</a:t>
            </a:r>
            <a:endParaRPr sz="1800" b="1"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Kalman / EMA / median levels, periodic terms</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Forecasting the instruments (two-step models)</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Attention, autoencoders, minimax training</a:t>
            </a:r>
            <a:endParaRPr sz="1600" i="0" u="none" strike="noStrike" cap="none">
              <a:solidFill>
                <a:schemeClr val="dk1"/>
              </a:solidFill>
              <a:latin typeface="IBM Plex Mono"/>
              <a:ea typeface="IBM Plex Mono"/>
              <a:cs typeface="IBM Plex Mono"/>
              <a:sym typeface="IBM Plex Mono"/>
            </a:endParaRPr>
          </a:p>
          <a:p>
            <a:pPr marL="457200" marR="0" lvl="0" indent="-330200" algn="l" rtl="0">
              <a:lnSpc>
                <a:spcPct val="140000"/>
              </a:lnSpc>
              <a:spcBef>
                <a:spcPts val="0"/>
              </a:spcBef>
              <a:spcAft>
                <a:spcPts val="0"/>
              </a:spcAft>
              <a:buClr>
                <a:srgbClr val="3B4660"/>
              </a:buClr>
              <a:buSzPts val="1600"/>
              <a:buFont typeface="IBM Plex Mono"/>
              <a:buChar char="➢"/>
            </a:pPr>
            <a:r>
              <a:rPr lang="en-US" sz="1600" i="0" u="none" strike="noStrike" cap="none">
                <a:solidFill>
                  <a:srgbClr val="3B4660"/>
                </a:solidFill>
                <a:latin typeface="IBM Plex Mono"/>
                <a:ea typeface="IBM Plex Mono"/>
                <a:cs typeface="IBM Plex Mono"/>
                <a:sym typeface="IBM Plex Mono"/>
              </a:rPr>
              <a:t>RF, climate and magnet inputs</a:t>
            </a:r>
            <a:endParaRPr sz="160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h6524a41718b72fa9_1_68"/>
          <p:cNvSpPr/>
          <p:nvPr/>
        </p:nvSpPr>
        <p:spPr>
          <a:xfrm>
            <a:off x="812800" y="558800"/>
            <a:ext cx="609600" cy="507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40" name="Google Shape;340;h6524a41718b72fa9_1_68"/>
          <p:cNvSpPr/>
          <p:nvPr/>
        </p:nvSpPr>
        <p:spPr>
          <a:xfrm>
            <a:off x="813816" y="813816"/>
            <a:ext cx="2834700" cy="283500"/>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41" name="Google Shape;341;h6524a41718b72fa9_1_68"/>
          <p:cNvSpPr/>
          <p:nvPr/>
        </p:nvSpPr>
        <p:spPr>
          <a:xfrm>
            <a:off x="914400" y="850392"/>
            <a:ext cx="2743200" cy="23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42" name="Google Shape;342;h6524a41718b72fa9_1_68"/>
          <p:cNvSpPr txBox="1">
            <a:spLocks noGrp="1"/>
          </p:cNvSpPr>
          <p:nvPr>
            <p:ph type="title"/>
          </p:nvPr>
        </p:nvSpPr>
        <p:spPr>
          <a:xfrm>
            <a:off x="812800" y="1200150"/>
            <a:ext cx="10883400" cy="52710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Further work</a:t>
            </a:r>
            <a:endParaRPr sz="3600"/>
          </a:p>
        </p:txBody>
      </p:sp>
      <p:sp>
        <p:nvSpPr>
          <p:cNvPr id="343" name="Google Shape;343;h6524a41718b72fa9_1_68"/>
          <p:cNvSpPr/>
          <p:nvPr/>
        </p:nvSpPr>
        <p:spPr>
          <a:xfrm>
            <a:off x="868675" y="1954575"/>
            <a:ext cx="10420500" cy="38976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None/>
            </a:pPr>
            <a:r>
              <a:rPr lang="en-US" sz="1600" b="1" dirty="0">
                <a:solidFill>
                  <a:srgbClr val="3B4660"/>
                </a:solidFill>
                <a:latin typeface="IBM Plex Mono"/>
                <a:ea typeface="IBM Plex Mono"/>
                <a:cs typeface="IBM Plex Mono"/>
                <a:sym typeface="IBM Plex Mono"/>
              </a:rPr>
              <a:t>Step 1:</a:t>
            </a:r>
            <a:endParaRPr sz="1600" b="1"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Sans"/>
              <a:buChar char="-"/>
            </a:pPr>
            <a:r>
              <a:rPr lang="en-US" b="1" dirty="0">
                <a:solidFill>
                  <a:srgbClr val="3B4660"/>
                </a:solidFill>
                <a:latin typeface="IBM Plex Mono"/>
                <a:ea typeface="IBM Plex Mono"/>
                <a:cs typeface="IBM Plex Mono"/>
                <a:sym typeface="IBM Plex Mono"/>
              </a:rPr>
              <a:t>Review the work</a:t>
            </a:r>
            <a:r>
              <a:rPr lang="en-US" dirty="0">
                <a:solidFill>
                  <a:srgbClr val="3B4660"/>
                </a:solidFill>
                <a:latin typeface="IBM Plex Mono"/>
                <a:ea typeface="IBM Plex Mono"/>
                <a:cs typeface="IBM Plex Mono"/>
                <a:sym typeface="IBM Plex Mono"/>
              </a:rPr>
              <a:t> - a lot was done, </a:t>
            </a:r>
            <a:r>
              <a:rPr lang="en-US" b="1" dirty="0">
                <a:solidFill>
                  <a:srgbClr val="3B4660"/>
                </a:solidFill>
                <a:latin typeface="IBM Plex Mono"/>
                <a:ea typeface="IBM Plex Mono"/>
                <a:cs typeface="IBM Plex Mono"/>
                <a:sym typeface="IBM Plex Mono"/>
              </a:rPr>
              <a:t>all of it in a Fast &amp; Approximate manner</a:t>
            </a:r>
            <a:endParaRPr b="1"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New information as we proceeded was not necessarily propagated properly back into the data preparation stage</a:t>
            </a:r>
            <a:endParaRPr dirty="0">
              <a:solidFill>
                <a:srgbClr val="3B4660"/>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r>
              <a:rPr lang="en-US" sz="1600" b="1" dirty="0">
                <a:solidFill>
                  <a:srgbClr val="3B4660"/>
                </a:solidFill>
                <a:latin typeface="IBM Plex Mono"/>
                <a:ea typeface="IBM Plex Mono"/>
                <a:cs typeface="IBM Plex Mono"/>
                <a:sym typeface="IBM Plex Mono"/>
              </a:rPr>
              <a:t>Step 2:</a:t>
            </a:r>
            <a:endParaRPr sz="1600" b="1"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Better data alignment</a:t>
            </a:r>
            <a:endParaRPr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Redo the feature selection, perhaps with a full grid search </a:t>
            </a:r>
            <a:endParaRPr dirty="0">
              <a:solidFill>
                <a:srgbClr val="3B4660"/>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r>
              <a:rPr lang="en-US" sz="1600" b="1" dirty="0">
                <a:solidFill>
                  <a:srgbClr val="3B4660"/>
                </a:solidFill>
                <a:latin typeface="IBM Plex Mono"/>
                <a:ea typeface="IBM Plex Mono"/>
                <a:cs typeface="IBM Plex Mono"/>
                <a:sym typeface="IBM Plex Mono"/>
              </a:rPr>
              <a:t>Step 3:</a:t>
            </a:r>
            <a:endParaRPr sz="1600" b="1"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Understand the model limitations and why they performed little better than the rolling means</a:t>
            </a:r>
            <a:endParaRPr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Select the most promising models and do a proper hyperparameter search</a:t>
            </a:r>
            <a:endParaRPr dirty="0">
              <a:solidFill>
                <a:srgbClr val="3B4660"/>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r>
              <a:rPr lang="sl-SI" sz="1600" b="1" dirty="0">
                <a:solidFill>
                  <a:srgbClr val="3B4660"/>
                </a:solidFill>
                <a:latin typeface="IBM Plex Mono"/>
                <a:ea typeface="IBM Plex Mono"/>
                <a:cs typeface="IBM Plex Mono"/>
                <a:sym typeface="IBM Plex Mono"/>
              </a:rPr>
              <a:t>Step 4:</a:t>
            </a:r>
          </a:p>
          <a:p>
            <a:pPr marL="457200" indent="-317500">
              <a:lnSpc>
                <a:spcPct val="140000"/>
              </a:lnSpc>
              <a:buClr>
                <a:srgbClr val="3B4660"/>
              </a:buClr>
              <a:buSzPts val="1400"/>
              <a:buFont typeface="IBM Plex Mono"/>
              <a:buChar char="-"/>
            </a:pPr>
            <a:r>
              <a:rPr lang="sl-SI" sz="1600">
                <a:solidFill>
                  <a:srgbClr val="3B4660"/>
                </a:solidFill>
                <a:latin typeface="IBM Plex Mono"/>
                <a:ea typeface="IBM Plex Mono"/>
                <a:cs typeface="IBM Plex Mono"/>
                <a:sym typeface="IBM Plex Mono"/>
              </a:rPr>
              <a:t>???</a:t>
            </a:r>
            <a:endParaRPr lang="sl-SI" sz="1600" dirty="0">
              <a:solidFill>
                <a:srgbClr val="3B4660"/>
              </a:solidFill>
              <a:latin typeface="IBM Plex Mono"/>
              <a:ea typeface="IBM Plex Mono"/>
              <a:cs typeface="IBM Plex Mono"/>
              <a:sym typeface="IBM Plex Mono"/>
            </a:endParaRPr>
          </a:p>
          <a:p>
            <a:pPr marL="0" marR="0" lvl="0" indent="0" algn="l" rtl="0">
              <a:lnSpc>
                <a:spcPct val="140000"/>
              </a:lnSpc>
              <a:spcBef>
                <a:spcPts val="0"/>
              </a:spcBef>
              <a:spcAft>
                <a:spcPts val="0"/>
              </a:spcAft>
              <a:buNone/>
            </a:pPr>
            <a:r>
              <a:rPr lang="en-US" sz="1600" b="1" dirty="0">
                <a:solidFill>
                  <a:srgbClr val="3B4660"/>
                </a:solidFill>
                <a:latin typeface="IBM Plex Mono"/>
                <a:ea typeface="IBM Plex Mono"/>
                <a:cs typeface="IBM Plex Mono"/>
                <a:sym typeface="IBM Plex Mono"/>
              </a:rPr>
              <a:t>Step </a:t>
            </a:r>
            <a:r>
              <a:rPr lang="sl-SI" sz="1600" b="1" dirty="0">
                <a:solidFill>
                  <a:srgbClr val="3B4660"/>
                </a:solidFill>
                <a:latin typeface="IBM Plex Mono"/>
                <a:ea typeface="IBM Plex Mono"/>
                <a:cs typeface="IBM Plex Mono"/>
                <a:sym typeface="IBM Plex Mono"/>
              </a:rPr>
              <a:t>5</a:t>
            </a:r>
            <a:r>
              <a:rPr lang="en-US" sz="1600" b="1" dirty="0">
                <a:solidFill>
                  <a:srgbClr val="3B4660"/>
                </a:solidFill>
                <a:latin typeface="IBM Plex Mono"/>
                <a:ea typeface="IBM Plex Mono"/>
                <a:cs typeface="IBM Plex Mono"/>
                <a:sym typeface="IBM Plex Mono"/>
              </a:rPr>
              <a:t>:</a:t>
            </a:r>
            <a:endParaRPr sz="1600" b="1" dirty="0">
              <a:solidFill>
                <a:srgbClr val="3B4660"/>
              </a:solidFill>
              <a:latin typeface="IBM Plex Mono"/>
              <a:ea typeface="IBM Plex Mono"/>
              <a:cs typeface="IBM Plex Mono"/>
              <a:sym typeface="IBM Plex Mono"/>
            </a:endParaRPr>
          </a:p>
          <a:p>
            <a:pPr marL="457200" marR="0" lvl="0" indent="-317500" algn="l" rtl="0">
              <a:lnSpc>
                <a:spcPct val="140000"/>
              </a:lnSpc>
              <a:spcBef>
                <a:spcPts val="0"/>
              </a:spcBef>
              <a:spcAft>
                <a:spcPts val="0"/>
              </a:spcAft>
              <a:buClr>
                <a:srgbClr val="3B4660"/>
              </a:buClr>
              <a:buSzPts val="1400"/>
              <a:buFont typeface="IBM Plex Mono"/>
              <a:buChar char="-"/>
            </a:pPr>
            <a:r>
              <a:rPr lang="en-US" dirty="0">
                <a:solidFill>
                  <a:srgbClr val="3B4660"/>
                </a:solidFill>
                <a:latin typeface="IBM Plex Mono"/>
                <a:ea typeface="IBM Plex Mono"/>
                <a:cs typeface="IBM Plex Mono"/>
                <a:sym typeface="IBM Plex Mono"/>
              </a:rPr>
              <a:t>Publication</a:t>
            </a:r>
            <a:endParaRPr dirty="0">
              <a:solidFill>
                <a:srgbClr val="3B4660"/>
              </a:solidFill>
              <a:latin typeface="IBM Plex Mono"/>
              <a:ea typeface="IBM Plex Mono"/>
              <a:cs typeface="IBM Plex Mono"/>
              <a:sym typeface="IBM Plex Mono"/>
            </a:endParaRPr>
          </a:p>
          <a:p>
            <a:pPr marL="457200" marR="0" lvl="0" indent="0" algn="l" rtl="0">
              <a:lnSpc>
                <a:spcPct val="140000"/>
              </a:lnSpc>
              <a:spcBef>
                <a:spcPts val="0"/>
              </a:spcBef>
              <a:spcAft>
                <a:spcPts val="0"/>
              </a:spcAft>
              <a:buNone/>
            </a:pPr>
            <a:endParaRPr b="1" dirty="0">
              <a:solidFill>
                <a:srgbClr val="3B4660"/>
              </a:solidFill>
              <a:latin typeface="IBM Plex Sans"/>
              <a:ea typeface="IBM Plex Sans"/>
              <a:cs typeface="IBM Plex Sans"/>
              <a:sym typeface="IBM Plex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Shape 348"/>
        <p:cNvGrpSpPr/>
        <p:nvPr/>
      </p:nvGrpSpPr>
      <p:grpSpPr>
        <a:xfrm>
          <a:off x="0" y="0"/>
          <a:ext cx="0" cy="0"/>
          <a:chOff x="0" y="0"/>
          <a:chExt cx="0" cy="0"/>
        </a:xfrm>
      </p:grpSpPr>
      <p:pic>
        <p:nvPicPr>
          <p:cNvPr id="349" name="Google Shape;349;p23" descr="On a blue-to-pink gradient panel, the charge trace from the title slide: past shots, then a dashed forecast with its uncertainty band"/>
          <p:cNvPicPr preferRelativeResize="0"/>
          <p:nvPr/>
        </p:nvPicPr>
        <p:blipFill rotWithShape="1">
          <a:blip r:embed="rId3">
            <a:alphaModFix/>
          </a:blip>
          <a:srcRect t="-10" b="-10"/>
          <a:stretch/>
        </p:blipFill>
        <p:spPr>
          <a:xfrm>
            <a:off x="0" y="0"/>
            <a:ext cx="5715000" cy="6858000"/>
          </a:xfrm>
          <a:prstGeom prst="rect">
            <a:avLst/>
          </a:prstGeom>
          <a:noFill/>
          <a:ln>
            <a:noFill/>
          </a:ln>
        </p:spPr>
      </p:pic>
      <p:sp>
        <p:nvSpPr>
          <p:cNvPr id="350" name="Google Shape;350;p23"/>
          <p:cNvSpPr/>
          <p:nvPr/>
        </p:nvSpPr>
        <p:spPr>
          <a:xfrm>
            <a:off x="6527800" y="1717675"/>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51" name="Google Shape;351;p23"/>
          <p:cNvSpPr/>
          <p:nvPr/>
        </p:nvSpPr>
        <p:spPr>
          <a:xfrm>
            <a:off x="6527800" y="1946275"/>
            <a:ext cx="4996942"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THANK YOU</a:t>
            </a:r>
            <a:endParaRPr sz="1200" b="0" i="0" u="none" strike="noStrike" cap="none">
              <a:solidFill>
                <a:schemeClr val="dk1"/>
              </a:solidFill>
              <a:latin typeface="IBM Plex Mono"/>
              <a:ea typeface="IBM Plex Mono"/>
              <a:cs typeface="IBM Plex Mono"/>
              <a:sym typeface="IBM Plex Mono"/>
            </a:endParaRPr>
          </a:p>
        </p:txBody>
      </p:sp>
      <p:sp>
        <p:nvSpPr>
          <p:cNvPr id="352" name="Google Shape;352;p23"/>
          <p:cNvSpPr txBox="1">
            <a:spLocks noGrp="1"/>
          </p:cNvSpPr>
          <p:nvPr>
            <p:ph type="title"/>
          </p:nvPr>
        </p:nvSpPr>
        <p:spPr>
          <a:xfrm>
            <a:off x="6527800" y="2333625"/>
            <a:ext cx="4996942" cy="1295400"/>
          </a:xfrm>
          <a:prstGeom prst="rect">
            <a:avLst/>
          </a:prstGeom>
          <a:noFill/>
          <a:ln>
            <a:noFill/>
          </a:ln>
        </p:spPr>
        <p:txBody>
          <a:bodyPr spcFirstLastPara="1" wrap="square" lIns="0" tIns="0" rIns="0" bIns="0" anchor="t" anchorCtr="0">
            <a:normAutofit fontScale="90000"/>
          </a:bodyPr>
          <a:lstStyle/>
          <a:p>
            <a:pPr marL="0" lvl="0" indent="0" algn="l" rtl="0">
              <a:lnSpc>
                <a:spcPct val="104999"/>
              </a:lnSpc>
              <a:spcBef>
                <a:spcPts val="0"/>
              </a:spcBef>
              <a:spcAft>
                <a:spcPts val="0"/>
              </a:spcAft>
              <a:buClr>
                <a:srgbClr val="14213D"/>
              </a:buClr>
              <a:buSzPts val="4800"/>
              <a:buFont typeface="Space Grotesk"/>
              <a:buNone/>
            </a:pPr>
            <a:r>
              <a:rPr lang="en-US" sz="4800" b="1" i="0">
                <a:solidFill>
                  <a:srgbClr val="14213D"/>
                </a:solidFill>
                <a:latin typeface="Space Grotesk"/>
                <a:ea typeface="Space Grotesk"/>
                <a:cs typeface="Space Grotesk"/>
                <a:sym typeface="Space Grotesk"/>
              </a:rPr>
              <a:t>Let's predict the </a:t>
            </a:r>
            <a:r>
              <a:rPr lang="en-US" sz="4800" b="1" i="0">
                <a:solidFill>
                  <a:srgbClr val="BE185D"/>
                </a:solidFill>
                <a:latin typeface="Space Grotesk"/>
                <a:ea typeface="Space Grotesk"/>
                <a:cs typeface="Space Grotesk"/>
                <a:sym typeface="Space Grotesk"/>
              </a:rPr>
              <a:t>next shot</a:t>
            </a:r>
            <a:endParaRPr sz="4800"/>
          </a:p>
        </p:txBody>
      </p:sp>
      <p:sp>
        <p:nvSpPr>
          <p:cNvPr id="353" name="Google Shape;353;p23"/>
          <p:cNvSpPr/>
          <p:nvPr/>
        </p:nvSpPr>
        <p:spPr>
          <a:xfrm>
            <a:off x="6527800" y="4238625"/>
            <a:ext cx="4996942" cy="304800"/>
          </a:xfrm>
          <a:prstGeom prst="rect">
            <a:avLst/>
          </a:prstGeom>
          <a:noFill/>
          <a:ln>
            <a:noFill/>
          </a:ln>
        </p:spPr>
        <p:txBody>
          <a:bodyPr spcFirstLastPara="1" wrap="square" lIns="0" tIns="0" rIns="0" bIns="0" anchor="t" anchorCtr="0">
            <a:normAutofit fontScale="92500"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1" i="0" u="none" strike="noStrike" cap="none">
                <a:solidFill>
                  <a:srgbClr val="14213D"/>
                </a:solidFill>
                <a:latin typeface="IBM Plex Sans"/>
                <a:ea typeface="IBM Plex Sans"/>
                <a:cs typeface="IBM Plex Sans"/>
                <a:sym typeface="IBM Plex Sans"/>
              </a:rPr>
              <a:t>Antonio Gilardi</a:t>
            </a:r>
            <a:endParaRPr sz="1600" b="0" i="0" u="none" strike="noStrike" cap="none">
              <a:solidFill>
                <a:schemeClr val="dk1"/>
              </a:solidFill>
              <a:latin typeface="IBM Plex Mono"/>
              <a:ea typeface="IBM Plex Mono"/>
              <a:cs typeface="IBM Plex Mono"/>
              <a:sym typeface="IBM Plex Mono"/>
            </a:endParaRPr>
          </a:p>
        </p:txBody>
      </p:sp>
      <p:sp>
        <p:nvSpPr>
          <p:cNvPr id="354" name="Google Shape;354;p23"/>
          <p:cNvSpPr/>
          <p:nvPr/>
        </p:nvSpPr>
        <p:spPr>
          <a:xfrm>
            <a:off x="6527800" y="4543425"/>
            <a:ext cx="4996942" cy="234950"/>
          </a:xfrm>
          <a:prstGeom prst="rect">
            <a:avLst/>
          </a:prstGeom>
          <a:noFill/>
          <a:ln>
            <a:noFill/>
          </a:ln>
        </p:spPr>
        <p:txBody>
          <a:bodyPr spcFirstLastPara="1" wrap="square" lIns="0" tIns="0" rIns="0" bIns="0" anchor="t" anchorCtr="0">
            <a:normAutofit fontScale="92500"/>
          </a:bodyPr>
          <a:lstStyle/>
          <a:p>
            <a:pPr marL="0" marR="0" lvl="0" indent="0" algn="l" rtl="0">
              <a:lnSpc>
                <a:spcPct val="140000"/>
              </a:lnSpc>
              <a:spcBef>
                <a:spcPts val="0"/>
              </a:spcBef>
              <a:spcAft>
                <a:spcPts val="0"/>
              </a:spcAft>
              <a:buClr>
                <a:srgbClr val="5A6478"/>
              </a:buClr>
              <a:buSzPts val="1200"/>
              <a:buFont typeface="IBM Plex Mono"/>
              <a:buNone/>
            </a:pPr>
            <a:r>
              <a:rPr lang="en-US" sz="1200" b="0" i="0" u="none" strike="noStrike" cap="none">
                <a:solidFill>
                  <a:srgbClr val="5A6478"/>
                </a:solidFill>
                <a:latin typeface="IBM Plex Mono"/>
                <a:ea typeface="IBM Plex Mono"/>
                <a:cs typeface="IBM Plex Mono"/>
                <a:sym typeface="IBM Plex Mono"/>
              </a:rPr>
              <a:t>antonio.gilardi@cern.ch</a:t>
            </a:r>
            <a:endParaRPr sz="1200" b="0"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18"/>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61" name="Google Shape;361;p18"/>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62" name="Google Shape;362;p18"/>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63" name="Google Shape;363;p18"/>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Pitfall: a fake gain from misaligned data</a:t>
            </a:r>
            <a:endParaRPr sz="3600"/>
          </a:p>
        </p:txBody>
      </p:sp>
      <p:sp>
        <p:nvSpPr>
          <p:cNvPr id="364" name="Google Shape;364;p18"/>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35</a:t>
            </a:r>
            <a:endParaRPr sz="1200" b="0" i="0" u="none" strike="noStrike" cap="none">
              <a:solidFill>
                <a:schemeClr val="dk1"/>
              </a:solidFill>
              <a:latin typeface="IBM Plex Mono"/>
              <a:ea typeface="IBM Plex Mono"/>
              <a:cs typeface="IBM Plex Mono"/>
              <a:sym typeface="IBM Plex Mono"/>
            </a:endParaRPr>
          </a:p>
        </p:txBody>
      </p:sp>
      <p:sp>
        <p:nvSpPr>
          <p:cNvPr id="365" name="Google Shape;365;p18"/>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0" i="0" u="none" strike="noStrike" cap="none">
                <a:solidFill>
                  <a:srgbClr val="14213D"/>
                </a:solidFill>
                <a:latin typeface="IBM Plex Sans"/>
                <a:ea typeface="IBM Plex Sans"/>
                <a:cs typeface="IBM Plex Sans"/>
                <a:sym typeface="IBM Plex Sans"/>
              </a:rPr>
              <a:t>With the laser meter on the wrong row, the "forecast" sees the future.</a:t>
            </a:r>
            <a:endParaRPr sz="1600" b="0" i="0" u="none" strike="noStrike" cap="none">
              <a:solidFill>
                <a:schemeClr val="dk1"/>
              </a:solidFill>
              <a:latin typeface="IBM Plex Mono"/>
              <a:ea typeface="IBM Plex Mono"/>
              <a:cs typeface="IBM Plex Mono"/>
              <a:sym typeface="IBM Plex Mono"/>
            </a:endParaRPr>
          </a:p>
        </p:txBody>
      </p:sp>
      <p:sp>
        <p:nvSpPr>
          <p:cNvPr id="366" name="Google Shape;366;p18"/>
          <p:cNvSpPr/>
          <p:nvPr/>
        </p:nvSpPr>
        <p:spPr>
          <a:xfrm>
            <a:off x="868675" y="2286000"/>
            <a:ext cx="4828500" cy="3566100"/>
          </a:xfrm>
          <a:prstGeom prst="rect">
            <a:avLst/>
          </a:prstGeom>
          <a:noFill/>
          <a:ln>
            <a:noFill/>
          </a:ln>
        </p:spPr>
        <p:txBody>
          <a:bodyPr spcFirstLastPara="1" wrap="square" lIns="0" tIns="0" rIns="0" bIns="0" anchor="t" anchorCtr="0">
            <a:normAutofit/>
          </a:bodyPr>
          <a:lstStyle/>
          <a:p>
            <a:pPr marL="196342" marR="0" lvl="0" indent="-196342" algn="l" rtl="0">
              <a:lnSpc>
                <a:spcPct val="140000"/>
              </a:lnSpc>
              <a:spcBef>
                <a:spcPts val="0"/>
              </a:spcBef>
              <a:spcAft>
                <a:spcPts val="0"/>
              </a:spcAft>
              <a:buClr>
                <a:srgbClr val="3B4660"/>
              </a:buClr>
              <a:buSzPts val="1400"/>
              <a:buFont typeface="IBM Plex Sans"/>
              <a:buChar char="•"/>
            </a:pPr>
            <a:r>
              <a:rPr lang="en-US" sz="1400" b="0" i="0" u="none" strike="noStrike" cap="none">
                <a:solidFill>
                  <a:srgbClr val="3B4660"/>
                </a:solidFill>
                <a:latin typeface="IBM Plex Sans"/>
                <a:ea typeface="IBM Plex Sans"/>
                <a:cs typeface="IBM Plex Sans"/>
                <a:sym typeface="IBM Plex Sans"/>
              </a:rPr>
              <a:t>Row-shifted datasets: h = 1 gain of </a:t>
            </a:r>
            <a:r>
              <a:rPr lang="en-US" sz="1400" b="1" i="0" u="none" strike="noStrike" cap="none">
                <a:solidFill>
                  <a:srgbClr val="3B4660"/>
                </a:solidFill>
                <a:latin typeface="IBM Plex Sans"/>
                <a:ea typeface="IBM Plex Sans"/>
                <a:cs typeface="IBM Plex Sans"/>
                <a:sym typeface="IBM Plex Sans"/>
              </a:rPr>
              <a:t>−17 to −19 % (!!)</a:t>
            </a:r>
            <a:r>
              <a:rPr lang="en-US" sz="1400" b="0" i="0" u="none" strike="noStrike" cap="none">
                <a:solidFill>
                  <a:srgbClr val="3B4660"/>
                </a:solidFill>
                <a:latin typeface="IBM Plex Sans"/>
                <a:ea typeface="IBM Plex Sans"/>
                <a:cs typeface="IBM Plex Sans"/>
                <a:sym typeface="IBM Plex Sans"/>
              </a:rPr>
              <a:t> vs the 9-shot mean.</a:t>
            </a:r>
            <a:endParaRPr sz="1400" b="0" i="0" u="none" strike="noStrike" cap="none">
              <a:solidFill>
                <a:srgbClr val="3B4660"/>
              </a:solidFill>
              <a:latin typeface="IBM Plex Sans"/>
              <a:ea typeface="IBM Plex Sans"/>
              <a:cs typeface="IBM Plex Sans"/>
              <a:sym typeface="IBM Plex Sans"/>
            </a:endParaRPr>
          </a:p>
          <a:p>
            <a:pPr marL="196342" marR="0" lvl="0" indent="-196342" algn="l" rtl="0">
              <a:lnSpc>
                <a:spcPct val="140000"/>
              </a:lnSpc>
              <a:spcBef>
                <a:spcPts val="0"/>
              </a:spcBef>
              <a:spcAft>
                <a:spcPts val="0"/>
              </a:spcAft>
              <a:buClr>
                <a:srgbClr val="3B4660"/>
              </a:buClr>
              <a:buSzPts val="1400"/>
              <a:buFont typeface="IBM Plex Sans"/>
              <a:buChar char="•"/>
            </a:pPr>
            <a:r>
              <a:rPr lang="en-US" b="1">
                <a:solidFill>
                  <a:srgbClr val="3B4660"/>
                </a:solidFill>
                <a:latin typeface="IBM Plex Sans"/>
                <a:ea typeface="IBM Plex Sans"/>
                <a:cs typeface="IBM Plex Sans"/>
                <a:sym typeface="IBM Plex Sans"/>
              </a:rPr>
              <a:t>BUT</a:t>
            </a:r>
            <a:r>
              <a:rPr lang="en-US">
                <a:solidFill>
                  <a:srgbClr val="3B4660"/>
                </a:solidFill>
                <a:latin typeface="IBM Plex Sans"/>
                <a:ea typeface="IBM Plex Sans"/>
                <a:cs typeface="IBM Plex Sans"/>
                <a:sym typeface="IBM Plex Sans"/>
              </a:rPr>
              <a:t>: the laser meter is often read before it has updated, so it still shows the previous pulse’s value – a next-shot forecast can cheat.</a:t>
            </a:r>
            <a:endParaRPr>
              <a:solidFill>
                <a:srgbClr val="3B4660"/>
              </a:solidFill>
              <a:latin typeface="IBM Plex Sans"/>
              <a:ea typeface="IBM Plex Sans"/>
              <a:cs typeface="IBM Plex Sans"/>
              <a:sym typeface="IBM Plex Sans"/>
            </a:endParaRPr>
          </a:p>
          <a:p>
            <a:pPr marL="196342" marR="0" lvl="0" indent="-196342" algn="l" rtl="0">
              <a:lnSpc>
                <a:spcPct val="140000"/>
              </a:lnSpc>
              <a:spcBef>
                <a:spcPts val="0"/>
              </a:spcBef>
              <a:spcAft>
                <a:spcPts val="0"/>
              </a:spcAft>
              <a:buClr>
                <a:srgbClr val="3B4660"/>
              </a:buClr>
              <a:buSzPts val="1400"/>
              <a:buFont typeface="IBM Plex Sans"/>
              <a:buChar char="•"/>
            </a:pPr>
            <a:r>
              <a:rPr lang="en-US" sz="1400" b="1" i="0" u="none" strike="noStrike" cap="none">
                <a:solidFill>
                  <a:srgbClr val="3B4660"/>
                </a:solidFill>
                <a:latin typeface="IBM Plex Sans"/>
                <a:ea typeface="IBM Plex Sans"/>
                <a:cs typeface="IBM Plex Sans"/>
                <a:sym typeface="IBM Plex Sans"/>
              </a:rPr>
              <a:t>Pulse-aligned</a:t>
            </a:r>
            <a:r>
              <a:rPr lang="en-US" sz="1400" b="0" i="0" u="none" strike="noStrike" cap="none">
                <a:solidFill>
                  <a:srgbClr val="3B4660"/>
                </a:solidFill>
                <a:latin typeface="IBM Plex Sans"/>
                <a:ea typeface="IBM Plex Sans"/>
                <a:cs typeface="IBM Plex Sans"/>
                <a:sym typeface="IBM Plex Sans"/>
              </a:rPr>
              <a:t>: −3 to −4 %, flat over horizon</a:t>
            </a:r>
            <a:endParaRPr sz="14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400"/>
              <a:buFont typeface="IBM Plex Sans"/>
              <a:buChar char="•"/>
            </a:pPr>
            <a:r>
              <a:rPr lang="en-US" sz="1400" b="0" i="0" u="none" strike="noStrike" cap="none">
                <a:solidFill>
                  <a:srgbClr val="3B4660"/>
                </a:solidFill>
                <a:latin typeface="IBM Plex Sans"/>
                <a:ea typeface="IBM Plex Sans"/>
                <a:cs typeface="IBM Plex Sans"/>
                <a:sym typeface="IBM Plex Sans"/>
              </a:rPr>
              <a:t>Two-step model (</a:t>
            </a:r>
            <a:r>
              <a:rPr lang="en-US">
                <a:solidFill>
                  <a:srgbClr val="3B4660"/>
                </a:solidFill>
                <a:latin typeface="IBM Plex Sans"/>
                <a:ea typeface="IBM Plex Sans"/>
                <a:cs typeface="IBM Plex Sans"/>
                <a:sym typeface="IBM Plex Sans"/>
              </a:rPr>
              <a:t>reusing the virtual diagnostic to feed into the forecast</a:t>
            </a:r>
            <a:r>
              <a:rPr lang="en-US" sz="1400" b="0" i="0" u="none" strike="noStrike" cap="none">
                <a:solidFill>
                  <a:srgbClr val="3B4660"/>
                </a:solidFill>
                <a:latin typeface="IBM Plex Sans"/>
                <a:ea typeface="IBM Plex Sans"/>
                <a:cs typeface="IBM Plex Sans"/>
                <a:sym typeface="IBM Plex Sans"/>
              </a:rPr>
              <a:t>) is </a:t>
            </a:r>
            <a:r>
              <a:rPr lang="en-US" sz="1400" b="1" i="0" u="none" strike="noStrike" cap="none">
                <a:solidFill>
                  <a:srgbClr val="3B4660"/>
                </a:solidFill>
                <a:latin typeface="IBM Plex Sans"/>
                <a:ea typeface="IBM Plex Sans"/>
                <a:cs typeface="IBM Plex Sans"/>
                <a:sym typeface="IBM Plex Sans"/>
              </a:rPr>
              <a:t>no better</a:t>
            </a:r>
            <a:r>
              <a:rPr lang="en-US" sz="1400" b="0" i="0" u="none" strike="noStrike" cap="none">
                <a:solidFill>
                  <a:srgbClr val="3B4660"/>
                </a:solidFill>
                <a:latin typeface="IBM Plex Sans"/>
                <a:ea typeface="IBM Plex Sans"/>
                <a:cs typeface="IBM Plex Sans"/>
                <a:sym typeface="IBM Plex Sans"/>
              </a:rPr>
              <a:t> than the </a:t>
            </a:r>
            <a:r>
              <a:rPr lang="en-US" sz="1400" b="1" i="0" u="none" strike="noStrike" cap="none">
                <a:solidFill>
                  <a:srgbClr val="3B4660"/>
                </a:solidFill>
                <a:latin typeface="IBM Plex Sans"/>
                <a:ea typeface="IBM Plex Sans"/>
                <a:cs typeface="IBM Plex Sans"/>
                <a:sym typeface="IBM Plex Sans"/>
              </a:rPr>
              <a:t>51-shot mean</a:t>
            </a:r>
            <a:r>
              <a:rPr lang="en-US" sz="1400" b="0" i="0" u="none" strike="noStrike" cap="none">
                <a:solidFill>
                  <a:srgbClr val="3B4660"/>
                </a:solidFill>
                <a:latin typeface="IBM Plex Sans"/>
                <a:ea typeface="IBM Plex Sans"/>
                <a:cs typeface="IBM Plex Sans"/>
                <a:sym typeface="IBM Plex Sans"/>
              </a:rPr>
              <a:t>: present features cannot be forecast</a:t>
            </a:r>
            <a:r>
              <a:rPr lang="en-US">
                <a:solidFill>
                  <a:srgbClr val="3B4660"/>
                </a:solidFill>
                <a:latin typeface="IBM Plex Sans"/>
                <a:ea typeface="IBM Plex Sans"/>
                <a:cs typeface="IBM Plex Sans"/>
                <a:sym typeface="IBM Plex Sans"/>
              </a:rPr>
              <a:t> reliably.</a:t>
            </a:r>
            <a:endParaRPr sz="14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400"/>
              <a:buFont typeface="IBM Plex Sans"/>
              <a:buChar char="•"/>
            </a:pPr>
            <a:r>
              <a:rPr lang="en-US" sz="1400" b="1" i="0" u="none" strike="noStrike" cap="none">
                <a:solidFill>
                  <a:srgbClr val="3B4660"/>
                </a:solidFill>
                <a:latin typeface="IBM Plex Sans"/>
                <a:ea typeface="IBM Plex Sans"/>
                <a:cs typeface="IBM Plex Sans"/>
                <a:sym typeface="IBM Plex Sans"/>
              </a:rPr>
              <a:t>Lesson</a:t>
            </a:r>
            <a:r>
              <a:rPr lang="en-US" sz="1400" b="0" i="0" u="none" strike="noStrike" cap="none">
                <a:solidFill>
                  <a:srgbClr val="3B4660"/>
                </a:solidFill>
                <a:latin typeface="IBM Plex Sans"/>
                <a:ea typeface="IBM Plex Sans"/>
                <a:cs typeface="IBM Plex Sans"/>
                <a:sym typeface="IBM Plex Sans"/>
              </a:rPr>
              <a:t>: check every variable's lag on the pulse grid before trusting a gain</a:t>
            </a:r>
            <a:endParaRPr sz="1400" b="0" i="0" u="none" strike="noStrike" cap="none">
              <a:solidFill>
                <a:schemeClr val="dk1"/>
              </a:solidFill>
              <a:latin typeface="IBM Plex Mono"/>
              <a:ea typeface="IBM Plex Mono"/>
              <a:cs typeface="IBM Plex Mono"/>
              <a:sym typeface="IBM Plex Mono"/>
            </a:endParaRPr>
          </a:p>
        </p:txBody>
      </p:sp>
      <p:pic>
        <p:nvPicPr>
          <p:cNvPr id="367" name="Google Shape;367;p18" descr="15_alignment_significance_intervals_cell13.png"/>
          <p:cNvPicPr preferRelativeResize="0"/>
          <p:nvPr/>
        </p:nvPicPr>
        <p:blipFill rotWithShape="1">
          <a:blip r:embed="rId3">
            <a:alphaModFix/>
          </a:blip>
          <a:srcRect/>
          <a:stretch/>
        </p:blipFill>
        <p:spPr>
          <a:xfrm>
            <a:off x="5867802" y="2473500"/>
            <a:ext cx="6234076" cy="1549000"/>
          </a:xfrm>
          <a:prstGeom prst="rect">
            <a:avLst/>
          </a:prstGeom>
          <a:noFill/>
          <a:ln>
            <a:noFill/>
          </a:ln>
        </p:spPr>
      </p:pic>
      <p:pic>
        <p:nvPicPr>
          <p:cNvPr id="368" name="Google Shape;368;p18" descr="10_forecast_two_step_cell10.png"/>
          <p:cNvPicPr preferRelativeResize="0"/>
          <p:nvPr/>
        </p:nvPicPr>
        <p:blipFill rotWithShape="1">
          <a:blip r:embed="rId4">
            <a:alphaModFix/>
          </a:blip>
          <a:srcRect/>
          <a:stretch/>
        </p:blipFill>
        <p:spPr>
          <a:xfrm>
            <a:off x="5867802" y="4824258"/>
            <a:ext cx="6287677" cy="1994418"/>
          </a:xfrm>
          <a:prstGeom prst="rect">
            <a:avLst/>
          </a:prstGeom>
          <a:noFill/>
          <a:ln>
            <a:noFill/>
          </a:ln>
        </p:spPr>
      </p:pic>
      <p:sp>
        <p:nvSpPr>
          <p:cNvPr id="369" name="Google Shape;369;p18"/>
          <p:cNvSpPr/>
          <p:nvPr/>
        </p:nvSpPr>
        <p:spPr>
          <a:xfrm>
            <a:off x="7599676" y="2285988"/>
            <a:ext cx="4374600" cy="702300"/>
          </a:xfrm>
          <a:prstGeom prst="rect">
            <a:avLst/>
          </a:prstGeom>
          <a:noFill/>
          <a:ln>
            <a:noFill/>
          </a:ln>
        </p:spPr>
        <p:txBody>
          <a:bodyPr spcFirstLastPara="1" wrap="square" lIns="0" tIns="0" rIns="0" bIns="0" anchor="t" anchorCtr="0">
            <a:noAutofit/>
          </a:bodyPr>
          <a:lstStyle/>
          <a:p>
            <a:pPr marL="0" marR="0" lvl="0" indent="0" algn="l" rtl="0">
              <a:lnSpc>
                <a:spcPct val="139900"/>
              </a:lnSpc>
              <a:spcBef>
                <a:spcPts val="0"/>
              </a:spcBef>
              <a:spcAft>
                <a:spcPts val="0"/>
              </a:spcAft>
              <a:buClr>
                <a:srgbClr val="14213D"/>
              </a:buClr>
              <a:buSzPts val="1000"/>
              <a:buFont typeface="IBM Plex Sans"/>
              <a:buNone/>
            </a:pPr>
            <a:r>
              <a:rPr lang="en-US" sz="1000" b="1">
                <a:solidFill>
                  <a:srgbClr val="14213D"/>
                </a:solidFill>
                <a:latin typeface="IBM Plex Sans"/>
                <a:ea typeface="IBM Plex Sans"/>
                <a:cs typeface="IBM Plex Sans"/>
                <a:sym typeface="IBM Plex Sans"/>
              </a:rPr>
              <a:t>Ridge model using all inputs, predicting h shots ahead</a:t>
            </a:r>
            <a:endParaRPr sz="1000" b="1" i="0" u="none" strike="noStrike" cap="none">
              <a:solidFill>
                <a:schemeClr val="dk1"/>
              </a:solidFill>
              <a:latin typeface="IBM Plex Mono"/>
              <a:ea typeface="IBM Plex Mono"/>
              <a:cs typeface="IBM Plex Mono"/>
              <a:sym typeface="IBM Plex Mono"/>
            </a:endParaRPr>
          </a:p>
        </p:txBody>
      </p:sp>
      <p:sp>
        <p:nvSpPr>
          <p:cNvPr id="370" name="Google Shape;370;p18"/>
          <p:cNvSpPr/>
          <p:nvPr/>
        </p:nvSpPr>
        <p:spPr>
          <a:xfrm>
            <a:off x="6283525" y="4465395"/>
            <a:ext cx="3119400" cy="419100"/>
          </a:xfrm>
          <a:prstGeom prst="rect">
            <a:avLst/>
          </a:prstGeom>
          <a:noFill/>
          <a:ln>
            <a:noFill/>
          </a:ln>
        </p:spPr>
        <p:txBody>
          <a:bodyPr spcFirstLastPara="1" wrap="square" lIns="0" tIns="0" rIns="0" bIns="0" anchor="t" anchorCtr="0">
            <a:noAutofit/>
          </a:bodyPr>
          <a:lstStyle/>
          <a:p>
            <a:pPr marL="0" marR="0" lvl="0" indent="0" algn="l" rtl="0">
              <a:lnSpc>
                <a:spcPct val="139900"/>
              </a:lnSpc>
              <a:spcBef>
                <a:spcPts val="0"/>
              </a:spcBef>
              <a:spcAft>
                <a:spcPts val="0"/>
              </a:spcAft>
              <a:buClr>
                <a:srgbClr val="14213D"/>
              </a:buClr>
              <a:buSzPts val="1000"/>
              <a:buFont typeface="IBM Plex Sans"/>
              <a:buNone/>
            </a:pPr>
            <a:r>
              <a:rPr lang="en-US" sz="1000" b="1">
                <a:solidFill>
                  <a:schemeClr val="dk1"/>
                </a:solidFill>
                <a:latin typeface="IBM Plex Mono"/>
                <a:ea typeface="IBM Plex Mono"/>
                <a:cs typeface="IBM Plex Mono"/>
                <a:sym typeface="IBM Plex Mono"/>
              </a:rPr>
              <a:t>R2 at shot h for each feature </a:t>
            </a:r>
            <a:endParaRPr sz="1000" b="1" i="0" u="none" strike="noStrike" cap="none">
              <a:solidFill>
                <a:schemeClr val="dk1"/>
              </a:solidFill>
              <a:latin typeface="IBM Plex Mono"/>
              <a:ea typeface="IBM Plex Mono"/>
              <a:cs typeface="IBM Plex Mono"/>
              <a:sym typeface="IBM Plex Mono"/>
            </a:endParaRPr>
          </a:p>
        </p:txBody>
      </p:sp>
      <p:sp>
        <p:nvSpPr>
          <p:cNvPr id="371" name="Google Shape;371;p18"/>
          <p:cNvSpPr/>
          <p:nvPr/>
        </p:nvSpPr>
        <p:spPr>
          <a:xfrm>
            <a:off x="9355925" y="4465400"/>
            <a:ext cx="2743200" cy="419100"/>
          </a:xfrm>
          <a:prstGeom prst="rect">
            <a:avLst/>
          </a:prstGeom>
          <a:noFill/>
          <a:ln>
            <a:noFill/>
          </a:ln>
        </p:spPr>
        <p:txBody>
          <a:bodyPr spcFirstLastPara="1" wrap="square" lIns="0" tIns="0" rIns="0" bIns="0" anchor="t" anchorCtr="0">
            <a:noAutofit/>
          </a:bodyPr>
          <a:lstStyle/>
          <a:p>
            <a:pPr marL="0" marR="0" lvl="0" indent="0" algn="l" rtl="0">
              <a:lnSpc>
                <a:spcPct val="139900"/>
              </a:lnSpc>
              <a:spcBef>
                <a:spcPts val="0"/>
              </a:spcBef>
              <a:spcAft>
                <a:spcPts val="0"/>
              </a:spcAft>
              <a:buClr>
                <a:srgbClr val="14213D"/>
              </a:buClr>
              <a:buSzPts val="1000"/>
              <a:buFont typeface="IBM Plex Sans"/>
              <a:buNone/>
            </a:pPr>
            <a:r>
              <a:rPr lang="en-US" sz="1000" b="1">
                <a:solidFill>
                  <a:schemeClr val="dk1"/>
                </a:solidFill>
                <a:latin typeface="IBM Plex Mono"/>
                <a:ea typeface="IBM Plex Mono"/>
                <a:cs typeface="IBM Plex Mono"/>
                <a:sym typeface="IBM Plex Mono"/>
              </a:rPr>
              <a:t>Forecasting for different segments</a:t>
            </a:r>
            <a:endParaRPr sz="1000" b="1" i="0" u="none" strike="noStrike" cap="none">
              <a:solidFill>
                <a:schemeClr val="dk1"/>
              </a:solidFill>
              <a:latin typeface="IBM Plex Mono"/>
              <a:ea typeface="IBM Plex Mono"/>
              <a:cs typeface="IBM Plex Mono"/>
              <a:sym typeface="IBM Plex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19"/>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78" name="Google Shape;378;p19"/>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79" name="Google Shape;379;p19"/>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80" name="Google Shape;380;p19"/>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ts val="3600"/>
              <a:buFont typeface="Space Grotesk"/>
              <a:buNone/>
            </a:pPr>
            <a:r>
              <a:rPr lang="en-US" sz="3600" b="1" i="0">
                <a:solidFill>
                  <a:srgbClr val="14213D"/>
                </a:solidFill>
                <a:latin typeface="Space Grotesk"/>
                <a:ea typeface="Space Grotesk"/>
                <a:cs typeface="Space Grotesk"/>
                <a:sym typeface="Space Grotesk"/>
              </a:rPr>
              <a:t>Filtering the slow level: simple wins</a:t>
            </a:r>
            <a:endParaRPr sz="3600"/>
          </a:p>
        </p:txBody>
      </p:sp>
      <p:sp>
        <p:nvSpPr>
          <p:cNvPr id="381" name="Google Shape;381;p19"/>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36</a:t>
            </a:r>
            <a:endParaRPr sz="1200" b="0" i="0" u="none" strike="noStrike" cap="none">
              <a:solidFill>
                <a:schemeClr val="dk1"/>
              </a:solidFill>
              <a:latin typeface="IBM Plex Mono"/>
              <a:ea typeface="IBM Plex Mono"/>
              <a:cs typeface="IBM Plex Mono"/>
              <a:sym typeface="IBM Plex Mono"/>
            </a:endParaRPr>
          </a:p>
        </p:txBody>
      </p:sp>
      <p:sp>
        <p:nvSpPr>
          <p:cNvPr id="382" name="Google Shape;382;p19"/>
          <p:cNvSpPr/>
          <p:nvPr/>
        </p:nvSpPr>
        <p:spPr>
          <a:xfrm>
            <a:off x="813816" y="1783080"/>
            <a:ext cx="10881360" cy="320040"/>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14213D"/>
              </a:buClr>
              <a:buSzPts val="1600"/>
              <a:buFont typeface="IBM Plex Sans"/>
              <a:buNone/>
            </a:pPr>
            <a:r>
              <a:rPr lang="en-US" sz="1600" b="0" i="0" u="none" strike="noStrike" cap="none">
                <a:solidFill>
                  <a:srgbClr val="14213D"/>
                </a:solidFill>
                <a:latin typeface="IBM Plex Sans"/>
                <a:ea typeface="IBM Plex Sans"/>
                <a:cs typeface="IBM Plex Sans"/>
                <a:sym typeface="IBM Plex Sans"/>
              </a:rPr>
              <a:t>Trailing mean vs median vs robust EMA vs Kalman level filter, with and without a ridge on top.</a:t>
            </a:r>
            <a:endParaRPr sz="1600" b="0" i="0" u="none" strike="noStrike" cap="none">
              <a:solidFill>
                <a:schemeClr val="dk1"/>
              </a:solidFill>
              <a:latin typeface="IBM Plex Mono"/>
              <a:ea typeface="IBM Plex Mono"/>
              <a:cs typeface="IBM Plex Mono"/>
              <a:sym typeface="IBM Plex Mono"/>
            </a:endParaRPr>
          </a:p>
        </p:txBody>
      </p:sp>
      <p:sp>
        <p:nvSpPr>
          <p:cNvPr id="383" name="Google Shape;383;p19"/>
          <p:cNvSpPr/>
          <p:nvPr/>
        </p:nvSpPr>
        <p:spPr>
          <a:xfrm>
            <a:off x="868680" y="3977639"/>
            <a:ext cx="5120640" cy="1874519"/>
          </a:xfrm>
          <a:prstGeom prst="rect">
            <a:avLst/>
          </a:prstGeom>
          <a:noFill/>
          <a:ln>
            <a:noFill/>
          </a:ln>
        </p:spPr>
        <p:txBody>
          <a:bodyPr spcFirstLastPara="1" wrap="square" lIns="0" tIns="0" rIns="0" bIns="0" anchor="t" anchorCtr="0">
            <a:normAutofit/>
          </a:bodyPr>
          <a:lstStyle/>
          <a:p>
            <a:pPr marL="196342" marR="0" lvl="0" indent="-196342" algn="l" rtl="0">
              <a:lnSpc>
                <a:spcPct val="140000"/>
              </a:lnSpc>
              <a:spcBef>
                <a:spcPts val="0"/>
              </a:spcBef>
              <a:spcAft>
                <a:spcPts val="0"/>
              </a:spcAft>
              <a:buClr>
                <a:srgbClr val="3B4660"/>
              </a:buClr>
              <a:buSzPts val="1300"/>
              <a:buFont typeface="IBM Plex Sans"/>
              <a:buChar char="•"/>
            </a:pPr>
            <a:r>
              <a:rPr lang="en-US" sz="1300" b="0" i="0" u="none" strike="noStrike" cap="none">
                <a:solidFill>
                  <a:srgbClr val="3B4660"/>
                </a:solidFill>
                <a:latin typeface="IBM Plex Sans"/>
                <a:ea typeface="IBM Plex Sans"/>
                <a:cs typeface="IBM Plex Sans"/>
                <a:sym typeface="IBM Plex Sans"/>
              </a:rPr>
              <a:t>Kalman tuned on the level alone is the best level (seg 5: 140.5 vs 145.5 pC) but </a:t>
            </a:r>
            <a:r>
              <a:rPr lang="en-US" sz="1300" b="1" i="0" u="none" strike="noStrike" cap="none">
                <a:solidFill>
                  <a:srgbClr val="3B4660"/>
                </a:solidFill>
                <a:latin typeface="IBM Plex Sans"/>
                <a:ea typeface="IBM Plex Sans"/>
                <a:cs typeface="IBM Plex Sans"/>
                <a:sym typeface="IBM Plex Sans"/>
              </a:rPr>
              <a:t>absorbs predictable jitter</a:t>
            </a:r>
            <a:endParaRPr sz="1300" b="1"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300"/>
              <a:buFont typeface="IBM Plex Sans"/>
              <a:buChar char="•"/>
            </a:pPr>
            <a:r>
              <a:rPr lang="en-US" sz="1300" b="0" i="0" u="none" strike="noStrike" cap="none">
                <a:solidFill>
                  <a:srgbClr val="3B4660"/>
                </a:solidFill>
                <a:latin typeface="IBM Plex Sans"/>
                <a:ea typeface="IBM Plex Sans"/>
                <a:cs typeface="IBM Plex Sans"/>
                <a:sym typeface="IBM Plex Sans"/>
              </a:rPr>
              <a:t>Spectrum: no lines, residual white; only seg 3 has a slow drift the trailing mean misses</a:t>
            </a:r>
            <a:endParaRPr sz="13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300"/>
              <a:buFont typeface="IBM Plex Sans"/>
              <a:buChar char="•"/>
            </a:pPr>
            <a:r>
              <a:rPr lang="en-US" sz="1300" b="1" i="0" u="none" strike="noStrike" cap="none">
                <a:solidFill>
                  <a:srgbClr val="3B4660"/>
                </a:solidFill>
                <a:latin typeface="IBM Plex Sans"/>
                <a:ea typeface="IBM Plex Sans"/>
                <a:cs typeface="IBM Plex Sans"/>
                <a:sym typeface="IBM Plex Sans"/>
              </a:rPr>
              <a:t>Online refit</a:t>
            </a:r>
            <a:r>
              <a:rPr lang="en-US" sz="1300" b="0" i="0" u="none" strike="noStrike" cap="none">
                <a:solidFill>
                  <a:srgbClr val="3B4660"/>
                </a:solidFill>
                <a:latin typeface="IBM Plex Sans"/>
                <a:ea typeface="IBM Plex Sans"/>
                <a:cs typeface="IBM Plex Sans"/>
                <a:sym typeface="IBM Plex Sans"/>
              </a:rPr>
              <a:t> after every shot: </a:t>
            </a:r>
            <a:r>
              <a:rPr lang="en-US" sz="1300" b="1" i="0" u="none" strike="noStrike" cap="none">
                <a:solidFill>
                  <a:srgbClr val="3B4660"/>
                </a:solidFill>
                <a:latin typeface="IBM Plex Sans"/>
                <a:ea typeface="IBM Plex Sans"/>
                <a:cs typeface="IBM Plex Sans"/>
                <a:sym typeface="IBM Plex Sans"/>
              </a:rPr>
              <a:t>−22 to −43 %</a:t>
            </a:r>
            <a:r>
              <a:rPr lang="en-US" sz="1300" b="0" i="0" u="none" strike="noStrike" cap="none">
                <a:solidFill>
                  <a:srgbClr val="3B4660"/>
                </a:solidFill>
                <a:latin typeface="IBM Plex Sans"/>
                <a:ea typeface="IBM Plex Sans"/>
                <a:cs typeface="IBM Plex Sans"/>
                <a:sym typeface="IBM Plex Sans"/>
              </a:rPr>
              <a:t> on the ridge, seg 6 31 → 28 pC on the best model</a:t>
            </a:r>
            <a:endParaRPr sz="1300" b="0" i="0" u="none" strike="noStrike" cap="none">
              <a:solidFill>
                <a:schemeClr val="dk1"/>
              </a:solidFill>
              <a:latin typeface="IBM Plex Mono"/>
              <a:ea typeface="IBM Plex Mono"/>
              <a:cs typeface="IBM Plex Mono"/>
              <a:sym typeface="IBM Plex Mono"/>
            </a:endParaRPr>
          </a:p>
        </p:txBody>
      </p:sp>
      <p:pic>
        <p:nvPicPr>
          <p:cNvPr id="384" name="Google Shape;384;p19" descr="jitter_kalman.png"/>
          <p:cNvPicPr preferRelativeResize="0"/>
          <p:nvPr/>
        </p:nvPicPr>
        <p:blipFill rotWithShape="1">
          <a:blip r:embed="rId3">
            <a:alphaModFix/>
          </a:blip>
          <a:srcRect/>
          <a:stretch/>
        </p:blipFill>
        <p:spPr>
          <a:xfrm>
            <a:off x="6377952" y="2148852"/>
            <a:ext cx="5814052" cy="4360524"/>
          </a:xfrm>
          <a:prstGeom prst="rect">
            <a:avLst/>
          </a:prstGeom>
          <a:noFill/>
          <a:ln>
            <a:noFill/>
          </a:ln>
        </p:spPr>
      </p:pic>
      <p:graphicFrame>
        <p:nvGraphicFramePr>
          <p:cNvPr id="385" name="Google Shape;385;p19"/>
          <p:cNvGraphicFramePr/>
          <p:nvPr/>
        </p:nvGraphicFramePr>
        <p:xfrm>
          <a:off x="868680" y="2240280"/>
          <a:ext cx="3000000" cy="3000000"/>
        </p:xfrm>
        <a:graphic>
          <a:graphicData uri="http://schemas.openxmlformats.org/drawingml/2006/table">
            <a:tbl>
              <a:tblPr firstRow="1" bandRow="1">
                <a:noFill/>
                <a:tableStyleId>{112CE20D-767B-464B-9DCB-EA9EB6AF2ED4}</a:tableStyleId>
              </a:tblPr>
              <a:tblGrid>
                <a:gridCol w="1843425">
                  <a:extLst>
                    <a:ext uri="{9D8B030D-6E8A-4147-A177-3AD203B41FA5}">
                      <a16:colId xmlns:a16="http://schemas.microsoft.com/office/drawing/2014/main" val="20000"/>
                    </a:ext>
                  </a:extLst>
                </a:gridCol>
                <a:gridCol w="819300">
                  <a:extLst>
                    <a:ext uri="{9D8B030D-6E8A-4147-A177-3AD203B41FA5}">
                      <a16:colId xmlns:a16="http://schemas.microsoft.com/office/drawing/2014/main" val="20001"/>
                    </a:ext>
                  </a:extLst>
                </a:gridCol>
                <a:gridCol w="819300">
                  <a:extLst>
                    <a:ext uri="{9D8B030D-6E8A-4147-A177-3AD203B41FA5}">
                      <a16:colId xmlns:a16="http://schemas.microsoft.com/office/drawing/2014/main" val="20002"/>
                    </a:ext>
                  </a:extLst>
                </a:gridCol>
                <a:gridCol w="819300">
                  <a:extLst>
                    <a:ext uri="{9D8B030D-6E8A-4147-A177-3AD203B41FA5}">
                      <a16:colId xmlns:a16="http://schemas.microsoft.com/office/drawing/2014/main" val="20003"/>
                    </a:ext>
                  </a:extLst>
                </a:gridCol>
                <a:gridCol w="819300">
                  <a:extLst>
                    <a:ext uri="{9D8B030D-6E8A-4147-A177-3AD203B41FA5}">
                      <a16:colId xmlns:a16="http://schemas.microsoft.com/office/drawing/2014/main" val="20004"/>
                    </a:ext>
                  </a:extLst>
                </a:gridCol>
              </a:tblGrid>
              <a:tr h="320050">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MAE pC, + ridge</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seg 3</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seg 5</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seg 1</a:t>
                      </a:r>
                      <a:endParaRPr sz="1800" u="none" strike="noStrike" cap="none"/>
                    </a:p>
                  </a:txBody>
                  <a:tcPr marL="45725" marR="45725" marT="18300" marB="18300">
                    <a:solidFill>
                      <a:srgbClr val="E6E0D2"/>
                    </a:solidFill>
                  </a:tcPr>
                </a:tc>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seg 6</a:t>
                      </a:r>
                      <a:endParaRPr sz="1800" u="none" strike="noStrike" cap="none"/>
                    </a:p>
                  </a:txBody>
                  <a:tcPr marL="45725" marR="45725" marT="18300" marB="18300">
                    <a:solidFill>
                      <a:srgbClr val="E6E0D2"/>
                    </a:solidFill>
                  </a:tcPr>
                </a:tc>
                <a:extLst>
                  <a:ext uri="{0D108BD9-81ED-4DB2-BD59-A6C34878D82A}">
                    <a16:rowId xmlns:a16="http://schemas.microsoft.com/office/drawing/2014/main" val="10000"/>
                  </a:ext>
                </a:extLst>
              </a:tr>
              <a:tr h="320050">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trailing mean 50</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9.4</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69.5</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84.6</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57.0</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1"/>
                  </a:ext>
                </a:extLst>
              </a:tr>
              <a:tr h="320050">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trailing median 50</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9.2</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71.2</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84.6</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59.0</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2"/>
                  </a:ext>
                </a:extLst>
              </a:tr>
              <a:tr h="320050">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robust EMA (half-life 25)</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9.2</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72.5</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88.0</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56.9</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3"/>
                  </a:ext>
                </a:extLst>
              </a:tr>
              <a:tr h="320050">
                <a:tc>
                  <a:txBody>
                    <a:bodyPr/>
                    <a:lstStyle/>
                    <a:p>
                      <a:pPr marL="0" marR="0" lvl="0" indent="0" algn="l" rtl="0">
                        <a:spcBef>
                          <a:spcPts val="0"/>
                        </a:spcBef>
                        <a:spcAft>
                          <a:spcPts val="0"/>
                        </a:spcAft>
                        <a:buNone/>
                      </a:pPr>
                      <a:r>
                        <a:rPr lang="en-US" sz="1100" b="1" u="none" strike="noStrike" cap="none">
                          <a:solidFill>
                            <a:srgbClr val="14213D"/>
                          </a:solidFill>
                          <a:latin typeface="IBM Plex Sans"/>
                          <a:ea typeface="IBM Plex Sans"/>
                          <a:cs typeface="IBM Plex Sans"/>
                          <a:sym typeface="IBM Plex Sans"/>
                        </a:rPr>
                        <a:t>Kalman level</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9.2</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72.1</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85.6</a:t>
                      </a:r>
                      <a:endParaRPr sz="1800" u="none" strike="noStrike" cap="none"/>
                    </a:p>
                  </a:txBody>
                  <a:tcPr marL="45725" marR="45725" marT="18300" marB="18300">
                    <a:solidFill>
                      <a:srgbClr val="FFFDF8"/>
                    </a:solidFill>
                  </a:tcPr>
                </a:tc>
                <a:tc>
                  <a:txBody>
                    <a:bodyPr/>
                    <a:lstStyle/>
                    <a:p>
                      <a:pPr marL="0" marR="0" lvl="0" indent="0" algn="l" rtl="0">
                        <a:spcBef>
                          <a:spcPts val="0"/>
                        </a:spcBef>
                        <a:spcAft>
                          <a:spcPts val="0"/>
                        </a:spcAft>
                        <a:buNone/>
                      </a:pPr>
                      <a:r>
                        <a:rPr lang="en-US" sz="1100" b="0" u="none" strike="noStrike" cap="none">
                          <a:solidFill>
                            <a:srgbClr val="14213D"/>
                          </a:solidFill>
                          <a:latin typeface="IBM Plex Sans"/>
                          <a:ea typeface="IBM Plex Sans"/>
                          <a:cs typeface="IBM Plex Sans"/>
                          <a:sym typeface="IBM Plex Sans"/>
                        </a:rPr>
                        <a:t>57.3</a:t>
                      </a:r>
                      <a:endParaRPr sz="1800" u="none" strike="noStrike" cap="none"/>
                    </a:p>
                  </a:txBody>
                  <a:tcPr marL="45725" marR="45725" marT="18300" marB="18300">
                    <a:solidFill>
                      <a:srgbClr val="FFFD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20"/>
          <p:cNvSpPr/>
          <p:nvPr/>
        </p:nvSpPr>
        <p:spPr>
          <a:xfrm>
            <a:off x="812800" y="558800"/>
            <a:ext cx="609600" cy="50800"/>
          </a:xfrm>
          <a:prstGeom prst="roundRect">
            <a:avLst>
              <a:gd name="adj" fmla="val 50000"/>
            </a:avLst>
          </a:prstGeom>
          <a:gradFill>
            <a:gsLst>
              <a:gs pos="0">
                <a:srgbClr val="1D4ED8"/>
              </a:gs>
              <a:gs pos="50000">
                <a:srgbClr val="6D28D9"/>
              </a:gs>
              <a:gs pos="100000">
                <a:srgbClr val="DB2777"/>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92" name="Google Shape;392;p20"/>
          <p:cNvSpPr/>
          <p:nvPr/>
        </p:nvSpPr>
        <p:spPr>
          <a:xfrm>
            <a:off x="813816" y="813816"/>
            <a:ext cx="2834640" cy="283464"/>
          </a:xfrm>
          <a:prstGeom prst="roundRect">
            <a:avLst>
              <a:gd name="adj" fmla="val 17778"/>
            </a:avLst>
          </a:prstGeom>
          <a:solidFill>
            <a:srgbClr val="BE185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b="0" i="0" u="none" strike="noStrike" cap="none">
              <a:solidFill>
                <a:schemeClr val="dk1"/>
              </a:solidFill>
              <a:latin typeface="IBM Plex Mono"/>
              <a:ea typeface="IBM Plex Mono"/>
              <a:cs typeface="IBM Plex Mono"/>
              <a:sym typeface="IBM Plex Mono"/>
            </a:endParaRPr>
          </a:p>
        </p:txBody>
      </p:sp>
      <p:sp>
        <p:nvSpPr>
          <p:cNvPr id="393" name="Google Shape;393;p20"/>
          <p:cNvSpPr/>
          <p:nvPr/>
        </p:nvSpPr>
        <p:spPr>
          <a:xfrm>
            <a:off x="914400" y="850392"/>
            <a:ext cx="2743200" cy="237744"/>
          </a:xfrm>
          <a:prstGeom prst="rect">
            <a:avLst/>
          </a:prstGeom>
          <a:noFill/>
          <a:ln>
            <a:noFill/>
          </a:ln>
        </p:spPr>
        <p:txBody>
          <a:bodyPr spcFirstLastPara="1" wrap="square" lIns="0" tIns="0" rIns="0" bIns="0" anchor="t" anchorCtr="0">
            <a:normAutofit lnSpcReduction="10000"/>
          </a:bodyPr>
          <a:lstStyle/>
          <a:p>
            <a:pPr marL="0" marR="0" lvl="0" indent="0" algn="l" rtl="0">
              <a:lnSpc>
                <a:spcPct val="140000"/>
              </a:lnSpc>
              <a:spcBef>
                <a:spcPts val="0"/>
              </a:spcBef>
              <a:spcAft>
                <a:spcPts val="0"/>
              </a:spcAft>
              <a:buClr>
                <a:srgbClr val="FFFDF7"/>
              </a:buClr>
              <a:buSzPts val="1200"/>
              <a:buFont typeface="IBM Plex Mono"/>
              <a:buNone/>
            </a:pPr>
            <a:r>
              <a:rPr lang="en-US" sz="1200" b="0" i="0" u="none" strike="noStrike" cap="none">
                <a:solidFill>
                  <a:srgbClr val="FFFDF7"/>
                </a:solidFill>
                <a:latin typeface="IBM Plex Mono"/>
                <a:ea typeface="IBM Plex Mono"/>
                <a:cs typeface="IBM Plex Mono"/>
                <a:sym typeface="IBM Plex Mono"/>
              </a:rPr>
              <a:t>TIER 3 · HARD · RESULTS</a:t>
            </a:r>
            <a:endParaRPr sz="1200" b="0" i="0" u="none" strike="noStrike" cap="none">
              <a:solidFill>
                <a:schemeClr val="dk1"/>
              </a:solidFill>
              <a:latin typeface="IBM Plex Mono"/>
              <a:ea typeface="IBM Plex Mono"/>
              <a:cs typeface="IBM Plex Mono"/>
              <a:sym typeface="IBM Plex Mono"/>
            </a:endParaRPr>
          </a:p>
        </p:txBody>
      </p:sp>
      <p:sp>
        <p:nvSpPr>
          <p:cNvPr id="394" name="Google Shape;394;p20"/>
          <p:cNvSpPr txBox="1">
            <a:spLocks noGrp="1"/>
          </p:cNvSpPr>
          <p:nvPr>
            <p:ph type="title"/>
          </p:nvPr>
        </p:nvSpPr>
        <p:spPr>
          <a:xfrm>
            <a:off x="812800" y="1200150"/>
            <a:ext cx="10883392" cy="527050"/>
          </a:xfrm>
          <a:prstGeom prst="rect">
            <a:avLst/>
          </a:prstGeom>
          <a:noFill/>
          <a:ln>
            <a:noFill/>
          </a:ln>
        </p:spPr>
        <p:txBody>
          <a:bodyPr spcFirstLastPara="1" wrap="square" lIns="0" tIns="0" rIns="0" bIns="0" anchor="t" anchorCtr="0">
            <a:normAutofit fontScale="90000"/>
          </a:bodyPr>
          <a:lstStyle/>
          <a:p>
            <a:pPr marL="0" lvl="0" indent="0" algn="l" rtl="0">
              <a:lnSpc>
                <a:spcPct val="110000"/>
              </a:lnSpc>
              <a:spcBef>
                <a:spcPts val="0"/>
              </a:spcBef>
              <a:spcAft>
                <a:spcPts val="0"/>
              </a:spcAft>
              <a:buClr>
                <a:srgbClr val="14213D"/>
              </a:buClr>
              <a:buSzPct val="100000"/>
              <a:buFont typeface="Space Grotesk"/>
              <a:buNone/>
            </a:pPr>
            <a:r>
              <a:rPr lang="en-US" b="1"/>
              <a:t>N</a:t>
            </a:r>
            <a:r>
              <a:rPr lang="en-US" sz="3600" b="1" i="0">
                <a:solidFill>
                  <a:srgbClr val="14213D"/>
                </a:solidFill>
                <a:latin typeface="Space Grotesk"/>
                <a:ea typeface="Space Grotesk"/>
                <a:cs typeface="Space Grotesk"/>
                <a:sym typeface="Space Grotesk"/>
              </a:rPr>
              <a:t>oise floor and uncertainty</a:t>
            </a:r>
            <a:endParaRPr sz="3600"/>
          </a:p>
        </p:txBody>
      </p:sp>
      <p:sp>
        <p:nvSpPr>
          <p:cNvPr id="395" name="Google Shape;395;p20"/>
          <p:cNvSpPr/>
          <p:nvPr/>
        </p:nvSpPr>
        <p:spPr>
          <a:xfrm>
            <a:off x="10058400" y="6242050"/>
            <a:ext cx="1320800" cy="234950"/>
          </a:xfrm>
          <a:prstGeom prst="rect">
            <a:avLst/>
          </a:prstGeom>
          <a:noFill/>
          <a:ln>
            <a:noFill/>
          </a:ln>
        </p:spPr>
        <p:txBody>
          <a:bodyPr spcFirstLastPara="1" wrap="square" lIns="0" tIns="0" rIns="0" bIns="0" anchor="t" anchorCtr="0">
            <a:normAutofit fontScale="92500"/>
          </a:bodyPr>
          <a:lstStyle/>
          <a:p>
            <a:pPr marL="0" marR="0" lvl="0" indent="0" algn="r" rtl="0">
              <a:lnSpc>
                <a:spcPct val="140000"/>
              </a:lnSpc>
              <a:spcBef>
                <a:spcPts val="0"/>
              </a:spcBef>
              <a:spcAft>
                <a:spcPts val="0"/>
              </a:spcAft>
              <a:buClr>
                <a:srgbClr val="6D28D9"/>
              </a:buClr>
              <a:buSzPts val="1200"/>
              <a:buFont typeface="IBM Plex Mono"/>
              <a:buNone/>
            </a:pPr>
            <a:r>
              <a:rPr lang="en-US" sz="1200" b="0" i="0" u="none" strike="noStrike" cap="none">
                <a:solidFill>
                  <a:srgbClr val="6D28D9"/>
                </a:solidFill>
                <a:latin typeface="IBM Plex Mono"/>
                <a:ea typeface="IBM Plex Mono"/>
                <a:cs typeface="IBM Plex Mono"/>
                <a:sym typeface="IBM Plex Mono"/>
              </a:rPr>
              <a:t>37</a:t>
            </a:r>
            <a:endParaRPr sz="1200" b="0" i="0" u="none" strike="noStrike" cap="none">
              <a:solidFill>
                <a:schemeClr val="dk1"/>
              </a:solidFill>
              <a:latin typeface="IBM Plex Mono"/>
              <a:ea typeface="IBM Plex Mono"/>
              <a:cs typeface="IBM Plex Mono"/>
              <a:sym typeface="IBM Plex Mono"/>
            </a:endParaRPr>
          </a:p>
        </p:txBody>
      </p:sp>
      <p:sp>
        <p:nvSpPr>
          <p:cNvPr id="396" name="Google Shape;396;p20"/>
          <p:cNvSpPr/>
          <p:nvPr/>
        </p:nvSpPr>
        <p:spPr>
          <a:xfrm>
            <a:off x="813816" y="1783080"/>
            <a:ext cx="10881360" cy="320040"/>
          </a:xfrm>
          <a:prstGeom prst="rect">
            <a:avLst/>
          </a:prstGeom>
          <a:noFill/>
          <a:ln>
            <a:noFill/>
          </a:ln>
        </p:spPr>
        <p:txBody>
          <a:bodyPr spcFirstLastPara="1" wrap="square" lIns="0" tIns="0" rIns="0" bIns="0" anchor="t" anchorCtr="0">
            <a:normAutofit fontScale="47500" lnSpcReduction="20000"/>
          </a:bodyPr>
          <a:lstStyle/>
          <a:p>
            <a:pPr marL="0" marR="0" lvl="0" indent="0" algn="l" rtl="0">
              <a:lnSpc>
                <a:spcPct val="140000"/>
              </a:lnSpc>
              <a:spcBef>
                <a:spcPts val="0"/>
              </a:spcBef>
              <a:spcAft>
                <a:spcPts val="0"/>
              </a:spcAft>
              <a:buClr>
                <a:srgbClr val="14213D"/>
              </a:buClr>
              <a:buSzPts val="1600"/>
              <a:buFont typeface="IBM Plex Sans"/>
              <a:buNone/>
            </a:pPr>
            <a:r>
              <a:rPr lang="en-US" sz="1600" b="0" i="0" u="none" strike="noStrike" cap="none">
                <a:solidFill>
                  <a:srgbClr val="14213D"/>
                </a:solidFill>
                <a:latin typeface="IBM Plex Sans"/>
                <a:ea typeface="IBM Plex Sans"/>
                <a:cs typeface="IBM Plex Sans"/>
                <a:sym typeface="IBM Plex Sans"/>
              </a:rPr>
              <a:t>The BCM's own noise sets the floor; </a:t>
            </a:r>
            <a:endParaRPr sz="1600" b="0" i="0" u="none" strike="noStrike" cap="none">
              <a:solidFill>
                <a:srgbClr val="14213D"/>
              </a:solidFill>
              <a:latin typeface="IBM Plex Sans"/>
              <a:ea typeface="IBM Plex Sans"/>
              <a:cs typeface="IBM Plex Sans"/>
              <a:sym typeface="IBM Plex Sans"/>
            </a:endParaRPr>
          </a:p>
          <a:p>
            <a:pPr marL="0" marR="0" lvl="0" indent="0" algn="l" rtl="0">
              <a:lnSpc>
                <a:spcPct val="140000"/>
              </a:lnSpc>
              <a:spcBef>
                <a:spcPts val="0"/>
              </a:spcBef>
              <a:spcAft>
                <a:spcPts val="0"/>
              </a:spcAft>
              <a:buClr>
                <a:srgbClr val="14213D"/>
              </a:buClr>
              <a:buSzPts val="1600"/>
              <a:buFont typeface="IBM Plex Sans"/>
              <a:buNone/>
            </a:pPr>
            <a:r>
              <a:rPr lang="en-US" sz="1600" b="0" i="0" u="none" strike="noStrike" cap="none">
                <a:solidFill>
                  <a:srgbClr val="14213D"/>
                </a:solidFill>
                <a:latin typeface="IBM Plex Sans"/>
                <a:ea typeface="IBM Plex Sans"/>
                <a:cs typeface="IBM Plex Sans"/>
                <a:sym typeface="IBM Plex Sans"/>
              </a:rPr>
              <a:t>prediction intervals checked on the test region.</a:t>
            </a:r>
            <a:endParaRPr sz="1600" b="0" i="0" u="none" strike="noStrike" cap="none">
              <a:solidFill>
                <a:schemeClr val="dk1"/>
              </a:solidFill>
              <a:latin typeface="IBM Plex Mono"/>
              <a:ea typeface="IBM Plex Mono"/>
              <a:cs typeface="IBM Plex Mono"/>
              <a:sym typeface="IBM Plex Mono"/>
            </a:endParaRPr>
          </a:p>
        </p:txBody>
      </p:sp>
      <p:sp>
        <p:nvSpPr>
          <p:cNvPr id="397" name="Google Shape;397;p20"/>
          <p:cNvSpPr/>
          <p:nvPr/>
        </p:nvSpPr>
        <p:spPr>
          <a:xfrm>
            <a:off x="868676" y="2675950"/>
            <a:ext cx="3977700" cy="3566100"/>
          </a:xfrm>
          <a:prstGeom prst="rect">
            <a:avLst/>
          </a:prstGeom>
          <a:noFill/>
          <a:ln>
            <a:noFill/>
          </a:ln>
        </p:spPr>
        <p:txBody>
          <a:bodyPr spcFirstLastPara="1" wrap="square" lIns="0" tIns="0" rIns="0" bIns="0" anchor="t" anchorCtr="0">
            <a:normAutofit/>
          </a:bodyPr>
          <a:lstStyle/>
          <a:p>
            <a:pPr marL="196342" marR="0" lvl="0" indent="-196342" algn="l" rtl="0">
              <a:lnSpc>
                <a:spcPct val="140000"/>
              </a:lnSpc>
              <a:spcBef>
                <a:spcPts val="0"/>
              </a:spcBef>
              <a:spcAft>
                <a:spcPts val="0"/>
              </a:spcAft>
              <a:buClr>
                <a:srgbClr val="3B4660"/>
              </a:buClr>
              <a:buSzPts val="1300"/>
              <a:buFont typeface="IBM Plex Sans"/>
              <a:buChar char="•"/>
            </a:pPr>
            <a:r>
              <a:rPr lang="en-US" sz="1300" b="1" i="0" u="none" strike="noStrike" cap="none">
                <a:solidFill>
                  <a:srgbClr val="3B4660"/>
                </a:solidFill>
                <a:latin typeface="IBM Plex Sans"/>
                <a:ea typeface="IBM Plex Sans"/>
                <a:cs typeface="IBM Plex Sans"/>
                <a:sym typeface="IBM Plex Sans"/>
              </a:rPr>
              <a:t>BCM noise</a:t>
            </a:r>
            <a:r>
              <a:rPr lang="en-US" sz="1300" b="0" i="0" u="none" strike="noStrike" cap="none">
                <a:solidFill>
                  <a:srgbClr val="3B4660"/>
                </a:solidFill>
                <a:latin typeface="IBM Plex Sans"/>
                <a:ea typeface="IBM Plex Sans"/>
                <a:cs typeface="IBM Plex Sans"/>
                <a:sym typeface="IBM Plex Sans"/>
              </a:rPr>
              <a:t>: white, Gaussian core with heavy tails (0.2–1.5 % beyond 4σ); ~50 % of the jitter at low charge</a:t>
            </a:r>
            <a:endParaRPr sz="13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300"/>
              <a:buFont typeface="IBM Plex Sans"/>
              <a:buChar char="•"/>
            </a:pPr>
            <a:r>
              <a:rPr lang="en-US" sz="1300" b="0" i="0" u="none" strike="noStrike" cap="none">
                <a:solidFill>
                  <a:srgbClr val="3B4660"/>
                </a:solidFill>
                <a:latin typeface="IBM Plex Sans"/>
                <a:ea typeface="IBM Plex Sans"/>
                <a:cs typeface="IBM Plex Sans"/>
                <a:sym typeface="IBM Plex Sans"/>
              </a:rPr>
              <a:t>Rolling 90 % interval covers 87–92 % (±5–7 % at 5–10 nC)</a:t>
            </a:r>
            <a:endParaRPr sz="13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300"/>
              <a:buFont typeface="IBM Plex Sans"/>
              <a:buChar char="•"/>
            </a:pPr>
            <a:r>
              <a:rPr lang="en-US" sz="1300" b="1" i="0" u="none" strike="noStrike" cap="none">
                <a:solidFill>
                  <a:srgbClr val="3B4660"/>
                </a:solidFill>
                <a:latin typeface="IBM Plex Sans"/>
                <a:ea typeface="IBM Plex Sans"/>
                <a:cs typeface="IBM Plex Sans"/>
                <a:sym typeface="IBM Plex Sans"/>
              </a:rPr>
              <a:t>GP</a:t>
            </a:r>
            <a:r>
              <a:rPr lang="en-US" sz="1300" b="0" i="0" u="none" strike="noStrike" cap="none">
                <a:solidFill>
                  <a:srgbClr val="3B4660"/>
                </a:solidFill>
                <a:latin typeface="IBM Plex Sans"/>
                <a:ea typeface="IBM Plex Sans"/>
                <a:cs typeface="IBM Plex Sans"/>
                <a:sym typeface="IBM Plex Sans"/>
              </a:rPr>
              <a:t> with the measured noise as its kernel noise: </a:t>
            </a:r>
            <a:r>
              <a:rPr lang="en-US" sz="1300" b="1" i="0" u="none" strike="noStrike" cap="none">
                <a:solidFill>
                  <a:srgbClr val="3B4660"/>
                </a:solidFill>
                <a:latin typeface="IBM Plex Sans"/>
                <a:ea typeface="IBM Plex Sans"/>
                <a:cs typeface="IBM Plex Sans"/>
                <a:sym typeface="IBM Plex Sans"/>
              </a:rPr>
              <a:t>no better MAE</a:t>
            </a:r>
            <a:r>
              <a:rPr lang="en-US" sz="1300" b="0" i="0" u="none" strike="noStrike" cap="none">
                <a:solidFill>
                  <a:srgbClr val="3B4660"/>
                </a:solidFill>
                <a:latin typeface="IBM Plex Sans"/>
                <a:ea typeface="IBM Plex Sans"/>
                <a:cs typeface="IBM Plex Sans"/>
                <a:sym typeface="IBM Plex Sans"/>
              </a:rPr>
              <a:t>, right intervals once missing camera frames get extra variance (86–95 %)</a:t>
            </a:r>
            <a:endParaRPr sz="1300" b="0" i="0" u="none" strike="noStrike" cap="none">
              <a:solidFill>
                <a:schemeClr val="dk1"/>
              </a:solidFill>
              <a:latin typeface="IBM Plex Mono"/>
              <a:ea typeface="IBM Plex Mono"/>
              <a:cs typeface="IBM Plex Mono"/>
              <a:sym typeface="IBM Plex Mono"/>
            </a:endParaRPr>
          </a:p>
          <a:p>
            <a:pPr marL="196342" marR="0" lvl="0" indent="-196342" algn="l" rtl="0">
              <a:lnSpc>
                <a:spcPct val="140000"/>
              </a:lnSpc>
              <a:spcBef>
                <a:spcPts val="0"/>
              </a:spcBef>
              <a:spcAft>
                <a:spcPts val="0"/>
              </a:spcAft>
              <a:buClr>
                <a:srgbClr val="3B4660"/>
              </a:buClr>
              <a:buSzPts val="1300"/>
              <a:buFont typeface="IBM Plex Sans"/>
              <a:buChar char="•"/>
            </a:pPr>
            <a:r>
              <a:rPr lang="en-US" sz="1300" b="1" i="0" u="none" strike="noStrike" cap="none">
                <a:solidFill>
                  <a:srgbClr val="3B4660"/>
                </a:solidFill>
                <a:latin typeface="IBM Plex Sans"/>
                <a:ea typeface="IBM Plex Sans"/>
                <a:cs typeface="IBM Plex Sans"/>
                <a:sym typeface="IBM Plex Sans"/>
              </a:rPr>
              <a:t>Minimax</a:t>
            </a:r>
            <a:r>
              <a:rPr lang="en-US" sz="1300" b="0" i="0" u="none" strike="noStrike" cap="none">
                <a:solidFill>
                  <a:srgbClr val="3B4660"/>
                </a:solidFill>
                <a:latin typeface="IBM Plex Sans"/>
                <a:ea typeface="IBM Plex Sans"/>
                <a:cs typeface="IBM Plex Sans"/>
                <a:sym typeface="IBM Plex Sans"/>
              </a:rPr>
              <a:t> (max-error) training </a:t>
            </a:r>
            <a:r>
              <a:rPr lang="en-US" sz="1300" b="1" i="0" u="none" strike="noStrike" cap="none">
                <a:solidFill>
                  <a:srgbClr val="3B4660"/>
                </a:solidFill>
                <a:latin typeface="IBM Plex Sans"/>
                <a:ea typeface="IBM Plex Sans"/>
                <a:cs typeface="IBM Plex Sans"/>
                <a:sym typeface="IBM Plex Sans"/>
              </a:rPr>
              <a:t>does not reduce</a:t>
            </a:r>
            <a:r>
              <a:rPr lang="en-US" sz="1300" b="0" i="0" u="none" strike="noStrike" cap="none">
                <a:solidFill>
                  <a:srgbClr val="3B4660"/>
                </a:solidFill>
                <a:latin typeface="IBM Plex Sans"/>
                <a:ea typeface="IBM Plex Sans"/>
                <a:cs typeface="IBM Plex Sans"/>
                <a:sym typeface="IBM Plex Sans"/>
              </a:rPr>
              <a:t> the </a:t>
            </a:r>
            <a:r>
              <a:rPr lang="en-US" sz="1300" b="1" i="0" u="none" strike="noStrike" cap="none">
                <a:solidFill>
                  <a:srgbClr val="3B4660"/>
                </a:solidFill>
                <a:latin typeface="IBM Plex Sans"/>
                <a:ea typeface="IBM Plex Sans"/>
                <a:cs typeface="IBM Plex Sans"/>
                <a:sym typeface="IBM Plex Sans"/>
              </a:rPr>
              <a:t>worst error</a:t>
            </a:r>
            <a:endParaRPr sz="1300" b="1" i="0" u="none" strike="noStrike" cap="none">
              <a:solidFill>
                <a:schemeClr val="dk1"/>
              </a:solidFill>
              <a:latin typeface="IBM Plex Mono"/>
              <a:ea typeface="IBM Plex Mono"/>
              <a:cs typeface="IBM Plex Mono"/>
              <a:sym typeface="IBM Plex Mono"/>
            </a:endParaRPr>
          </a:p>
        </p:txBody>
      </p:sp>
      <p:pic>
        <p:nvPicPr>
          <p:cNvPr id="398" name="Google Shape;398;p20" descr="jitter_noise.png"/>
          <p:cNvPicPr preferRelativeResize="0"/>
          <p:nvPr/>
        </p:nvPicPr>
        <p:blipFill rotWithShape="1">
          <a:blip r:embed="rId3">
            <a:alphaModFix/>
          </a:blip>
          <a:srcRect/>
          <a:stretch/>
        </p:blipFill>
        <p:spPr>
          <a:xfrm>
            <a:off x="4988928" y="3625447"/>
            <a:ext cx="7138876" cy="3123250"/>
          </a:xfrm>
          <a:prstGeom prst="rect">
            <a:avLst/>
          </a:prstGeom>
          <a:noFill/>
          <a:ln>
            <a:noFill/>
          </a:ln>
        </p:spPr>
      </p:pic>
      <p:pic>
        <p:nvPicPr>
          <p:cNvPr id="399" name="Google Shape;399;p20" descr="interval_2026-10-08_21-11-47.png"/>
          <p:cNvPicPr preferRelativeResize="0"/>
          <p:nvPr/>
        </p:nvPicPr>
        <p:blipFill rotWithShape="1">
          <a:blip r:embed="rId4">
            <a:alphaModFix/>
          </a:blip>
          <a:srcRect/>
          <a:stretch/>
        </p:blipFill>
        <p:spPr>
          <a:xfrm>
            <a:off x="6368130" y="1509121"/>
            <a:ext cx="5759676" cy="1919875"/>
          </a:xfrm>
          <a:prstGeom prst="rect">
            <a:avLst/>
          </a:prstGeom>
          <a:noFill/>
          <a:ln>
            <a:noFill/>
          </a:ln>
        </p:spPr>
      </p:pic>
    </p:spTree>
  </p:cSld>
  <p:clrMapOvr>
    <a:masterClrMapping/>
  </p:clrMapOvr>
</p:sld>
</file>

<file path=ppt/theme/theme1.xml><?xml version="1.0" encoding="utf-8"?>
<a:theme xmlns:a="http://schemas.openxmlformats.org/drawingml/2006/main" name="Forecasting the CLEAR Beam Charge">
  <a:themeElements>
    <a:clrScheme name="Forecasting the CLEAR Beam Charge">
      <a:dk1>
        <a:srgbClr val="14213D"/>
      </a:dk1>
      <a:lt1>
        <a:srgbClr val="FBF8F1"/>
      </a:lt1>
      <a:dk2>
        <a:srgbClr val="4E576A"/>
      </a:dk2>
      <a:lt2>
        <a:srgbClr val="E4E3DF"/>
      </a:lt2>
      <a:accent1>
        <a:srgbClr val="6D28D9"/>
      </a:accent1>
      <a:accent2>
        <a:srgbClr val="1D4ED8"/>
      </a:accent2>
      <a:accent3>
        <a:srgbClr val="DB2777"/>
      </a:accent3>
      <a:accent4>
        <a:srgbClr val="BE185D"/>
      </a:accent4>
      <a:accent5>
        <a:srgbClr val="0F766E"/>
      </a:accent5>
      <a:accent6>
        <a:srgbClr val="C2410C"/>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3546</Words>
  <Application>Microsoft Office PowerPoint</Application>
  <PresentationFormat>Widescreen</PresentationFormat>
  <Paragraphs>720</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Space Grotesk</vt:lpstr>
      <vt:lpstr>IBM Plex Mono</vt:lpstr>
      <vt:lpstr>IBM Plex Sans</vt:lpstr>
      <vt:lpstr>Forecasting the CLEAR Beam Charge</vt:lpstr>
      <vt:lpstr>Forecasting the CLEAR beam charge</vt:lpstr>
      <vt:lpstr>Three steps, one question</vt:lpstr>
      <vt:lpstr>Outline</vt:lpstr>
      <vt:lpstr>Let’s try to understand</vt:lpstr>
      <vt:lpstr>Run regimes, clean cuts and bad shots</vt:lpstr>
      <vt:lpstr>Synchronisation on the Beam pulse</vt:lpstr>
      <vt:lpstr>The first step</vt:lpstr>
      <vt:lpstr>Independent variables?</vt:lpstr>
      <vt:lpstr>Camera input: PCA, SVD, AE?</vt:lpstr>
      <vt:lpstr>Structure across runs: t-SNE of the 16 features</vt:lpstr>
      <vt:lpstr>Can we diagnose?</vt:lpstr>
      <vt:lpstr>Vanilla models</vt:lpstr>
      <vt:lpstr>Vanilla models</vt:lpstr>
      <vt:lpstr>Detrending</vt:lpstr>
      <vt:lpstr>Sequence models</vt:lpstr>
      <vt:lpstr>Slow level + shot-to-shot model</vt:lpstr>
      <vt:lpstr>Slow level + shot-to-shot model</vt:lpstr>
      <vt:lpstr>Nine model families converge</vt:lpstr>
      <vt:lpstr>Forecasting</vt:lpstr>
      <vt:lpstr>Next shot: beating the rolling mean of 9</vt:lpstr>
      <vt:lpstr>Next shot: the models from Tier 2</vt:lpstr>
      <vt:lpstr>Further ahead, smaller gains</vt:lpstr>
      <vt:lpstr>Summary: what worked and what did not</vt:lpstr>
      <vt:lpstr>Further work</vt:lpstr>
      <vt:lpstr>Let's predict the next shot</vt:lpstr>
      <vt:lpstr>Pitfall: a fake gain from misaligned data</vt:lpstr>
      <vt:lpstr>Filtering the slow level: simple wins</vt:lpstr>
      <vt:lpstr>Noise floor and uncertainty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Jan Jug</cp:lastModifiedBy>
  <cp:revision>1</cp:revision>
  <dcterms:created xsi:type="dcterms:W3CDTF">2026-10-11T10:46:20Z</dcterms:created>
  <dcterms:modified xsi:type="dcterms:W3CDTF">2026-10-16T06:47:53Z</dcterms:modified>
</cp:coreProperties>
</file>